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-evolution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6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>
                <a:solidFill>
                  <a:srgbClr val="42D6E8"/>
                </a:solidFill>
                <a:latin typeface="Microsoft YaHei"/>
              </a:rPr>
              <a:t>AUTOPLANNER · HISTORY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5257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4F8FB"/>
                </a:solidFill>
                <a:latin typeface="Microsoft YaHei"/>
              </a:rPr>
              <a:t>逆合成项目
架构演进与理念进步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852928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D6E4ED"/>
                </a:solidFill>
                <a:latin typeface="Microsoft YaHei"/>
              </a:rPr>
              <a:t>从单步模型与搜索器，到证据优先、
最弱环节验收的 Canonical V4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3959352"/>
            <a:ext cx="1527048" cy="0"/>
          </a:xfrm>
          <a:prstGeom prst="line">
            <a:avLst/>
          </a:prstGeom>
          <a:ln w="254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5330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Microsoft YaHei"/>
              </a:rPr>
              <a:t>90 个提交  ·  7 个阶段  ·  5 类代表案例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99846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DB1C2"/>
                </a:solidFill>
                <a:latin typeface="Microsoft YaHei"/>
              </a:rPr>
              <a:t>审阅基线 main@04d9034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结论：进步的核心不是模型更大，而是事实权威更窄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353312"/>
            <a:ext cx="3931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F8FB"/>
                </a:solidFill>
                <a:latin typeface="Microsoft YaHei"/>
              </a:rPr>
              <a:t>从“生成一条看似合理的路线”
到“在硬预算内形成可重放、
逐边有证据的多样路线组合”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8892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1C2"/>
                </a:solidFill>
                <a:latin typeface="Microsoft YaHei"/>
              </a:rPr>
              <a:t>每次架构升级，都在回答同一个问题：
谁有资格把 proposal 升级为事实？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344168"/>
            <a:ext cx="6355080" cy="658368"/>
          </a:xfrm>
          <a:prstGeom prst="roundRect">
            <a:avLst/>
          </a:prstGeom>
          <a:solidFill>
            <a:srgbClr val="15374F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10912" y="1508760"/>
            <a:ext cx="914400" cy="310896"/>
          </a:xfrm>
          <a:prstGeom prst="round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540763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472184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模型/搜索器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4" y="14904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F47C70"/>
                </a:solidFill>
                <a:latin typeface="Microsoft YaHei"/>
              </a:rPr>
              <a:t>局部预测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40280"/>
            <a:ext cx="6355080" cy="658368"/>
          </a:xfrm>
          <a:prstGeom prst="roundRect">
            <a:avLst/>
          </a:prstGeom>
          <a:solidFill>
            <a:srgbClr val="15374F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10912" y="2404872"/>
            <a:ext cx="914400" cy="310896"/>
          </a:xfrm>
          <a:prstGeom prst="round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243687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368296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CascadeBoard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38658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F5B84B"/>
                </a:solidFill>
                <a:latin typeface="Microsoft YaHei"/>
              </a:rPr>
              <a:t>全局补全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136391"/>
            <a:ext cx="6355080" cy="658368"/>
          </a:xfrm>
          <a:prstGeom prst="roundRect">
            <a:avLst/>
          </a:prstGeom>
          <a:solidFill>
            <a:srgbClr val="15374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10912" y="3300984"/>
            <a:ext cx="914400" cy="310896"/>
          </a:xfrm>
          <a:prstGeom prst="round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33329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264408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Agentic Blackboard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28269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66A3FF"/>
                </a:solidFill>
                <a:latin typeface="Microsoft YaHei"/>
              </a:rPr>
              <a:t>协作编排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032504"/>
            <a:ext cx="6355080" cy="658368"/>
          </a:xfrm>
          <a:prstGeom prst="roundRect">
            <a:avLst/>
          </a:prstGeom>
          <a:solidFill>
            <a:srgbClr val="15374F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10912" y="4197096"/>
            <a:ext cx="914400" cy="310896"/>
          </a:xfrm>
          <a:prstGeom prst="round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42291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4160520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Evidence-first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417880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EBFA5"/>
                </a:solidFill>
                <a:latin typeface="Microsoft YaHei"/>
              </a:rPr>
              <a:t>逐边证据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4928616"/>
            <a:ext cx="6355080" cy="658368"/>
          </a:xfrm>
          <a:prstGeom prst="roundRect">
            <a:avLst/>
          </a:prstGeom>
          <a:solidFill>
            <a:srgbClr val="15374F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10912" y="5093207"/>
            <a:ext cx="914400" cy="310896"/>
          </a:xfrm>
          <a:prstGeom prst="round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51252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5056631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Canonical 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5074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2D6E8"/>
                </a:solidFill>
                <a:latin typeface="Microsoft YaHei"/>
              </a:rPr>
              <a:t>单一权威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Git history · main@04d9034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七个阶段：从模型流水线到陌生目标证据闭环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417320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4864" cy="1664208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04-25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模型 + MCTS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417320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9856" y="1417320"/>
            <a:ext cx="54864" cy="1664208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5819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984248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04-26—05-05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CascadeBoard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417320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417320"/>
            <a:ext cx="54864" cy="1664208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819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84248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05-17—06-08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Codex-entry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1" y="1417320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25711" y="1417320"/>
            <a:ext cx="54864" cy="1664208"/>
          </a:xfrm>
          <a:prstGeom prst="rect">
            <a:avLst/>
          </a:prstGeom>
          <a:solidFill>
            <a:srgbClr val="7E8CFF"/>
          </a:solidFill>
          <a:ln w="12700">
            <a:solidFill>
              <a:srgbClr val="7E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5819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84248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06-09—06-24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Agentic Blackboard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84248" y="3630168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84248" y="3630168"/>
            <a:ext cx="54864" cy="1664208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85416" y="379475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5416" y="4197096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07-10—07-12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Evidence-first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7176" y="3630168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7176" y="3630168"/>
            <a:ext cx="54864" cy="1664208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8344" y="379475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4197096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07-13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Canonical V4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90104" y="3630168"/>
            <a:ext cx="2542032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90104" y="3630168"/>
            <a:ext cx="54864" cy="1664208"/>
          </a:xfrm>
          <a:prstGeom prst="rect">
            <a:avLst/>
          </a:prstGeom>
          <a:solidFill>
            <a:srgbClr val="45C486"/>
          </a:solidFill>
          <a:ln w="12700">
            <a:solidFill>
              <a:srgbClr val="45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2" y="379475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阶段 VII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4197096"/>
            <a:ext cx="2157984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07-14—07-15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Blind + target-only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978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主线变化：局部能力不断增多，但写入化学事实的路径持续收口。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Git log: 2026-04-25—2026-07-15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阶段 I—II：从单点指标到路线级全局一致性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3310128" cy="452628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54864" cy="4526280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17904"/>
            <a:ext cx="29443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模型流水线 · 2026-04-25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7C70"/>
                </a:solidFill>
                <a:latin typeface="Microsoft YaHei"/>
              </a:rPr>
              <a:t>49.5%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2926080" cy="3319272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data / expand / conditions / multistep / eval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关注 top-k、GT@5、solve rate、条件 MAE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优点：评估口径与覆盖率审计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局限：条件、库存、来源和拓扑没有统一事实模型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99232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47C70"/>
                </a:solidFill>
                <a:latin typeface="Microsoft YaHei"/>
              </a:rPr>
              <a:t>酶催化 top-1 仅覆盖 44% 步骤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33087" y="3401568"/>
            <a:ext cx="786385" cy="0"/>
          </a:xfrm>
          <a:prstGeom prst="line">
            <a:avLst/>
          </a:prstGeom>
          <a:ln w="38100">
            <a:solidFill>
              <a:srgbClr val="F5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2352" y="1353312"/>
            <a:ext cx="2816352" cy="452628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02352" y="1353312"/>
            <a:ext cx="54864" cy="452628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517904"/>
            <a:ext cx="2450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CascadeBoard · 05-04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83664"/>
            <a:ext cx="24505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B84B"/>
                </a:solidFill>
                <a:latin typeface="Microsoft YaHei"/>
              </a:rPr>
              <a:t>3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23160"/>
            <a:ext cx="2432304" cy="3319272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① Skeleton generation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② Molecular fill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③ Learned route scoring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允许全局补全与回改早期决策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353312"/>
            <a:ext cx="3456432" cy="452628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353312"/>
            <a:ext cx="54864" cy="4526280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517904"/>
            <a:ext cx="3090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理念跃迁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920240"/>
            <a:ext cx="3072384" cy="381304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单步模型从决策者退为候选生成器 / 感知器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规划对象从“下一步”升级为“整条路线”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但线性 slot chain 仍难表达会聚 AND 语义与证据版本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代表提交 bcdde7e · d7eb58e · f1947b4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阶段 III—IV：Codex 获得编排权，确定性验证保留裁决权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444752"/>
            <a:ext cx="1938528" cy="9601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31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61848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47672"/>
            <a:ext cx="1719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9DB1C2"/>
                </a:solidFill>
                <a:latin typeface="Microsoft YaHei"/>
              </a:rPr>
              <a:t>确定性预检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05456" y="1920240"/>
            <a:ext cx="329184" cy="0"/>
          </a:xfrm>
          <a:prstGeom prst="line">
            <a:avLst/>
          </a:prstGeom>
          <a:ln w="254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1216" y="1444752"/>
            <a:ext cx="1938528" cy="9601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161848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1947672"/>
            <a:ext cx="1719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9DB1C2"/>
                </a:solidFill>
                <a:latin typeface="Microsoft YaHei"/>
              </a:rPr>
              <a:t>选择工作流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9744" y="1920240"/>
            <a:ext cx="329184" cy="0"/>
          </a:xfrm>
          <a:prstGeom prst="line">
            <a:avLst/>
          </a:prstGeom>
          <a:ln w="254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75504" y="1444752"/>
            <a:ext cx="1938528" cy="9601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31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161848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Typed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947672"/>
            <a:ext cx="1719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9DB1C2"/>
                </a:solidFill>
                <a:latin typeface="Microsoft YaHei"/>
              </a:rPr>
              <a:t>安全 / 预算 / 绑定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14032" y="1920240"/>
            <a:ext cx="329184" cy="0"/>
          </a:xfrm>
          <a:prstGeom prst="line">
            <a:avLst/>
          </a:prstGeom>
          <a:ln w="254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79792" y="1444752"/>
            <a:ext cx="1938528" cy="9601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31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61848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Local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1947672"/>
            <a:ext cx="1719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9DB1C2"/>
                </a:solidFill>
                <a:latin typeface="Microsoft YaHei"/>
              </a:rPr>
              <a:t>ChemEnzy / 文献 / 视觉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0" y="1920240"/>
            <a:ext cx="329184" cy="0"/>
          </a:xfrm>
          <a:prstGeom prst="line">
            <a:avLst/>
          </a:prstGeom>
          <a:ln w="254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4080" y="1444752"/>
            <a:ext cx="1938528" cy="9601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7" y="161848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Parent 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7" y="1947672"/>
            <a:ext cx="1719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9DB1C2"/>
                </a:solidFill>
                <a:latin typeface="Microsoft YaHei"/>
              </a:rPr>
              <a:t>final verdict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862072"/>
            <a:ext cx="3456432" cy="251460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862072"/>
            <a:ext cx="54864" cy="2514600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026664"/>
            <a:ext cx="3090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Bufotalin 负例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429000"/>
            <a:ext cx="3072384" cy="180136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ChemEnzy 可输出许多 raw routes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审计仍可能是 fake_closed_rejected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局部文献锚点不能替代 parent proof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2862072"/>
            <a:ext cx="3456432" cy="251460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2862072"/>
            <a:ext cx="54864" cy="2514600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3026664"/>
            <a:ext cx="3090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Blackboard 的贡献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429000"/>
            <a:ext cx="3072384" cy="180136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多轮开放研究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typed summary 与 artifact refs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预算、失败原因、工具调用可审计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2862072"/>
            <a:ext cx="3547872" cy="251460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2862072"/>
            <a:ext cx="54864" cy="251460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02666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Blackboard 的结构缺陷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429000"/>
            <a:ext cx="3163824" cy="180136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协作、扩展、证据和路线投影混存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同一边可能在多个队列状态不一致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适合记录协作，不适合承载 AND/OR 真相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代表提交 15ed2ca · f7d99f8 · 1f3a94c · c1c60a0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阶段 V：Evidence-first——广泛生成，狭窄授权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2542032" cy="14173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54864" cy="1417320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17904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2157984" cy="70408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提出断键与替代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53312"/>
            <a:ext cx="2542032" cy="14173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53312"/>
            <a:ext cx="54864" cy="141732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17904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920240"/>
            <a:ext cx="2157984" cy="70408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绑定文档与页面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2542032" cy="14173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54864" cy="1417320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17904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57984" cy="70408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结构 / 映射 / 库存重放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353312"/>
            <a:ext cx="2542032" cy="141732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1353312"/>
            <a:ext cx="54864" cy="1417320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517904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PUBLICATION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920240"/>
            <a:ext cx="2157984" cy="70408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冻结一致 revision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27248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F8FB"/>
                </a:solidFill>
                <a:latin typeface="Microsoft YaHei"/>
              </a:rPr>
              <a:t>Reaction Hypergraph V2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4160520"/>
            <a:ext cx="384048" cy="384048"/>
          </a:xfrm>
          <a:prstGeom prst="ellipse">
            <a:avLst/>
          </a:prstGeom>
          <a:solidFill>
            <a:srgbClr val="F47C70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03120" y="3657600"/>
            <a:ext cx="384048" cy="384048"/>
          </a:xfrm>
          <a:prstGeom prst="ellipse">
            <a:avLst/>
          </a:prstGeom>
          <a:solidFill>
            <a:srgbClr val="F5B84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03120" y="4663440"/>
            <a:ext cx="384048" cy="384048"/>
          </a:xfrm>
          <a:prstGeom prst="ellipse">
            <a:avLst/>
          </a:prstGeom>
          <a:solidFill>
            <a:srgbClr val="66A3FF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3280" y="4160520"/>
            <a:ext cx="384048" cy="384048"/>
          </a:xfrm>
          <a:prstGeom prst="ellipse">
            <a:avLst/>
          </a:prstGeom>
          <a:solidFill>
            <a:srgbClr val="2EBFA5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0288" y="4160520"/>
            <a:ext cx="384048" cy="384048"/>
          </a:xfrm>
          <a:prstGeom prst="ellipse">
            <a:avLst/>
          </a:prstGeom>
          <a:solidFill>
            <a:srgbClr val="42D6E8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1344168" y="3849624"/>
            <a:ext cx="758952" cy="502920"/>
          </a:xfrm>
          <a:prstGeom prst="line">
            <a:avLst/>
          </a:prstGeom>
          <a:ln w="19050">
            <a:solidFill>
              <a:srgbClr val="6D8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44168" y="4352544"/>
            <a:ext cx="758952" cy="502920"/>
          </a:xfrm>
          <a:prstGeom prst="line">
            <a:avLst/>
          </a:prstGeom>
          <a:ln w="19050">
            <a:solidFill>
              <a:srgbClr val="6D8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87168" y="3849624"/>
            <a:ext cx="896112" cy="502920"/>
          </a:xfrm>
          <a:prstGeom prst="line">
            <a:avLst/>
          </a:prstGeom>
          <a:ln w="19050">
            <a:solidFill>
              <a:srgbClr val="6D8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487168" y="4352544"/>
            <a:ext cx="896112" cy="502920"/>
          </a:xfrm>
          <a:prstGeom prst="line">
            <a:avLst/>
          </a:prstGeom>
          <a:ln w="19050">
            <a:solidFill>
              <a:srgbClr val="6D8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67328" y="4352544"/>
            <a:ext cx="822960" cy="0"/>
          </a:xfrm>
          <a:prstGeom prst="line">
            <a:avLst/>
          </a:prstGeom>
          <a:ln w="19050">
            <a:solidFill>
              <a:srgbClr val="6D8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5349240"/>
            <a:ext cx="4480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DB1C2"/>
                </a:solidFill>
                <a:latin typeface="Microsoft YaHei"/>
              </a:rPr>
              <a:t>完整前体集合 → 一个产物
保留会聚反应的 AND 语义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96128" y="3108960"/>
            <a:ext cx="6016752" cy="25786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6128" y="3108960"/>
            <a:ext cx="54864" cy="2578608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273552"/>
            <a:ext cx="5650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逐边可信度规则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3675887"/>
            <a:ext cx="5632704" cy="18653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多个 Codex child = 一个 codex_model 相关组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DOI 字符串或模型转述 ≠ exact evidence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路线强度 = 最弱反应边 + 未闭合叶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Verifier outcome 覆盖 producer 自报状态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代表提交 38e8569 · 4309788 · c613a49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阶段 VI：Canonical V4——四个单一权威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89888"/>
            <a:ext cx="2542032" cy="148132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864" cy="1481328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54480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RunKernel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56816"/>
            <a:ext cx="2157984" cy="76809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事件 · 恢复 · 任务 · 预算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89888"/>
            <a:ext cx="2542032" cy="148132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89888"/>
            <a:ext cx="54864" cy="1481328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54480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Canonical Hypergraph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956816"/>
            <a:ext cx="2157984" cy="76809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分子 · 超边 · 来源 · 库存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89888"/>
            <a:ext cx="2542032" cy="148132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389888"/>
            <a:ext cx="54864" cy="1481328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DeficitFrontier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2157984" cy="76809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唯一待办与调度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389888"/>
            <a:ext cx="2542032" cy="148132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1389888"/>
            <a:ext cx="54864" cy="1481328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554480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Proof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956816"/>
            <a:ext cx="2157984" cy="76809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最弱证明 · 多样性 · 验收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25296" y="3429000"/>
            <a:ext cx="9738360" cy="1481328"/>
          </a:xfrm>
          <a:prstGeom prst="roundRect">
            <a:avLst/>
          </a:prstGeom>
          <a:solidFill>
            <a:srgbClr val="15374F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6192" y="3685032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8FB"/>
                </a:solidFill>
                <a:latin typeface="Microsoft YaHei"/>
              </a:rPr>
              <a:t>GlobalCampaignDirector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14223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DB1C2"/>
                </a:solidFill>
                <a:latin typeface="Microsoft YaHei"/>
              </a:rPr>
              <a:t>路线族 · 共享中间体 · 全局转向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712463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47C70"/>
                </a:solidFill>
                <a:latin typeface="Microsoft YaHei"/>
              </a:rPr>
              <a:t>PROPOSAL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32120" y="4114800"/>
            <a:ext cx="1033272" cy="0"/>
          </a:xfrm>
          <a:prstGeom prst="line">
            <a:avLst/>
          </a:prstGeom>
          <a:ln w="31750">
            <a:solidFill>
              <a:srgbClr val="F47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48272" y="3639312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Host: admission → materialize
→ validate → evidence → 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2D6E8"/>
                </a:solidFill>
                <a:latin typeface="Microsoft YaHei"/>
              </a:rPr>
              <a:t>CLI / API / Web / 恢复 / 导出都是适配器，不再持有第二份化学状态。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2026-07-13：13 个提交完成主线权威收口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阶段 VII：陌生目标与来源闭环——HTML-first，有界降级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444752"/>
            <a:ext cx="2468880" cy="7680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45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官方 HTML/XML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0672" y="1828800"/>
            <a:ext cx="329184" cy="0"/>
          </a:xfrm>
          <a:prstGeom prst="line">
            <a:avLst/>
          </a:prstGeom>
          <a:ln w="27940">
            <a:solidFill>
              <a:srgbClr val="45C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444752"/>
            <a:ext cx="2468880" cy="7680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673352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PDF 原生文本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828800"/>
            <a:ext cx="329184" cy="0"/>
          </a:xfrm>
          <a:prstGeom prst="line">
            <a:avLst/>
          </a:prstGeom>
          <a:ln w="27940">
            <a:solidFill>
              <a:srgbClr val="2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27648" y="1444752"/>
            <a:ext cx="2468880" cy="7680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673352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本地 OCR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96528" y="1828800"/>
            <a:ext cx="329184" cy="0"/>
          </a:xfrm>
          <a:prstGeom prst="line">
            <a:avLst/>
          </a:prstGeom>
          <a:ln w="27940">
            <a:solidFill>
              <a:srgbClr val="F5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0576" y="1444752"/>
            <a:ext cx="2468880" cy="7680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0303" y="1673352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视觉 L0 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45059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2D6E8"/>
                </a:solidFill>
                <a:latin typeface="Microsoft YaHei"/>
              </a:rPr>
              <a:t>上一级已闭合，不进入更昂贵、更不确定的下一级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090672"/>
            <a:ext cx="3401568" cy="2267712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090672"/>
            <a:ext cx="54864" cy="2267712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5526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Target-only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3017520" cy="1554480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任意陌生 SMILES 冷启动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全局 campaign + host validation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失败保留为具名 deficit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090672"/>
            <a:ext cx="3401568" cy="2267712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090672"/>
            <a:ext cx="54864" cy="2267712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25526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Self-evolution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57600"/>
            <a:ext cx="3017520" cy="1554480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exact patent row + accepted proof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原例 replay 后才可入库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复用边仍从 L0 重新验证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090672"/>
            <a:ext cx="3401568" cy="2267712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3090672"/>
            <a:ext cx="54864" cy="2267712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5526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展示边界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57600"/>
            <a:ext cx="3017520" cy="1554480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部分条件明确显示为部分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颜色只投影 proof，不创造 proof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视觉结果不能直升 L2/L3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代表提交 3dba045 · 1b4afb2 · cc1a48a · 2be8e6c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五类代表案例：成功、受限成功与诚实失败必须同时审阅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3401568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54864" cy="1664208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1790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Bufotalin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3017520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复杂目标负例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大量候选仍未闭合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53312"/>
            <a:ext cx="3401568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53312"/>
            <a:ext cx="54864" cy="1664208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1790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Nirmatrelvir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920240"/>
            <a:ext cx="3017520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确定性 replay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2 路线 · 0 模型调用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353312"/>
            <a:ext cx="3401568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353312"/>
            <a:ext cx="54864" cy="1664208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1790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Artemisinin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精确来源案卷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2 路线 · 4 库存叶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64992"/>
            <a:ext cx="3401568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64992"/>
            <a:ext cx="54864" cy="1664208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958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Paclitaxel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931920"/>
            <a:ext cx="3017520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战略多路线族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3 路线族仍停在 L0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364992"/>
            <a:ext cx="3401568" cy="166420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364992"/>
            <a:ext cx="54864" cy="1664208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529584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Blind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931920"/>
            <a:ext cx="3017520" cy="95097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陌生目标验收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4 目标 · 0 假闭合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5440680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Microsoft YaHei"/>
              </a:rPr>
              <a:t>审阅重点：系统当前证据允许说到哪一步？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Git history · main@04d9034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Nirmatrelvir 与 Artemisinin：两种可重放闭环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71600"/>
            <a:ext cx="5285232" cy="451713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54864" cy="4517136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49194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Nirmatrelvir · 科学 replay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01952"/>
            <a:ext cx="4919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6A3FF"/>
                </a:solidFill>
                <a:latin typeface="Microsoft YaHei"/>
              </a:rPr>
              <a:t>2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41448"/>
            <a:ext cx="4901184" cy="331012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冻结案卷验证运行内核与恢复一致性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2 条完整路线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12 条规范超边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15 条精确来源记录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7 个库存叶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 次模型 / 视觉调用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371600"/>
            <a:ext cx="5468112" cy="451713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371600"/>
            <a:ext cx="54864" cy="4517136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536192"/>
            <a:ext cx="5102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Artemisinin · 精确来源案卷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901952"/>
            <a:ext cx="5102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EBFA5"/>
                </a:solidFill>
                <a:latin typeface="Microsoft YaHei"/>
              </a:rPr>
              <a:t>2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41448"/>
            <a:ext cx="5084064" cy="331012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采购边界 A：青蒿酸 → DHAA → 青蒿素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采购边界 B：直接采购 DHAA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2 条验证超边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3 条精确来源记录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4 个库存叶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氢气 / 氧气作为真实叶节点审计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来源：README.md · config/examples/*_v4_*pack.json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Bufotalin 与 Paclitaxel：路线图规模不能替代逐边证明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5285232" cy="452628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54864" cy="4526280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17904"/>
            <a:ext cx="49194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Bufotalin · hard negative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4919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7C70"/>
                </a:solidFill>
                <a:latin typeface="Microsoft YaHei"/>
              </a:rPr>
              <a:t>≠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4901184" cy="3319272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ChemEnzy raw routes 很多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审计状态：fake_closed_rejected / partial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文献锚点不等于完整 parent route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推动 Codex-entry、failure critic 与 deterministic verdict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353312"/>
            <a:ext cx="5468112" cy="452628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353312"/>
            <a:ext cx="54864" cy="452628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517904"/>
            <a:ext cx="5102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Paclitaxel · bounded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83664"/>
            <a:ext cx="5102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B84B"/>
                </a:solidFill>
                <a:latin typeface="Microsoft YaHei"/>
              </a:rPr>
              <a:t>3 families · L0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23160"/>
            <a:ext cx="5084064" cy="3319272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Formal C13 ester：model only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Ojima β-lactam：analogy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Biosynthetic tailoring：analogy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共享 baccatin III 核心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hypotheses_are_not_routes = true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unresolved_is_expected =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来源：历史 Bufotalin 审计 · paclitaxel_v4_bounded_showcase_plan.json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Blind panel：4 个目标、4 次模型调用、0 条假闭合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847087"/>
            <a:ext cx="969264" cy="2468880"/>
          </a:xfrm>
          <a:prstGeom prst="rect">
            <a:avLst/>
          </a:prstGeom>
          <a:solidFill>
            <a:srgbClr val="45C486"/>
          </a:solidFill>
          <a:ln w="12700">
            <a:solidFill>
              <a:srgbClr val="45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425696"/>
            <a:ext cx="9692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9DB1C2"/>
                </a:solidFill>
                <a:latin typeface="Microsoft YaHei"/>
              </a:rPr>
              <a:t>B0
Blind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39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5C486"/>
                </a:solidFill>
                <a:latin typeface="Microsoft YaHei"/>
              </a:rPr>
              <a:t>4/4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9696" y="1847087"/>
            <a:ext cx="969264" cy="2468880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4425696"/>
            <a:ext cx="9692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9DB1C2"/>
                </a:solidFill>
                <a:latin typeface="Microsoft YaHei"/>
              </a:rPr>
              <a:t>B1
Multi-route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1463039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EBFA5"/>
                </a:solidFill>
                <a:latin typeface="Microsoft YaHei"/>
              </a:rPr>
              <a:t>4/4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21024" y="3081527"/>
            <a:ext cx="969264" cy="1234440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4425696"/>
            <a:ext cx="9692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9DB1C2"/>
                </a:solidFill>
                <a:latin typeface="Microsoft YaHei"/>
              </a:rPr>
              <a:t>B2
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97479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6A3FF"/>
                </a:solidFill>
                <a:latin typeface="Microsoft YaHei"/>
              </a:rPr>
              <a:t>2/4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4261104"/>
            <a:ext cx="969264" cy="54864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4425696"/>
            <a:ext cx="9692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9DB1C2"/>
                </a:solidFill>
                <a:latin typeface="Microsoft YaHei"/>
              </a:rPr>
              <a:t>B3
Exact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3877056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47C70"/>
                </a:solidFill>
                <a:latin typeface="Microsoft YaHei"/>
              </a:rPr>
              <a:t>0/4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64307"/>
            <a:ext cx="969264" cy="185166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425696"/>
            <a:ext cx="9692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9DB1C2"/>
                </a:solidFill>
                <a:latin typeface="Microsoft YaHei"/>
              </a:rPr>
              <a:t>B4
Stock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80259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B84B"/>
                </a:solidFill>
                <a:latin typeface="Microsoft YaHei"/>
              </a:rPr>
              <a:t>3/4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3081527"/>
            <a:ext cx="969264" cy="1234440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4425696"/>
            <a:ext cx="9692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9DB1C2"/>
                </a:solidFill>
                <a:latin typeface="Microsoft YaHei"/>
              </a:rPr>
              <a:t>B5
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697479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2D6E8"/>
                </a:solidFill>
                <a:latin typeface="Microsoft YaHei"/>
              </a:rPr>
              <a:t>2/4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353312"/>
            <a:ext cx="2286000" cy="3977639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353312"/>
            <a:ext cx="54864" cy="3977639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51790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资源与真实性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20240"/>
            <a:ext cx="1901952" cy="3264407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4 model calls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72,083 input tokens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25,477 output tokens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151 attempts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43 accepted edges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4/4 within budget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0 false closures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248656"/>
            <a:ext cx="8366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F8FB"/>
                </a:solidFill>
                <a:latin typeface="Microsoft YaHei"/>
              </a:rPr>
              <a:t>B5 是配置策略 acceptance，不自动等于 evidence-grade 或 procurement-ready。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来源：benchmarks/results/blind_benchmark_summary.v1.json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理念进步：六条纵向主线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44168"/>
            <a:ext cx="5230368" cy="12252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545336"/>
            <a:ext cx="1005840" cy="310896"/>
          </a:xfrm>
          <a:prstGeom prst="round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7733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智能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72768"/>
            <a:ext cx="3493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单点预测 → campaign 全局决策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44168"/>
            <a:ext cx="5230368" cy="12252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7648" y="1545336"/>
            <a:ext cx="1005840" cy="310896"/>
          </a:xfrm>
          <a:prstGeom prst="round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7733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权威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1572768"/>
            <a:ext cx="3493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producer 自报 → 最弱环节验收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98648"/>
            <a:ext cx="5230368" cy="12252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3099816"/>
            <a:ext cx="1005840" cy="310896"/>
          </a:xfrm>
          <a:prstGeom prst="round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13182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27248"/>
            <a:ext cx="3493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多个投影 → 单一事实源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898648"/>
            <a:ext cx="5230368" cy="12252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3099816"/>
            <a:ext cx="1005840" cy="310896"/>
          </a:xfrm>
          <a:prstGeom prst="round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13182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拓扑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3127248"/>
            <a:ext cx="3493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slot chain → AND/OR hypergraph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53128"/>
            <a:ext cx="5230368" cy="12252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" y="4654296"/>
            <a:ext cx="1005840" cy="310896"/>
          </a:xfrm>
          <a:prstGeom prst="round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6863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681728"/>
            <a:ext cx="3493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有引用 → 逐边来源生命周期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453128"/>
            <a:ext cx="5230368" cy="122529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45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27648" y="4654296"/>
            <a:ext cx="1005840" cy="310896"/>
          </a:xfrm>
          <a:prstGeom prst="roundRect">
            <a:avLst/>
          </a:prstGeom>
          <a:solidFill>
            <a:srgbClr val="45C486"/>
          </a:solidFill>
          <a:ln w="12700">
            <a:solidFill>
              <a:srgbClr val="45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6863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71526"/>
                </a:solidFill>
                <a:latin typeface="Microsoft YaHei"/>
              </a:rPr>
              <a:t>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4681728"/>
            <a:ext cx="34930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搜索参数 → 一等公民合同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Git history · main@04d9034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当前成熟度：主线已收口，完整产品证明仍有四个最弱轴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89888"/>
            <a:ext cx="5230368" cy="157276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864" cy="1572768"/>
          </a:xfrm>
          <a:prstGeom prst="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54480"/>
            <a:ext cx="48646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真实库存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56816"/>
            <a:ext cx="4846320" cy="85953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需要版本化供应商快照、offer 过期与撤销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54480"/>
            <a:ext cx="1234440" cy="310896"/>
          </a:xfrm>
          <a:prstGeom prst="roundRect">
            <a:avLst/>
          </a:prstGeom>
          <a:solidFill>
            <a:srgbClr val="F47C70"/>
          </a:solidFill>
          <a:ln w="12700">
            <a:solidFill>
              <a:srgbClr val="F4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58648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526"/>
                </a:solidFill>
                <a:latin typeface="Microsoft YaHei"/>
              </a:rPr>
              <a:t>MIGRATING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89888"/>
            <a:ext cx="5230368" cy="157276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89888"/>
            <a:ext cx="54864" cy="1572768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554480"/>
            <a:ext cx="48646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工艺条件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956816"/>
            <a:ext cx="4846320" cy="85953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需完整 condition / procedure proof 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554480"/>
            <a:ext cx="1234440" cy="310896"/>
          </a:xfrm>
          <a:prstGeom prst="round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58648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526"/>
                </a:solidFill>
                <a:latin typeface="Microsoft YaHei"/>
              </a:rPr>
              <a:t>PARTIAL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55848"/>
            <a:ext cx="5230368" cy="157276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55848"/>
            <a:ext cx="54864" cy="1572768"/>
          </a:xfrm>
          <a:prstGeom prst="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20440"/>
            <a:ext cx="48646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Blind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922776"/>
            <a:ext cx="4846320" cy="85953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integrated 不等于复杂分子 acceptance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520440"/>
            <a:ext cx="1234440" cy="310896"/>
          </a:xfrm>
          <a:prstGeom prst="roundRect">
            <a:avLst/>
          </a:prstGeom>
          <a:solidFill>
            <a:srgbClr val="66A3FF"/>
          </a:solidFill>
          <a:ln w="12700">
            <a:solidFill>
              <a:srgbClr val="6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55244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526"/>
                </a:solidFill>
                <a:latin typeface="Microsoft YaHei"/>
              </a:rPr>
              <a:t>IN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355848"/>
            <a:ext cx="5230368" cy="1572768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355848"/>
            <a:ext cx="54864" cy="1572768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520440"/>
            <a:ext cx="48646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兼容清理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922776"/>
            <a:ext cx="4846320" cy="859536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需用遥测证明 Blackboard / V3 无权威双写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3520440"/>
            <a:ext cx="1234440" cy="310896"/>
          </a:xfrm>
          <a:prstGeom prst="round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355244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526"/>
                </a:solidFill>
                <a:latin typeface="Microsoft YaHei"/>
              </a:rPr>
              <a:t>CONTROLLED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41264"/>
            <a:ext cx="106253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Microsoft YaHei"/>
              </a:rPr>
              <a:t>审阅原则：能力已接入 ≠ 复杂目标已通过；失败样例和成本报告必须与成功样例同等保留。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来源：BLACKBOARD_CAPABILITY_MIGRATION.md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42D6E8"/>
                </a:solidFill>
                <a:latin typeface="Microsoft YaHei"/>
              </a:rPr>
              <a:t>REVIEW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8FB"/>
                </a:solidFill>
                <a:latin typeface="Microsoft YaHei"/>
              </a:rPr>
              <a:t>审阅结论与下一步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88136"/>
            <a:ext cx="11155680" cy="0"/>
          </a:xfrm>
          <a:prstGeom prst="line">
            <a:avLst/>
          </a:prstGeom>
          <a:ln w="12700">
            <a:solidFill>
              <a:srgbClr val="42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353312"/>
            <a:ext cx="4572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F8FB"/>
                </a:solidFill>
                <a:latin typeface="Microsoft YaHei"/>
              </a:rPr>
              <a:t>AutoPlanner 已从“模型集合”
演进为“权威边界清晰的系统”。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87168"/>
            <a:ext cx="4572000" cy="2468880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87168"/>
            <a:ext cx="54864" cy="2468880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6517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已经成立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054096"/>
            <a:ext cx="4187952" cy="1755648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Global Director 只做全局 proposal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四个 canonical 状态权威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逐边证据与最弱环节验收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可恢复、可重放、诚实失败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96128" y="1353312"/>
            <a:ext cx="6016752" cy="3602736"/>
          </a:xfrm>
          <a:prstGeom prst="roundRect">
            <a:avLst/>
          </a:prstGeom>
          <a:solidFill>
            <a:srgbClr val="102B42"/>
          </a:solidFill>
          <a:ln w="12700">
            <a:solidFill>
              <a:srgbClr val="2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96128" y="1353312"/>
            <a:ext cx="54864" cy="3602736"/>
          </a:xfrm>
          <a:prstGeom prst="rect">
            <a:avLst/>
          </a:prstGeom>
          <a:solidFill>
            <a:srgbClr val="42D6E8"/>
          </a:solidFill>
          <a:ln w="12700"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517904"/>
            <a:ext cx="5650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B"/>
                </a:solidFill>
                <a:latin typeface="Microsoft YaHei"/>
              </a:rPr>
              <a:t>建议下一个审阅周期固定交付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1920240"/>
            <a:ext cx="5632704" cy="2889504"/>
          </a:xfrm>
          <a:prstGeom prst="rect">
            <a:avLst/>
          </a:prstGeom>
          <a:noFill/>
        </p:spPr>
        <p:txBody>
          <a:bodyPr wrap="square" lIns="635" rIns="635" tIns="254" bIns="254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① 变更前后的唯一写入权威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② Schema / 数据迁移与兼容删除条件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③ 真实 end-to-end artifact + 失败样例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④ 成本、恢复与 zero-model replay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⑤ focused tests 与 blind acceptance 分开报告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80">
                <a:solidFill>
                  <a:srgbClr val="9DB1C2"/>
                </a:solidFill>
                <a:latin typeface="Microsoft YaHei"/>
              </a:rPr>
              <a:t>⑥ 真实库存与条件覆盖率作为主 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5330952"/>
            <a:ext cx="5623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2D6E8"/>
                </a:solidFill>
                <a:latin typeface="Microsoft YaHei"/>
              </a:rPr>
              <a:t>把“架构完成”继续推进为可审计的运行事实。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DB1C2"/>
                </a:solidFill>
                <a:latin typeface="Microsoft YaHei"/>
              </a:rPr>
              <a:t>Git history · main@04d9034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2D6E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