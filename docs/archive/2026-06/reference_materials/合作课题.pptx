
<file path=[Content_Types].xml><?xml version="1.0" encoding="utf-8"?>
<Types xmlns="http://schemas.openxmlformats.org/package/2006/content-types">
  <Default Extension="bin" ContentType="application/vnd.openxmlformats-officedocument.oleObject"/>
  <Default Extension="png" ContentType="image/png"/>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notesSlides/notesSlide1.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notesSlides/notesSlide2.xml" ContentType="application/vnd.openxmlformats-officedocument.presentationml.notesSlide+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notesSlides/notesSlide3.xml" ContentType="application/vnd.openxmlformats-officedocument.presentationml.notesSlide+xml"/>
  <Override PartName="/ppt/tags/tag57.xml" ContentType="application/vnd.openxmlformats-officedocument.presentationml.tags+xml"/>
  <Override PartName="/ppt/tags/tag58.xml" ContentType="application/vnd.openxmlformats-officedocument.presentationml.tags+xml"/>
  <Override PartName="/ppt/notesSlides/notesSlide4.xml" ContentType="application/vnd.openxmlformats-officedocument.presentationml.notesSlide+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6"/>
  </p:notesMasterIdLst>
  <p:sldIdLst>
    <p:sldId id="267" r:id="rId2"/>
    <p:sldId id="268" r:id="rId3"/>
    <p:sldId id="273" r:id="rId4"/>
    <p:sldId id="274" r:id="rId5"/>
    <p:sldId id="275" r:id="rId6"/>
    <p:sldId id="276" r:id="rId7"/>
    <p:sldId id="278" r:id="rId8"/>
    <p:sldId id="279" r:id="rId9"/>
    <p:sldId id="289" r:id="rId10"/>
    <p:sldId id="290" r:id="rId11"/>
    <p:sldId id="281" r:id="rId12"/>
    <p:sldId id="282" r:id="rId13"/>
    <p:sldId id="283" r:id="rId14"/>
    <p:sldId id="284" r:id="rId15"/>
    <p:sldId id="285" r:id="rId16"/>
    <p:sldId id="288" r:id="rId17"/>
    <p:sldId id="286" r:id="rId18"/>
    <p:sldId id="287" r:id="rId19"/>
    <p:sldId id="269" r:id="rId20"/>
    <p:sldId id="270" r:id="rId21"/>
    <p:sldId id="291" r:id="rId22"/>
    <p:sldId id="271" r:id="rId23"/>
    <p:sldId id="292" r:id="rId24"/>
    <p:sldId id="294" r:id="rId25"/>
    <p:sldId id="293" r:id="rId26"/>
    <p:sldId id="334" r:id="rId27"/>
    <p:sldId id="335" r:id="rId28"/>
    <p:sldId id="336" r:id="rId29"/>
    <p:sldId id="337" r:id="rId30"/>
    <p:sldId id="256" r:id="rId31"/>
    <p:sldId id="257" r:id="rId32"/>
    <p:sldId id="258" r:id="rId33"/>
    <p:sldId id="259" r:id="rId34"/>
    <p:sldId id="260" r:id="rId35"/>
    <p:sldId id="261" r:id="rId36"/>
    <p:sldId id="262" r:id="rId37"/>
    <p:sldId id="263" r:id="rId38"/>
    <p:sldId id="264" r:id="rId39"/>
    <p:sldId id="265" r:id="rId40"/>
    <p:sldId id="266" r:id="rId41"/>
    <p:sldId id="338" r:id="rId42"/>
    <p:sldId id="339" r:id="rId43"/>
    <p:sldId id="340" r:id="rId44"/>
    <p:sldId id="341" r:id="rId45"/>
    <p:sldId id="342" r:id="rId46"/>
    <p:sldId id="272" r:id="rId47"/>
    <p:sldId id="343" r:id="rId48"/>
    <p:sldId id="344" r:id="rId49"/>
    <p:sldId id="345" r:id="rId50"/>
    <p:sldId id="346" r:id="rId51"/>
    <p:sldId id="277" r:id="rId52"/>
    <p:sldId id="347" r:id="rId53"/>
    <p:sldId id="348" r:id="rId54"/>
    <p:sldId id="280" r:id="rId55"/>
    <p:sldId id="349" r:id="rId56"/>
    <p:sldId id="350" r:id="rId57"/>
    <p:sldId id="351" r:id="rId58"/>
    <p:sldId id="352" r:id="rId59"/>
    <p:sldId id="353" r:id="rId60"/>
    <p:sldId id="354" r:id="rId61"/>
    <p:sldId id="355" r:id="rId62"/>
    <p:sldId id="356" r:id="rId63"/>
    <p:sldId id="357" r:id="rId64"/>
    <p:sldId id="358" r:id="rId65"/>
    <p:sldId id="359" r:id="rId66"/>
    <p:sldId id="360" r:id="rId67"/>
    <p:sldId id="361" r:id="rId68"/>
    <p:sldId id="362" r:id="rId69"/>
    <p:sldId id="296" r:id="rId70"/>
    <p:sldId id="297" r:id="rId71"/>
    <p:sldId id="298" r:id="rId72"/>
    <p:sldId id="299" r:id="rId73"/>
    <p:sldId id="300" r:id="rId74"/>
    <p:sldId id="301" r:id="rId75"/>
    <p:sldId id="302" r:id="rId76"/>
    <p:sldId id="303" r:id="rId77"/>
    <p:sldId id="304" r:id="rId78"/>
    <p:sldId id="305" r:id="rId79"/>
    <p:sldId id="306" r:id="rId80"/>
    <p:sldId id="307" r:id="rId81"/>
    <p:sldId id="308" r:id="rId82"/>
    <p:sldId id="309" r:id="rId83"/>
    <p:sldId id="310" r:id="rId84"/>
    <p:sldId id="311" r:id="rId85"/>
    <p:sldId id="312" r:id="rId86"/>
    <p:sldId id="313" r:id="rId87"/>
    <p:sldId id="314" r:id="rId88"/>
    <p:sldId id="315" r:id="rId89"/>
    <p:sldId id="316" r:id="rId90"/>
    <p:sldId id="317" r:id="rId91"/>
    <p:sldId id="318" r:id="rId92"/>
    <p:sldId id="319" r:id="rId93"/>
    <p:sldId id="320" r:id="rId94"/>
    <p:sldId id="321" r:id="rId95"/>
    <p:sldId id="322" r:id="rId96"/>
    <p:sldId id="323" r:id="rId97"/>
    <p:sldId id="324" r:id="rId98"/>
    <p:sldId id="325" r:id="rId99"/>
    <p:sldId id="326" r:id="rId100"/>
    <p:sldId id="327" r:id="rId101"/>
    <p:sldId id="328" r:id="rId102"/>
    <p:sldId id="329" r:id="rId103"/>
    <p:sldId id="330" r:id="rId104"/>
    <p:sldId id="331" r:id="rId10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02EF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7BD4722-F1F9-43DE-912B-BC3AB9E171DB}" styleName="补充样式1">
    <a:wholeTbl>
      <a:tcTxStyle>
        <a:fontRef idx="none">
          <a:srgbClr val="08090C"/>
        </a:fontRef>
      </a:tcTxStyle>
      <a:tcStyle>
        <a:tcBdr>
          <a:left>
            <a:ln>
              <a:noFill/>
            </a:ln>
          </a:left>
          <a:right>
            <a:ln>
              <a:noFill/>
            </a:ln>
          </a:right>
          <a:top>
            <a:ln w="19050" cmpd="sng">
              <a:solidFill>
                <a:schemeClr val="accent1"/>
              </a:solidFill>
              <a:prstDash val="solid"/>
            </a:ln>
          </a:top>
          <a:bottom>
            <a:ln w="19050" cmpd="sng">
              <a:solidFill>
                <a:schemeClr val="accent1"/>
              </a:solidFill>
              <a:prstDash val="solid"/>
            </a:ln>
          </a:bottom>
          <a:insideH>
            <a:ln>
              <a:noFill/>
            </a:ln>
          </a:insideH>
          <a:insideV>
            <a:ln>
              <a:noFill/>
            </a:ln>
          </a:insideV>
        </a:tcBdr>
        <a:fill>
          <a:solidFill>
            <a:srgbClr val="FFFFFF"/>
          </a:solidFill>
        </a:fill>
      </a:tcStyle>
    </a:wholeTbl>
    <a:band2H>
      <a:tcStyle>
        <a:tcBdr/>
        <a:fill>
          <a:solidFill>
            <a:schemeClr val="accent1">
              <a:lumMod val="10001"/>
              <a:lumOff val="89999"/>
            </a:schemeClr>
          </a:solidFill>
        </a:fill>
      </a:tcStyle>
    </a:band2H>
    <a:band1V>
      <a:tcStyle>
        <a:tcBdr/>
        <a:fill>
          <a:solidFill>
            <a:schemeClr val="accent1">
              <a:lumMod val="10001"/>
              <a:lumOff val="89999"/>
            </a:schemeClr>
          </a:solidFill>
        </a:fill>
      </a:tcStyle>
    </a:band1V>
    <a:lastCol>
      <a:tcTxStyle b="on">
        <a:fontRef idx="none">
          <a:srgbClr val="08090C"/>
        </a:fontRef>
      </a:tcTxStyle>
      <a:tcStyle>
        <a:tcBdr/>
        <a:fill>
          <a:solidFill>
            <a:schemeClr val="accent1">
              <a:lumMod val="20002"/>
              <a:lumOff val="79998"/>
            </a:schemeClr>
          </a:solidFill>
        </a:fill>
      </a:tcStyle>
    </a:lastCol>
    <a:firstCol>
      <a:tcTxStyle b="on">
        <a:fontRef idx="none">
          <a:schemeClr val="accent1"/>
        </a:fontRef>
      </a:tcTxStyle>
      <a:tcStyle>
        <a:tcBdr/>
        <a:fill>
          <a:solidFill>
            <a:schemeClr val="accent1">
              <a:lumMod val="20002"/>
              <a:lumOff val="79998"/>
            </a:schemeClr>
          </a:solidFill>
        </a:fill>
      </a:tcStyle>
    </a:firstCol>
    <a:lastRow>
      <a:tcTxStyle b="on">
        <a:fontRef idx="none">
          <a:schemeClr val="accent1"/>
        </a:fontRef>
      </a:tcTxStyle>
      <a:tcStyle>
        <a:tcBdr>
          <a:left>
            <a:ln>
              <a:noFill/>
            </a:ln>
          </a:left>
          <a:right>
            <a:ln>
              <a:noFill/>
            </a:ln>
          </a:right>
          <a:top>
            <a:ln w="9525" cmpd="sng">
              <a:solidFill>
                <a:schemeClr val="accent1"/>
              </a:solidFill>
              <a:prstDash val="solid"/>
            </a:ln>
          </a:top>
          <a:bottom>
            <a:ln w="12700" cmpd="sng">
              <a:solidFill>
                <a:schemeClr val="accent1"/>
              </a:solidFill>
              <a:prstDash val="solid"/>
            </a:ln>
          </a:bottom>
          <a:insideH>
            <a:ln>
              <a:noFill/>
            </a:ln>
          </a:insideH>
          <a:insideV>
            <a:ln>
              <a:noFill/>
            </a:ln>
          </a:insideV>
        </a:tcBdr>
        <a:fill>
          <a:solidFill>
            <a:srgbClr val="FFFFFF"/>
          </a:solidFill>
        </a:fill>
      </a:tcStyle>
    </a:lastRow>
    <a:firstRow>
      <a:tcTxStyle b="on">
        <a:fontRef idx="none">
          <a:schemeClr val="accent1"/>
        </a:fontRef>
      </a:tcTxStyle>
      <a:tcStyle>
        <a:tcBdr>
          <a:left>
            <a:ln>
              <a:noFill/>
            </a:ln>
          </a:left>
          <a:right>
            <a:ln>
              <a:noFill/>
            </a:ln>
          </a:right>
          <a:top>
            <a:ln w="19050" cmpd="sng">
              <a:solidFill>
                <a:schemeClr val="accent1"/>
              </a:solidFill>
              <a:prstDash val="solid"/>
            </a:ln>
          </a:top>
          <a:bottom>
            <a:ln w="9525" cmpd="sng">
              <a:solidFill>
                <a:schemeClr val="accent1"/>
              </a:solidFill>
              <a:prstDash val="solid"/>
            </a:ln>
          </a:bottom>
          <a:insideH>
            <a:ln>
              <a:noFill/>
            </a:ln>
          </a:insideH>
          <a:insideV>
            <a:ln>
              <a:noFill/>
            </a:ln>
          </a:insideV>
        </a:tcBdr>
        <a:fill>
          <a:solidFill>
            <a:srgbClr val="FFFFFF"/>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60"/>
  </p:normalViewPr>
  <p:slideViewPr>
    <p:cSldViewPr snapToGrid="0">
      <p:cViewPr varScale="1">
        <p:scale>
          <a:sx n="140" d="100"/>
          <a:sy n="140" d="100"/>
        </p:scale>
        <p:origin x="144" y="816"/>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presProps" Target="presProp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viewProps" Target="view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theme" Target="theme/theme1.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image" Target="../media/image1.emf"/><Relationship Id="rId4" Type="http://schemas.openxmlformats.org/officeDocument/2006/relationships/image" Target="../media/image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15.emf"/><Relationship Id="rId1" Type="http://schemas.openxmlformats.org/officeDocument/2006/relationships/image" Target="../media/image14.emf"/><Relationship Id="rId5" Type="http://schemas.openxmlformats.org/officeDocument/2006/relationships/image" Target="../media/image18.emf"/><Relationship Id="rId4" Type="http://schemas.openxmlformats.org/officeDocument/2006/relationships/image" Target="../media/image17.e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20.emf"/><Relationship Id="rId1" Type="http://schemas.openxmlformats.org/officeDocument/2006/relationships/image" Target="../media/image19.emf"/><Relationship Id="rId6" Type="http://schemas.openxmlformats.org/officeDocument/2006/relationships/image" Target="../media/image24.emf"/><Relationship Id="rId5" Type="http://schemas.openxmlformats.org/officeDocument/2006/relationships/image" Target="../media/image23.emf"/><Relationship Id="rId4" Type="http://schemas.openxmlformats.org/officeDocument/2006/relationships/image" Target="../media/image22.e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image" Target="../media/image25.e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image" Target="../media/image27.e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18.emf"/><Relationship Id="rId1" Type="http://schemas.openxmlformats.org/officeDocument/2006/relationships/image" Target="../media/image17.emf"/><Relationship Id="rId6" Type="http://schemas.openxmlformats.org/officeDocument/2006/relationships/image" Target="../media/image28.emf"/><Relationship Id="rId5" Type="http://schemas.openxmlformats.org/officeDocument/2006/relationships/image" Target="../media/image26.emf"/><Relationship Id="rId4" Type="http://schemas.openxmlformats.org/officeDocument/2006/relationships/image" Target="../media/image22.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29.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36.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37.emf"/></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40.emf"/><Relationship Id="rId1" Type="http://schemas.openxmlformats.org/officeDocument/2006/relationships/image" Target="../media/image39.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41.emf"/></Relationships>
</file>

<file path=ppt/drawings/_rels/vmlDrawing21.vml.rels><?xml version="1.0" encoding="UTF-8" standalone="yes"?>
<Relationships xmlns="http://schemas.openxmlformats.org/package/2006/relationships"><Relationship Id="rId2" Type="http://schemas.openxmlformats.org/officeDocument/2006/relationships/image" Target="../media/image43.emf"/><Relationship Id="rId1" Type="http://schemas.openxmlformats.org/officeDocument/2006/relationships/image" Target="../media/image42.e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44.emf"/></Relationships>
</file>

<file path=ppt/drawings/_rels/vmlDrawing23.vml.rels><?xml version="1.0" encoding="UTF-8" standalone="yes"?>
<Relationships xmlns="http://schemas.openxmlformats.org/package/2006/relationships"><Relationship Id="rId2" Type="http://schemas.openxmlformats.org/officeDocument/2006/relationships/image" Target="../media/image47.emf"/><Relationship Id="rId1" Type="http://schemas.openxmlformats.org/officeDocument/2006/relationships/image" Target="../media/image46.e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48.e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49.e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29.e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53.e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54.e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55.e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55.emf"/></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57.emf"/></Relationships>
</file>

<file path=ppt/drawings/_rels/vmlDrawing33.vml.rels><?xml version="1.0" encoding="UTF-8" standalone="yes"?>
<Relationships xmlns="http://schemas.openxmlformats.org/package/2006/relationships"><Relationship Id="rId1" Type="http://schemas.openxmlformats.org/officeDocument/2006/relationships/image" Target="../media/image58.emf"/></Relationships>
</file>

<file path=ppt/drawings/_rels/vmlDrawing34.vml.rels><?xml version="1.0" encoding="UTF-8" standalone="yes"?>
<Relationships xmlns="http://schemas.openxmlformats.org/package/2006/relationships"><Relationship Id="rId1" Type="http://schemas.openxmlformats.org/officeDocument/2006/relationships/image" Target="../media/image58.emf"/></Relationships>
</file>

<file path=ppt/drawings/_rels/vmlDrawing35.vml.rels><?xml version="1.0" encoding="UTF-8" standalone="yes"?>
<Relationships xmlns="http://schemas.openxmlformats.org/package/2006/relationships"><Relationship Id="rId1" Type="http://schemas.openxmlformats.org/officeDocument/2006/relationships/image" Target="../media/image60.emf"/></Relationships>
</file>

<file path=ppt/drawings/_rels/vmlDrawing36.vml.rels><?xml version="1.0" encoding="UTF-8" standalone="yes"?>
<Relationships xmlns="http://schemas.openxmlformats.org/package/2006/relationships"><Relationship Id="rId1" Type="http://schemas.openxmlformats.org/officeDocument/2006/relationships/image" Target="../media/image58.emf"/></Relationships>
</file>

<file path=ppt/drawings/_rels/vmlDrawing37.vml.rels><?xml version="1.0" encoding="UTF-8" standalone="yes"?>
<Relationships xmlns="http://schemas.openxmlformats.org/package/2006/relationships"><Relationship Id="rId1" Type="http://schemas.openxmlformats.org/officeDocument/2006/relationships/image" Target="../media/image61.emf"/></Relationships>
</file>

<file path=ppt/drawings/_rels/vmlDrawing38.vml.rels><?xml version="1.0" encoding="UTF-8" standalone="yes"?>
<Relationships xmlns="http://schemas.openxmlformats.org/package/2006/relationships"><Relationship Id="rId1" Type="http://schemas.openxmlformats.org/officeDocument/2006/relationships/image" Target="../media/image58.emf"/></Relationships>
</file>

<file path=ppt/drawings/_rels/vmlDrawing39.vml.rels><?xml version="1.0" encoding="UTF-8" standalone="yes"?>
<Relationships xmlns="http://schemas.openxmlformats.org/package/2006/relationships"><Relationship Id="rId1" Type="http://schemas.openxmlformats.org/officeDocument/2006/relationships/image" Target="../media/image62.emf"/></Relationships>
</file>

<file path=ppt/drawings/_rels/vmlDrawing40.vml.rels><?xml version="1.0" encoding="UTF-8" standalone="yes"?>
<Relationships xmlns="http://schemas.openxmlformats.org/package/2006/relationships"><Relationship Id="rId1" Type="http://schemas.openxmlformats.org/officeDocument/2006/relationships/image" Target="../media/image62.emf"/></Relationships>
</file>

<file path=ppt/drawings/_rels/vmlDrawing41.vml.rels><?xml version="1.0" encoding="UTF-8" standalone="yes"?>
<Relationships xmlns="http://schemas.openxmlformats.org/package/2006/relationships"><Relationship Id="rId1" Type="http://schemas.openxmlformats.org/officeDocument/2006/relationships/image" Target="../media/image63.emf"/></Relationships>
</file>

<file path=ppt/drawings/_rels/vmlDrawing42.vml.rels><?xml version="1.0" encoding="UTF-8" standalone="yes"?>
<Relationships xmlns="http://schemas.openxmlformats.org/package/2006/relationships"><Relationship Id="rId1" Type="http://schemas.openxmlformats.org/officeDocument/2006/relationships/image" Target="../media/image64.emf"/></Relationships>
</file>

<file path=ppt/drawings/_rels/vmlDrawing43.vml.rels><?xml version="1.0" encoding="UTF-8" standalone="yes"?>
<Relationships xmlns="http://schemas.openxmlformats.org/package/2006/relationships"><Relationship Id="rId1" Type="http://schemas.openxmlformats.org/officeDocument/2006/relationships/image" Target="../media/image66.emf"/></Relationships>
</file>

<file path=ppt/drawings/_rels/vmlDrawing44.vml.rels><?xml version="1.0" encoding="UTF-8" standalone="yes"?>
<Relationships xmlns="http://schemas.openxmlformats.org/package/2006/relationships"><Relationship Id="rId1" Type="http://schemas.openxmlformats.org/officeDocument/2006/relationships/image" Target="../media/image69.emf"/></Relationships>
</file>

<file path=ppt/drawings/_rels/vmlDrawing45.vml.rels><?xml version="1.0" encoding="UTF-8" standalone="yes"?>
<Relationships xmlns="http://schemas.openxmlformats.org/package/2006/relationships"><Relationship Id="rId1" Type="http://schemas.openxmlformats.org/officeDocument/2006/relationships/image" Target="../media/image71.emf"/></Relationships>
</file>

<file path=ppt/drawings/_rels/vmlDrawing46.vml.rels><?xml version="1.0" encoding="UTF-8" standalone="yes"?>
<Relationships xmlns="http://schemas.openxmlformats.org/package/2006/relationships"><Relationship Id="rId1" Type="http://schemas.openxmlformats.org/officeDocument/2006/relationships/image" Target="../media/image72.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2026/5/20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42895961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幻灯片图像占位符 1"/>
          <p:cNvSpPr>
            <a:spLocks noGrp="1" noRot="1" noChangeAspect="1"/>
          </p:cNvSpPr>
          <p:nvPr>
            <p:ph type="sldImg"/>
          </p:nvPr>
        </p:nvSpPr>
        <p:spPr/>
      </p:sp>
      <p:sp>
        <p:nvSpPr>
          <p:cNvPr id="5122" name="文本占位符 2"/>
          <p:cNvSpPr>
            <a:spLocks noGrp="1"/>
          </p:cNvSpPr>
          <p:nvPr>
            <p:ph type="body"/>
          </p:nvPr>
        </p:nvSpPr>
        <p:spPr/>
        <p:txBody>
          <a:bodyPr lIns="91440" tIns="45720" rIns="91440" bIns="45720" anchor="t" anchorCtr="0"/>
          <a:lstStyle/>
          <a:p>
            <a:pPr lvl="0"/>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LTMP:</a:t>
            </a:r>
            <a:r>
              <a:rPr lang="zh-CN" altLang="en-US"/>
              <a:t>四甲基哌啶锂</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LTMP:</a:t>
            </a:r>
            <a:r>
              <a:rPr lang="zh-CN" altLang="en-US"/>
              <a:t>四甲基哌啶锂</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3A06CCD-B122-4504-9D11-BDFBEB0B4C36}" type="slidenum">
              <a:rPr lang="zh-CN" altLang="en-US" smtClean="0"/>
              <a:t>97</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710B9B72-9748-4038-825B-0D06FBF04B16}" type="datetimeFigureOut">
              <a:rPr lang="zh-CN" altLang="en-US" smtClean="0"/>
              <a:t>2026/5/20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83FA533-8C13-4A42-846A-BEAC8142F662}"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710B9B72-9748-4038-825B-0D06FBF04B16}" type="datetimeFigureOut">
              <a:rPr lang="zh-CN" altLang="en-US" smtClean="0"/>
              <a:t>2026/5/20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83FA533-8C13-4A42-846A-BEAC8142F662}"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710B9B72-9748-4038-825B-0D06FBF04B16}" type="datetimeFigureOut">
              <a:rPr lang="zh-CN" altLang="en-US" smtClean="0"/>
              <a:t>2026/5/20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83FA533-8C13-4A42-846A-BEAC8142F662}"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710B9B72-9748-4038-825B-0D06FBF04B16}" type="datetimeFigureOut">
              <a:rPr lang="zh-CN" altLang="en-US" smtClean="0"/>
              <a:t>2026/5/20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83FA533-8C13-4A42-846A-BEAC8142F662}"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710B9B72-9748-4038-825B-0D06FBF04B16}" type="datetimeFigureOut">
              <a:rPr lang="zh-CN" altLang="en-US" smtClean="0"/>
              <a:t>2026/5/20</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A83FA533-8C13-4A42-846A-BEAC8142F662}"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10B9B72-9748-4038-825B-0D06FBF04B16}" type="datetimeFigureOut">
              <a:rPr lang="zh-CN" altLang="en-US" smtClean="0"/>
              <a:t>2026/5/20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A83FA533-8C13-4A42-846A-BEAC8142F662}"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10B9B72-9748-4038-825B-0D06FBF04B16}" type="datetimeFigureOut">
              <a:rPr lang="zh-CN" altLang="en-US" smtClean="0"/>
              <a:t>2026/5/20</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A83FA533-8C13-4A42-846A-BEAC8142F662}"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710B9B72-9748-4038-825B-0D06FBF04B16}" type="datetimeFigureOut">
              <a:rPr lang="zh-CN" altLang="en-US" smtClean="0"/>
              <a:t>2026/5/20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83FA533-8C13-4A42-846A-BEAC8142F662}"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710B9B72-9748-4038-825B-0D06FBF04B16}" type="datetimeFigureOut">
              <a:rPr lang="zh-CN" altLang="en-US" smtClean="0"/>
              <a:t>2026/5/20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83FA533-8C13-4A42-846A-BEAC8142F662}"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710B9B72-9748-4038-825B-0D06FBF04B16}" type="datetimeFigureOut">
              <a:rPr lang="zh-CN" altLang="en-US" smtClean="0"/>
              <a:t>2026/5/20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83FA533-8C13-4A42-846A-BEAC8142F662}"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710B9B72-9748-4038-825B-0D06FBF04B16}" type="datetimeFigureOut">
              <a:rPr lang="zh-CN" altLang="en-US" smtClean="0"/>
              <a:t>2026/5/20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83FA533-8C13-4A42-846A-BEAC8142F662}"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10B9B72-9748-4038-825B-0D06FBF04B16}" type="datetimeFigureOut">
              <a:rPr lang="zh-CN" altLang="en-US" smtClean="0"/>
              <a:t>2026/5/20</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83FA533-8C13-4A42-846A-BEAC8142F662}"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3.e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1.xml"/><Relationship Id="rId1" Type="http://schemas.openxmlformats.org/officeDocument/2006/relationships/vmlDrawing" Target="../drawings/vmlDrawing1.vml"/><Relationship Id="rId6" Type="http://schemas.openxmlformats.org/officeDocument/2006/relationships/image" Target="../media/image2.emf"/><Relationship Id="rId5" Type="http://schemas.openxmlformats.org/officeDocument/2006/relationships/oleObject" Target="../embeddings/oleObject2.bin"/><Relationship Id="rId10" Type="http://schemas.openxmlformats.org/officeDocument/2006/relationships/image" Target="../media/image4.emf"/><Relationship Id="rId4" Type="http://schemas.openxmlformats.org/officeDocument/2006/relationships/image" Target="../media/image1.emf"/><Relationship Id="rId9" Type="http://schemas.openxmlformats.org/officeDocument/2006/relationships/oleObject" Target="../embeddings/oleObject4.bin"/></Relationships>
</file>

<file path=ppt/slides/_rels/slide3.xml.rels><?xml version="1.0" encoding="UTF-8" standalone="yes"?>
<Relationships xmlns="http://schemas.openxmlformats.org/package/2006/relationships"><Relationship Id="rId3" Type="http://schemas.openxmlformats.org/officeDocument/2006/relationships/tags" Target="../tags/tag2.xml"/><Relationship Id="rId7" Type="http://schemas.openxmlformats.org/officeDocument/2006/relationships/image" Target="../media/image5.emf"/><Relationship Id="rId2" Type="http://schemas.openxmlformats.org/officeDocument/2006/relationships/tags" Target="../tags/tag1.xml"/><Relationship Id="rId1" Type="http://schemas.openxmlformats.org/officeDocument/2006/relationships/vmlDrawing" Target="../drawings/vmlDrawing2.vml"/><Relationship Id="rId6" Type="http://schemas.openxmlformats.org/officeDocument/2006/relationships/oleObject" Target="../embeddings/oleObject5.bin"/><Relationship Id="rId5" Type="http://schemas.openxmlformats.org/officeDocument/2006/relationships/slideLayout" Target="../slideLayouts/slideLayout1.xml"/><Relationship Id="rId4" Type="http://schemas.openxmlformats.org/officeDocument/2006/relationships/tags" Target="../tags/tag3.xml"/></Relationships>
</file>

<file path=ppt/slides/_rels/slide4.xml.rels><?xml version="1.0" encoding="UTF-8" standalone="yes"?>
<Relationships xmlns="http://schemas.openxmlformats.org/package/2006/relationships"><Relationship Id="rId3" Type="http://schemas.openxmlformats.org/officeDocument/2006/relationships/tags" Target="../tags/tag5.xml"/><Relationship Id="rId7" Type="http://schemas.openxmlformats.org/officeDocument/2006/relationships/image" Target="../media/image6.emf"/><Relationship Id="rId2" Type="http://schemas.openxmlformats.org/officeDocument/2006/relationships/tags" Target="../tags/tag4.xml"/><Relationship Id="rId1" Type="http://schemas.openxmlformats.org/officeDocument/2006/relationships/vmlDrawing" Target="../drawings/vmlDrawing3.vml"/><Relationship Id="rId6" Type="http://schemas.openxmlformats.org/officeDocument/2006/relationships/oleObject" Target="../embeddings/oleObject6.bin"/><Relationship Id="rId5" Type="http://schemas.openxmlformats.org/officeDocument/2006/relationships/notesSlide" Target="../notesSlides/notesSlide1.xml"/><Relationship Id="rId4"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xml"/><Relationship Id="rId1" Type="http://schemas.openxmlformats.org/officeDocument/2006/relationships/tags" Target="../tags/tag8.xml"/></Relationships>
</file>

<file path=ppt/slides/_rels/slide7.xml.rels><?xml version="1.0" encoding="UTF-8" standalone="yes"?>
<Relationships xmlns="http://schemas.openxmlformats.org/package/2006/relationships"><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tags" Target="../tags/tag10.xml"/><Relationship Id="rId5" Type="http://schemas.openxmlformats.org/officeDocument/2006/relationships/image" Target="../media/image7.emf"/><Relationship Id="rId4"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vmlDrawing" Target="../drawings/vmlDrawing4.vml"/><Relationship Id="rId6" Type="http://schemas.openxmlformats.org/officeDocument/2006/relationships/image" Target="../media/image8.emf"/><Relationship Id="rId5" Type="http://schemas.openxmlformats.org/officeDocument/2006/relationships/oleObject" Target="../embeddings/oleObject7.bin"/><Relationship Id="rId4"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tags" Target="../tags/tag15.xml"/><Relationship Id="rId4"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9.xml"/><Relationship Id="rId1" Type="http://schemas.openxmlformats.org/officeDocument/2006/relationships/tags" Target="../tags/tag18.xml"/></Relationships>
</file>

<file path=ppt/slides/_rels/slide11.xml.rels><?xml version="1.0" encoding="UTF-8" standalone="yes"?>
<Relationships xmlns="http://schemas.openxmlformats.org/package/2006/relationships"><Relationship Id="rId3" Type="http://schemas.openxmlformats.org/officeDocument/2006/relationships/tags" Target="../tags/tag22.xml"/><Relationship Id="rId2" Type="http://schemas.openxmlformats.org/officeDocument/2006/relationships/tags" Target="../tags/tag21.xml"/><Relationship Id="rId1" Type="http://schemas.openxmlformats.org/officeDocument/2006/relationships/tags" Target="../tags/tag20.xml"/><Relationship Id="rId5" Type="http://schemas.openxmlformats.org/officeDocument/2006/relationships/image" Target="../media/image9.emf"/><Relationship Id="rId4"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3.xml"/><Relationship Id="rId1" Type="http://schemas.openxmlformats.org/officeDocument/2006/relationships/vmlDrawing" Target="../drawings/vmlDrawing5.vml"/><Relationship Id="rId5" Type="http://schemas.openxmlformats.org/officeDocument/2006/relationships/image" Target="../media/image10.emf"/><Relationship Id="rId4" Type="http://schemas.openxmlformats.org/officeDocument/2006/relationships/oleObject" Target="../embeddings/oleObject8.bin"/></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5.xml"/><Relationship Id="rId1" Type="http://schemas.openxmlformats.org/officeDocument/2006/relationships/tags" Target="../tags/tag24.xml"/></Relationships>
</file>

<file path=ppt/slides/_rels/slide14.xml.rels><?xml version="1.0" encoding="UTF-8" standalone="yes"?>
<Relationships xmlns="http://schemas.openxmlformats.org/package/2006/relationships"><Relationship Id="rId3" Type="http://schemas.openxmlformats.org/officeDocument/2006/relationships/tags" Target="../tags/tag28.xml"/><Relationship Id="rId2" Type="http://schemas.openxmlformats.org/officeDocument/2006/relationships/tags" Target="../tags/tag27.xml"/><Relationship Id="rId1" Type="http://schemas.openxmlformats.org/officeDocument/2006/relationships/tags" Target="../tags/tag26.xml"/><Relationship Id="rId4"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tags" Target="../tags/tag30.xml"/><Relationship Id="rId7" Type="http://schemas.openxmlformats.org/officeDocument/2006/relationships/image" Target="../media/image11.emf"/><Relationship Id="rId2" Type="http://schemas.openxmlformats.org/officeDocument/2006/relationships/tags" Target="../tags/tag29.xml"/><Relationship Id="rId1" Type="http://schemas.openxmlformats.org/officeDocument/2006/relationships/vmlDrawing" Target="../drawings/vmlDrawing6.vml"/><Relationship Id="rId6" Type="http://schemas.openxmlformats.org/officeDocument/2006/relationships/oleObject" Target="../embeddings/oleObject9.bin"/><Relationship Id="rId5" Type="http://schemas.openxmlformats.org/officeDocument/2006/relationships/slideLayout" Target="../slideLayouts/slideLayout1.xml"/><Relationship Id="rId4" Type="http://schemas.openxmlformats.org/officeDocument/2006/relationships/tags" Target="../tags/tag31.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2.xml"/><Relationship Id="rId1" Type="http://schemas.openxmlformats.org/officeDocument/2006/relationships/vmlDrawing" Target="../drawings/vmlDrawing7.vml"/><Relationship Id="rId5" Type="http://schemas.openxmlformats.org/officeDocument/2006/relationships/image" Target="../media/image12.emf"/><Relationship Id="rId4" Type="http://schemas.openxmlformats.org/officeDocument/2006/relationships/oleObject" Target="../embeddings/oleObject10.bin"/></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4.xml"/><Relationship Id="rId1" Type="http://schemas.openxmlformats.org/officeDocument/2006/relationships/tags" Target="../tags/tag33.xml"/></Relationships>
</file>

<file path=ppt/slides/_rels/slide18.xml.rels><?xml version="1.0" encoding="UTF-8" standalone="yes"?>
<Relationships xmlns="http://schemas.openxmlformats.org/package/2006/relationships"><Relationship Id="rId3" Type="http://schemas.openxmlformats.org/officeDocument/2006/relationships/tags" Target="../tags/tag37.xml"/><Relationship Id="rId2" Type="http://schemas.openxmlformats.org/officeDocument/2006/relationships/tags" Target="../tags/tag36.xml"/><Relationship Id="rId1" Type="http://schemas.openxmlformats.org/officeDocument/2006/relationships/tags" Target="../tags/tag35.xml"/><Relationship Id="rId4"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1.xml"/><Relationship Id="rId1" Type="http://schemas.openxmlformats.org/officeDocument/2006/relationships/vmlDrawing" Target="../drawings/vmlDrawing8.vml"/><Relationship Id="rId4" Type="http://schemas.openxmlformats.org/officeDocument/2006/relationships/image" Target="../media/image13.emf"/></Relationships>
</file>

<file path=ppt/slides/_rels/slide20.xml.rels><?xml version="1.0" encoding="UTF-8" standalone="yes"?>
<Relationships xmlns="http://schemas.openxmlformats.org/package/2006/relationships"><Relationship Id="rId8" Type="http://schemas.openxmlformats.org/officeDocument/2006/relationships/image" Target="../media/image16.emf"/><Relationship Id="rId3" Type="http://schemas.openxmlformats.org/officeDocument/2006/relationships/oleObject" Target="../embeddings/oleObject12.bin"/><Relationship Id="rId7" Type="http://schemas.openxmlformats.org/officeDocument/2006/relationships/oleObject" Target="../embeddings/oleObject14.bin"/><Relationship Id="rId12" Type="http://schemas.openxmlformats.org/officeDocument/2006/relationships/image" Target="../media/image18.emf"/><Relationship Id="rId2" Type="http://schemas.openxmlformats.org/officeDocument/2006/relationships/slideLayout" Target="../slideLayouts/slideLayout1.xml"/><Relationship Id="rId1" Type="http://schemas.openxmlformats.org/officeDocument/2006/relationships/vmlDrawing" Target="../drawings/vmlDrawing9.vml"/><Relationship Id="rId6" Type="http://schemas.openxmlformats.org/officeDocument/2006/relationships/image" Target="../media/image15.emf"/><Relationship Id="rId11" Type="http://schemas.openxmlformats.org/officeDocument/2006/relationships/oleObject" Target="../embeddings/oleObject16.bin"/><Relationship Id="rId5" Type="http://schemas.openxmlformats.org/officeDocument/2006/relationships/oleObject" Target="../embeddings/oleObject13.bin"/><Relationship Id="rId10" Type="http://schemas.openxmlformats.org/officeDocument/2006/relationships/image" Target="../media/image17.emf"/><Relationship Id="rId4" Type="http://schemas.openxmlformats.org/officeDocument/2006/relationships/image" Target="../media/image14.emf"/><Relationship Id="rId9" Type="http://schemas.openxmlformats.org/officeDocument/2006/relationships/oleObject" Target="../embeddings/oleObject15.bin"/></Relationships>
</file>

<file path=ppt/slides/_rels/slide21.xml.rels><?xml version="1.0" encoding="UTF-8" standalone="yes"?>
<Relationships xmlns="http://schemas.openxmlformats.org/package/2006/relationships"><Relationship Id="rId8" Type="http://schemas.openxmlformats.org/officeDocument/2006/relationships/image" Target="../media/image21.emf"/><Relationship Id="rId13" Type="http://schemas.openxmlformats.org/officeDocument/2006/relationships/oleObject" Target="../embeddings/oleObject22.bin"/><Relationship Id="rId3" Type="http://schemas.openxmlformats.org/officeDocument/2006/relationships/oleObject" Target="../embeddings/oleObject17.bin"/><Relationship Id="rId7" Type="http://schemas.openxmlformats.org/officeDocument/2006/relationships/oleObject" Target="../embeddings/oleObject19.bin"/><Relationship Id="rId12" Type="http://schemas.openxmlformats.org/officeDocument/2006/relationships/image" Target="../media/image23.emf"/><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image" Target="../media/image20.emf"/><Relationship Id="rId11" Type="http://schemas.openxmlformats.org/officeDocument/2006/relationships/oleObject" Target="../embeddings/oleObject21.bin"/><Relationship Id="rId5" Type="http://schemas.openxmlformats.org/officeDocument/2006/relationships/oleObject" Target="../embeddings/oleObject18.bin"/><Relationship Id="rId10" Type="http://schemas.openxmlformats.org/officeDocument/2006/relationships/image" Target="../media/image22.emf"/><Relationship Id="rId4" Type="http://schemas.openxmlformats.org/officeDocument/2006/relationships/image" Target="../media/image19.emf"/><Relationship Id="rId9" Type="http://schemas.openxmlformats.org/officeDocument/2006/relationships/oleObject" Target="../embeddings/oleObject20.bin"/><Relationship Id="rId14" Type="http://schemas.openxmlformats.org/officeDocument/2006/relationships/image" Target="../media/image24.emf"/></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1.xml"/><Relationship Id="rId1" Type="http://schemas.openxmlformats.org/officeDocument/2006/relationships/vmlDrawing" Target="../drawings/vmlDrawing11.vml"/><Relationship Id="rId6" Type="http://schemas.openxmlformats.org/officeDocument/2006/relationships/image" Target="../media/image26.emf"/><Relationship Id="rId5" Type="http://schemas.openxmlformats.org/officeDocument/2006/relationships/oleObject" Target="../embeddings/oleObject24.bin"/><Relationship Id="rId4" Type="http://schemas.openxmlformats.org/officeDocument/2006/relationships/image" Target="../media/image25.emf"/></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image" Target="../media/image28.emf"/><Relationship Id="rId5" Type="http://schemas.openxmlformats.org/officeDocument/2006/relationships/oleObject" Target="../embeddings/oleObject26.bin"/><Relationship Id="rId4" Type="http://schemas.openxmlformats.org/officeDocument/2006/relationships/image" Target="../media/image27.emf"/></Relationships>
</file>

<file path=ppt/slides/_rels/slide24.xml.rels><?xml version="1.0" encoding="UTF-8" standalone="yes"?>
<Relationships xmlns="http://schemas.openxmlformats.org/package/2006/relationships"><Relationship Id="rId8" Type="http://schemas.openxmlformats.org/officeDocument/2006/relationships/image" Target="../media/image21.emf"/><Relationship Id="rId13" Type="http://schemas.openxmlformats.org/officeDocument/2006/relationships/oleObject" Target="../embeddings/oleObject26.bin"/><Relationship Id="rId3" Type="http://schemas.openxmlformats.org/officeDocument/2006/relationships/oleObject" Target="../embeddings/oleObject15.bin"/><Relationship Id="rId7" Type="http://schemas.openxmlformats.org/officeDocument/2006/relationships/oleObject" Target="../embeddings/oleObject19.bin"/><Relationship Id="rId12" Type="http://schemas.openxmlformats.org/officeDocument/2006/relationships/image" Target="../media/image26.emf"/><Relationship Id="rId2" Type="http://schemas.openxmlformats.org/officeDocument/2006/relationships/slideLayout" Target="../slideLayouts/slideLayout2.xml"/><Relationship Id="rId1" Type="http://schemas.openxmlformats.org/officeDocument/2006/relationships/vmlDrawing" Target="../drawings/vmlDrawing13.vml"/><Relationship Id="rId6" Type="http://schemas.openxmlformats.org/officeDocument/2006/relationships/image" Target="../media/image18.emf"/><Relationship Id="rId11" Type="http://schemas.openxmlformats.org/officeDocument/2006/relationships/oleObject" Target="../embeddings/oleObject24.bin"/><Relationship Id="rId5" Type="http://schemas.openxmlformats.org/officeDocument/2006/relationships/oleObject" Target="../embeddings/oleObject16.bin"/><Relationship Id="rId10" Type="http://schemas.openxmlformats.org/officeDocument/2006/relationships/image" Target="../media/image22.emf"/><Relationship Id="rId4" Type="http://schemas.openxmlformats.org/officeDocument/2006/relationships/image" Target="../media/image17.emf"/><Relationship Id="rId9" Type="http://schemas.openxmlformats.org/officeDocument/2006/relationships/oleObject" Target="../embeddings/oleObject20.bin"/><Relationship Id="rId14" Type="http://schemas.openxmlformats.org/officeDocument/2006/relationships/image" Target="../media/image28.emf"/></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8.xml"/></Relationships>
</file>

<file path=ppt/slides/_rels/slide26.xml.rels><?xml version="1.0" encoding="UTF-8" standalone="yes"?>
<Relationships xmlns="http://schemas.openxmlformats.org/package/2006/relationships"><Relationship Id="rId3" Type="http://schemas.openxmlformats.org/officeDocument/2006/relationships/tags" Target="../tags/tag40.xml"/><Relationship Id="rId7" Type="http://schemas.openxmlformats.org/officeDocument/2006/relationships/image" Target="../media/image5.emf"/><Relationship Id="rId2" Type="http://schemas.openxmlformats.org/officeDocument/2006/relationships/tags" Target="../tags/tag39.xml"/><Relationship Id="rId1" Type="http://schemas.openxmlformats.org/officeDocument/2006/relationships/vmlDrawing" Target="../drawings/vmlDrawing14.vml"/><Relationship Id="rId6" Type="http://schemas.openxmlformats.org/officeDocument/2006/relationships/oleObject" Target="../embeddings/oleObject27.bin"/><Relationship Id="rId5" Type="http://schemas.openxmlformats.org/officeDocument/2006/relationships/slideLayout" Target="../slideLayouts/slideLayout1.xml"/><Relationship Id="rId4" Type="http://schemas.openxmlformats.org/officeDocument/2006/relationships/tags" Target="../tags/tag41.xml"/></Relationships>
</file>

<file path=ppt/slides/_rels/slide27.xml.rels><?xml version="1.0" encoding="UTF-8" standalone="yes"?>
<Relationships xmlns="http://schemas.openxmlformats.org/package/2006/relationships"><Relationship Id="rId3" Type="http://schemas.openxmlformats.org/officeDocument/2006/relationships/tags" Target="../tags/tag43.xml"/><Relationship Id="rId7" Type="http://schemas.openxmlformats.org/officeDocument/2006/relationships/image" Target="../media/image29.emf"/><Relationship Id="rId2" Type="http://schemas.openxmlformats.org/officeDocument/2006/relationships/tags" Target="../tags/tag42.xml"/><Relationship Id="rId1" Type="http://schemas.openxmlformats.org/officeDocument/2006/relationships/vmlDrawing" Target="../drawings/vmlDrawing15.vml"/><Relationship Id="rId6" Type="http://schemas.openxmlformats.org/officeDocument/2006/relationships/oleObject" Target="../embeddings/oleObject28.bin"/><Relationship Id="rId5" Type="http://schemas.openxmlformats.org/officeDocument/2006/relationships/notesSlide" Target="../notesSlides/notesSlide2.xml"/><Relationship Id="rId4"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5.xml"/><Relationship Id="rId1" Type="http://schemas.openxmlformats.org/officeDocument/2006/relationships/tags" Target="../tags/tag44.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7.xml"/><Relationship Id="rId1" Type="http://schemas.openxmlformats.org/officeDocument/2006/relationships/tags" Target="../tags/tag46.xml"/></Relationships>
</file>

<file path=ppt/slides/_rels/slide3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Layout" Target="../slideLayouts/slideLayout2.xml"/><Relationship Id="rId1" Type="http://schemas.openxmlformats.org/officeDocument/2006/relationships/vmlDrawing" Target="../drawings/vmlDrawing16.vml"/><Relationship Id="rId4" Type="http://schemas.openxmlformats.org/officeDocument/2006/relationships/image" Target="../media/image31.emf"/></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jpeg"/><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4.png"/></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Layout" Target="../slideLayouts/slideLayout2.xml"/><Relationship Id="rId1" Type="http://schemas.openxmlformats.org/officeDocument/2006/relationships/vmlDrawing" Target="../drawings/vmlDrawing17.vml"/><Relationship Id="rId4" Type="http://schemas.openxmlformats.org/officeDocument/2006/relationships/image" Target="../media/image36.emf"/></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8.xml"/><Relationship Id="rId1" Type="http://schemas.openxmlformats.org/officeDocument/2006/relationships/vmlDrawing" Target="../drawings/vmlDrawing18.vml"/><Relationship Id="rId6" Type="http://schemas.openxmlformats.org/officeDocument/2006/relationships/image" Target="../media/image37.emf"/><Relationship Id="rId5" Type="http://schemas.openxmlformats.org/officeDocument/2006/relationships/oleObject" Target="../embeddings/oleObject31.bin"/><Relationship Id="rId4" Type="http://schemas.openxmlformats.org/officeDocument/2006/relationships/image" Target="../media/image38.emf"/></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40.emf"/><Relationship Id="rId2" Type="http://schemas.openxmlformats.org/officeDocument/2006/relationships/tags" Target="../tags/tag49.xml"/><Relationship Id="rId1" Type="http://schemas.openxmlformats.org/officeDocument/2006/relationships/vmlDrawing" Target="../drawings/vmlDrawing19.vml"/><Relationship Id="rId6" Type="http://schemas.openxmlformats.org/officeDocument/2006/relationships/oleObject" Target="../embeddings/oleObject33.bin"/><Relationship Id="rId5" Type="http://schemas.openxmlformats.org/officeDocument/2006/relationships/image" Target="../media/image39.emf"/><Relationship Id="rId4" Type="http://schemas.openxmlformats.org/officeDocument/2006/relationships/oleObject" Target="../embeddings/oleObject32.bin"/></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0.xml"/><Relationship Id="rId1" Type="http://schemas.openxmlformats.org/officeDocument/2006/relationships/vmlDrawing" Target="../drawings/vmlDrawing20.vml"/><Relationship Id="rId5" Type="http://schemas.openxmlformats.org/officeDocument/2006/relationships/image" Target="../media/image41.emf"/><Relationship Id="rId4" Type="http://schemas.openxmlformats.org/officeDocument/2006/relationships/oleObject" Target="../embeddings/oleObject34.bin"/></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1.xml"/></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43.emf"/><Relationship Id="rId2" Type="http://schemas.openxmlformats.org/officeDocument/2006/relationships/tags" Target="../tags/tag52.xml"/><Relationship Id="rId1" Type="http://schemas.openxmlformats.org/officeDocument/2006/relationships/vmlDrawing" Target="../drawings/vmlDrawing21.vml"/><Relationship Id="rId6" Type="http://schemas.openxmlformats.org/officeDocument/2006/relationships/oleObject" Target="../embeddings/oleObject36.bin"/><Relationship Id="rId5" Type="http://schemas.openxmlformats.org/officeDocument/2006/relationships/image" Target="../media/image42.emf"/><Relationship Id="rId4" Type="http://schemas.openxmlformats.org/officeDocument/2006/relationships/oleObject" Target="../embeddings/oleObject35.bin"/></Relationships>
</file>

<file path=ppt/slides/_rels/slide4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slideLayout" Target="../slideLayouts/slideLayout1.xml"/><Relationship Id="rId1" Type="http://schemas.openxmlformats.org/officeDocument/2006/relationships/vmlDrawing" Target="../drawings/vmlDrawing22.vml"/><Relationship Id="rId5" Type="http://schemas.openxmlformats.org/officeDocument/2006/relationships/image" Target="../media/image44.emf"/><Relationship Id="rId4" Type="http://schemas.openxmlformats.org/officeDocument/2006/relationships/oleObject" Target="../embeddings/oleObject37.bin"/></Relationships>
</file>

<file path=ppt/slides/_rels/slide45.xml.rels><?xml version="1.0" encoding="UTF-8" standalone="yes"?>
<Relationships xmlns="http://schemas.openxmlformats.org/package/2006/relationships"><Relationship Id="rId3" Type="http://schemas.openxmlformats.org/officeDocument/2006/relationships/image" Target="../media/image45.png"/><Relationship Id="rId7" Type="http://schemas.openxmlformats.org/officeDocument/2006/relationships/image" Target="../media/image47.emf"/><Relationship Id="rId2" Type="http://schemas.openxmlformats.org/officeDocument/2006/relationships/slideLayout" Target="../slideLayouts/slideLayout7.xml"/><Relationship Id="rId1" Type="http://schemas.openxmlformats.org/officeDocument/2006/relationships/vmlDrawing" Target="../drawings/vmlDrawing23.vml"/><Relationship Id="rId6" Type="http://schemas.openxmlformats.org/officeDocument/2006/relationships/oleObject" Target="../embeddings/oleObject39.bin"/><Relationship Id="rId5" Type="http://schemas.openxmlformats.org/officeDocument/2006/relationships/image" Target="../media/image46.emf"/><Relationship Id="rId4" Type="http://schemas.openxmlformats.org/officeDocument/2006/relationships/oleObject" Target="../embeddings/oleObject38.bin"/></Relationships>
</file>

<file path=ppt/slides/_rels/slide4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slideLayout" Target="../slideLayouts/slideLayout7.xml"/><Relationship Id="rId1" Type="http://schemas.openxmlformats.org/officeDocument/2006/relationships/vmlDrawing" Target="../drawings/vmlDrawing24.vml"/><Relationship Id="rId5" Type="http://schemas.openxmlformats.org/officeDocument/2006/relationships/image" Target="../media/image48.emf"/><Relationship Id="rId4" Type="http://schemas.openxmlformats.org/officeDocument/2006/relationships/oleObject" Target="../embeddings/oleObject40.bin"/></Relationships>
</file>

<file path=ppt/slides/_rels/slide4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slideLayout" Target="../slideLayouts/slideLayout7.xml"/><Relationship Id="rId1" Type="http://schemas.openxmlformats.org/officeDocument/2006/relationships/vmlDrawing" Target="../drawings/vmlDrawing25.vml"/><Relationship Id="rId5" Type="http://schemas.openxmlformats.org/officeDocument/2006/relationships/image" Target="../media/image49.emf"/><Relationship Id="rId4" Type="http://schemas.openxmlformats.org/officeDocument/2006/relationships/oleObject" Target="../embeddings/oleObject41.bin"/></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53.xml"/><Relationship Id="rId1" Type="http://schemas.openxmlformats.org/officeDocument/2006/relationships/vmlDrawing" Target="../drawings/vmlDrawing26.vml"/><Relationship Id="rId5" Type="http://schemas.openxmlformats.org/officeDocument/2006/relationships/image" Target="../media/image5.emf"/><Relationship Id="rId4" Type="http://schemas.openxmlformats.org/officeDocument/2006/relationships/oleObject" Target="../embeddings/oleObject27.bin"/></Relationships>
</file>

<file path=ppt/slides/_rels/slide50.xml.rels><?xml version="1.0" encoding="UTF-8" standalone="yes"?>
<Relationships xmlns="http://schemas.openxmlformats.org/package/2006/relationships"><Relationship Id="rId3" Type="http://schemas.openxmlformats.org/officeDocument/2006/relationships/tags" Target="../tags/tag56.xml"/><Relationship Id="rId2" Type="http://schemas.openxmlformats.org/officeDocument/2006/relationships/tags" Target="../tags/tag55.xml"/><Relationship Id="rId1" Type="http://schemas.openxmlformats.org/officeDocument/2006/relationships/tags" Target="../tags/tag54.xml"/><Relationship Id="rId5" Type="http://schemas.openxmlformats.org/officeDocument/2006/relationships/notesSlide" Target="../notesSlides/notesSlide3.xml"/><Relationship Id="rId4"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tags" Target="../tags/tag58.xml"/><Relationship Id="rId7" Type="http://schemas.openxmlformats.org/officeDocument/2006/relationships/image" Target="../media/image29.emf"/><Relationship Id="rId2" Type="http://schemas.openxmlformats.org/officeDocument/2006/relationships/tags" Target="../tags/tag57.xml"/><Relationship Id="rId1" Type="http://schemas.openxmlformats.org/officeDocument/2006/relationships/vmlDrawing" Target="../drawings/vmlDrawing27.vml"/><Relationship Id="rId6" Type="http://schemas.openxmlformats.org/officeDocument/2006/relationships/oleObject" Target="../embeddings/oleObject28.bin"/><Relationship Id="rId5" Type="http://schemas.openxmlformats.org/officeDocument/2006/relationships/notesSlide" Target="../notesSlides/notesSlide4.xml"/><Relationship Id="rId4"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0.xml"/><Relationship Id="rId1" Type="http://schemas.openxmlformats.org/officeDocument/2006/relationships/tags" Target="../tags/tag59.xml"/></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2.xml"/><Relationship Id="rId1" Type="http://schemas.openxmlformats.org/officeDocument/2006/relationships/tags" Target="../tags/tag61.xml"/></Relationships>
</file>

<file path=ppt/slides/_rels/slide54.xml.rels><?xml version="1.0" encoding="UTF-8" standalone="yes"?>
<Relationships xmlns="http://schemas.openxmlformats.org/package/2006/relationships"><Relationship Id="rId2" Type="http://schemas.openxmlformats.org/officeDocument/2006/relationships/image" Target="../media/image50.emf"/><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tags" Target="../tags/tag63.xml"/><Relationship Id="rId5" Type="http://schemas.openxmlformats.org/officeDocument/2006/relationships/notesSlide" Target="../notesSlides/notesSlide5.xml"/><Relationship Id="rId4"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2.emf"/><Relationship Id="rId2" Type="http://schemas.openxmlformats.org/officeDocument/2006/relationships/image" Target="../media/image51.emf"/><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oleObject" Target="../embeddings/oleObject42.bin"/><Relationship Id="rId2" Type="http://schemas.openxmlformats.org/officeDocument/2006/relationships/slideLayout" Target="../slideLayouts/slideLayout1.xml"/><Relationship Id="rId1" Type="http://schemas.openxmlformats.org/officeDocument/2006/relationships/vmlDrawing" Target="../drawings/vmlDrawing28.vml"/><Relationship Id="rId4" Type="http://schemas.openxmlformats.org/officeDocument/2006/relationships/image" Target="../media/image53.emf"/></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oleObject" Target="../embeddings/oleObject43.bin"/><Relationship Id="rId2" Type="http://schemas.openxmlformats.org/officeDocument/2006/relationships/slideLayout" Target="../slideLayouts/slideLayout2.xml"/><Relationship Id="rId1" Type="http://schemas.openxmlformats.org/officeDocument/2006/relationships/vmlDrawing" Target="../drawings/vmlDrawing29.vml"/><Relationship Id="rId4" Type="http://schemas.openxmlformats.org/officeDocument/2006/relationships/image" Target="../media/image54.emf"/></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oleObject" Target="../embeddings/oleObject44.bin"/><Relationship Id="rId2" Type="http://schemas.openxmlformats.org/officeDocument/2006/relationships/slideLayout" Target="../slideLayouts/slideLayout1.xml"/><Relationship Id="rId1" Type="http://schemas.openxmlformats.org/officeDocument/2006/relationships/vmlDrawing" Target="../drawings/vmlDrawing30.vml"/><Relationship Id="rId4" Type="http://schemas.openxmlformats.org/officeDocument/2006/relationships/image" Target="../media/image55.emf"/></Relationships>
</file>

<file path=ppt/slides/_rels/slide65.xml.rels><?xml version="1.0" encoding="UTF-8" standalone="yes"?>
<Relationships xmlns="http://schemas.openxmlformats.org/package/2006/relationships"><Relationship Id="rId3" Type="http://schemas.openxmlformats.org/officeDocument/2006/relationships/oleObject" Target="../embeddings/oleObject45.bin"/><Relationship Id="rId2" Type="http://schemas.openxmlformats.org/officeDocument/2006/relationships/slideLayout" Target="../slideLayouts/slideLayout2.xml"/><Relationship Id="rId1" Type="http://schemas.openxmlformats.org/officeDocument/2006/relationships/vmlDrawing" Target="../drawings/vmlDrawing31.vml"/><Relationship Id="rId5" Type="http://schemas.openxmlformats.org/officeDocument/2006/relationships/image" Target="../media/image56.png"/><Relationship Id="rId4" Type="http://schemas.openxmlformats.org/officeDocument/2006/relationships/image" Target="../media/image55.emf"/></Relationships>
</file>

<file path=ppt/slides/_rels/slide66.xml.rels><?xml version="1.0" encoding="UTF-8" standalone="yes"?>
<Relationships xmlns="http://schemas.openxmlformats.org/package/2006/relationships"><Relationship Id="rId3" Type="http://schemas.openxmlformats.org/officeDocument/2006/relationships/oleObject" Target="../embeddings/oleObject46.bin"/><Relationship Id="rId2" Type="http://schemas.openxmlformats.org/officeDocument/2006/relationships/slideLayout" Target="../slideLayouts/slideLayout2.xml"/><Relationship Id="rId1" Type="http://schemas.openxmlformats.org/officeDocument/2006/relationships/vmlDrawing" Target="../drawings/vmlDrawing32.vml"/><Relationship Id="rId4" Type="http://schemas.openxmlformats.org/officeDocument/2006/relationships/image" Target="../media/image57.emf"/></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oleObject" Target="../embeddings/oleObject47.bin"/><Relationship Id="rId2" Type="http://schemas.openxmlformats.org/officeDocument/2006/relationships/slideLayout" Target="../slideLayouts/slideLayout1.xml"/><Relationship Id="rId1" Type="http://schemas.openxmlformats.org/officeDocument/2006/relationships/vmlDrawing" Target="../drawings/vmlDrawing33.vml"/><Relationship Id="rId4" Type="http://schemas.openxmlformats.org/officeDocument/2006/relationships/image" Target="../media/image58.emf"/></Relationships>
</file>

<file path=ppt/slides/_rels/slide70.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slideLayout" Target="../slideLayouts/slideLayout1.xml"/><Relationship Id="rId1" Type="http://schemas.openxmlformats.org/officeDocument/2006/relationships/vmlDrawing" Target="../drawings/vmlDrawing34.vml"/><Relationship Id="rId5" Type="http://schemas.openxmlformats.org/officeDocument/2006/relationships/image" Target="../media/image58.emf"/><Relationship Id="rId4" Type="http://schemas.openxmlformats.org/officeDocument/2006/relationships/oleObject" Target="../embeddings/oleObject48.bin"/></Relationships>
</file>

<file path=ppt/slides/_rels/slide71.xml.rels><?xml version="1.0" encoding="UTF-8" standalone="yes"?>
<Relationships xmlns="http://schemas.openxmlformats.org/package/2006/relationships"><Relationship Id="rId3" Type="http://schemas.openxmlformats.org/officeDocument/2006/relationships/oleObject" Target="../embeddings/oleObject49.bin"/><Relationship Id="rId2" Type="http://schemas.openxmlformats.org/officeDocument/2006/relationships/slideLayout" Target="../slideLayouts/slideLayout1.xml"/><Relationship Id="rId1" Type="http://schemas.openxmlformats.org/officeDocument/2006/relationships/vmlDrawing" Target="../drawings/vmlDrawing35.vml"/><Relationship Id="rId4" Type="http://schemas.openxmlformats.org/officeDocument/2006/relationships/image" Target="../media/image60.emf"/></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3" Type="http://schemas.openxmlformats.org/officeDocument/2006/relationships/oleObject" Target="../embeddings/oleObject50.bin"/><Relationship Id="rId2" Type="http://schemas.openxmlformats.org/officeDocument/2006/relationships/slideLayout" Target="../slideLayouts/slideLayout1.xml"/><Relationship Id="rId1" Type="http://schemas.openxmlformats.org/officeDocument/2006/relationships/vmlDrawing" Target="../drawings/vmlDrawing36.vml"/><Relationship Id="rId4" Type="http://schemas.openxmlformats.org/officeDocument/2006/relationships/image" Target="../media/image58.emf"/></Relationships>
</file>

<file path=ppt/slides/_rels/slide75.xml.rels><?xml version="1.0" encoding="UTF-8" standalone="yes"?>
<Relationships xmlns="http://schemas.openxmlformats.org/package/2006/relationships"><Relationship Id="rId3" Type="http://schemas.openxmlformats.org/officeDocument/2006/relationships/oleObject" Target="../embeddings/oleObject51.bin"/><Relationship Id="rId2" Type="http://schemas.openxmlformats.org/officeDocument/2006/relationships/slideLayout" Target="../slideLayouts/slideLayout1.xml"/><Relationship Id="rId1" Type="http://schemas.openxmlformats.org/officeDocument/2006/relationships/vmlDrawing" Target="../drawings/vmlDrawing37.vml"/><Relationship Id="rId4" Type="http://schemas.openxmlformats.org/officeDocument/2006/relationships/image" Target="../media/image61.emf"/></Relationships>
</file>

<file path=ppt/slides/_rels/slide76.xml.rels><?xml version="1.0" encoding="UTF-8" standalone="yes"?>
<Relationships xmlns="http://schemas.openxmlformats.org/package/2006/relationships"><Relationship Id="rId3" Type="http://schemas.openxmlformats.org/officeDocument/2006/relationships/oleObject" Target="../embeddings/oleObject52.bin"/><Relationship Id="rId2" Type="http://schemas.openxmlformats.org/officeDocument/2006/relationships/slideLayout" Target="../slideLayouts/slideLayout2.xml"/><Relationship Id="rId1" Type="http://schemas.openxmlformats.org/officeDocument/2006/relationships/vmlDrawing" Target="../drawings/vmlDrawing38.vml"/><Relationship Id="rId4" Type="http://schemas.openxmlformats.org/officeDocument/2006/relationships/image" Target="../media/image58.emf"/></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oleObject" Target="../embeddings/oleObject53.bin"/><Relationship Id="rId2" Type="http://schemas.openxmlformats.org/officeDocument/2006/relationships/slideLayout" Target="../slideLayouts/slideLayout1.xml"/><Relationship Id="rId1" Type="http://schemas.openxmlformats.org/officeDocument/2006/relationships/vmlDrawing" Target="../drawings/vmlDrawing39.vml"/><Relationship Id="rId4" Type="http://schemas.openxmlformats.org/officeDocument/2006/relationships/image" Target="../media/image62.emf"/></Relationships>
</file>

<file path=ppt/slides/_rels/slide79.xml.rels><?xml version="1.0" encoding="UTF-8" standalone="yes"?>
<Relationships xmlns="http://schemas.openxmlformats.org/package/2006/relationships"><Relationship Id="rId3" Type="http://schemas.openxmlformats.org/officeDocument/2006/relationships/oleObject" Target="../embeddings/oleObject54.bin"/><Relationship Id="rId2" Type="http://schemas.openxmlformats.org/officeDocument/2006/relationships/slideLayout" Target="../slideLayouts/slideLayout2.xml"/><Relationship Id="rId1" Type="http://schemas.openxmlformats.org/officeDocument/2006/relationships/vmlDrawing" Target="../drawings/vmlDrawing40.vml"/><Relationship Id="rId4" Type="http://schemas.openxmlformats.org/officeDocument/2006/relationships/image" Target="../media/image62.emf"/></Relationships>
</file>

<file path=ppt/slides/_rels/slide80.xml.rels><?xml version="1.0" encoding="UTF-8" standalone="yes"?>
<Relationships xmlns="http://schemas.openxmlformats.org/package/2006/relationships"><Relationship Id="rId3" Type="http://schemas.openxmlformats.org/officeDocument/2006/relationships/oleObject" Target="../embeddings/oleObject55.bin"/><Relationship Id="rId2" Type="http://schemas.openxmlformats.org/officeDocument/2006/relationships/slideLayout" Target="../slideLayouts/slideLayout2.xml"/><Relationship Id="rId1" Type="http://schemas.openxmlformats.org/officeDocument/2006/relationships/vmlDrawing" Target="../drawings/vmlDrawing41.vml"/><Relationship Id="rId4" Type="http://schemas.openxmlformats.org/officeDocument/2006/relationships/image" Target="../media/image63.emf"/></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oleObject" Target="../embeddings/oleObject56.bin"/><Relationship Id="rId2" Type="http://schemas.openxmlformats.org/officeDocument/2006/relationships/slideLayout" Target="../slideLayouts/slideLayout1.xml"/><Relationship Id="rId1" Type="http://schemas.openxmlformats.org/officeDocument/2006/relationships/vmlDrawing" Target="../drawings/vmlDrawing42.vml"/><Relationship Id="rId5" Type="http://schemas.openxmlformats.org/officeDocument/2006/relationships/image" Target="../media/image65.jpeg"/><Relationship Id="rId4" Type="http://schemas.openxmlformats.org/officeDocument/2006/relationships/image" Target="../media/image64.emf"/></Relationships>
</file>

<file path=ppt/slides/_rels/slide83.xml.rels><?xml version="1.0" encoding="UTF-8" standalone="yes"?>
<Relationships xmlns="http://schemas.openxmlformats.org/package/2006/relationships"><Relationship Id="rId2" Type="http://schemas.openxmlformats.org/officeDocument/2006/relationships/image" Target="../media/image65.jpe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vmlDrawing" Target="../drawings/vmlDrawing43.vml"/><Relationship Id="rId6" Type="http://schemas.openxmlformats.org/officeDocument/2006/relationships/image" Target="../media/image65.jpeg"/><Relationship Id="rId5" Type="http://schemas.openxmlformats.org/officeDocument/2006/relationships/image" Target="../media/image66.emf"/><Relationship Id="rId4" Type="http://schemas.openxmlformats.org/officeDocument/2006/relationships/oleObject" Target="../embeddings/oleObject57.bin"/></Relationships>
</file>

<file path=ppt/slides/_rels/slide85.xml.rels><?xml version="1.0" encoding="UTF-8" standalone="yes"?>
<Relationships xmlns="http://schemas.openxmlformats.org/package/2006/relationships"><Relationship Id="rId2" Type="http://schemas.openxmlformats.org/officeDocument/2006/relationships/image" Target="../media/image65.jpe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65.jpe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67.emf"/><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68.em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oleObject" Target="../embeddings/oleObject58.bin"/><Relationship Id="rId2" Type="http://schemas.openxmlformats.org/officeDocument/2006/relationships/slideLayout" Target="../slideLayouts/slideLayout1.xml"/><Relationship Id="rId1" Type="http://schemas.openxmlformats.org/officeDocument/2006/relationships/vmlDrawing" Target="../drawings/vmlDrawing44.vml"/><Relationship Id="rId4" Type="http://schemas.openxmlformats.org/officeDocument/2006/relationships/image" Target="../media/image69.emf"/></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70.emf"/><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vmlDrawing" Target="../drawings/vmlDrawing45.vml"/><Relationship Id="rId5" Type="http://schemas.openxmlformats.org/officeDocument/2006/relationships/image" Target="../media/image71.emf"/><Relationship Id="rId4" Type="http://schemas.openxmlformats.org/officeDocument/2006/relationships/oleObject" Target="../embeddings/oleObject59.bin"/></Relationships>
</file>

<file path=ppt/slides/_rels/slide98.xml.rels><?xml version="1.0" encoding="UTF-8" standalone="yes"?>
<Relationships xmlns="http://schemas.openxmlformats.org/package/2006/relationships"><Relationship Id="rId3" Type="http://schemas.openxmlformats.org/officeDocument/2006/relationships/oleObject" Target="../embeddings/oleObject60.bin"/><Relationship Id="rId2" Type="http://schemas.openxmlformats.org/officeDocument/2006/relationships/slideLayout" Target="../slideLayouts/slideLayout1.xml"/><Relationship Id="rId1" Type="http://schemas.openxmlformats.org/officeDocument/2006/relationships/vmlDrawing" Target="../drawings/vmlDrawing46.vml"/><Relationship Id="rId4" Type="http://schemas.openxmlformats.org/officeDocument/2006/relationships/image" Target="../media/image72.emf"/></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2900252" y="2472900"/>
            <a:ext cx="6391493" cy="769441"/>
          </a:xfrm>
          <a:prstGeom prst="rect">
            <a:avLst/>
          </a:prstGeom>
          <a:noFill/>
        </p:spPr>
        <p:txBody>
          <a:bodyPr wrap="none" rtlCol="0">
            <a:spAutoFit/>
          </a:bodyPr>
          <a:lstStyle/>
          <a:p>
            <a:r>
              <a:rPr lang="zh-CN" altLang="en-US" sz="4400" dirty="0">
                <a:solidFill>
                  <a:srgbClr val="C00000"/>
                </a:solidFill>
                <a:latin typeface="黑体" panose="02010609060101010101" pitchFamily="49" charset="-122"/>
                <a:ea typeface="黑体" panose="02010609060101010101" pitchFamily="49" charset="-122"/>
              </a:rPr>
              <a:t>他汀类药物及其合成路线</a:t>
            </a:r>
          </a:p>
        </p:txBody>
      </p:sp>
      <p:sp>
        <p:nvSpPr>
          <p:cNvPr id="7" name="文本框 6"/>
          <p:cNvSpPr txBox="1"/>
          <p:nvPr/>
        </p:nvSpPr>
        <p:spPr>
          <a:xfrm>
            <a:off x="0" y="4423936"/>
            <a:ext cx="12192000" cy="1015663"/>
          </a:xfrm>
          <a:prstGeom prst="rect">
            <a:avLst/>
          </a:prstGeom>
          <a:noFill/>
        </p:spPr>
        <p:txBody>
          <a:bodyPr wrap="square" rtlCol="0">
            <a:spAutoFit/>
          </a:bodyPr>
          <a:lstStyle/>
          <a:p>
            <a:pPr algn="ctr"/>
            <a:r>
              <a:rPr lang="zh-CN" altLang="en-US" sz="2000" dirty="0">
                <a:latin typeface="黑体" panose="02010609060101010101" pitchFamily="49" charset="-122"/>
                <a:ea typeface="黑体" panose="02010609060101010101" pitchFamily="49" charset="-122"/>
                <a:cs typeface="Arial" panose="020B0604020202020204" pitchFamily="34" charset="0"/>
              </a:rPr>
              <a:t>闫海龙</a:t>
            </a:r>
            <a:endParaRPr lang="en-US" altLang="zh-CN" sz="2000" dirty="0">
              <a:latin typeface="黑体" panose="02010609060101010101" pitchFamily="49" charset="-122"/>
              <a:ea typeface="黑体" panose="02010609060101010101" pitchFamily="49" charset="-122"/>
              <a:cs typeface="Arial" panose="020B0604020202020204" pitchFamily="34" charset="0"/>
            </a:endParaRPr>
          </a:p>
          <a:p>
            <a:pPr algn="ctr"/>
            <a:r>
              <a:rPr lang="zh-CN" altLang="en-US" sz="2000" dirty="0">
                <a:latin typeface="黑体" panose="02010609060101010101" pitchFamily="49" charset="-122"/>
                <a:ea typeface="黑体" panose="02010609060101010101" pitchFamily="49" charset="-122"/>
                <a:cs typeface="Arial" panose="020B0604020202020204" pitchFamily="34" charset="0"/>
              </a:rPr>
              <a:t>重庆大学药学院</a:t>
            </a:r>
            <a:endParaRPr lang="en-US" altLang="zh-CN" sz="2000" dirty="0">
              <a:latin typeface="黑体" panose="02010609060101010101" pitchFamily="49" charset="-122"/>
              <a:ea typeface="黑体" panose="02010609060101010101" pitchFamily="49" charset="-122"/>
              <a:cs typeface="Arial" panose="020B0604020202020204" pitchFamily="34" charset="0"/>
            </a:endParaRPr>
          </a:p>
          <a:p>
            <a:pPr algn="ctr"/>
            <a:r>
              <a:rPr lang="en-US" altLang="zh-CN" sz="2000" dirty="0">
                <a:latin typeface="黑体" panose="02010609060101010101" pitchFamily="49" charset="-122"/>
                <a:ea typeface="黑体" panose="02010609060101010101" pitchFamily="49" charset="-122"/>
                <a:cs typeface="Arial" panose="020B0604020202020204" pitchFamily="34" charset="0"/>
              </a:rPr>
              <a:t>2026-05-20</a:t>
            </a:r>
            <a:endParaRPr lang="zh-CN" altLang="en-US" sz="2000" dirty="0">
              <a:latin typeface="黑体" panose="02010609060101010101" pitchFamily="49" charset="-122"/>
              <a:ea typeface="黑体" panose="02010609060101010101" pitchFamily="49" charset="-122"/>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48281" y="115330"/>
            <a:ext cx="1338828" cy="369332"/>
          </a:xfrm>
          <a:prstGeom prst="rect">
            <a:avLst/>
          </a:prstGeom>
          <a:noFill/>
        </p:spPr>
        <p:txBody>
          <a:bodyPr wrap="none" rtlCol="0">
            <a:spAutoFit/>
          </a:bodyPr>
          <a:lstStyle/>
          <a:p>
            <a:r>
              <a:rPr lang="zh-CN" altLang="en-US" b="1" dirty="0">
                <a:latin typeface="黑体" panose="02010609060101010101" pitchFamily="49" charset="-122"/>
                <a:ea typeface="黑体" panose="02010609060101010101" pitchFamily="49" charset="-122"/>
              </a:rPr>
              <a:t>他汀类药物</a:t>
            </a:r>
          </a:p>
        </p:txBody>
      </p:sp>
      <p:graphicFrame>
        <p:nvGraphicFramePr>
          <p:cNvPr id="6" name="对象 5"/>
          <p:cNvGraphicFramePr>
            <a:graphicFrameLocks noChangeAspect="1"/>
          </p:cNvGraphicFramePr>
          <p:nvPr/>
        </p:nvGraphicFramePr>
        <p:xfrm>
          <a:off x="586451" y="683058"/>
          <a:ext cx="8305628" cy="2692402"/>
        </p:xfrm>
        <a:graphic>
          <a:graphicData uri="http://schemas.openxmlformats.org/presentationml/2006/ole">
            <mc:AlternateContent xmlns:mc="http://schemas.openxmlformats.org/markup-compatibility/2006">
              <mc:Choice xmlns:v="urn:schemas-microsoft-com:vml" Requires="v">
                <p:oleObj spid="_x0000_s1056" name="CS ChemDraw Drawing" r:id="rId3" imgW="7198360" imgH="2344420" progId="ChemDraw.Document.6.0">
                  <p:embed/>
                </p:oleObj>
              </mc:Choice>
              <mc:Fallback>
                <p:oleObj name="CS ChemDraw Drawing" r:id="rId3" imgW="7198360" imgH="2344420" progId="ChemDraw.Document.6.0">
                  <p:embed/>
                  <p:pic>
                    <p:nvPicPr>
                      <p:cNvPr id="0" name="对象 5"/>
                      <p:cNvPicPr/>
                      <p:nvPr/>
                    </p:nvPicPr>
                    <p:blipFill>
                      <a:blip r:embed="rId4"/>
                      <a:stretch>
                        <a:fillRect/>
                      </a:stretch>
                    </p:blipFill>
                    <p:spPr>
                      <a:xfrm>
                        <a:off x="586451" y="683058"/>
                        <a:ext cx="8305628" cy="2692402"/>
                      </a:xfrm>
                      <a:prstGeom prst="rect">
                        <a:avLst/>
                      </a:prstGeom>
                    </p:spPr>
                  </p:pic>
                </p:oleObj>
              </mc:Fallback>
            </mc:AlternateContent>
          </a:graphicData>
        </a:graphic>
      </p:graphicFrame>
      <p:graphicFrame>
        <p:nvGraphicFramePr>
          <p:cNvPr id="7" name="对象 6"/>
          <p:cNvGraphicFramePr>
            <a:graphicFrameLocks noChangeAspect="1"/>
          </p:cNvGraphicFramePr>
          <p:nvPr/>
        </p:nvGraphicFramePr>
        <p:xfrm>
          <a:off x="257118" y="3713737"/>
          <a:ext cx="8964295" cy="2432050"/>
        </p:xfrm>
        <a:graphic>
          <a:graphicData uri="http://schemas.openxmlformats.org/presentationml/2006/ole">
            <mc:AlternateContent xmlns:mc="http://schemas.openxmlformats.org/markup-compatibility/2006">
              <mc:Choice xmlns:v="urn:schemas-microsoft-com:vml" Requires="v">
                <p:oleObj spid="_x0000_s1057" name="CS ChemDraw Drawing" r:id="rId5" imgW="6613525" imgH="1802765" progId="ChemDraw.Document.6.0">
                  <p:embed/>
                </p:oleObj>
              </mc:Choice>
              <mc:Fallback>
                <p:oleObj name="CS ChemDraw Drawing" r:id="rId5" imgW="6613525" imgH="1802765" progId="ChemDraw.Document.6.0">
                  <p:embed/>
                  <p:pic>
                    <p:nvPicPr>
                      <p:cNvPr id="0" name="对象 6"/>
                      <p:cNvPicPr/>
                      <p:nvPr/>
                    </p:nvPicPr>
                    <p:blipFill>
                      <a:blip r:embed="rId6"/>
                      <a:stretch>
                        <a:fillRect/>
                      </a:stretch>
                    </p:blipFill>
                    <p:spPr>
                      <a:xfrm>
                        <a:off x="257118" y="3713737"/>
                        <a:ext cx="8964295" cy="2432050"/>
                      </a:xfrm>
                      <a:prstGeom prst="rect">
                        <a:avLst/>
                      </a:prstGeom>
                    </p:spPr>
                  </p:pic>
                </p:oleObj>
              </mc:Fallback>
            </mc:AlternateContent>
          </a:graphicData>
        </a:graphic>
      </p:graphicFrame>
      <p:sp>
        <p:nvSpPr>
          <p:cNvPr id="8" name="文本框 7"/>
          <p:cNvSpPr txBox="1"/>
          <p:nvPr/>
        </p:nvSpPr>
        <p:spPr>
          <a:xfrm>
            <a:off x="255372" y="6395649"/>
            <a:ext cx="8674444" cy="276999"/>
          </a:xfrm>
          <a:prstGeom prst="rect">
            <a:avLst/>
          </a:prstGeom>
          <a:noFill/>
        </p:spPr>
        <p:txBody>
          <a:bodyPr wrap="square" rtlCol="0">
            <a:spAutoFit/>
          </a:bodyPr>
          <a:lstStyle/>
          <a:p>
            <a:r>
              <a:rPr lang="en-US" altLang="zh-CN" sz="1200" b="1" dirty="0">
                <a:latin typeface="Arial" panose="020B0604020202020204" pitchFamily="34" charset="0"/>
                <a:ea typeface="黑体" panose="02010609060101010101" pitchFamily="49" charset="-122"/>
                <a:cs typeface="Arial" panose="020B0604020202020204" pitchFamily="34" charset="0"/>
              </a:rPr>
              <a:t>source: </a:t>
            </a:r>
            <a:r>
              <a:rPr lang="en-US" altLang="zh-CN" sz="1200" dirty="0">
                <a:latin typeface="Arial" panose="020B0604020202020204" pitchFamily="34" charset="0"/>
                <a:ea typeface="黑体" panose="02010609060101010101" pitchFamily="49" charset="-122"/>
                <a:cs typeface="Arial" panose="020B0604020202020204" pitchFamily="34" charset="0"/>
              </a:rPr>
              <a:t>www.verifiedmarketreports.com; www.news24.my; www.marketresearchfuture.com; www.zionmarketresearch.com; </a:t>
            </a:r>
            <a:endParaRPr lang="zh-CN" altLang="en-US" sz="1200" dirty="0">
              <a:latin typeface="Arial" panose="020B0604020202020204" pitchFamily="34" charset="0"/>
              <a:ea typeface="黑体" panose="02010609060101010101" pitchFamily="49" charset="-122"/>
              <a:cs typeface="Arial" panose="020B0604020202020204" pitchFamily="34" charset="0"/>
            </a:endParaRPr>
          </a:p>
        </p:txBody>
      </p:sp>
      <p:graphicFrame>
        <p:nvGraphicFramePr>
          <p:cNvPr id="9" name="对象 8"/>
          <p:cNvGraphicFramePr>
            <a:graphicFrameLocks noChangeAspect="1"/>
          </p:cNvGraphicFramePr>
          <p:nvPr/>
        </p:nvGraphicFramePr>
        <p:xfrm>
          <a:off x="9305538" y="956747"/>
          <a:ext cx="2555642" cy="2496891"/>
        </p:xfrm>
        <a:graphic>
          <a:graphicData uri="http://schemas.openxmlformats.org/presentationml/2006/ole">
            <mc:AlternateContent xmlns:mc="http://schemas.openxmlformats.org/markup-compatibility/2006">
              <mc:Choice xmlns:v="urn:schemas-microsoft-com:vml" Requires="v">
                <p:oleObj spid="_x0000_s1058" name="CS ChemDraw Drawing" r:id="rId7" imgW="2266315" imgH="2218055" progId="ChemDraw.Document.6.0">
                  <p:embed/>
                </p:oleObj>
              </mc:Choice>
              <mc:Fallback>
                <p:oleObj name="CS ChemDraw Drawing" r:id="rId7" imgW="2266315" imgH="2218055" progId="ChemDraw.Document.6.0">
                  <p:embed/>
                  <p:pic>
                    <p:nvPicPr>
                      <p:cNvPr id="0" name="对象 8"/>
                      <p:cNvPicPr/>
                      <p:nvPr/>
                    </p:nvPicPr>
                    <p:blipFill>
                      <a:blip r:embed="rId8"/>
                      <a:stretch>
                        <a:fillRect/>
                      </a:stretch>
                    </p:blipFill>
                    <p:spPr>
                      <a:xfrm>
                        <a:off x="9305538" y="956747"/>
                        <a:ext cx="2555642" cy="2496891"/>
                      </a:xfrm>
                      <a:prstGeom prst="rect">
                        <a:avLst/>
                      </a:prstGeom>
                    </p:spPr>
                  </p:pic>
                </p:oleObj>
              </mc:Fallback>
            </mc:AlternateContent>
          </a:graphicData>
        </a:graphic>
      </p:graphicFrame>
      <p:graphicFrame>
        <p:nvGraphicFramePr>
          <p:cNvPr id="10" name="对象 9"/>
          <p:cNvGraphicFramePr>
            <a:graphicFrameLocks noChangeAspect="1"/>
          </p:cNvGraphicFramePr>
          <p:nvPr/>
        </p:nvGraphicFramePr>
        <p:xfrm>
          <a:off x="9304773" y="3800152"/>
          <a:ext cx="2554877" cy="2496891"/>
        </p:xfrm>
        <a:graphic>
          <a:graphicData uri="http://schemas.openxmlformats.org/presentationml/2006/ole">
            <mc:AlternateContent xmlns:mc="http://schemas.openxmlformats.org/markup-compatibility/2006">
              <mc:Choice xmlns:v="urn:schemas-microsoft-com:vml" Requires="v">
                <p:oleObj spid="_x0000_s1059" name="CS ChemDraw Drawing" r:id="rId9" imgW="2364105" imgH="2315210" progId="ChemDraw.Document.6.0">
                  <p:embed/>
                </p:oleObj>
              </mc:Choice>
              <mc:Fallback>
                <p:oleObj name="CS ChemDraw Drawing" r:id="rId9" imgW="2364105" imgH="2315210" progId="ChemDraw.Document.6.0">
                  <p:embed/>
                  <p:pic>
                    <p:nvPicPr>
                      <p:cNvPr id="0" name="对象 9"/>
                      <p:cNvPicPr/>
                      <p:nvPr/>
                    </p:nvPicPr>
                    <p:blipFill>
                      <a:blip r:embed="rId10"/>
                      <a:stretch>
                        <a:fillRect/>
                      </a:stretch>
                    </p:blipFill>
                    <p:spPr>
                      <a:xfrm>
                        <a:off x="9304773" y="3800152"/>
                        <a:ext cx="2554877" cy="2496891"/>
                      </a:xfrm>
                      <a:prstGeom prst="rect">
                        <a:avLst/>
                      </a:prstGeom>
                    </p:spPr>
                  </p:pic>
                </p:oleObj>
              </mc:Fallback>
            </mc:AlternateContent>
          </a:graphicData>
        </a:graphic>
      </p:graphicFrame>
      <p:sp>
        <p:nvSpPr>
          <p:cNvPr id="2" name="文本框 1"/>
          <p:cNvSpPr txBox="1"/>
          <p:nvPr/>
        </p:nvSpPr>
        <p:spPr>
          <a:xfrm>
            <a:off x="882031" y="3381175"/>
            <a:ext cx="1415772" cy="276999"/>
          </a:xfrm>
          <a:prstGeom prst="rect">
            <a:avLst/>
          </a:prstGeom>
          <a:noFill/>
        </p:spPr>
        <p:txBody>
          <a:bodyPr wrap="none" rtlCol="0">
            <a:spAutoFit/>
          </a:bodyPr>
          <a:lstStyle/>
          <a:p>
            <a:r>
              <a:rPr lang="zh-CN" altLang="en-US" sz="1200" dirty="0">
                <a:solidFill>
                  <a:srgbClr val="C00000"/>
                </a:solidFill>
                <a:latin typeface="黑体" panose="02010609060101010101" pitchFamily="49" charset="-122"/>
                <a:ea typeface="黑体" panose="02010609060101010101" pitchFamily="49" charset="-122"/>
              </a:rPr>
              <a:t>天然产物（发酵）</a:t>
            </a:r>
          </a:p>
        </p:txBody>
      </p:sp>
      <p:sp>
        <p:nvSpPr>
          <p:cNvPr id="3" name="文本框 2"/>
          <p:cNvSpPr txBox="1"/>
          <p:nvPr/>
        </p:nvSpPr>
        <p:spPr>
          <a:xfrm>
            <a:off x="7347567" y="3381175"/>
            <a:ext cx="1415772" cy="276999"/>
          </a:xfrm>
          <a:prstGeom prst="rect">
            <a:avLst/>
          </a:prstGeom>
          <a:noFill/>
        </p:spPr>
        <p:txBody>
          <a:bodyPr wrap="none" rtlCol="0">
            <a:spAutoFit/>
          </a:bodyPr>
          <a:lstStyle/>
          <a:p>
            <a:r>
              <a:rPr lang="zh-CN" altLang="en-US" sz="1200" dirty="0">
                <a:solidFill>
                  <a:srgbClr val="C00000"/>
                </a:solidFill>
                <a:latin typeface="黑体" panose="02010609060101010101" pitchFamily="49" charset="-122"/>
                <a:ea typeface="黑体" panose="02010609060101010101" pitchFamily="49" charset="-122"/>
              </a:rPr>
              <a:t>天然产物（发酵）</a:t>
            </a:r>
          </a:p>
        </p:txBody>
      </p:sp>
      <p:sp>
        <p:nvSpPr>
          <p:cNvPr id="5" name="文本框 4"/>
          <p:cNvSpPr txBox="1"/>
          <p:nvPr/>
        </p:nvSpPr>
        <p:spPr>
          <a:xfrm>
            <a:off x="3010237" y="3381175"/>
            <a:ext cx="1415772" cy="276999"/>
          </a:xfrm>
          <a:prstGeom prst="rect">
            <a:avLst/>
          </a:prstGeom>
          <a:noFill/>
        </p:spPr>
        <p:txBody>
          <a:bodyPr wrap="none" rtlCol="0">
            <a:spAutoFit/>
          </a:bodyPr>
          <a:lstStyle/>
          <a:p>
            <a:r>
              <a:rPr lang="zh-CN" altLang="en-US" sz="1200" dirty="0">
                <a:solidFill>
                  <a:srgbClr val="C00000"/>
                </a:solidFill>
                <a:latin typeface="黑体" panose="02010609060101010101" pitchFamily="49" charset="-122"/>
                <a:ea typeface="黑体" panose="02010609060101010101" pitchFamily="49" charset="-122"/>
              </a:rPr>
              <a:t>衍生物（半合成）</a:t>
            </a:r>
          </a:p>
        </p:txBody>
      </p:sp>
      <p:sp>
        <p:nvSpPr>
          <p:cNvPr id="11" name="文本框 10"/>
          <p:cNvSpPr txBox="1"/>
          <p:nvPr/>
        </p:nvSpPr>
        <p:spPr>
          <a:xfrm>
            <a:off x="5178902" y="3381175"/>
            <a:ext cx="1415772" cy="276999"/>
          </a:xfrm>
          <a:prstGeom prst="rect">
            <a:avLst/>
          </a:prstGeom>
          <a:noFill/>
        </p:spPr>
        <p:txBody>
          <a:bodyPr wrap="none" rtlCol="0">
            <a:spAutoFit/>
          </a:bodyPr>
          <a:lstStyle/>
          <a:p>
            <a:r>
              <a:rPr lang="zh-CN" altLang="en-US" sz="1200" dirty="0">
                <a:solidFill>
                  <a:srgbClr val="C00000"/>
                </a:solidFill>
                <a:latin typeface="黑体" panose="02010609060101010101" pitchFamily="49" charset="-122"/>
                <a:ea typeface="黑体" panose="02010609060101010101" pitchFamily="49" charset="-122"/>
              </a:rPr>
              <a:t>衍生物（半合成）</a:t>
            </a:r>
          </a:p>
        </p:txBody>
      </p:sp>
      <p:sp>
        <p:nvSpPr>
          <p:cNvPr id="12" name="文本框 11"/>
          <p:cNvSpPr txBox="1"/>
          <p:nvPr/>
        </p:nvSpPr>
        <p:spPr>
          <a:xfrm>
            <a:off x="1589917" y="203406"/>
            <a:ext cx="8202887" cy="338554"/>
          </a:xfrm>
          <a:prstGeom prst="rect">
            <a:avLst/>
          </a:prstGeom>
          <a:noFill/>
        </p:spPr>
        <p:txBody>
          <a:bodyPr wrap="none" rtlCol="0">
            <a:spAutoFit/>
          </a:bodyPr>
          <a:lstStyle/>
          <a:p>
            <a:r>
              <a:rPr lang="zh-CN" altLang="en-US" sz="1600" b="1" dirty="0">
                <a:latin typeface="Arial" panose="020B0604020202020204" pitchFamily="34" charset="0"/>
                <a:ea typeface="黑体" panose="02010609060101010101" pitchFamily="49" charset="-122"/>
                <a:cs typeface="Arial" panose="020B0604020202020204" pitchFamily="34" charset="0"/>
              </a:rPr>
              <a:t>体内胆固醇生物合成途径限速酶（</a:t>
            </a:r>
            <a:r>
              <a:rPr lang="en-US" altLang="zh-CN" sz="1600" b="1" dirty="0">
                <a:latin typeface="Arial" panose="020B0604020202020204" pitchFamily="34" charset="0"/>
                <a:ea typeface="黑体" panose="02010609060101010101" pitchFamily="49" charset="-122"/>
                <a:cs typeface="Arial" panose="020B0604020202020204" pitchFamily="34" charset="0"/>
              </a:rPr>
              <a:t>3-</a:t>
            </a:r>
            <a:r>
              <a:rPr lang="zh-CN" altLang="en-US" sz="1600" b="1" dirty="0">
                <a:latin typeface="Arial" panose="020B0604020202020204" pitchFamily="34" charset="0"/>
                <a:ea typeface="黑体" panose="02010609060101010101" pitchFamily="49" charset="-122"/>
                <a:cs typeface="Arial" panose="020B0604020202020204" pitchFamily="34" charset="0"/>
              </a:rPr>
              <a:t>羟基</a:t>
            </a:r>
            <a:r>
              <a:rPr lang="en-US" altLang="zh-CN" sz="1600" b="1" dirty="0">
                <a:latin typeface="Arial" panose="020B0604020202020204" pitchFamily="34" charset="0"/>
                <a:ea typeface="黑体" panose="02010609060101010101" pitchFamily="49" charset="-122"/>
                <a:cs typeface="Arial" panose="020B0604020202020204" pitchFamily="34" charset="0"/>
              </a:rPr>
              <a:t>-3-</a:t>
            </a:r>
            <a:r>
              <a:rPr lang="zh-CN" altLang="en-US" sz="1600" b="1" dirty="0">
                <a:latin typeface="Arial" panose="020B0604020202020204" pitchFamily="34" charset="0"/>
                <a:ea typeface="黑体" panose="02010609060101010101" pitchFamily="49" charset="-122"/>
                <a:cs typeface="Arial" panose="020B0604020202020204" pitchFamily="34" charset="0"/>
              </a:rPr>
              <a:t>甲基戊二酰辅酶</a:t>
            </a:r>
            <a:r>
              <a:rPr lang="en-US" altLang="zh-CN" sz="1600" b="1" dirty="0">
                <a:latin typeface="Arial" panose="020B0604020202020204" pitchFamily="34" charset="0"/>
                <a:ea typeface="黑体" panose="02010609060101010101" pitchFamily="49" charset="-122"/>
                <a:cs typeface="Arial" panose="020B0604020202020204" pitchFamily="34" charset="0"/>
              </a:rPr>
              <a:t>A/HMG-CoA</a:t>
            </a:r>
            <a:r>
              <a:rPr lang="zh-CN" altLang="en-US" sz="1600" b="1" dirty="0">
                <a:latin typeface="Arial" panose="020B0604020202020204" pitchFamily="34" charset="0"/>
                <a:ea typeface="黑体" panose="02010609060101010101" pitchFamily="49" charset="-122"/>
                <a:cs typeface="Arial" panose="020B0604020202020204" pitchFamily="34" charset="0"/>
              </a:rPr>
              <a:t>还原酶）抑制剂</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fade">
                                      <p:cBhvr>
                                        <p:cTn id="1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5" grpId="0"/>
      <p:bldP spid="11"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p:nvPr/>
        </p:nvGraphicFramePr>
        <p:xfrm>
          <a:off x="1342281" y="2119516"/>
          <a:ext cx="2855081" cy="2497345"/>
        </p:xfrm>
        <a:graphic>
          <a:graphicData uri="http://schemas.openxmlformats.org/presentationml/2006/ole">
            <mc:AlternateContent xmlns:mc="http://schemas.openxmlformats.org/markup-compatibility/2006">
              <mc:Choice xmlns:v="urn:schemas-microsoft-com:vml" Requires="v">
                <p:oleObj spid="_x0000_s33806" r:id="rId6" imgW="1556385" imgH="1478915" progId="ChemDraw.Document.6.0">
                  <p:embed/>
                </p:oleObj>
              </mc:Choice>
              <mc:Fallback>
                <p:oleObj r:id="rId6" imgW="1556385" imgH="1478915" progId="ChemDraw.Document.6.0">
                  <p:embed/>
                  <p:pic>
                    <p:nvPicPr>
                      <p:cNvPr id="0" name="对象 1"/>
                      <p:cNvPicPr/>
                      <p:nvPr/>
                    </p:nvPicPr>
                    <p:blipFill>
                      <a:blip r:embed="rId7"/>
                      <a:stretch>
                        <a:fillRect/>
                      </a:stretch>
                    </p:blipFill>
                    <p:spPr>
                      <a:xfrm>
                        <a:off x="1342281" y="2119516"/>
                        <a:ext cx="2855081" cy="2497345"/>
                      </a:xfrm>
                      <a:prstGeom prst="rect">
                        <a:avLst/>
                      </a:prstGeom>
                    </p:spPr>
                  </p:pic>
                </p:oleObj>
              </mc:Fallback>
            </mc:AlternateContent>
          </a:graphicData>
        </a:graphic>
      </p:graphicFrame>
      <p:sp>
        <p:nvSpPr>
          <p:cNvPr id="4" name="标题 1"/>
          <p:cNvSpPr txBox="1"/>
          <p:nvPr>
            <p:custDataLst>
              <p:tags r:id="rId3"/>
            </p:custDataLst>
          </p:nvPr>
        </p:nvSpPr>
        <p:spPr>
          <a:xfrm>
            <a:off x="4291492" y="413964"/>
            <a:ext cx="3962400" cy="70548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sz="2400" b="1" dirty="0">
                <a:solidFill>
                  <a:schemeClr val="accent1">
                    <a:lumMod val="50000"/>
                  </a:schemeClr>
                </a:solidFill>
                <a:sym typeface="+mn-ea"/>
              </a:rPr>
              <a:t>氟伐他汀的市场价值</a:t>
            </a:r>
            <a:endParaRPr lang="zh-CN" altLang="en-US" sz="2400" b="1" dirty="0">
              <a:solidFill>
                <a:schemeClr val="accent1">
                  <a:lumMod val="50000"/>
                </a:schemeClr>
              </a:solidFill>
              <a:latin typeface="宋体" panose="02010600030101010101" pitchFamily="2" charset="-122"/>
              <a:ea typeface="宋体" panose="02010600030101010101" pitchFamily="2" charset="-122"/>
              <a:sym typeface="+mn-ea"/>
            </a:endParaRPr>
          </a:p>
        </p:txBody>
      </p:sp>
      <p:sp>
        <p:nvSpPr>
          <p:cNvPr id="5" name="内容占位符 2"/>
          <p:cNvSpPr txBox="1"/>
          <p:nvPr>
            <p:custDataLst>
              <p:tags r:id="rId4"/>
            </p:custDataLst>
          </p:nvPr>
        </p:nvSpPr>
        <p:spPr>
          <a:xfrm>
            <a:off x="4741939" y="4828019"/>
            <a:ext cx="6944360" cy="840105"/>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buFontTx/>
              <a:buNone/>
            </a:pPr>
            <a:r>
              <a:rPr lang="en-US" altLang="zh-CN" sz="1600" dirty="0">
                <a:latin typeface="微软雅黑" panose="020B0503020204020204" charset="-122"/>
                <a:ea typeface="微软雅黑" panose="020B0503020204020204" charset="-122"/>
                <a:cs typeface="微软雅黑" panose="020B0503020204020204" charset="-122"/>
                <a:sym typeface="+mn-ea"/>
              </a:rPr>
              <a:t>1. </a:t>
            </a:r>
            <a:r>
              <a:rPr lang="en-US" altLang="zh-CN" sz="1600" dirty="0" err="1">
                <a:latin typeface="微软雅黑" panose="020B0503020204020204" charset="-122"/>
                <a:ea typeface="微软雅黑" panose="020B0503020204020204" charset="-122"/>
                <a:cs typeface="微软雅黑" panose="020B0503020204020204" charset="-122"/>
              </a:rPr>
              <a:t>工业级价格</a:t>
            </a:r>
            <a:r>
              <a:rPr lang="en-US" altLang="zh-CN" sz="1600" dirty="0">
                <a:latin typeface="微软雅黑" panose="020B0503020204020204" charset="-122"/>
                <a:ea typeface="微软雅黑" panose="020B0503020204020204" charset="-122"/>
                <a:cs typeface="微软雅黑" panose="020B0503020204020204" charset="-122"/>
              </a:rPr>
              <a:t> (≥99.5%)：约 1,000 元/kg</a:t>
            </a:r>
          </a:p>
          <a:p>
            <a:pPr algn="l">
              <a:lnSpc>
                <a:spcPct val="100000"/>
              </a:lnSpc>
              <a:buFontTx/>
              <a:buNone/>
            </a:pPr>
            <a:r>
              <a:rPr lang="en-US" altLang="zh-CN" sz="1600" dirty="0">
                <a:latin typeface="微软雅黑" panose="020B0503020204020204" charset="-122"/>
                <a:ea typeface="微软雅黑" panose="020B0503020204020204" charset="-122"/>
                <a:cs typeface="微软雅黑" panose="020B0503020204020204" charset="-122"/>
              </a:rPr>
              <a:t>2. 科研级价格：100mg (≥98%) ：790.42元（阿拉丁）</a:t>
            </a:r>
          </a:p>
          <a:p>
            <a:pPr algn="l">
              <a:lnSpc>
                <a:spcPct val="150000"/>
              </a:lnSpc>
              <a:buFontTx/>
              <a:buNone/>
            </a:pPr>
            <a:endParaRPr lang="en-US" altLang="zh-CN" sz="1600" dirty="0">
              <a:latin typeface="微软雅黑" panose="020B0503020204020204" charset="-122"/>
              <a:ea typeface="微软雅黑" panose="020B0503020204020204" charset="-122"/>
              <a:cs typeface="微软雅黑" panose="020B0503020204020204" charset="-122"/>
            </a:endParaRPr>
          </a:p>
        </p:txBody>
      </p:sp>
      <p:sp>
        <p:nvSpPr>
          <p:cNvPr id="7" name="文本框 6"/>
          <p:cNvSpPr txBox="1"/>
          <p:nvPr/>
        </p:nvSpPr>
        <p:spPr>
          <a:xfrm>
            <a:off x="4803098" y="4156486"/>
            <a:ext cx="2679700" cy="460375"/>
          </a:xfrm>
          <a:prstGeom prst="rect">
            <a:avLst/>
          </a:prstGeom>
          <a:noFill/>
        </p:spPr>
        <p:txBody>
          <a:bodyPr wrap="square" rtlCol="0" anchor="t">
            <a:spAutoFit/>
          </a:bodyPr>
          <a:lstStyle/>
          <a:p>
            <a:pPr algn="l">
              <a:buClrTx/>
              <a:buSzTx/>
              <a:buFontTx/>
            </a:pPr>
            <a:r>
              <a:rPr lang="zh-CN" altLang="en-US" sz="2400" b="1" spc="300" dirty="0">
                <a:solidFill>
                  <a:schemeClr val="accent1">
                    <a:lumMod val="50000"/>
                  </a:schemeClr>
                </a:solidFill>
                <a:uFillTx/>
                <a:latin typeface="+mj-lt"/>
                <a:ea typeface="+mj-ea"/>
                <a:cs typeface="+mj-cs"/>
                <a:sym typeface="+mn-ea"/>
              </a:rPr>
              <a:t>原料药的价格</a:t>
            </a:r>
          </a:p>
        </p:txBody>
      </p:sp>
      <p:sp>
        <p:nvSpPr>
          <p:cNvPr id="8" name="文本框 7"/>
          <p:cNvSpPr txBox="1"/>
          <p:nvPr/>
        </p:nvSpPr>
        <p:spPr>
          <a:xfrm>
            <a:off x="4748673" y="1332249"/>
            <a:ext cx="5336634" cy="2264485"/>
          </a:xfrm>
          <a:prstGeom prst="rect">
            <a:avLst/>
          </a:prstGeom>
          <a:noFill/>
        </p:spPr>
        <p:txBody>
          <a:bodyPr wrap="square" rtlCol="0">
            <a:noAutofit/>
          </a:bodyPr>
          <a:lstStyle/>
          <a:p>
            <a:pPr algn="just">
              <a:lnSpc>
                <a:spcPct val="150000"/>
              </a:lnSpc>
              <a:spcBef>
                <a:spcPts val="0"/>
              </a:spcBef>
              <a:spcAft>
                <a:spcPts val="1000"/>
              </a:spcAft>
              <a:buClrTx/>
              <a:buSzTx/>
              <a:buNone/>
            </a:pPr>
            <a:r>
              <a:rPr lang="en-US" altLang="zh-CN" sz="1600" spc="150" dirty="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rPr>
              <a:t>    氟伐他汀钠药物市场规模在2024年估值为7亿美元</a:t>
            </a:r>
            <a:r>
              <a:rPr lang="zh-CN" altLang="en-US" sz="1600" spc="150" dirty="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rPr>
              <a:t>。</a:t>
            </a:r>
            <a:r>
              <a:rPr lang="en-US" altLang="zh-CN" sz="1600" spc="150" dirty="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rPr>
              <a:t>氟伐他汀钠药物市场预计将从2025年的8亿美元增长到2035年的12亿美元。氟伐他汀钠药市场复合年增长率（CAGR）预计在预测期（2026-2035年）内约为4.4%。</a:t>
            </a:r>
          </a:p>
        </p:txBody>
      </p:sp>
    </p:spTree>
    <p:custDataLst>
      <p:tags r:id="rId2"/>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3"/>
            </p:custDataLst>
          </p:nvPr>
        </p:nvSpPr>
        <p:spPr>
          <a:xfrm>
            <a:off x="555695" y="307410"/>
            <a:ext cx="10969200" cy="705600"/>
          </a:xfrm>
        </p:spPr>
        <p:txBody>
          <a:bodyPr/>
          <a:lstStyle/>
          <a:p>
            <a:r>
              <a:rPr lang="zh-CN" altLang="en-US" sz="2400" b="1">
                <a:solidFill>
                  <a:schemeClr val="accent1">
                    <a:lumMod val="50000"/>
                  </a:schemeClr>
                </a:solidFill>
                <a:sym typeface="+mn-ea"/>
              </a:rPr>
              <a:t>氟伐他汀</a:t>
            </a:r>
            <a:r>
              <a:rPr lang="zh-CN" altLang="en-US" sz="2400" b="1">
                <a:solidFill>
                  <a:schemeClr val="accent1">
                    <a:lumMod val="50000"/>
                  </a:schemeClr>
                </a:solidFill>
              </a:rPr>
              <a:t>药物合成路线</a:t>
            </a:r>
          </a:p>
        </p:txBody>
      </p:sp>
      <p:graphicFrame>
        <p:nvGraphicFramePr>
          <p:cNvPr id="4" name="对象 3"/>
          <p:cNvGraphicFramePr/>
          <p:nvPr/>
        </p:nvGraphicFramePr>
        <p:xfrm>
          <a:off x="1559243" y="599440"/>
          <a:ext cx="8679180" cy="5658485"/>
        </p:xfrm>
        <a:graphic>
          <a:graphicData uri="http://schemas.openxmlformats.org/presentationml/2006/ole">
            <mc:AlternateContent xmlns:mc="http://schemas.openxmlformats.org/markup-compatibility/2006">
              <mc:Choice xmlns:v="urn:schemas-microsoft-com:vml" Requires="v">
                <p:oleObj spid="_x0000_s34829" r:id="rId6" imgW="7321550" imgH="4771390" progId="ChemDraw.Document.6.0">
                  <p:embed/>
                </p:oleObj>
              </mc:Choice>
              <mc:Fallback>
                <p:oleObj r:id="rId6" imgW="7321550" imgH="4771390" progId="ChemDraw.Document.6.0">
                  <p:embed/>
                  <p:pic>
                    <p:nvPicPr>
                      <p:cNvPr id="0" name="对象 3"/>
                      <p:cNvPicPr/>
                      <p:nvPr/>
                    </p:nvPicPr>
                    <p:blipFill>
                      <a:blip r:embed="rId7"/>
                      <a:stretch>
                        <a:fillRect/>
                      </a:stretch>
                    </p:blipFill>
                    <p:spPr>
                      <a:xfrm>
                        <a:off x="1559243" y="599440"/>
                        <a:ext cx="8679180" cy="5658485"/>
                      </a:xfrm>
                      <a:prstGeom prst="rect">
                        <a:avLst/>
                      </a:prstGeom>
                    </p:spPr>
                  </p:pic>
                </p:oleObj>
              </mc:Fallback>
            </mc:AlternateContent>
          </a:graphicData>
        </a:graphic>
      </p:graphicFrame>
      <p:sp>
        <p:nvSpPr>
          <p:cNvPr id="6" name="文本框 5"/>
          <p:cNvSpPr txBox="1"/>
          <p:nvPr/>
        </p:nvSpPr>
        <p:spPr>
          <a:xfrm>
            <a:off x="7128510" y="6489700"/>
            <a:ext cx="5018405" cy="368300"/>
          </a:xfrm>
          <a:prstGeom prst="rect">
            <a:avLst/>
          </a:prstGeom>
          <a:noFill/>
        </p:spPr>
        <p:txBody>
          <a:bodyPr wrap="square" rtlCol="0">
            <a:spAutoFit/>
          </a:bodyPr>
          <a:lstStyle/>
          <a:p>
            <a:r>
              <a:rPr lang="en-US" altLang="zh-CN">
                <a:latin typeface="Times New Roman" panose="02020603050405020304" charset="0"/>
                <a:cs typeface="Times New Roman" panose="02020603050405020304" charset="0"/>
              </a:rPr>
              <a:t>CAI ZY, et al., </a:t>
            </a:r>
            <a:r>
              <a:rPr lang="en-US" altLang="zh-CN" i="1">
                <a:latin typeface="Times New Roman" panose="02020603050405020304" charset="0"/>
                <a:cs typeface="Times New Roman" panose="02020603050405020304" charset="0"/>
              </a:rPr>
              <a:t>Chin. J. Pharm</a:t>
            </a:r>
            <a:r>
              <a:rPr lang="en-US" altLang="zh-CN">
                <a:latin typeface="Times New Roman" panose="02020603050405020304" charset="0"/>
                <a:cs typeface="Times New Roman" panose="02020603050405020304" charset="0"/>
              </a:rPr>
              <a:t>., </a:t>
            </a:r>
            <a:r>
              <a:rPr lang="en-US" altLang="zh-CN" b="1">
                <a:latin typeface="Times New Roman" panose="02020603050405020304" charset="0"/>
                <a:cs typeface="Times New Roman" panose="02020603050405020304" charset="0"/>
              </a:rPr>
              <a:t>2007</a:t>
            </a:r>
            <a:r>
              <a:rPr lang="en-US" altLang="zh-CN">
                <a:latin typeface="Times New Roman" panose="02020603050405020304" charset="0"/>
                <a:cs typeface="Times New Roman" panose="02020603050405020304" charset="0"/>
              </a:rPr>
              <a:t>,</a:t>
            </a:r>
            <a:r>
              <a:rPr lang="en-US" altLang="zh-CN" i="1">
                <a:latin typeface="Times New Roman" panose="02020603050405020304" charset="0"/>
                <a:cs typeface="Times New Roman" panose="02020603050405020304" charset="0"/>
              </a:rPr>
              <a:t> 38(2)</a:t>
            </a:r>
            <a:r>
              <a:rPr lang="en-US" altLang="zh-CN">
                <a:latin typeface="Times New Roman" panose="02020603050405020304" charset="0"/>
                <a:cs typeface="Times New Roman" panose="02020603050405020304" charset="0"/>
              </a:rPr>
              <a:t>, 73-75.</a:t>
            </a:r>
          </a:p>
        </p:txBody>
      </p:sp>
    </p:spTree>
    <p:custDataLst>
      <p:tags r:id="rId2"/>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411550" y="313760"/>
            <a:ext cx="10969200" cy="705600"/>
          </a:xfrm>
        </p:spPr>
        <p:txBody>
          <a:bodyPr/>
          <a:lstStyle/>
          <a:p>
            <a:pPr algn="l">
              <a:buClrTx/>
              <a:buSzTx/>
              <a:buFontTx/>
            </a:pPr>
            <a:r>
              <a:rPr lang="zh-CN" altLang="en-US" sz="2400" b="1">
                <a:solidFill>
                  <a:schemeClr val="accent1">
                    <a:lumMod val="50000"/>
                  </a:schemeClr>
                </a:solidFill>
                <a:sym typeface="+mn-ea"/>
              </a:rPr>
              <a:t>氟伐他汀药物</a:t>
            </a:r>
            <a:r>
              <a:rPr lang="zh-CN" altLang="en-US" sz="2400" b="1">
                <a:solidFill>
                  <a:schemeClr val="accent1">
                    <a:lumMod val="50000"/>
                  </a:schemeClr>
                </a:solidFill>
              </a:rPr>
              <a:t>合成路线路线优点、缺点</a:t>
            </a:r>
          </a:p>
        </p:txBody>
      </p:sp>
      <p:graphicFrame>
        <p:nvGraphicFramePr>
          <p:cNvPr id="16" name="表格 15"/>
          <p:cNvGraphicFramePr/>
          <p:nvPr/>
        </p:nvGraphicFramePr>
        <p:xfrm>
          <a:off x="1132205" y="1517650"/>
          <a:ext cx="9982200" cy="3841115"/>
        </p:xfrm>
        <a:graphic>
          <a:graphicData uri="http://schemas.openxmlformats.org/drawingml/2006/table">
            <a:tbl>
              <a:tblPr firstRow="1">
                <a:tableStyleId>{B7BD4722-F1F9-43DE-912B-BC3AB9E171DB}</a:tableStyleId>
              </a:tblPr>
              <a:tblGrid>
                <a:gridCol w="716280">
                  <a:extLst>
                    <a:ext uri="{9D8B030D-6E8A-4147-A177-3AD203B41FA5}">
                      <a16:colId xmlns:a16="http://schemas.microsoft.com/office/drawing/2014/main" val="20000"/>
                    </a:ext>
                  </a:extLst>
                </a:gridCol>
                <a:gridCol w="4889500">
                  <a:extLst>
                    <a:ext uri="{9D8B030D-6E8A-4147-A177-3AD203B41FA5}">
                      <a16:colId xmlns:a16="http://schemas.microsoft.com/office/drawing/2014/main" val="20001"/>
                    </a:ext>
                  </a:extLst>
                </a:gridCol>
                <a:gridCol w="4376420">
                  <a:extLst>
                    <a:ext uri="{9D8B030D-6E8A-4147-A177-3AD203B41FA5}">
                      <a16:colId xmlns:a16="http://schemas.microsoft.com/office/drawing/2014/main" val="20002"/>
                    </a:ext>
                  </a:extLst>
                </a:gridCol>
              </a:tblGrid>
              <a:tr h="477520">
                <a:tc>
                  <a:txBody>
                    <a:bodyPr/>
                    <a:lstStyle/>
                    <a:p>
                      <a:pPr algn="ctr">
                        <a:buNone/>
                      </a:pPr>
                      <a:r>
                        <a:rPr lang="zh-CN" altLang="en-US"/>
                        <a:t>序号</a:t>
                      </a:r>
                    </a:p>
                  </a:txBody>
                  <a:tcPr/>
                </a:tc>
                <a:tc>
                  <a:txBody>
                    <a:bodyPr/>
                    <a:lstStyle/>
                    <a:p>
                      <a:pPr algn="ctr">
                        <a:buNone/>
                      </a:pPr>
                      <a:r>
                        <a:rPr lang="zh-CN" altLang="en-US"/>
                        <a:t>优点</a:t>
                      </a:r>
                    </a:p>
                  </a:txBody>
                  <a:tcPr/>
                </a:tc>
                <a:tc>
                  <a:txBody>
                    <a:bodyPr/>
                    <a:lstStyle/>
                    <a:p>
                      <a:pPr algn="ctr">
                        <a:buClrTx/>
                        <a:buSzTx/>
                        <a:buFontTx/>
                        <a:buNone/>
                      </a:pPr>
                      <a:r>
                        <a:rPr lang="zh-CN" altLang="en-US" sz="1800">
                          <a:sym typeface="+mn-ea"/>
                        </a:rPr>
                        <a:t>缺点</a:t>
                      </a:r>
                      <a:endParaRPr lang="zh-CN" altLang="en-US"/>
                    </a:p>
                  </a:txBody>
                  <a:tcPr/>
                </a:tc>
                <a:extLst>
                  <a:ext uri="{0D108BD9-81ED-4DB2-BD59-A6C34878D82A}">
                    <a16:rowId xmlns:a16="http://schemas.microsoft.com/office/drawing/2014/main" val="10000"/>
                  </a:ext>
                </a:extLst>
              </a:tr>
              <a:tr h="1135380">
                <a:tc>
                  <a:txBody>
                    <a:bodyPr/>
                    <a:lstStyle/>
                    <a:p>
                      <a:pPr algn="ctr">
                        <a:buClrTx/>
                        <a:buSzTx/>
                        <a:buFontTx/>
                        <a:buNone/>
                      </a:pPr>
                      <a:endParaRPr lang="en-US" altLang="zh-CN" sz="1600">
                        <a:latin typeface="Times New Roman" panose="02020603050405020304" charset="0"/>
                        <a:ea typeface="宋体" panose="02010600030101010101" pitchFamily="2" charset="-122"/>
                      </a:endParaRPr>
                    </a:p>
                    <a:p>
                      <a:pPr algn="ctr">
                        <a:buClrTx/>
                        <a:buSzTx/>
                        <a:buFontTx/>
                        <a:buNone/>
                      </a:pPr>
                      <a:r>
                        <a:rPr lang="en-US" altLang="zh-CN" sz="1600">
                          <a:latin typeface="Times New Roman" panose="02020603050405020304" charset="0"/>
                          <a:ea typeface="宋体" panose="02010600030101010101" pitchFamily="2" charset="-122"/>
                        </a:rPr>
                        <a:t>1</a:t>
                      </a:r>
                    </a:p>
                  </a:txBody>
                  <a:tcPr/>
                </a:tc>
                <a:tc>
                  <a:txBody>
                    <a:bodyPr/>
                    <a:lstStyle/>
                    <a:p>
                      <a:pPr algn="l">
                        <a:lnSpc>
                          <a:spcPct val="150000"/>
                        </a:lnSpc>
                        <a:buNone/>
                      </a:pPr>
                      <a:r>
                        <a:rPr lang="zh-CN" altLang="en-US" sz="1600" dirty="0">
                          <a:ln>
                            <a:noFill/>
                          </a:ln>
                          <a:solidFill>
                            <a:prstClr val="black"/>
                          </a:solidFill>
                          <a:latin typeface="Times New Roman" panose="02020603050405020304" charset="0"/>
                          <a:ea typeface="宋体" panose="02010600030101010101" pitchFamily="2" charset="-122"/>
                          <a:sym typeface="+mn-ea"/>
                        </a:rPr>
                        <a:t>原料易得、成本低，</a:t>
                      </a:r>
                      <a:r>
                        <a:rPr lang="zh-CN" altLang="en-US" sz="1600" dirty="0">
                          <a:ln>
                            <a:noFill/>
                          </a:ln>
                          <a:solidFill>
                            <a:prstClr val="black"/>
                          </a:solidFill>
                          <a:latin typeface="Times New Roman" panose="02020603050405020304" charset="0"/>
                          <a:ea typeface="宋体" panose="02010600030101010101" pitchFamily="2" charset="-122"/>
                        </a:rPr>
                        <a:t>路线短、流程简洁</a:t>
                      </a:r>
                      <a:r>
                        <a:rPr lang="zh-CN" altLang="en-US" sz="1600" dirty="0">
                          <a:ln>
                            <a:noFill/>
                          </a:ln>
                          <a:solidFill>
                            <a:prstClr val="black"/>
                          </a:solidFill>
                          <a:latin typeface="Times New Roman" panose="02020603050405020304" charset="0"/>
                          <a:ea typeface="宋体" panose="02010600030101010101" pitchFamily="2" charset="-122"/>
                          <a:sym typeface="+mn-ea"/>
                        </a:rPr>
                        <a:t>反应条件温和，三废少</a:t>
                      </a:r>
                      <a:r>
                        <a:rPr lang="zh-CN" altLang="en-US" sz="1600" dirty="0">
                          <a:ln>
                            <a:noFill/>
                          </a:ln>
                          <a:solidFill>
                            <a:prstClr val="black"/>
                          </a:solidFill>
                          <a:latin typeface="Times New Roman" panose="02020603050405020304" charset="0"/>
                          <a:ea typeface="宋体" panose="02010600030101010101" pitchFamily="2" charset="-122"/>
                        </a:rPr>
                        <a:t>，适合工业化</a:t>
                      </a:r>
                    </a:p>
                  </a:txBody>
                  <a:tcPr/>
                </a:tc>
                <a:tc>
                  <a:txBody>
                    <a:bodyPr/>
                    <a:lstStyle/>
                    <a:p>
                      <a:pPr algn="l">
                        <a:lnSpc>
                          <a:spcPct val="150000"/>
                        </a:lnSpc>
                        <a:buClrTx/>
                        <a:buSzTx/>
                        <a:buFontTx/>
                        <a:buNone/>
                      </a:pPr>
                      <a:r>
                        <a:rPr lang="zh-CN" altLang="en-US" sz="1600">
                          <a:ln>
                            <a:noFill/>
                          </a:ln>
                          <a:solidFill>
                            <a:prstClr val="black"/>
                          </a:solidFill>
                          <a:latin typeface="Times New Roman" panose="02020603050405020304" charset="0"/>
                          <a:ea typeface="宋体" panose="02010600030101010101" pitchFamily="2" charset="-122"/>
                        </a:rPr>
                        <a:t>还原步骤需要−78℃超低温，低温条件苛刻，工业放大能耗高、设备要求高</a:t>
                      </a:r>
                    </a:p>
                  </a:txBody>
                  <a:tcPr/>
                </a:tc>
                <a:extLst>
                  <a:ext uri="{0D108BD9-81ED-4DB2-BD59-A6C34878D82A}">
                    <a16:rowId xmlns:a16="http://schemas.microsoft.com/office/drawing/2014/main" val="10001"/>
                  </a:ext>
                </a:extLst>
              </a:tr>
              <a:tr h="887095">
                <a:tc>
                  <a:txBody>
                    <a:bodyPr/>
                    <a:lstStyle/>
                    <a:p>
                      <a:pPr algn="ctr">
                        <a:buClrTx/>
                        <a:buSzTx/>
                        <a:buFontTx/>
                        <a:buNone/>
                      </a:pPr>
                      <a:endParaRPr lang="en-US" altLang="zh-CN" sz="1600">
                        <a:latin typeface="Times New Roman" panose="02020603050405020304" charset="0"/>
                        <a:ea typeface="宋体" panose="02010600030101010101" pitchFamily="2" charset="-122"/>
                      </a:endParaRPr>
                    </a:p>
                    <a:p>
                      <a:pPr algn="ctr">
                        <a:buClrTx/>
                        <a:buSzTx/>
                        <a:buFontTx/>
                        <a:buNone/>
                      </a:pPr>
                      <a:r>
                        <a:rPr lang="en-US" altLang="zh-CN" sz="1600">
                          <a:latin typeface="Times New Roman" panose="02020603050405020304" charset="0"/>
                          <a:ea typeface="宋体" panose="02010600030101010101" pitchFamily="2" charset="-122"/>
                        </a:rPr>
                        <a:t>2</a:t>
                      </a:r>
                    </a:p>
                  </a:txBody>
                  <a:tcPr/>
                </a:tc>
                <a:tc>
                  <a:txBody>
                    <a:bodyPr/>
                    <a:lstStyle/>
                    <a:p>
                      <a:pPr algn="l">
                        <a:lnSpc>
                          <a:spcPct val="150000"/>
                        </a:lnSpc>
                        <a:buNone/>
                      </a:pPr>
                      <a:r>
                        <a:rPr lang="zh-CN" altLang="en-US" sz="1600" dirty="0">
                          <a:ln>
                            <a:noFill/>
                          </a:ln>
                          <a:solidFill>
                            <a:prstClr val="black"/>
                          </a:solidFill>
                          <a:latin typeface="Times New Roman" panose="02020603050405020304" charset="0"/>
                          <a:ea typeface="宋体" panose="02010600030101010101" pitchFamily="2" charset="-122"/>
                        </a:rPr>
                        <a:t>还原步骤大幅优化：溶剂改为甲醇</a:t>
                      </a:r>
                      <a:r>
                        <a:rPr lang="en-US" altLang="zh-CN" sz="1600" dirty="0">
                          <a:ln>
                            <a:noFill/>
                          </a:ln>
                          <a:solidFill>
                            <a:prstClr val="black"/>
                          </a:solidFill>
                          <a:latin typeface="Times New Roman" panose="02020603050405020304" charset="0"/>
                          <a:ea typeface="宋体" panose="02010600030101010101" pitchFamily="2" charset="-122"/>
                        </a:rPr>
                        <a:t> - THF</a:t>
                      </a:r>
                      <a:r>
                        <a:rPr lang="zh-CN" altLang="en-US" sz="1600" dirty="0">
                          <a:ln>
                            <a:noFill/>
                          </a:ln>
                          <a:solidFill>
                            <a:prstClr val="black"/>
                          </a:solidFill>
                          <a:latin typeface="Times New Roman" panose="02020603050405020304" charset="0"/>
                          <a:ea typeface="宋体" panose="02010600030101010101" pitchFamily="2" charset="-122"/>
                        </a:rPr>
                        <a:t>（</a:t>
                      </a:r>
                      <a:r>
                        <a:rPr lang="en-US" altLang="zh-CN" sz="1600" dirty="0">
                          <a:ln>
                            <a:noFill/>
                          </a:ln>
                          <a:solidFill>
                            <a:prstClr val="black"/>
                          </a:solidFill>
                          <a:latin typeface="Times New Roman" panose="02020603050405020304" charset="0"/>
                          <a:ea typeface="宋体" panose="02010600030101010101" pitchFamily="2" charset="-122"/>
                        </a:rPr>
                        <a:t>1:4</a:t>
                      </a:r>
                      <a:r>
                        <a:rPr lang="zh-CN" altLang="en-US" sz="1600" dirty="0">
                          <a:ln>
                            <a:noFill/>
                          </a:ln>
                          <a:solidFill>
                            <a:prstClr val="black"/>
                          </a:solidFill>
                          <a:latin typeface="Times New Roman" panose="02020603050405020304" charset="0"/>
                          <a:ea typeface="宋体" panose="02010600030101010101" pitchFamily="2" charset="-122"/>
                        </a:rPr>
                        <a:t>），反应时间缩短至</a:t>
                      </a:r>
                      <a:r>
                        <a:rPr lang="en-US" altLang="zh-CN" sz="1600" dirty="0">
                          <a:ln>
                            <a:noFill/>
                          </a:ln>
                          <a:solidFill>
                            <a:prstClr val="black"/>
                          </a:solidFill>
                          <a:latin typeface="Times New Roman" panose="02020603050405020304" charset="0"/>
                          <a:ea typeface="宋体" panose="02010600030101010101" pitchFamily="2" charset="-122"/>
                        </a:rPr>
                        <a:t> 2.5h</a:t>
                      </a:r>
                    </a:p>
                  </a:txBody>
                  <a:tcPr/>
                </a:tc>
                <a:tc>
                  <a:txBody>
                    <a:bodyPr/>
                    <a:lstStyle/>
                    <a:p>
                      <a:pPr algn="l">
                        <a:lnSpc>
                          <a:spcPct val="150000"/>
                        </a:lnSpc>
                        <a:buClrTx/>
                        <a:buSzTx/>
                        <a:buFontTx/>
                      </a:pPr>
                      <a:r>
                        <a:rPr lang="zh-CN" altLang="en-US" sz="1600" dirty="0">
                          <a:uFillTx/>
                          <a:latin typeface="Times New Roman" panose="02020603050405020304" charset="0"/>
                          <a:ea typeface="宋体" panose="02010600030101010101" pitchFamily="2" charset="-122"/>
                          <a:cs typeface="宋体" panose="02010600030101010101" pitchFamily="2" charset="-122"/>
                          <a:sym typeface="+mn-ea"/>
                        </a:rPr>
                        <a:t>使用Et₃B/NaBH₄试剂反应需无水无氧</a:t>
                      </a:r>
                      <a:endParaRPr lang="zh-CN" altLang="en-US" sz="1600" dirty="0">
                        <a:ln>
                          <a:noFill/>
                        </a:ln>
                        <a:solidFill>
                          <a:prstClr val="black"/>
                        </a:solidFill>
                        <a:uFillTx/>
                        <a:latin typeface="Times New Roman" panose="02020603050405020304" charset="0"/>
                        <a:ea typeface="宋体" panose="02010600030101010101" pitchFamily="2" charset="-122"/>
                        <a:cs typeface="宋体" panose="02010600030101010101" pitchFamily="2" charset="-122"/>
                        <a:sym typeface="+mn-ea"/>
                      </a:endParaRPr>
                    </a:p>
                  </a:txBody>
                  <a:tcPr/>
                </a:tc>
                <a:extLst>
                  <a:ext uri="{0D108BD9-81ED-4DB2-BD59-A6C34878D82A}">
                    <a16:rowId xmlns:a16="http://schemas.microsoft.com/office/drawing/2014/main" val="10002"/>
                  </a:ext>
                </a:extLst>
              </a:tr>
              <a:tr h="1341120">
                <a:tc>
                  <a:txBody>
                    <a:bodyPr/>
                    <a:lstStyle/>
                    <a:p>
                      <a:pPr algn="ctr">
                        <a:buClrTx/>
                        <a:buSzTx/>
                        <a:buFontTx/>
                        <a:buNone/>
                      </a:pPr>
                      <a:endParaRPr lang="en-US" altLang="zh-CN" sz="1600">
                        <a:latin typeface="Times New Roman" panose="02020603050405020304" charset="0"/>
                        <a:ea typeface="宋体" panose="02010600030101010101" pitchFamily="2" charset="-122"/>
                      </a:endParaRPr>
                    </a:p>
                    <a:p>
                      <a:pPr algn="ctr">
                        <a:buClrTx/>
                        <a:buSzTx/>
                        <a:buFontTx/>
                        <a:buNone/>
                      </a:pPr>
                      <a:r>
                        <a:rPr lang="en-US" altLang="zh-CN" sz="1600">
                          <a:latin typeface="Times New Roman" panose="02020603050405020304" charset="0"/>
                          <a:ea typeface="宋体" panose="02010600030101010101" pitchFamily="2" charset="-122"/>
                        </a:rPr>
                        <a:t>3</a:t>
                      </a:r>
                    </a:p>
                  </a:txBody>
                  <a:tcPr/>
                </a:tc>
                <a:tc>
                  <a:txBody>
                    <a:bodyPr/>
                    <a:lstStyle/>
                    <a:p>
                      <a:pPr algn="l">
                        <a:lnSpc>
                          <a:spcPct val="150000"/>
                        </a:lnSpc>
                        <a:buNone/>
                      </a:pPr>
                      <a:r>
                        <a:rPr lang="zh-CN" altLang="en-US" sz="1600">
                          <a:ln>
                            <a:noFill/>
                          </a:ln>
                          <a:solidFill>
                            <a:prstClr val="black"/>
                          </a:solidFill>
                          <a:latin typeface="Times New Roman" panose="02020603050405020304" charset="0"/>
                          <a:ea typeface="宋体" panose="02010600030101010101" pitchFamily="2" charset="-122"/>
                        </a:rPr>
                        <a:t>用</a:t>
                      </a:r>
                      <a:r>
                        <a:rPr lang="en-US" altLang="zh-CN" sz="1600">
                          <a:ln>
                            <a:noFill/>
                          </a:ln>
                          <a:solidFill>
                            <a:prstClr val="black"/>
                          </a:solidFill>
                          <a:latin typeface="Times New Roman" panose="02020603050405020304" charset="0"/>
                          <a:ea typeface="宋体" panose="02010600030101010101" pitchFamily="2" charset="-122"/>
                        </a:rPr>
                        <a:t>H</a:t>
                      </a:r>
                      <a:r>
                        <a:rPr lang="en-US" altLang="zh-CN" sz="1600" baseline="-25000">
                          <a:ln>
                            <a:noFill/>
                          </a:ln>
                          <a:solidFill>
                            <a:prstClr val="black"/>
                          </a:solidFill>
                          <a:latin typeface="Times New Roman" panose="02020603050405020304" charset="0"/>
                          <a:ea typeface="宋体" panose="02010600030101010101" pitchFamily="2" charset="-122"/>
                        </a:rPr>
                        <a:t>2</a:t>
                      </a:r>
                      <a:r>
                        <a:rPr lang="en-US" altLang="zh-CN" sz="1600">
                          <a:ln>
                            <a:noFill/>
                          </a:ln>
                          <a:solidFill>
                            <a:prstClr val="black"/>
                          </a:solidFill>
                          <a:latin typeface="Times New Roman" panose="02020603050405020304" charset="0"/>
                          <a:ea typeface="宋体" panose="02010600030101010101" pitchFamily="2" charset="-122"/>
                        </a:rPr>
                        <a:t>O</a:t>
                      </a:r>
                      <a:r>
                        <a:rPr lang="en-US" altLang="zh-CN" sz="1600" baseline="-25000">
                          <a:ln>
                            <a:noFill/>
                          </a:ln>
                          <a:solidFill>
                            <a:prstClr val="black"/>
                          </a:solidFill>
                          <a:latin typeface="Times New Roman" panose="02020603050405020304" charset="0"/>
                          <a:ea typeface="宋体" panose="02010600030101010101" pitchFamily="2" charset="-122"/>
                        </a:rPr>
                        <a:t>2</a:t>
                      </a:r>
                      <a:r>
                        <a:rPr lang="zh-CN" altLang="en-US" sz="1600">
                          <a:ln>
                            <a:noFill/>
                          </a:ln>
                          <a:solidFill>
                            <a:prstClr val="black"/>
                          </a:solidFill>
                          <a:latin typeface="Times New Roman" panose="02020603050405020304" charset="0"/>
                          <a:ea typeface="宋体" panose="02010600030101010101" pitchFamily="2" charset="-122"/>
                        </a:rPr>
                        <a:t>代替甲醇分解硼络合物，所得粗品无需柱色谱分离</a:t>
                      </a:r>
                      <a:r>
                        <a:rPr lang="en-US" altLang="zh-CN" sz="1600">
                          <a:ln>
                            <a:noFill/>
                          </a:ln>
                          <a:solidFill>
                            <a:prstClr val="black"/>
                          </a:solidFill>
                          <a:latin typeface="Times New Roman" panose="02020603050405020304" charset="0"/>
                          <a:ea typeface="宋体" panose="02010600030101010101" pitchFamily="2" charset="-122"/>
                        </a:rPr>
                        <a:t> </a:t>
                      </a:r>
                      <a:r>
                        <a:rPr lang="zh-CN" altLang="en-US" sz="1600">
                          <a:ln>
                            <a:noFill/>
                          </a:ln>
                          <a:solidFill>
                            <a:prstClr val="black"/>
                          </a:solidFill>
                          <a:latin typeface="Times New Roman" panose="02020603050405020304" charset="0"/>
                          <a:ea typeface="宋体" panose="02010600030101010101" pitchFamily="2" charset="-122"/>
                        </a:rPr>
                        <a:t>，直接用</a:t>
                      </a:r>
                      <a:r>
                        <a:rPr lang="en-US" altLang="zh-CN" sz="1600">
                          <a:ln>
                            <a:noFill/>
                          </a:ln>
                          <a:solidFill>
                            <a:prstClr val="black"/>
                          </a:solidFill>
                          <a:latin typeface="Times New Roman" panose="02020603050405020304" charset="0"/>
                          <a:ea typeface="宋体" panose="02010600030101010101" pitchFamily="2" charset="-122"/>
                        </a:rPr>
                        <a:t> </a:t>
                      </a:r>
                      <a:r>
                        <a:rPr lang="zh-CN" altLang="en-US" sz="1600">
                          <a:ln>
                            <a:noFill/>
                          </a:ln>
                          <a:solidFill>
                            <a:prstClr val="black"/>
                          </a:solidFill>
                          <a:latin typeface="Times New Roman" panose="02020603050405020304" charset="0"/>
                          <a:ea typeface="宋体" panose="02010600030101010101" pitchFamily="2" charset="-122"/>
                        </a:rPr>
                        <a:t>乙酸乙酯重结晶即可得产物，收率提升至</a:t>
                      </a:r>
                      <a:r>
                        <a:rPr lang="en-US" altLang="zh-CN" sz="1600">
                          <a:ln>
                            <a:noFill/>
                          </a:ln>
                          <a:solidFill>
                            <a:prstClr val="black"/>
                          </a:solidFill>
                          <a:latin typeface="Times New Roman" panose="02020603050405020304" charset="0"/>
                          <a:ea typeface="宋体" panose="02010600030101010101" pitchFamily="2" charset="-122"/>
                        </a:rPr>
                        <a:t>75%</a:t>
                      </a:r>
                      <a:endParaRPr lang="zh-CN" altLang="en-US" sz="1600">
                        <a:ln>
                          <a:noFill/>
                        </a:ln>
                        <a:solidFill>
                          <a:prstClr val="black"/>
                        </a:solidFill>
                        <a:latin typeface="Times New Roman" panose="02020603050405020304" charset="0"/>
                        <a:ea typeface="宋体" panose="02010600030101010101" pitchFamily="2" charset="-122"/>
                      </a:endParaRPr>
                    </a:p>
                  </a:txBody>
                  <a:tcPr/>
                </a:tc>
                <a:tc>
                  <a:txBody>
                    <a:bodyPr/>
                    <a:lstStyle/>
                    <a:p>
                      <a:pPr algn="l">
                        <a:lnSpc>
                          <a:spcPct val="150000"/>
                        </a:lnSpc>
                        <a:buClrTx/>
                        <a:buSzTx/>
                        <a:buFontTx/>
                        <a:buNone/>
                      </a:pPr>
                      <a:r>
                        <a:rPr lang="en-US" altLang="zh-CN" sz="1600" dirty="0" err="1">
                          <a:ln>
                            <a:noFill/>
                          </a:ln>
                          <a:solidFill>
                            <a:prstClr val="black"/>
                          </a:solidFill>
                          <a:latin typeface="Times New Roman" panose="02020603050405020304" charset="0"/>
                          <a:ea typeface="宋体" panose="02010600030101010101" pitchFamily="2" charset="-122"/>
                        </a:rPr>
                        <a:t>Vilsmeier</a:t>
                      </a:r>
                      <a:r>
                        <a:rPr lang="en-US" altLang="zh-CN" sz="1600" dirty="0">
                          <a:ln>
                            <a:noFill/>
                          </a:ln>
                          <a:solidFill>
                            <a:prstClr val="black"/>
                          </a:solidFill>
                          <a:latin typeface="Times New Roman" panose="02020603050405020304" charset="0"/>
                          <a:ea typeface="宋体" panose="02010600030101010101" pitchFamily="2" charset="-122"/>
                        </a:rPr>
                        <a:t>-Haack</a:t>
                      </a:r>
                      <a:r>
                        <a:rPr lang="zh-CN" altLang="en-US" sz="1600" dirty="0">
                          <a:ln>
                            <a:noFill/>
                          </a:ln>
                          <a:solidFill>
                            <a:prstClr val="black"/>
                          </a:solidFill>
                          <a:latin typeface="Times New Roman" panose="02020603050405020304" charset="0"/>
                          <a:ea typeface="宋体" panose="02010600030101010101" pitchFamily="2" charset="-122"/>
                        </a:rPr>
                        <a:t>反应需使用</a:t>
                      </a:r>
                      <a:r>
                        <a:rPr lang="en-US" altLang="zh-CN" sz="1600" dirty="0" err="1">
                          <a:ln>
                            <a:noFill/>
                          </a:ln>
                          <a:solidFill>
                            <a:prstClr val="black"/>
                          </a:solidFill>
                          <a:latin typeface="Times New Roman" panose="02020603050405020304" charset="0"/>
                          <a:ea typeface="宋体" panose="02010600030101010101" pitchFamily="2" charset="-122"/>
                        </a:rPr>
                        <a:t>POCl</a:t>
                      </a:r>
                      <a:r>
                        <a:rPr lang="en-US" altLang="en-US" sz="1600" dirty="0">
                          <a:ln>
                            <a:noFill/>
                          </a:ln>
                          <a:solidFill>
                            <a:prstClr val="black"/>
                          </a:solidFill>
                          <a:latin typeface="Times New Roman" panose="02020603050405020304" charset="0"/>
                          <a:ea typeface="宋体" panose="02010600030101010101" pitchFamily="2" charset="-122"/>
                        </a:rPr>
                        <a:t>₃</a:t>
                      </a:r>
                      <a:r>
                        <a:rPr lang="zh-CN" altLang="en-US" sz="1600" dirty="0">
                          <a:ln>
                            <a:noFill/>
                          </a:ln>
                          <a:solidFill>
                            <a:prstClr val="black"/>
                          </a:solidFill>
                          <a:latin typeface="Times New Roman" panose="02020603050405020304" charset="0"/>
                          <a:ea typeface="宋体" panose="02010600030101010101" pitchFamily="2" charset="-122"/>
                        </a:rPr>
                        <a:t>和乙腈，反应后产生大量酸性含磷废水，处理困难</a:t>
                      </a:r>
                    </a:p>
                  </a:txBody>
                  <a:tcPr/>
                </a:tc>
                <a:extLst>
                  <a:ext uri="{0D108BD9-81ED-4DB2-BD59-A6C34878D82A}">
                    <a16:rowId xmlns:a16="http://schemas.microsoft.com/office/drawing/2014/main" val="10003"/>
                  </a:ext>
                </a:extLst>
              </a:tr>
            </a:tbl>
          </a:graphicData>
        </a:graphic>
      </p:graphicFrame>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245180" y="290900"/>
            <a:ext cx="10969200" cy="705600"/>
          </a:xfrm>
        </p:spPr>
        <p:txBody>
          <a:bodyPr>
            <a:normAutofit/>
          </a:bodyPr>
          <a:lstStyle/>
          <a:p>
            <a:r>
              <a:rPr lang="zh-CN" altLang="en-US" sz="2665" b="1">
                <a:solidFill>
                  <a:schemeClr val="accent1">
                    <a:lumMod val="50000"/>
                  </a:schemeClr>
                </a:solidFill>
                <a:sym typeface="+mn-ea"/>
              </a:rPr>
              <a:t>氟伐他汀药物理想合成路线中的难点问题和解决方案</a:t>
            </a:r>
          </a:p>
        </p:txBody>
      </p:sp>
      <p:graphicFrame>
        <p:nvGraphicFramePr>
          <p:cNvPr id="6" name="表格 5"/>
          <p:cNvGraphicFramePr/>
          <p:nvPr/>
        </p:nvGraphicFramePr>
        <p:xfrm>
          <a:off x="850265" y="1549400"/>
          <a:ext cx="10492105" cy="3759200"/>
        </p:xfrm>
        <a:graphic>
          <a:graphicData uri="http://schemas.openxmlformats.org/drawingml/2006/table">
            <a:tbl>
              <a:tblPr firstRow="1">
                <a:tableStyleId>{B7BD4722-F1F9-43DE-912B-BC3AB9E171DB}</a:tableStyleId>
              </a:tblPr>
              <a:tblGrid>
                <a:gridCol w="718185">
                  <a:extLst>
                    <a:ext uri="{9D8B030D-6E8A-4147-A177-3AD203B41FA5}">
                      <a16:colId xmlns:a16="http://schemas.microsoft.com/office/drawing/2014/main" val="20000"/>
                    </a:ext>
                  </a:extLst>
                </a:gridCol>
                <a:gridCol w="2334260">
                  <a:extLst>
                    <a:ext uri="{9D8B030D-6E8A-4147-A177-3AD203B41FA5}">
                      <a16:colId xmlns:a16="http://schemas.microsoft.com/office/drawing/2014/main" val="20001"/>
                    </a:ext>
                  </a:extLst>
                </a:gridCol>
                <a:gridCol w="7439660">
                  <a:extLst>
                    <a:ext uri="{9D8B030D-6E8A-4147-A177-3AD203B41FA5}">
                      <a16:colId xmlns:a16="http://schemas.microsoft.com/office/drawing/2014/main" val="20002"/>
                    </a:ext>
                  </a:extLst>
                </a:gridCol>
              </a:tblGrid>
              <a:tr h="562610">
                <a:tc>
                  <a:txBody>
                    <a:bodyPr/>
                    <a:lstStyle/>
                    <a:p>
                      <a:pPr algn="ctr">
                        <a:lnSpc>
                          <a:spcPct val="150000"/>
                        </a:lnSpc>
                        <a:buNone/>
                      </a:pPr>
                      <a:r>
                        <a:rPr lang="zh-CN" altLang="en-US"/>
                        <a:t>序号</a:t>
                      </a:r>
                    </a:p>
                  </a:txBody>
                  <a:tcPr/>
                </a:tc>
                <a:tc>
                  <a:txBody>
                    <a:bodyPr/>
                    <a:lstStyle/>
                    <a:p>
                      <a:pPr algn="ctr">
                        <a:lnSpc>
                          <a:spcPct val="150000"/>
                        </a:lnSpc>
                      </a:pPr>
                      <a:r>
                        <a:rPr lang="zh-CN" altLang="en-US" sz="1800">
                          <a:sym typeface="+mn-ea"/>
                        </a:rPr>
                        <a:t>缺点 </a:t>
                      </a:r>
                      <a:r>
                        <a:rPr lang="en-US" altLang="zh-CN" sz="1800">
                          <a:sym typeface="+mn-ea"/>
                        </a:rPr>
                        <a:t>/ </a:t>
                      </a:r>
                      <a:r>
                        <a:rPr lang="zh-CN" altLang="en-US" sz="1800">
                          <a:sym typeface="+mn-ea"/>
                        </a:rPr>
                        <a:t>难点</a:t>
                      </a:r>
                      <a:endParaRPr lang="zh-CN" altLang="en-US"/>
                    </a:p>
                  </a:txBody>
                  <a:tcPr/>
                </a:tc>
                <a:tc>
                  <a:txBody>
                    <a:bodyPr/>
                    <a:lstStyle/>
                    <a:p>
                      <a:pPr algn="ctr">
                        <a:lnSpc>
                          <a:spcPct val="150000"/>
                        </a:lnSpc>
                      </a:pPr>
                      <a:r>
                        <a:rPr lang="zh-CN" altLang="en-US" sz="1800">
                          <a:sym typeface="+mn-ea"/>
                        </a:rPr>
                        <a:t>解决方案</a:t>
                      </a:r>
                      <a:endParaRPr lang="zh-CN" altLang="en-US"/>
                    </a:p>
                  </a:txBody>
                  <a:tcPr/>
                </a:tc>
                <a:extLst>
                  <a:ext uri="{0D108BD9-81ED-4DB2-BD59-A6C34878D82A}">
                    <a16:rowId xmlns:a16="http://schemas.microsoft.com/office/drawing/2014/main" val="10000"/>
                  </a:ext>
                </a:extLst>
              </a:tr>
              <a:tr h="843915">
                <a:tc>
                  <a:txBody>
                    <a:bodyPr/>
                    <a:lstStyle/>
                    <a:p>
                      <a:pPr algn="ctr">
                        <a:buClrTx/>
                        <a:buSzTx/>
                        <a:buFontTx/>
                        <a:buNone/>
                      </a:pPr>
                      <a:endParaRPr lang="zh-CN" altLang="en-US" sz="1600">
                        <a:solidFill>
                          <a:srgbClr val="08090C"/>
                        </a:solidFill>
                        <a:uFillTx/>
                        <a:latin typeface="Times New Roman" panose="02020603050405020304" charset="0"/>
                        <a:ea typeface="宋体" panose="02010600030101010101" pitchFamily="2" charset="-122"/>
                      </a:endParaRPr>
                    </a:p>
                    <a:p>
                      <a:pPr algn="ctr">
                        <a:buClrTx/>
                        <a:buSzTx/>
                        <a:buFontTx/>
                        <a:buNone/>
                      </a:pPr>
                      <a:r>
                        <a:rPr lang="zh-CN" altLang="en-US" sz="1600">
                          <a:solidFill>
                            <a:srgbClr val="08090C"/>
                          </a:solidFill>
                          <a:uFillTx/>
                          <a:latin typeface="Times New Roman" panose="02020603050405020304" charset="0"/>
                          <a:ea typeface="宋体" panose="02010600030101010101" pitchFamily="2" charset="-122"/>
                        </a:rPr>
                        <a:t>1</a:t>
                      </a:r>
                    </a:p>
                  </a:txBody>
                  <a:tcPr/>
                </a:tc>
                <a:tc>
                  <a:txBody>
                    <a:bodyPr/>
                    <a:lstStyle/>
                    <a:p>
                      <a:pPr algn="l">
                        <a:buClrTx/>
                        <a:buSzTx/>
                        <a:buFontTx/>
                      </a:pPr>
                      <a:r>
                        <a:rPr lang="zh-CN" altLang="en-US" sz="1600">
                          <a:solidFill>
                            <a:srgbClr val="08090C"/>
                          </a:solidFill>
                          <a:uFillTx/>
                          <a:latin typeface="Times New Roman" panose="02020603050405020304" charset="0"/>
                          <a:ea typeface="宋体" panose="02010600030101010101" pitchFamily="2" charset="-122"/>
                          <a:cs typeface="宋体" panose="02010600030101010101" pitchFamily="2" charset="-122"/>
                        </a:rPr>
                        <a:t>-78</a:t>
                      </a:r>
                      <a:r>
                        <a:rPr lang="en-US" altLang="zh-CN" sz="1600">
                          <a:solidFill>
                            <a:srgbClr val="08090C"/>
                          </a:solidFill>
                          <a:uFillTx/>
                          <a:latin typeface="Times New Roman" panose="02020603050405020304" charset="0"/>
                          <a:ea typeface="宋体" panose="02010600030101010101" pitchFamily="2" charset="-122"/>
                          <a:cs typeface="宋体" panose="02010600030101010101" pitchFamily="2" charset="-122"/>
                        </a:rPr>
                        <a:t> </a:t>
                      </a:r>
                      <a:r>
                        <a:rPr lang="zh-CN" altLang="en-US" sz="1600">
                          <a:solidFill>
                            <a:srgbClr val="08090C"/>
                          </a:solidFill>
                          <a:uFillTx/>
                          <a:latin typeface="Times New Roman" panose="02020603050405020304" charset="0"/>
                          <a:ea typeface="宋体" panose="02010600030101010101" pitchFamily="2" charset="-122"/>
                          <a:cs typeface="宋体" panose="02010600030101010101" pitchFamily="2" charset="-122"/>
                        </a:rPr>
                        <a:t>℃超低温还原，设备要求高</a:t>
                      </a:r>
                    </a:p>
                  </a:txBody>
                  <a:tcPr marL="51117" marR="51117" marT="51117" marB="51117" anchor="ctr"/>
                </a:tc>
                <a:tc>
                  <a:txBody>
                    <a:bodyPr/>
                    <a:lstStyle/>
                    <a:p>
                      <a:pPr algn="l">
                        <a:buClrTx/>
                        <a:buSzTx/>
                        <a:buFontTx/>
                      </a:pPr>
                      <a:r>
                        <a:rPr lang="zh-CN" altLang="en-US" sz="1600" dirty="0">
                          <a:solidFill>
                            <a:srgbClr val="08090C"/>
                          </a:solidFill>
                          <a:uFillTx/>
                          <a:latin typeface="Times New Roman" panose="02020603050405020304" charset="0"/>
                          <a:ea typeface="宋体" panose="02010600030101010101" pitchFamily="2" charset="-122"/>
                          <a:cs typeface="宋体" panose="02010600030101010101" pitchFamily="2" charset="-122"/>
                        </a:rPr>
                        <a:t> 使用手性催化剂 / 酶催化替代低温化学还原或可采用连续流工艺。</a:t>
                      </a:r>
                    </a:p>
                  </a:txBody>
                  <a:tcPr marL="51117" marR="51117" marT="51117" marB="51117" anchor="ctr"/>
                </a:tc>
                <a:extLst>
                  <a:ext uri="{0D108BD9-81ED-4DB2-BD59-A6C34878D82A}">
                    <a16:rowId xmlns:a16="http://schemas.microsoft.com/office/drawing/2014/main" val="10001"/>
                  </a:ext>
                </a:extLst>
              </a:tr>
              <a:tr h="1014095">
                <a:tc>
                  <a:txBody>
                    <a:bodyPr/>
                    <a:lstStyle/>
                    <a:p>
                      <a:pPr algn="ctr">
                        <a:buClrTx/>
                        <a:buSzTx/>
                        <a:buFontTx/>
                        <a:buNone/>
                      </a:pPr>
                      <a:endParaRPr lang="zh-CN" altLang="en-US" sz="1600">
                        <a:solidFill>
                          <a:srgbClr val="08090C"/>
                        </a:solidFill>
                        <a:uFillTx/>
                        <a:latin typeface="Times New Roman" panose="02020603050405020304" charset="0"/>
                        <a:ea typeface="宋体" panose="02010600030101010101" pitchFamily="2" charset="-122"/>
                      </a:endParaRPr>
                    </a:p>
                    <a:p>
                      <a:pPr algn="ctr">
                        <a:buClrTx/>
                        <a:buSzTx/>
                        <a:buFontTx/>
                        <a:buNone/>
                      </a:pPr>
                      <a:r>
                        <a:rPr lang="zh-CN" altLang="en-US" sz="1600">
                          <a:solidFill>
                            <a:srgbClr val="08090C"/>
                          </a:solidFill>
                          <a:uFillTx/>
                          <a:latin typeface="Times New Roman" panose="02020603050405020304" charset="0"/>
                          <a:ea typeface="宋体" panose="02010600030101010101" pitchFamily="2" charset="-122"/>
                        </a:rPr>
                        <a:t>2</a:t>
                      </a:r>
                    </a:p>
                  </a:txBody>
                  <a:tcPr/>
                </a:tc>
                <a:tc>
                  <a:txBody>
                    <a:bodyPr/>
                    <a:lstStyle/>
                    <a:p>
                      <a:pPr algn="l">
                        <a:buClrTx/>
                        <a:buSzTx/>
                        <a:buFontTx/>
                      </a:pPr>
                      <a:r>
                        <a:rPr lang="zh-CN" altLang="en-US" sz="1600">
                          <a:solidFill>
                            <a:srgbClr val="08090C"/>
                          </a:solidFill>
                          <a:uFillTx/>
                          <a:latin typeface="Times New Roman" panose="02020603050405020304" charset="0"/>
                          <a:ea typeface="宋体" panose="02010600030101010101" pitchFamily="2" charset="-122"/>
                          <a:cs typeface="宋体" panose="02010600030101010101" pitchFamily="2" charset="-122"/>
                        </a:rPr>
                        <a:t>Et₃B/NaBH₄试剂对水、氧气敏感</a:t>
                      </a:r>
                    </a:p>
                  </a:txBody>
                  <a:tcPr marL="51117" marR="51117" marT="51117" marB="51117" anchor="ctr"/>
                </a:tc>
                <a:tc>
                  <a:txBody>
                    <a:bodyPr/>
                    <a:lstStyle/>
                    <a:p>
                      <a:pPr algn="l">
                        <a:buClrTx/>
                        <a:buSzTx/>
                        <a:buFontTx/>
                      </a:pPr>
                      <a:r>
                        <a:rPr lang="en-US" altLang="zh-CN" sz="1600">
                          <a:solidFill>
                            <a:srgbClr val="08090C"/>
                          </a:solidFill>
                          <a:uFillTx/>
                          <a:latin typeface="Times New Roman" panose="02020603050405020304" charset="0"/>
                          <a:ea typeface="宋体" panose="02010600030101010101" pitchFamily="2" charset="-122"/>
                          <a:cs typeface="宋体" panose="02010600030101010101" pitchFamily="2" charset="-122"/>
                        </a:rPr>
                        <a:t> </a:t>
                      </a:r>
                      <a:r>
                        <a:rPr lang="zh-CN" altLang="en-US" sz="1600">
                          <a:solidFill>
                            <a:srgbClr val="08090C"/>
                          </a:solidFill>
                          <a:uFillTx/>
                          <a:latin typeface="Times New Roman" panose="02020603050405020304" charset="0"/>
                          <a:ea typeface="宋体" panose="02010600030101010101" pitchFamily="2" charset="-122"/>
                          <a:cs typeface="宋体" panose="02010600030101010101" pitchFamily="2" charset="-122"/>
                        </a:rPr>
                        <a:t>改用不对称催化加氢，在常温</a:t>
                      </a:r>
                      <a:r>
                        <a:rPr lang="en-US" altLang="zh-CN" sz="1600">
                          <a:solidFill>
                            <a:srgbClr val="08090C"/>
                          </a:solidFill>
                          <a:uFillTx/>
                          <a:latin typeface="Times New Roman" panose="02020603050405020304" charset="0"/>
                          <a:ea typeface="宋体" panose="02010600030101010101" pitchFamily="2" charset="-122"/>
                          <a:cs typeface="宋体" panose="02010600030101010101" pitchFamily="2" charset="-122"/>
                        </a:rPr>
                        <a:t> / </a:t>
                      </a:r>
                      <a:r>
                        <a:rPr lang="zh-CN" altLang="en-US" sz="1600">
                          <a:solidFill>
                            <a:srgbClr val="08090C"/>
                          </a:solidFill>
                          <a:uFillTx/>
                          <a:latin typeface="Times New Roman" panose="02020603050405020304" charset="0"/>
                          <a:ea typeface="宋体" panose="02010600030101010101" pitchFamily="2" charset="-122"/>
                          <a:cs typeface="宋体" panose="02010600030101010101" pitchFamily="2" charset="-122"/>
                        </a:rPr>
                        <a:t>常压下实现高立体选择性还原，如硼氢化钠（</a:t>
                      </a:r>
                      <a:r>
                        <a:rPr lang="en-US" altLang="zh-CN" sz="1600">
                          <a:solidFill>
                            <a:srgbClr val="08090C"/>
                          </a:solidFill>
                          <a:uFillTx/>
                          <a:latin typeface="Times New Roman" panose="02020603050405020304" charset="0"/>
                          <a:ea typeface="宋体" panose="02010600030101010101" pitchFamily="2" charset="-122"/>
                          <a:cs typeface="宋体" panose="02010600030101010101" pitchFamily="2" charset="-122"/>
                        </a:rPr>
                        <a:t>NaBH</a:t>
                      </a:r>
                      <a:r>
                        <a:rPr lang="en-US" altLang="en-US" sz="1600">
                          <a:solidFill>
                            <a:srgbClr val="08090C"/>
                          </a:solidFill>
                          <a:uFillTx/>
                          <a:latin typeface="Times New Roman" panose="02020603050405020304" charset="0"/>
                          <a:ea typeface="宋体" panose="02010600030101010101" pitchFamily="2" charset="-122"/>
                          <a:cs typeface="宋体" panose="02010600030101010101" pitchFamily="2" charset="-122"/>
                        </a:rPr>
                        <a:t>₄</a:t>
                      </a:r>
                      <a:r>
                        <a:rPr lang="zh-CN" altLang="en-US" sz="1600">
                          <a:solidFill>
                            <a:srgbClr val="08090C"/>
                          </a:solidFill>
                          <a:uFillTx/>
                          <a:latin typeface="Times New Roman" panose="02020603050405020304" charset="0"/>
                          <a:ea typeface="宋体" panose="02010600030101010101" pitchFamily="2" charset="-122"/>
                          <a:cs typeface="宋体" panose="02010600030101010101" pitchFamily="2" charset="-122"/>
                        </a:rPr>
                        <a:t>）</a:t>
                      </a:r>
                      <a:r>
                        <a:rPr lang="en-US" altLang="zh-CN" sz="1600">
                          <a:solidFill>
                            <a:srgbClr val="08090C"/>
                          </a:solidFill>
                          <a:uFillTx/>
                          <a:latin typeface="Times New Roman" panose="02020603050405020304" charset="0"/>
                          <a:ea typeface="宋体" panose="02010600030101010101" pitchFamily="2" charset="-122"/>
                          <a:cs typeface="宋体" panose="02010600030101010101" pitchFamily="2" charset="-122"/>
                        </a:rPr>
                        <a:t>/LiI </a:t>
                      </a:r>
                      <a:r>
                        <a:rPr lang="zh-CN" altLang="en-US" sz="1600">
                          <a:solidFill>
                            <a:srgbClr val="08090C"/>
                          </a:solidFill>
                          <a:uFillTx/>
                          <a:latin typeface="Times New Roman" panose="02020603050405020304" charset="0"/>
                          <a:ea typeface="宋体" panose="02010600030101010101" pitchFamily="2" charset="-122"/>
                          <a:cs typeface="宋体" panose="02010600030101010101" pitchFamily="2" charset="-122"/>
                        </a:rPr>
                        <a:t>复合还原体系代替</a:t>
                      </a:r>
                      <a:r>
                        <a:rPr lang="en-US" altLang="zh-CN" sz="1600">
                          <a:solidFill>
                            <a:srgbClr val="08090C"/>
                          </a:solidFill>
                          <a:uFillTx/>
                          <a:latin typeface="Times New Roman" panose="02020603050405020304" charset="0"/>
                          <a:ea typeface="宋体" panose="02010600030101010101" pitchFamily="2" charset="-122"/>
                          <a:cs typeface="宋体" panose="02010600030101010101" pitchFamily="2" charset="-122"/>
                        </a:rPr>
                        <a:t>Et</a:t>
                      </a:r>
                      <a:r>
                        <a:rPr lang="en-US" altLang="en-US" sz="1600">
                          <a:solidFill>
                            <a:srgbClr val="08090C"/>
                          </a:solidFill>
                          <a:uFillTx/>
                          <a:latin typeface="Times New Roman" panose="02020603050405020304" charset="0"/>
                          <a:ea typeface="宋体" panose="02010600030101010101" pitchFamily="2" charset="-122"/>
                          <a:cs typeface="宋体" panose="02010600030101010101" pitchFamily="2" charset="-122"/>
                        </a:rPr>
                        <a:t>₃</a:t>
                      </a:r>
                      <a:r>
                        <a:rPr lang="en-US" altLang="zh-CN" sz="1600">
                          <a:solidFill>
                            <a:srgbClr val="08090C"/>
                          </a:solidFill>
                          <a:uFillTx/>
                          <a:latin typeface="Times New Roman" panose="02020603050405020304" charset="0"/>
                          <a:ea typeface="宋体" panose="02010600030101010101" pitchFamily="2" charset="-122"/>
                          <a:cs typeface="宋体" panose="02010600030101010101" pitchFamily="2" charset="-122"/>
                        </a:rPr>
                        <a:t>B/NaBH</a:t>
                      </a:r>
                      <a:r>
                        <a:rPr lang="en-US" altLang="en-US" sz="1600">
                          <a:solidFill>
                            <a:srgbClr val="08090C"/>
                          </a:solidFill>
                          <a:uFillTx/>
                          <a:latin typeface="Times New Roman" panose="02020603050405020304" charset="0"/>
                          <a:ea typeface="宋体" panose="02010600030101010101" pitchFamily="2" charset="-122"/>
                          <a:cs typeface="宋体" panose="02010600030101010101" pitchFamily="2" charset="-122"/>
                        </a:rPr>
                        <a:t>₄</a:t>
                      </a:r>
                      <a:r>
                        <a:rPr lang="zh-CN" altLang="en-US" sz="1600">
                          <a:solidFill>
                            <a:srgbClr val="08090C"/>
                          </a:solidFill>
                          <a:uFillTx/>
                          <a:latin typeface="Times New Roman" panose="02020603050405020304" charset="0"/>
                          <a:ea typeface="宋体" panose="02010600030101010101" pitchFamily="2" charset="-122"/>
                          <a:cs typeface="宋体" panose="02010600030101010101" pitchFamily="2" charset="-122"/>
                        </a:rPr>
                        <a:t>是一种有效的替代方案，尝试酶催化还原（如羰基还原酶），在温和水相体系中反应</a:t>
                      </a:r>
                    </a:p>
                  </a:txBody>
                  <a:tcPr marL="51117" marR="51117" marT="51117" marB="51117" anchor="ctr"/>
                </a:tc>
                <a:extLst>
                  <a:ext uri="{0D108BD9-81ED-4DB2-BD59-A6C34878D82A}">
                    <a16:rowId xmlns:a16="http://schemas.microsoft.com/office/drawing/2014/main" val="10002"/>
                  </a:ext>
                </a:extLst>
              </a:tr>
              <a:tr h="1338580">
                <a:tc>
                  <a:txBody>
                    <a:bodyPr/>
                    <a:lstStyle/>
                    <a:p>
                      <a:pPr algn="ctr">
                        <a:buClrTx/>
                        <a:buSzTx/>
                        <a:buFontTx/>
                        <a:buNone/>
                      </a:pPr>
                      <a:endParaRPr lang="en-US" altLang="zh-CN" sz="1600">
                        <a:solidFill>
                          <a:srgbClr val="08090C"/>
                        </a:solidFill>
                        <a:uFillTx/>
                        <a:latin typeface="Times New Roman" panose="02020603050405020304" charset="0"/>
                        <a:ea typeface="宋体" panose="02010600030101010101" pitchFamily="2" charset="-122"/>
                      </a:endParaRPr>
                    </a:p>
                    <a:p>
                      <a:pPr algn="ctr">
                        <a:buClrTx/>
                        <a:buSzTx/>
                        <a:buFontTx/>
                        <a:buNone/>
                      </a:pPr>
                      <a:endParaRPr lang="en-US" altLang="zh-CN" sz="1600">
                        <a:solidFill>
                          <a:srgbClr val="08090C"/>
                        </a:solidFill>
                        <a:uFillTx/>
                        <a:latin typeface="Times New Roman" panose="02020603050405020304" charset="0"/>
                        <a:ea typeface="宋体" panose="02010600030101010101" pitchFamily="2" charset="-122"/>
                      </a:endParaRPr>
                    </a:p>
                    <a:p>
                      <a:pPr algn="ctr">
                        <a:buClrTx/>
                        <a:buSzTx/>
                        <a:buFontTx/>
                        <a:buNone/>
                      </a:pPr>
                      <a:r>
                        <a:rPr lang="en-US" altLang="zh-CN" sz="1600">
                          <a:solidFill>
                            <a:srgbClr val="08090C"/>
                          </a:solidFill>
                          <a:uFillTx/>
                          <a:latin typeface="Times New Roman" panose="02020603050405020304" charset="0"/>
                          <a:ea typeface="宋体" panose="02010600030101010101" pitchFamily="2" charset="-122"/>
                        </a:rPr>
                        <a:t>3</a:t>
                      </a:r>
                    </a:p>
                    <a:p>
                      <a:pPr algn="ctr">
                        <a:buClrTx/>
                        <a:buSzTx/>
                        <a:buFontTx/>
                        <a:buNone/>
                      </a:pPr>
                      <a:endParaRPr lang="en-US" altLang="zh-CN" sz="1600">
                        <a:solidFill>
                          <a:srgbClr val="08090C"/>
                        </a:solidFill>
                        <a:uFillTx/>
                        <a:latin typeface="Times New Roman" panose="02020603050405020304" charset="0"/>
                        <a:ea typeface="宋体" panose="02010600030101010101" pitchFamily="2" charset="-122"/>
                      </a:endParaRPr>
                    </a:p>
                  </a:txBody>
                  <a:tcPr/>
                </a:tc>
                <a:tc>
                  <a:txBody>
                    <a:bodyPr/>
                    <a:lstStyle/>
                    <a:p>
                      <a:pPr algn="l">
                        <a:buClrTx/>
                        <a:buSzTx/>
                        <a:buFontTx/>
                        <a:buNone/>
                      </a:pPr>
                      <a:r>
                        <a:rPr lang="zh-CN" altLang="en-US" sz="1600">
                          <a:ln>
                            <a:noFill/>
                          </a:ln>
                          <a:solidFill>
                            <a:prstClr val="black"/>
                          </a:solidFill>
                          <a:latin typeface="Times New Roman" panose="02020603050405020304" charset="0"/>
                          <a:ea typeface="宋体" panose="02010600030101010101" pitchFamily="2" charset="-122"/>
                          <a:sym typeface="+mn-ea"/>
                        </a:rPr>
                        <a:t>该合成路线使用</a:t>
                      </a:r>
                      <a:r>
                        <a:rPr lang="en-US" altLang="zh-CN" sz="1600">
                          <a:ln>
                            <a:noFill/>
                          </a:ln>
                          <a:solidFill>
                            <a:prstClr val="black"/>
                          </a:solidFill>
                          <a:latin typeface="Times New Roman" panose="02020603050405020304" charset="0"/>
                          <a:ea typeface="宋体" panose="02010600030101010101" pitchFamily="2" charset="-122"/>
                          <a:sym typeface="+mn-ea"/>
                        </a:rPr>
                        <a:t>POCl</a:t>
                      </a:r>
                      <a:r>
                        <a:rPr lang="en-US" altLang="en-US" sz="1600">
                          <a:ln>
                            <a:noFill/>
                          </a:ln>
                          <a:solidFill>
                            <a:prstClr val="black"/>
                          </a:solidFill>
                          <a:latin typeface="Times New Roman" panose="02020603050405020304" charset="0"/>
                          <a:ea typeface="宋体" panose="02010600030101010101" pitchFamily="2" charset="-122"/>
                          <a:sym typeface="+mn-ea"/>
                        </a:rPr>
                        <a:t>₃</a:t>
                      </a:r>
                      <a:r>
                        <a:rPr lang="zh-CN" altLang="en-US" sz="1600">
                          <a:ln>
                            <a:noFill/>
                          </a:ln>
                          <a:solidFill>
                            <a:prstClr val="black"/>
                          </a:solidFill>
                          <a:latin typeface="Times New Roman" panose="02020603050405020304" charset="0"/>
                          <a:ea typeface="宋体" panose="02010600030101010101" pitchFamily="2" charset="-122"/>
                          <a:sym typeface="+mn-ea"/>
                        </a:rPr>
                        <a:t>，反应后产生大量酸性含磷废水，处理困难</a:t>
                      </a:r>
                      <a:endParaRPr lang="zh-CN" altLang="en-US" sz="1600">
                        <a:solidFill>
                          <a:srgbClr val="08090C"/>
                        </a:solidFill>
                        <a:uFillTx/>
                        <a:latin typeface="Times New Roman" panose="02020603050405020304" charset="0"/>
                        <a:ea typeface="宋体" panose="02010600030101010101" pitchFamily="2" charset="-122"/>
                      </a:endParaRPr>
                    </a:p>
                  </a:txBody>
                  <a:tcPr marL="51117" marR="51117" marT="51117" marB="51117" anchor="ctr"/>
                </a:tc>
                <a:tc>
                  <a:txBody>
                    <a:bodyPr/>
                    <a:lstStyle/>
                    <a:p>
                      <a:pPr algn="l">
                        <a:buClrTx/>
                        <a:buSzTx/>
                        <a:buFontTx/>
                        <a:buNone/>
                      </a:pPr>
                      <a:r>
                        <a:rPr lang="zh-CN" altLang="en-US" sz="1600" dirty="0">
                          <a:solidFill>
                            <a:srgbClr val="08090C"/>
                          </a:solidFill>
                          <a:uFillTx/>
                          <a:latin typeface="Times New Roman" panose="02020603050405020304" charset="0"/>
                          <a:ea typeface="宋体" panose="02010600030101010101" pitchFamily="2" charset="-122"/>
                          <a:cs typeface="宋体" panose="02010600030101010101" pitchFamily="2" charset="-122"/>
                        </a:rPr>
                        <a:t>使用更绿色的甲酰化试剂：在构建醛中间体时，可以采用选择性更好毒性更低的甲酰化试剂，或探索全新的反应路径，从源头避免产生含磷废水</a:t>
                      </a:r>
                    </a:p>
                  </a:txBody>
                  <a:tcPr marL="51117" marR="51117" marT="51117" marB="51117" anchor="ctr"/>
                </a:tc>
                <a:extLst>
                  <a:ext uri="{0D108BD9-81ED-4DB2-BD59-A6C34878D82A}">
                    <a16:rowId xmlns:a16="http://schemas.microsoft.com/office/drawing/2014/main" val="10003"/>
                  </a:ext>
                </a:extLst>
              </a:tr>
            </a:tbl>
          </a:graphicData>
        </a:graphic>
      </p:graphicFrame>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custDataLst>
              <p:tags r:id="rId2"/>
            </p:custDataLst>
          </p:nvPr>
        </p:nvSpPr>
        <p:spPr>
          <a:xfrm>
            <a:off x="4291492" y="413964"/>
            <a:ext cx="3962400" cy="70548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sz="2400" b="1" dirty="0">
                <a:solidFill>
                  <a:schemeClr val="accent1">
                    <a:lumMod val="50000"/>
                  </a:schemeClr>
                </a:solidFill>
                <a:sym typeface="+mn-ea"/>
              </a:rPr>
              <a:t>阿托伐他汀的市场价值</a:t>
            </a:r>
            <a:endParaRPr lang="zh-CN" altLang="en-US" sz="2400" b="1" dirty="0">
              <a:solidFill>
                <a:schemeClr val="accent1">
                  <a:lumMod val="50000"/>
                </a:schemeClr>
              </a:solidFill>
              <a:latin typeface="宋体" panose="02010600030101010101" pitchFamily="2" charset="-122"/>
              <a:ea typeface="宋体" panose="02010600030101010101" pitchFamily="2" charset="-122"/>
              <a:sym typeface="+mn-ea"/>
            </a:endParaRPr>
          </a:p>
        </p:txBody>
      </p:sp>
      <p:sp>
        <p:nvSpPr>
          <p:cNvPr id="5" name="内容占位符 2"/>
          <p:cNvSpPr txBox="1"/>
          <p:nvPr>
            <p:custDataLst>
              <p:tags r:id="rId3"/>
            </p:custDataLst>
          </p:nvPr>
        </p:nvSpPr>
        <p:spPr>
          <a:xfrm>
            <a:off x="4741939" y="4828019"/>
            <a:ext cx="6944360" cy="840105"/>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buFontTx/>
              <a:buNone/>
            </a:pPr>
            <a:r>
              <a:rPr lang="en-US" altLang="zh-CN" sz="1600" dirty="0">
                <a:latin typeface="微软雅黑" panose="020B0503020204020204" charset="-122"/>
                <a:ea typeface="微软雅黑" panose="020B0503020204020204" charset="-122"/>
                <a:cs typeface="微软雅黑" panose="020B0503020204020204" charset="-122"/>
                <a:sym typeface="+mn-ea"/>
              </a:rPr>
              <a:t>1. </a:t>
            </a:r>
            <a:r>
              <a:rPr lang="en-US" altLang="zh-CN" sz="1600" dirty="0" err="1">
                <a:latin typeface="微软雅黑" panose="020B0503020204020204" charset="-122"/>
                <a:ea typeface="微软雅黑" panose="020B0503020204020204" charset="-122"/>
                <a:cs typeface="微软雅黑" panose="020B0503020204020204" charset="-122"/>
              </a:rPr>
              <a:t>工业级价格</a:t>
            </a:r>
            <a:r>
              <a:rPr lang="en-US" altLang="zh-CN" sz="1600" dirty="0">
                <a:latin typeface="微软雅黑" panose="020B0503020204020204" charset="-122"/>
                <a:ea typeface="微软雅黑" panose="020B0503020204020204" charset="-122"/>
                <a:cs typeface="微软雅黑" panose="020B0503020204020204" charset="-122"/>
              </a:rPr>
              <a:t> (99%</a:t>
            </a:r>
            <a:r>
              <a:rPr lang="zh-CN" altLang="en-US" sz="1600" dirty="0">
                <a:latin typeface="微软雅黑" panose="020B0503020204020204" charset="-122"/>
                <a:ea typeface="微软雅黑" panose="020B0503020204020204" charset="-122"/>
                <a:cs typeface="微软雅黑" panose="020B0503020204020204" charset="-122"/>
              </a:rPr>
              <a:t>；＞</a:t>
            </a:r>
            <a:r>
              <a:rPr lang="en-US" altLang="zh-CN" sz="1600" dirty="0">
                <a:latin typeface="微软雅黑" panose="020B0503020204020204" charset="-122"/>
                <a:ea typeface="微软雅黑" panose="020B0503020204020204" charset="-122"/>
                <a:cs typeface="微软雅黑" panose="020B0503020204020204" charset="-122"/>
              </a:rPr>
              <a:t>100kg)：￥3,200 / kg</a:t>
            </a:r>
          </a:p>
          <a:p>
            <a:pPr algn="l">
              <a:lnSpc>
                <a:spcPct val="100000"/>
              </a:lnSpc>
              <a:buFontTx/>
              <a:buNone/>
            </a:pPr>
            <a:r>
              <a:rPr lang="en-US" altLang="zh-CN" sz="1600" dirty="0">
                <a:latin typeface="微软雅黑" panose="020B0503020204020204" charset="-122"/>
                <a:ea typeface="微软雅黑" panose="020B0503020204020204" charset="-122"/>
                <a:cs typeface="微软雅黑" panose="020B0503020204020204" charset="-122"/>
              </a:rPr>
              <a:t>2. </a:t>
            </a:r>
            <a:r>
              <a:rPr lang="zh-CN" altLang="en-US" sz="1600" dirty="0">
                <a:latin typeface="微软雅黑" panose="020B0503020204020204" charset="-122"/>
                <a:ea typeface="微软雅黑" panose="020B0503020204020204" charset="-122"/>
                <a:cs typeface="微软雅黑" panose="020B0503020204020204" charset="-122"/>
              </a:rPr>
              <a:t>小批量（1–50</a:t>
            </a:r>
            <a:r>
              <a:rPr lang="en-US" altLang="zh-CN" sz="1600" dirty="0">
                <a:latin typeface="微软雅黑" panose="020B0503020204020204" charset="-122"/>
                <a:ea typeface="微软雅黑" panose="020B0503020204020204" charset="-122"/>
                <a:cs typeface="微软雅黑" panose="020B0503020204020204" charset="-122"/>
              </a:rPr>
              <a:t>kg）：</a:t>
            </a:r>
            <a:r>
              <a:rPr lang="zh-CN" altLang="en-US" sz="1600" dirty="0">
                <a:latin typeface="微软雅黑" panose="020B0503020204020204" charset="-122"/>
                <a:ea typeface="微软雅黑" panose="020B0503020204020204" charset="-122"/>
                <a:cs typeface="微软雅黑" panose="020B0503020204020204" charset="-122"/>
              </a:rPr>
              <a:t>约￥5,000–6,500 / </a:t>
            </a:r>
            <a:r>
              <a:rPr lang="en-US" altLang="zh-CN" sz="1600" dirty="0">
                <a:latin typeface="微软雅黑" panose="020B0503020204020204" charset="-122"/>
                <a:ea typeface="微软雅黑" panose="020B0503020204020204" charset="-122"/>
                <a:cs typeface="微软雅黑" panose="020B0503020204020204" charset="-122"/>
              </a:rPr>
              <a:t>kg</a:t>
            </a:r>
          </a:p>
          <a:p>
            <a:pPr algn="l">
              <a:lnSpc>
                <a:spcPct val="150000"/>
              </a:lnSpc>
              <a:buFontTx/>
              <a:buNone/>
            </a:pPr>
            <a:endParaRPr lang="en-US" altLang="zh-CN" sz="1600" dirty="0">
              <a:latin typeface="微软雅黑" panose="020B0503020204020204" charset="-122"/>
              <a:ea typeface="微软雅黑" panose="020B0503020204020204" charset="-122"/>
              <a:cs typeface="微软雅黑" panose="020B0503020204020204" charset="-122"/>
            </a:endParaRPr>
          </a:p>
        </p:txBody>
      </p:sp>
      <p:sp>
        <p:nvSpPr>
          <p:cNvPr id="7" name="文本框 6"/>
          <p:cNvSpPr txBox="1"/>
          <p:nvPr/>
        </p:nvSpPr>
        <p:spPr>
          <a:xfrm>
            <a:off x="4803098" y="4156486"/>
            <a:ext cx="2679700" cy="460375"/>
          </a:xfrm>
          <a:prstGeom prst="rect">
            <a:avLst/>
          </a:prstGeom>
          <a:noFill/>
        </p:spPr>
        <p:txBody>
          <a:bodyPr wrap="square" rtlCol="0" anchor="t">
            <a:spAutoFit/>
          </a:bodyPr>
          <a:lstStyle/>
          <a:p>
            <a:pPr algn="l">
              <a:buClrTx/>
              <a:buSzTx/>
              <a:buFontTx/>
            </a:pPr>
            <a:r>
              <a:rPr lang="zh-CN" altLang="en-US" sz="2400" b="1" spc="300" dirty="0">
                <a:solidFill>
                  <a:schemeClr val="accent1">
                    <a:lumMod val="50000"/>
                  </a:schemeClr>
                </a:solidFill>
                <a:uFillTx/>
                <a:latin typeface="+mj-lt"/>
                <a:ea typeface="+mj-ea"/>
                <a:cs typeface="+mj-cs"/>
                <a:sym typeface="+mn-ea"/>
              </a:rPr>
              <a:t>原料药的价格</a:t>
            </a:r>
          </a:p>
        </p:txBody>
      </p:sp>
      <p:sp>
        <p:nvSpPr>
          <p:cNvPr id="8" name="文本框 7"/>
          <p:cNvSpPr txBox="1"/>
          <p:nvPr/>
        </p:nvSpPr>
        <p:spPr>
          <a:xfrm>
            <a:off x="4402455" y="1332230"/>
            <a:ext cx="7623810" cy="2425065"/>
          </a:xfrm>
          <a:prstGeom prst="rect">
            <a:avLst/>
          </a:prstGeom>
          <a:noFill/>
        </p:spPr>
        <p:txBody>
          <a:bodyPr wrap="square" rtlCol="0">
            <a:noAutofit/>
          </a:bodyPr>
          <a:lstStyle/>
          <a:p>
            <a:pPr algn="just">
              <a:lnSpc>
                <a:spcPct val="150000"/>
              </a:lnSpc>
              <a:spcBef>
                <a:spcPts val="0"/>
              </a:spcBef>
              <a:spcAft>
                <a:spcPts val="1000"/>
              </a:spcAft>
              <a:buClrTx/>
              <a:buSzTx/>
              <a:buNone/>
            </a:pPr>
            <a:r>
              <a:rPr lang="en-US" altLang="zh-CN" sz="1600" spc="150" dirty="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rPr>
              <a:t>    </a:t>
            </a:r>
            <a:r>
              <a:rPr lang="zh-CN" altLang="en-US" sz="1600" spc="150" dirty="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rPr>
              <a:t>阿托伐他汀，为他汀类血脂调节药，主要作用部位在肝脏，可减少胆固醇的合成，增加低密度脂蛋白受体合成。适用于高胆固醇血症原发性高胆固醇血症患者。自2016年上市以来，累计销售额高达492.7亿元，在近十年国内公立医疗机构创新药销售额中位列榜首。中国高血脂患者超 2.4 亿，心血管病患者3.3 亿，阿托伐他汀作为指南推荐一线降脂药，其临床地位不可替代。已成为史上最畅销的药物之一，也是全球医药史上最成功单品之一。</a:t>
            </a:r>
          </a:p>
        </p:txBody>
      </p:sp>
      <p:sp>
        <p:nvSpPr>
          <p:cNvPr id="3" name="文本框 2"/>
          <p:cNvSpPr txBox="1"/>
          <p:nvPr/>
        </p:nvSpPr>
        <p:spPr>
          <a:xfrm>
            <a:off x="1131416" y="4022469"/>
            <a:ext cx="2081213" cy="922020"/>
          </a:xfrm>
          <a:prstGeom prst="rect">
            <a:avLst/>
          </a:prstGeom>
          <a:noFill/>
        </p:spPr>
        <p:txBody>
          <a:bodyPr wrap="square" rtlCol="0">
            <a:spAutoFit/>
          </a:bodyPr>
          <a:lstStyle/>
          <a:p>
            <a:r>
              <a:rPr lang="en-US" altLang="zh-CN" noProof="1">
                <a:latin typeface="Times New Roman" panose="02020603050405020304" charset="0"/>
                <a:ea typeface="宋体" panose="02010600030101010101" pitchFamily="2" charset="-122"/>
                <a:cs typeface="+mn-cs"/>
              </a:rPr>
              <a:t>     </a:t>
            </a:r>
            <a:r>
              <a:rPr lang="zh-CN" altLang="en-US" noProof="1">
                <a:latin typeface="Times New Roman" panose="02020603050405020304" charset="0"/>
                <a:ea typeface="宋体" panose="02010600030101010101" pitchFamily="2" charset="-122"/>
                <a:cs typeface="+mn-cs"/>
              </a:rPr>
              <a:t>阿托伐他汀</a:t>
            </a:r>
            <a:endParaRPr lang="zh-CN" altLang="en-US" noProof="1">
              <a:latin typeface="Times New Roman" panose="02020603050405020304" charset="0"/>
            </a:endParaRPr>
          </a:p>
          <a:p>
            <a:r>
              <a:rPr lang="en-US" altLang="zh-CN" noProof="1">
                <a:latin typeface="Times New Roman" panose="02020603050405020304" charset="0"/>
                <a:ea typeface="宋体" panose="02010600030101010101" pitchFamily="2" charset="-122"/>
                <a:cs typeface="+mn-cs"/>
              </a:rPr>
              <a:t>     Atorvastatin</a:t>
            </a:r>
            <a:endParaRPr lang="en-US" altLang="zh-CN" noProof="1">
              <a:latin typeface="Times New Roman" panose="02020603050405020304" charset="0"/>
            </a:endParaRPr>
          </a:p>
          <a:p>
            <a:r>
              <a:rPr lang="en-US" altLang="zh-CN" noProof="1">
                <a:latin typeface="Times New Roman" panose="02020603050405020304" charset="0"/>
                <a:ea typeface="宋体" panose="02010600030101010101" pitchFamily="2" charset="-122"/>
                <a:cs typeface="+mn-cs"/>
              </a:rPr>
              <a:t>   </a:t>
            </a:r>
            <a:r>
              <a:rPr lang="zh-CN" altLang="en-US" noProof="1">
                <a:latin typeface="Times New Roman" panose="02020603050405020304" charset="0"/>
                <a:ea typeface="宋体" panose="02010600030101010101" pitchFamily="2" charset="-122"/>
                <a:cs typeface="+mn-cs"/>
              </a:rPr>
              <a:t>＄</a:t>
            </a:r>
            <a:r>
              <a:rPr lang="en-US" altLang="zh-CN" noProof="1">
                <a:latin typeface="Times New Roman" panose="02020603050405020304" charset="0"/>
                <a:ea typeface="宋体" panose="02010600030101010101" pitchFamily="2" charset="-122"/>
                <a:cs typeface="+mn-cs"/>
              </a:rPr>
              <a:t>1.07 Billion</a:t>
            </a:r>
            <a:endParaRPr lang="en-US" altLang="zh-CN" noProof="1">
              <a:latin typeface="Times New Roman" panose="02020603050405020304" charset="0"/>
            </a:endParaRPr>
          </a:p>
        </p:txBody>
      </p:sp>
      <p:pic>
        <p:nvPicPr>
          <p:cNvPr id="2050" name="图片 3"/>
          <p:cNvPicPr>
            <a:picLocks noChangeAspect="1"/>
          </p:cNvPicPr>
          <p:nvPr/>
        </p:nvPicPr>
        <p:blipFill>
          <a:blip r:embed="rId5"/>
          <a:stretch>
            <a:fillRect/>
          </a:stretch>
        </p:blipFill>
        <p:spPr>
          <a:xfrm>
            <a:off x="339254" y="2293682"/>
            <a:ext cx="3432175" cy="1530350"/>
          </a:xfrm>
          <a:prstGeom prst="rect">
            <a:avLst/>
          </a:prstGeom>
          <a:noFill/>
          <a:ln w="9525">
            <a:noFill/>
          </a:ln>
        </p:spPr>
      </p:pic>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对象 3"/>
          <p:cNvGraphicFramePr>
            <a:graphicFrameLocks noChangeAspect="1"/>
          </p:cNvGraphicFramePr>
          <p:nvPr/>
        </p:nvGraphicFramePr>
        <p:xfrm>
          <a:off x="287020" y="736600"/>
          <a:ext cx="10162540" cy="6121400"/>
        </p:xfrm>
        <a:graphic>
          <a:graphicData uri="http://schemas.openxmlformats.org/presentationml/2006/ole">
            <mc:AlternateContent xmlns:mc="http://schemas.openxmlformats.org/markup-compatibility/2006">
              <mc:Choice xmlns:v="urn:schemas-microsoft-com:vml" Requires="v">
                <p:oleObj spid="_x0000_s5134" r:id="rId5" imgW="9427210" imgH="5679440" progId="ChemDraw.Document.6.0">
                  <p:embed/>
                </p:oleObj>
              </mc:Choice>
              <mc:Fallback>
                <p:oleObj r:id="rId5" imgW="9427210" imgH="5679440" progId="ChemDraw.Document.6.0">
                  <p:embed/>
                  <p:pic>
                    <p:nvPicPr>
                      <p:cNvPr id="0" name="图片 4"/>
                      <p:cNvPicPr/>
                      <p:nvPr/>
                    </p:nvPicPr>
                    <p:blipFill>
                      <a:blip r:embed="rId6"/>
                      <a:stretch>
                        <a:fillRect/>
                      </a:stretch>
                    </p:blipFill>
                    <p:spPr>
                      <a:xfrm>
                        <a:off x="287020" y="736600"/>
                        <a:ext cx="10162540" cy="6121400"/>
                      </a:xfrm>
                      <a:prstGeom prst="rect">
                        <a:avLst/>
                      </a:prstGeom>
                    </p:spPr>
                  </p:pic>
                </p:oleObj>
              </mc:Fallback>
            </mc:AlternateContent>
          </a:graphicData>
        </a:graphic>
      </p:graphicFrame>
      <p:sp>
        <p:nvSpPr>
          <p:cNvPr id="2" name="文本框 1"/>
          <p:cNvSpPr txBox="1"/>
          <p:nvPr/>
        </p:nvSpPr>
        <p:spPr>
          <a:xfrm>
            <a:off x="4176395" y="6161405"/>
            <a:ext cx="8015605" cy="626110"/>
          </a:xfrm>
          <a:prstGeom prst="rect">
            <a:avLst/>
          </a:prstGeom>
          <a:noFill/>
        </p:spPr>
        <p:txBody>
          <a:bodyPr wrap="square" rtlCol="0">
            <a:noAutofit/>
          </a:bodyPr>
          <a:lstStyle/>
          <a:p>
            <a:r>
              <a:rPr lang="en-US" altLang="zh-CN">
                <a:latin typeface="Times New Roman" panose="02020603050405020304" charset="0"/>
                <a:cs typeface="Times New Roman" panose="02020603050405020304" charset="0"/>
              </a:rPr>
              <a:t>Hunan Ouya Biological Co., Ltd. Process for preparation of atorvastatin calcium[P]. Chinese Patent: 201210058223.4, 2012‑08‑01.</a:t>
            </a:r>
          </a:p>
          <a:p>
            <a:endParaRPr lang="en-US" altLang="zh-CN">
              <a:latin typeface="Times New Roman" panose="02020603050405020304" charset="0"/>
              <a:cs typeface="Times New Roman" panose="02020603050405020304" charset="0"/>
            </a:endParaRPr>
          </a:p>
        </p:txBody>
      </p:sp>
      <p:sp>
        <p:nvSpPr>
          <p:cNvPr id="3" name="标题 2"/>
          <p:cNvSpPr>
            <a:spLocks noGrp="1"/>
          </p:cNvSpPr>
          <p:nvPr>
            <p:ph type="title"/>
            <p:custDataLst>
              <p:tags r:id="rId3"/>
            </p:custDataLst>
          </p:nvPr>
        </p:nvSpPr>
        <p:spPr>
          <a:xfrm>
            <a:off x="216605" y="194380"/>
            <a:ext cx="10969200" cy="705600"/>
          </a:xfrm>
        </p:spPr>
        <p:txBody>
          <a:bodyPr/>
          <a:lstStyle/>
          <a:p>
            <a:r>
              <a:rPr lang="zh-CN" altLang="en-US" sz="2400" b="1">
                <a:solidFill>
                  <a:schemeClr val="accent1">
                    <a:lumMod val="50000"/>
                  </a:schemeClr>
                </a:solidFill>
              </a:rPr>
              <a:t>阿托伐他汀药物合成路线</a:t>
            </a:r>
          </a:p>
        </p:txBody>
      </p:sp>
    </p:spTree>
    <p:custDataLst>
      <p:tags r:id="rId2"/>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411550" y="313760"/>
            <a:ext cx="10969200" cy="705600"/>
          </a:xfrm>
        </p:spPr>
        <p:txBody>
          <a:bodyPr/>
          <a:lstStyle/>
          <a:p>
            <a:pPr algn="l">
              <a:buClrTx/>
              <a:buSzTx/>
              <a:buFontTx/>
            </a:pPr>
            <a:r>
              <a:rPr lang="zh-CN" altLang="en-US" sz="2400" b="1">
                <a:solidFill>
                  <a:schemeClr val="accent1">
                    <a:lumMod val="50000"/>
                  </a:schemeClr>
                </a:solidFill>
                <a:sym typeface="+mn-ea"/>
              </a:rPr>
              <a:t>阿托伐他汀药物</a:t>
            </a:r>
            <a:r>
              <a:rPr lang="zh-CN" altLang="en-US" sz="2400" b="1">
                <a:solidFill>
                  <a:schemeClr val="accent1">
                    <a:lumMod val="50000"/>
                  </a:schemeClr>
                </a:solidFill>
              </a:rPr>
              <a:t>合成路线路线优点、缺点</a:t>
            </a:r>
          </a:p>
        </p:txBody>
      </p:sp>
      <p:graphicFrame>
        <p:nvGraphicFramePr>
          <p:cNvPr id="16" name="表格 15"/>
          <p:cNvGraphicFramePr/>
          <p:nvPr>
            <p:custDataLst>
              <p:tags r:id="rId3"/>
            </p:custDataLst>
          </p:nvPr>
        </p:nvGraphicFramePr>
        <p:xfrm>
          <a:off x="1132205" y="1517650"/>
          <a:ext cx="9982200" cy="3853815"/>
        </p:xfrm>
        <a:graphic>
          <a:graphicData uri="http://schemas.openxmlformats.org/drawingml/2006/table">
            <a:tbl>
              <a:tblPr firstRow="1">
                <a:tableStyleId>{B7BD4722-F1F9-43DE-912B-BC3AB9E171DB}</a:tableStyleId>
              </a:tblPr>
              <a:tblGrid>
                <a:gridCol w="736600">
                  <a:extLst>
                    <a:ext uri="{9D8B030D-6E8A-4147-A177-3AD203B41FA5}">
                      <a16:colId xmlns:a16="http://schemas.microsoft.com/office/drawing/2014/main" val="20000"/>
                    </a:ext>
                  </a:extLst>
                </a:gridCol>
                <a:gridCol w="4869180">
                  <a:extLst>
                    <a:ext uri="{9D8B030D-6E8A-4147-A177-3AD203B41FA5}">
                      <a16:colId xmlns:a16="http://schemas.microsoft.com/office/drawing/2014/main" val="20001"/>
                    </a:ext>
                  </a:extLst>
                </a:gridCol>
                <a:gridCol w="4376420">
                  <a:extLst>
                    <a:ext uri="{9D8B030D-6E8A-4147-A177-3AD203B41FA5}">
                      <a16:colId xmlns:a16="http://schemas.microsoft.com/office/drawing/2014/main" val="20002"/>
                    </a:ext>
                  </a:extLst>
                </a:gridCol>
              </a:tblGrid>
              <a:tr h="452755">
                <a:tc>
                  <a:txBody>
                    <a:bodyPr/>
                    <a:lstStyle/>
                    <a:p>
                      <a:pPr algn="ctr">
                        <a:buNone/>
                      </a:pPr>
                      <a:r>
                        <a:rPr lang="zh-CN" altLang="en-US"/>
                        <a:t>序号</a:t>
                      </a:r>
                    </a:p>
                  </a:txBody>
                  <a:tcPr/>
                </a:tc>
                <a:tc>
                  <a:txBody>
                    <a:bodyPr/>
                    <a:lstStyle/>
                    <a:p>
                      <a:pPr algn="ctr">
                        <a:buNone/>
                      </a:pPr>
                      <a:r>
                        <a:rPr lang="zh-CN" altLang="en-US"/>
                        <a:t>优点</a:t>
                      </a:r>
                    </a:p>
                  </a:txBody>
                  <a:tcPr/>
                </a:tc>
                <a:tc>
                  <a:txBody>
                    <a:bodyPr/>
                    <a:lstStyle/>
                    <a:p>
                      <a:pPr algn="ctr">
                        <a:buClrTx/>
                        <a:buSzTx/>
                        <a:buFontTx/>
                        <a:buNone/>
                      </a:pPr>
                      <a:r>
                        <a:rPr lang="zh-CN" altLang="en-US" sz="1800">
                          <a:sym typeface="+mn-ea"/>
                        </a:rPr>
                        <a:t>缺点</a:t>
                      </a:r>
                      <a:endParaRPr lang="zh-CN" altLang="en-US"/>
                    </a:p>
                  </a:txBody>
                  <a:tcPr/>
                </a:tc>
                <a:extLst>
                  <a:ext uri="{0D108BD9-81ED-4DB2-BD59-A6C34878D82A}">
                    <a16:rowId xmlns:a16="http://schemas.microsoft.com/office/drawing/2014/main" val="10000"/>
                  </a:ext>
                </a:extLst>
              </a:tr>
              <a:tr h="1258570">
                <a:tc>
                  <a:txBody>
                    <a:bodyPr/>
                    <a:lstStyle/>
                    <a:p>
                      <a:pPr algn="ctr">
                        <a:buClrTx/>
                        <a:buSzTx/>
                        <a:buFontTx/>
                        <a:buNone/>
                      </a:pPr>
                      <a:endParaRPr lang="en-US" altLang="zh-CN" sz="1600">
                        <a:latin typeface="Times New Roman" panose="02020603050405020304" charset="0"/>
                        <a:ea typeface="宋体" panose="02010600030101010101" pitchFamily="2" charset="-122"/>
                      </a:endParaRPr>
                    </a:p>
                    <a:p>
                      <a:pPr algn="ctr">
                        <a:buClrTx/>
                        <a:buSzTx/>
                        <a:buFontTx/>
                        <a:buNone/>
                      </a:pPr>
                      <a:r>
                        <a:rPr lang="en-US" altLang="zh-CN" sz="1600">
                          <a:latin typeface="Times New Roman" panose="02020603050405020304" charset="0"/>
                          <a:ea typeface="宋体" panose="02010600030101010101" pitchFamily="2" charset="-122"/>
                        </a:rPr>
                        <a:t>1</a:t>
                      </a:r>
                    </a:p>
                  </a:txBody>
                  <a:tcPr/>
                </a:tc>
                <a:tc>
                  <a:txBody>
                    <a:bodyPr/>
                    <a:lstStyle/>
                    <a:p>
                      <a:pPr>
                        <a:lnSpc>
                          <a:spcPct val="150000"/>
                        </a:lnSpc>
                        <a:buNone/>
                      </a:pPr>
                      <a:r>
                        <a:rPr lang="zh-CN" altLang="en-US" sz="1600" dirty="0">
                          <a:ln>
                            <a:noFill/>
                          </a:ln>
                          <a:solidFill>
                            <a:prstClr val="black"/>
                          </a:solidFill>
                          <a:uFillTx/>
                          <a:latin typeface="Times New Roman" panose="02020603050405020304" charset="0"/>
                          <a:ea typeface="宋体" panose="02010600030101010101" pitchFamily="2" charset="-122"/>
                        </a:rPr>
                        <a:t>用化合物</a:t>
                      </a:r>
                      <a:r>
                        <a:rPr lang="en-US" altLang="zh-CN" sz="1600" dirty="0">
                          <a:ln>
                            <a:noFill/>
                          </a:ln>
                          <a:solidFill>
                            <a:prstClr val="black"/>
                          </a:solidFill>
                          <a:uFillTx/>
                          <a:latin typeface="Times New Roman" panose="02020603050405020304" charset="0"/>
                          <a:ea typeface="宋体" panose="02010600030101010101" pitchFamily="2" charset="-122"/>
                        </a:rPr>
                        <a:t>b4</a:t>
                      </a:r>
                      <a:r>
                        <a:rPr lang="zh-CN" altLang="en-US" sz="1600" dirty="0">
                          <a:ln>
                            <a:noFill/>
                          </a:ln>
                          <a:solidFill>
                            <a:prstClr val="black"/>
                          </a:solidFill>
                          <a:uFillTx/>
                          <a:latin typeface="Times New Roman" panose="02020603050405020304" charset="0"/>
                          <a:ea typeface="宋体" panose="02010600030101010101" pitchFamily="2" charset="-122"/>
                        </a:rPr>
                        <a:t>与异丁酰乙酸乙酯发生</a:t>
                      </a:r>
                      <a:r>
                        <a:rPr lang="en-US" altLang="zh-CN" sz="1600" dirty="0">
                          <a:ln>
                            <a:noFill/>
                          </a:ln>
                          <a:solidFill>
                            <a:prstClr val="black"/>
                          </a:solidFill>
                          <a:uFillTx/>
                          <a:latin typeface="Times New Roman" panose="02020603050405020304" charset="0"/>
                          <a:ea typeface="宋体" panose="02010600030101010101" pitchFamily="2" charset="-122"/>
                        </a:rPr>
                        <a:t>Hantzsch</a:t>
                      </a:r>
                      <a:r>
                        <a:rPr lang="zh-CN" altLang="en-US" sz="1600" dirty="0">
                          <a:ln>
                            <a:noFill/>
                          </a:ln>
                          <a:solidFill>
                            <a:prstClr val="black"/>
                          </a:solidFill>
                          <a:uFillTx/>
                          <a:latin typeface="Times New Roman" panose="02020603050405020304" charset="0"/>
                          <a:ea typeface="宋体" panose="02010600030101010101" pitchFamily="2" charset="-122"/>
                        </a:rPr>
                        <a:t>反应，合成吡咯环，收率较高，而且采用的原料便宜</a:t>
                      </a:r>
                    </a:p>
                  </a:txBody>
                  <a:tcPr/>
                </a:tc>
                <a:tc>
                  <a:txBody>
                    <a:bodyPr/>
                    <a:lstStyle/>
                    <a:p>
                      <a:pPr algn="l">
                        <a:lnSpc>
                          <a:spcPct val="150000"/>
                        </a:lnSpc>
                        <a:buClrTx/>
                        <a:buSzTx/>
                        <a:buFontTx/>
                        <a:buNone/>
                      </a:pPr>
                      <a:r>
                        <a:rPr lang="zh-CN" altLang="en-US" sz="1600">
                          <a:ln>
                            <a:noFill/>
                          </a:ln>
                          <a:solidFill>
                            <a:prstClr val="black"/>
                          </a:solidFill>
                          <a:latin typeface="Times New Roman" panose="02020603050405020304" charset="0"/>
                          <a:ea typeface="宋体" panose="02010600030101010101" pitchFamily="2" charset="-122"/>
                        </a:rPr>
                        <a:t>前两步反应中苯和溴素毒性强且用量较大，存在安全隐患，对环境危害也较大</a:t>
                      </a:r>
                    </a:p>
                  </a:txBody>
                  <a:tcPr/>
                </a:tc>
                <a:extLst>
                  <a:ext uri="{0D108BD9-81ED-4DB2-BD59-A6C34878D82A}">
                    <a16:rowId xmlns:a16="http://schemas.microsoft.com/office/drawing/2014/main" val="10001"/>
                  </a:ext>
                </a:extLst>
              </a:tr>
              <a:tr h="871855">
                <a:tc>
                  <a:txBody>
                    <a:bodyPr/>
                    <a:lstStyle/>
                    <a:p>
                      <a:pPr algn="ctr">
                        <a:buClrTx/>
                        <a:buSzTx/>
                        <a:buFontTx/>
                        <a:buNone/>
                      </a:pPr>
                      <a:endParaRPr lang="en-US" altLang="zh-CN" sz="1600">
                        <a:latin typeface="Times New Roman" panose="02020603050405020304" charset="0"/>
                        <a:ea typeface="宋体" panose="02010600030101010101" pitchFamily="2" charset="-122"/>
                      </a:endParaRPr>
                    </a:p>
                    <a:p>
                      <a:pPr algn="ctr">
                        <a:buClrTx/>
                        <a:buSzTx/>
                        <a:buFontTx/>
                        <a:buNone/>
                      </a:pPr>
                      <a:r>
                        <a:rPr lang="en-US" altLang="zh-CN" sz="1600">
                          <a:latin typeface="Times New Roman" panose="02020603050405020304" charset="0"/>
                          <a:ea typeface="宋体" panose="02010600030101010101" pitchFamily="2" charset="-122"/>
                        </a:rPr>
                        <a:t>2</a:t>
                      </a:r>
                    </a:p>
                  </a:txBody>
                  <a:tcPr/>
                </a:tc>
                <a:tc>
                  <a:txBody>
                    <a:bodyPr/>
                    <a:lstStyle/>
                    <a:p>
                      <a:pPr algn="l">
                        <a:lnSpc>
                          <a:spcPct val="150000"/>
                        </a:lnSpc>
                        <a:buNone/>
                      </a:pPr>
                      <a:r>
                        <a:rPr lang="zh-CN" altLang="en-US" sz="1600" dirty="0">
                          <a:ln>
                            <a:noFill/>
                          </a:ln>
                          <a:solidFill>
                            <a:prstClr val="black"/>
                          </a:solidFill>
                          <a:latin typeface="Times New Roman" panose="02020603050405020304" charset="0"/>
                          <a:ea typeface="宋体" panose="02010600030101010101" pitchFamily="2" charset="-122"/>
                        </a:rPr>
                        <a:t>合成化合物</a:t>
                      </a:r>
                      <a:r>
                        <a:rPr lang="en-US" altLang="zh-CN" sz="1600" dirty="0">
                          <a:ln>
                            <a:noFill/>
                          </a:ln>
                          <a:solidFill>
                            <a:prstClr val="black"/>
                          </a:solidFill>
                          <a:latin typeface="Times New Roman" panose="02020603050405020304" charset="0"/>
                          <a:ea typeface="宋体" panose="02010600030101010101" pitchFamily="2" charset="-122"/>
                        </a:rPr>
                        <a:t>b8</a:t>
                      </a:r>
                      <a:r>
                        <a:rPr lang="zh-CN" altLang="en-US" sz="1600" dirty="0">
                          <a:ln>
                            <a:noFill/>
                          </a:ln>
                          <a:solidFill>
                            <a:prstClr val="black"/>
                          </a:solidFill>
                          <a:latin typeface="Times New Roman" panose="02020603050405020304" charset="0"/>
                          <a:ea typeface="宋体" panose="02010600030101010101" pitchFamily="2" charset="-122"/>
                        </a:rPr>
                        <a:t>的反应条件温和，安全系数高，耗能少，收率高</a:t>
                      </a:r>
                    </a:p>
                  </a:txBody>
                  <a:tcPr/>
                </a:tc>
                <a:tc>
                  <a:txBody>
                    <a:bodyPr/>
                    <a:lstStyle/>
                    <a:p>
                      <a:pPr algn="l">
                        <a:lnSpc>
                          <a:spcPct val="150000"/>
                        </a:lnSpc>
                        <a:buClrTx/>
                        <a:buSzTx/>
                        <a:buFontTx/>
                      </a:pPr>
                      <a:r>
                        <a:rPr lang="zh-CN" altLang="en-US" sz="1600" dirty="0">
                          <a:ln>
                            <a:noFill/>
                          </a:ln>
                          <a:solidFill>
                            <a:prstClr val="black"/>
                          </a:solidFill>
                          <a:uFillTx/>
                          <a:latin typeface="Times New Roman" panose="02020603050405020304" charset="0"/>
                          <a:ea typeface="宋体" panose="02010600030101010101" pitchFamily="2" charset="-122"/>
                          <a:cs typeface="宋体" panose="02010600030101010101" pitchFamily="2" charset="-122"/>
                          <a:sym typeface="+mn-ea"/>
                        </a:rPr>
                        <a:t>部分步骤后处理繁琐</a:t>
                      </a:r>
                    </a:p>
                  </a:txBody>
                  <a:tcPr/>
                </a:tc>
                <a:extLst>
                  <a:ext uri="{0D108BD9-81ED-4DB2-BD59-A6C34878D82A}">
                    <a16:rowId xmlns:a16="http://schemas.microsoft.com/office/drawing/2014/main" val="10002"/>
                  </a:ext>
                </a:extLst>
              </a:tr>
              <a:tr h="1270635">
                <a:tc>
                  <a:txBody>
                    <a:bodyPr/>
                    <a:lstStyle/>
                    <a:p>
                      <a:pPr algn="ctr">
                        <a:buClrTx/>
                        <a:buSzTx/>
                        <a:buFontTx/>
                        <a:buNone/>
                      </a:pPr>
                      <a:endParaRPr lang="en-US" altLang="zh-CN" sz="1600">
                        <a:latin typeface="Times New Roman" panose="02020603050405020304" charset="0"/>
                        <a:ea typeface="宋体" panose="02010600030101010101" pitchFamily="2" charset="-122"/>
                      </a:endParaRPr>
                    </a:p>
                    <a:p>
                      <a:pPr algn="ctr">
                        <a:buClrTx/>
                        <a:buSzTx/>
                        <a:buFontTx/>
                        <a:buNone/>
                      </a:pPr>
                      <a:r>
                        <a:rPr lang="en-US" altLang="zh-CN" sz="1600">
                          <a:latin typeface="Times New Roman" panose="02020603050405020304" charset="0"/>
                          <a:ea typeface="宋体" panose="02010600030101010101" pitchFamily="2" charset="-122"/>
                        </a:rPr>
                        <a:t>3</a:t>
                      </a:r>
                    </a:p>
                  </a:txBody>
                  <a:tcPr/>
                </a:tc>
                <a:tc>
                  <a:txBody>
                    <a:bodyPr/>
                    <a:lstStyle/>
                    <a:p>
                      <a:pPr>
                        <a:lnSpc>
                          <a:spcPct val="150000"/>
                        </a:lnSpc>
                        <a:buNone/>
                      </a:pPr>
                      <a:r>
                        <a:rPr lang="zh-CN" altLang="en-US" sz="1600">
                          <a:ln>
                            <a:noFill/>
                          </a:ln>
                          <a:solidFill>
                            <a:prstClr val="black"/>
                          </a:solidFill>
                          <a:latin typeface="Times New Roman" panose="02020603050405020304" charset="0"/>
                          <a:ea typeface="宋体" panose="02010600030101010101" pitchFamily="2" charset="-122"/>
                        </a:rPr>
                        <a:t>总体反应路径较短，反应条件相对比较温和，分离简单</a:t>
                      </a:r>
                    </a:p>
                  </a:txBody>
                  <a:tcPr/>
                </a:tc>
                <a:tc>
                  <a:txBody>
                    <a:bodyPr/>
                    <a:lstStyle/>
                    <a:p>
                      <a:pPr algn="l">
                        <a:lnSpc>
                          <a:spcPct val="150000"/>
                        </a:lnSpc>
                        <a:buClrTx/>
                        <a:buSzTx/>
                        <a:buFontTx/>
                        <a:buNone/>
                      </a:pPr>
                      <a:endParaRPr lang="zh-CN" altLang="en-US" sz="1600" dirty="0">
                        <a:ln>
                          <a:noFill/>
                        </a:ln>
                        <a:solidFill>
                          <a:prstClr val="black"/>
                        </a:solidFill>
                        <a:latin typeface="Times New Roman" panose="02020603050405020304" charset="0"/>
                        <a:ea typeface="宋体" panose="02010600030101010101" pitchFamily="2" charset="-122"/>
                      </a:endParaRPr>
                    </a:p>
                  </a:txBody>
                  <a:tcPr/>
                </a:tc>
                <a:extLst>
                  <a:ext uri="{0D108BD9-81ED-4DB2-BD59-A6C34878D82A}">
                    <a16:rowId xmlns:a16="http://schemas.microsoft.com/office/drawing/2014/main" val="10003"/>
                  </a:ext>
                </a:extLst>
              </a:tr>
            </a:tbl>
          </a:graphicData>
        </a:graphic>
      </p:graphicFrame>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245180" y="290900"/>
            <a:ext cx="10969200" cy="705600"/>
          </a:xfrm>
        </p:spPr>
        <p:txBody>
          <a:bodyPr>
            <a:normAutofit/>
          </a:bodyPr>
          <a:lstStyle/>
          <a:p>
            <a:r>
              <a:rPr lang="zh-CN" altLang="en-US" sz="2665" b="1">
                <a:solidFill>
                  <a:schemeClr val="accent1">
                    <a:lumMod val="50000"/>
                  </a:schemeClr>
                </a:solidFill>
                <a:sym typeface="+mn-ea"/>
              </a:rPr>
              <a:t>阿托伐他汀药物理想合成路线中的难点问题和解决方案</a:t>
            </a:r>
          </a:p>
        </p:txBody>
      </p:sp>
      <p:graphicFrame>
        <p:nvGraphicFramePr>
          <p:cNvPr id="6" name="表格 5"/>
          <p:cNvGraphicFramePr/>
          <p:nvPr/>
        </p:nvGraphicFramePr>
        <p:xfrm>
          <a:off x="850265" y="1549400"/>
          <a:ext cx="10492105" cy="2727959"/>
        </p:xfrm>
        <a:graphic>
          <a:graphicData uri="http://schemas.openxmlformats.org/drawingml/2006/table">
            <a:tbl>
              <a:tblPr firstRow="1">
                <a:tableStyleId>{B7BD4722-F1F9-43DE-912B-BC3AB9E171DB}</a:tableStyleId>
              </a:tblPr>
              <a:tblGrid>
                <a:gridCol w="738505">
                  <a:extLst>
                    <a:ext uri="{9D8B030D-6E8A-4147-A177-3AD203B41FA5}">
                      <a16:colId xmlns:a16="http://schemas.microsoft.com/office/drawing/2014/main" val="20000"/>
                    </a:ext>
                  </a:extLst>
                </a:gridCol>
                <a:gridCol w="2979420">
                  <a:extLst>
                    <a:ext uri="{9D8B030D-6E8A-4147-A177-3AD203B41FA5}">
                      <a16:colId xmlns:a16="http://schemas.microsoft.com/office/drawing/2014/main" val="20001"/>
                    </a:ext>
                  </a:extLst>
                </a:gridCol>
                <a:gridCol w="6774180">
                  <a:extLst>
                    <a:ext uri="{9D8B030D-6E8A-4147-A177-3AD203B41FA5}">
                      <a16:colId xmlns:a16="http://schemas.microsoft.com/office/drawing/2014/main" val="20002"/>
                    </a:ext>
                  </a:extLst>
                </a:gridCol>
              </a:tblGrid>
              <a:tr h="562610">
                <a:tc>
                  <a:txBody>
                    <a:bodyPr/>
                    <a:lstStyle/>
                    <a:p>
                      <a:pPr algn="ctr">
                        <a:lnSpc>
                          <a:spcPct val="150000"/>
                        </a:lnSpc>
                        <a:buNone/>
                      </a:pPr>
                      <a:r>
                        <a:rPr lang="zh-CN" altLang="en-US"/>
                        <a:t>序号</a:t>
                      </a:r>
                    </a:p>
                  </a:txBody>
                  <a:tcPr/>
                </a:tc>
                <a:tc>
                  <a:txBody>
                    <a:bodyPr/>
                    <a:lstStyle/>
                    <a:p>
                      <a:pPr algn="ctr">
                        <a:lnSpc>
                          <a:spcPct val="150000"/>
                        </a:lnSpc>
                      </a:pPr>
                      <a:r>
                        <a:rPr lang="zh-CN" altLang="en-US" sz="1800">
                          <a:sym typeface="+mn-ea"/>
                        </a:rPr>
                        <a:t>缺点 </a:t>
                      </a:r>
                      <a:r>
                        <a:rPr lang="en-US" altLang="zh-CN" sz="1800">
                          <a:sym typeface="+mn-ea"/>
                        </a:rPr>
                        <a:t>/ </a:t>
                      </a:r>
                      <a:r>
                        <a:rPr lang="zh-CN" altLang="en-US" sz="1800">
                          <a:sym typeface="+mn-ea"/>
                        </a:rPr>
                        <a:t>难点</a:t>
                      </a:r>
                      <a:endParaRPr lang="zh-CN" altLang="en-US"/>
                    </a:p>
                  </a:txBody>
                  <a:tcPr/>
                </a:tc>
                <a:tc>
                  <a:txBody>
                    <a:bodyPr/>
                    <a:lstStyle/>
                    <a:p>
                      <a:pPr algn="ctr">
                        <a:lnSpc>
                          <a:spcPct val="150000"/>
                        </a:lnSpc>
                      </a:pPr>
                      <a:r>
                        <a:rPr lang="zh-CN" altLang="en-US" sz="1800">
                          <a:sym typeface="+mn-ea"/>
                        </a:rPr>
                        <a:t>解决方案</a:t>
                      </a:r>
                      <a:endParaRPr lang="zh-CN" altLang="en-US"/>
                    </a:p>
                  </a:txBody>
                  <a:tcPr/>
                </a:tc>
                <a:extLst>
                  <a:ext uri="{0D108BD9-81ED-4DB2-BD59-A6C34878D82A}">
                    <a16:rowId xmlns:a16="http://schemas.microsoft.com/office/drawing/2014/main" val="10000"/>
                  </a:ext>
                </a:extLst>
              </a:tr>
              <a:tr h="843915">
                <a:tc>
                  <a:txBody>
                    <a:bodyPr/>
                    <a:lstStyle/>
                    <a:p>
                      <a:pPr algn="ctr">
                        <a:buClrTx/>
                        <a:buSzTx/>
                        <a:buFontTx/>
                        <a:buNone/>
                      </a:pPr>
                      <a:endParaRPr lang="zh-CN" altLang="en-US" sz="1600">
                        <a:solidFill>
                          <a:srgbClr val="08090C"/>
                        </a:solidFill>
                        <a:uFillTx/>
                        <a:latin typeface="Times New Roman" panose="02020603050405020304" charset="0"/>
                        <a:ea typeface="宋体" panose="02010600030101010101" pitchFamily="2" charset="-122"/>
                      </a:endParaRPr>
                    </a:p>
                    <a:p>
                      <a:pPr algn="ctr">
                        <a:buClrTx/>
                        <a:buSzTx/>
                        <a:buFontTx/>
                        <a:buNone/>
                      </a:pPr>
                      <a:endParaRPr lang="zh-CN" altLang="en-US" sz="1600">
                        <a:solidFill>
                          <a:srgbClr val="08090C"/>
                        </a:solidFill>
                        <a:uFillTx/>
                        <a:latin typeface="Times New Roman" panose="02020603050405020304" charset="0"/>
                        <a:ea typeface="宋体" panose="02010600030101010101" pitchFamily="2" charset="-122"/>
                      </a:endParaRPr>
                    </a:p>
                    <a:p>
                      <a:pPr algn="ctr">
                        <a:buClrTx/>
                        <a:buSzTx/>
                        <a:buFontTx/>
                        <a:buNone/>
                      </a:pPr>
                      <a:r>
                        <a:rPr lang="en-US" altLang="zh-CN" sz="1600">
                          <a:solidFill>
                            <a:srgbClr val="08090C"/>
                          </a:solidFill>
                          <a:uFillTx/>
                          <a:latin typeface="Times New Roman" panose="02020603050405020304" charset="0"/>
                          <a:ea typeface="宋体" panose="02010600030101010101" pitchFamily="2" charset="-122"/>
                        </a:rPr>
                        <a:t>1</a:t>
                      </a:r>
                    </a:p>
                  </a:txBody>
                  <a:tcPr/>
                </a:tc>
                <a:tc>
                  <a:txBody>
                    <a:bodyPr/>
                    <a:lstStyle/>
                    <a:p>
                      <a:pPr algn="ctr">
                        <a:buClrTx/>
                        <a:buSzTx/>
                        <a:buFontTx/>
                      </a:pPr>
                      <a:endParaRPr lang="zh-CN" altLang="en-US" sz="1600">
                        <a:solidFill>
                          <a:srgbClr val="08090C"/>
                        </a:solidFill>
                        <a:uFillTx/>
                        <a:latin typeface="Times New Roman" panose="02020603050405020304" charset="0"/>
                        <a:ea typeface="宋体" panose="02010600030101010101" pitchFamily="2" charset="-122"/>
                        <a:cs typeface="宋体" panose="02010600030101010101" pitchFamily="2" charset="-122"/>
                      </a:endParaRPr>
                    </a:p>
                    <a:p>
                      <a:pPr algn="l">
                        <a:buClrTx/>
                        <a:buSzTx/>
                        <a:buFontTx/>
                      </a:pPr>
                      <a:r>
                        <a:rPr lang="zh-CN" altLang="en-US" sz="1600">
                          <a:solidFill>
                            <a:srgbClr val="08090C"/>
                          </a:solidFill>
                          <a:uFillTx/>
                          <a:latin typeface="Times New Roman" panose="02020603050405020304" charset="0"/>
                          <a:ea typeface="宋体" panose="02010600030101010101" pitchFamily="2" charset="-122"/>
                          <a:cs typeface="宋体" panose="02010600030101010101" pitchFamily="2" charset="-122"/>
                        </a:rPr>
                        <a:t>苯和溴素毒性强且用量较大，存在安全隐患，对环境危害也较大</a:t>
                      </a:r>
                    </a:p>
                  </a:txBody>
                  <a:tcPr marL="51117" marR="51117" marT="51117" marB="51117" anchor="ctr"/>
                </a:tc>
                <a:tc>
                  <a:txBody>
                    <a:bodyPr/>
                    <a:lstStyle/>
                    <a:p>
                      <a:pPr algn="ctr">
                        <a:buClrTx/>
                        <a:buSzTx/>
                        <a:buFontTx/>
                      </a:pPr>
                      <a:endParaRPr lang="zh-CN" altLang="en-US" sz="1600" dirty="0">
                        <a:solidFill>
                          <a:srgbClr val="08090C"/>
                        </a:solidFill>
                        <a:uFillTx/>
                        <a:latin typeface="Times New Roman" panose="02020603050405020304" charset="0"/>
                        <a:ea typeface="宋体" panose="02010600030101010101" pitchFamily="2" charset="-122"/>
                        <a:cs typeface="宋体" panose="02010600030101010101" pitchFamily="2" charset="-122"/>
                      </a:endParaRPr>
                    </a:p>
                    <a:p>
                      <a:pPr algn="ctr">
                        <a:buClrTx/>
                        <a:buSzTx/>
                        <a:buFontTx/>
                      </a:pPr>
                      <a:endParaRPr lang="zh-CN" altLang="en-US" sz="1600" dirty="0">
                        <a:solidFill>
                          <a:srgbClr val="08090C"/>
                        </a:solidFill>
                        <a:uFillTx/>
                        <a:latin typeface="Times New Roman" panose="02020603050405020304" charset="0"/>
                        <a:ea typeface="宋体" panose="02010600030101010101" pitchFamily="2" charset="-122"/>
                        <a:cs typeface="宋体" panose="02010600030101010101" pitchFamily="2" charset="-122"/>
                      </a:endParaRPr>
                    </a:p>
                    <a:p>
                      <a:pPr algn="l">
                        <a:buClrTx/>
                        <a:buSzTx/>
                        <a:buFontTx/>
                      </a:pPr>
                      <a:r>
                        <a:rPr lang="zh-CN" altLang="en-US" sz="1600" dirty="0">
                          <a:solidFill>
                            <a:srgbClr val="08090C"/>
                          </a:solidFill>
                          <a:uFillTx/>
                          <a:latin typeface="Times New Roman" panose="02020603050405020304" charset="0"/>
                          <a:ea typeface="宋体" panose="02010600030101010101" pitchFamily="2" charset="-122"/>
                          <a:cs typeface="宋体" panose="02010600030101010101" pitchFamily="2" charset="-122"/>
                        </a:rPr>
                        <a:t>使用成本更低且更安全的原料合成化合物</a:t>
                      </a:r>
                      <a:r>
                        <a:rPr lang="en-US" altLang="zh-CN" sz="1600" dirty="0">
                          <a:solidFill>
                            <a:srgbClr val="08090C"/>
                          </a:solidFill>
                          <a:uFillTx/>
                          <a:latin typeface="Times New Roman" panose="02020603050405020304" charset="0"/>
                          <a:ea typeface="宋体" panose="02010600030101010101" pitchFamily="2" charset="-122"/>
                          <a:cs typeface="宋体" panose="02010600030101010101" pitchFamily="2" charset="-122"/>
                        </a:rPr>
                        <a:t>b4,</a:t>
                      </a:r>
                      <a:r>
                        <a:rPr lang="zh-CN" altLang="en-US" sz="1600" dirty="0">
                          <a:solidFill>
                            <a:srgbClr val="08090C"/>
                          </a:solidFill>
                          <a:uFillTx/>
                          <a:latin typeface="Times New Roman" panose="02020603050405020304" charset="0"/>
                          <a:ea typeface="宋体" panose="02010600030101010101" pitchFamily="2" charset="-122"/>
                          <a:cs typeface="宋体" panose="02010600030101010101" pitchFamily="2" charset="-122"/>
                        </a:rPr>
                        <a:t>然后再进行成环反应和上侧链的反应，更安全且对环境污染更小。比如使用</a:t>
                      </a:r>
                      <a:r>
                        <a:rPr lang="en-US" altLang="zh-CN" sz="1600" dirty="0">
                          <a:solidFill>
                            <a:srgbClr val="08090C"/>
                          </a:solidFill>
                          <a:uFillTx/>
                          <a:latin typeface="Times New Roman" panose="02020603050405020304" charset="0"/>
                          <a:ea typeface="宋体" panose="02010600030101010101" pitchFamily="2" charset="-122"/>
                          <a:cs typeface="宋体" panose="02010600030101010101" pitchFamily="2" charset="-122"/>
                        </a:rPr>
                        <a:t>1-</a:t>
                      </a:r>
                      <a:r>
                        <a:rPr lang="zh-CN" altLang="en-US" sz="1600" dirty="0">
                          <a:solidFill>
                            <a:srgbClr val="08090C"/>
                          </a:solidFill>
                          <a:uFillTx/>
                          <a:latin typeface="Times New Roman" panose="02020603050405020304" charset="0"/>
                          <a:ea typeface="宋体" panose="02010600030101010101" pitchFamily="2" charset="-122"/>
                          <a:cs typeface="宋体" panose="02010600030101010101" pitchFamily="2" charset="-122"/>
                        </a:rPr>
                        <a:t>氯</a:t>
                      </a:r>
                      <a:r>
                        <a:rPr lang="en-US" altLang="zh-CN" sz="1600" dirty="0">
                          <a:solidFill>
                            <a:srgbClr val="08090C"/>
                          </a:solidFill>
                          <a:uFillTx/>
                          <a:latin typeface="Times New Roman" panose="02020603050405020304" charset="0"/>
                          <a:ea typeface="宋体" panose="02010600030101010101" pitchFamily="2" charset="-122"/>
                          <a:cs typeface="宋体" panose="02010600030101010101" pitchFamily="2" charset="-122"/>
                        </a:rPr>
                        <a:t>-4-</a:t>
                      </a:r>
                      <a:r>
                        <a:rPr lang="zh-CN" altLang="en-US" sz="1600" dirty="0">
                          <a:solidFill>
                            <a:srgbClr val="08090C"/>
                          </a:solidFill>
                          <a:uFillTx/>
                          <a:latin typeface="Times New Roman" panose="02020603050405020304" charset="0"/>
                          <a:ea typeface="宋体" panose="02010600030101010101" pitchFamily="2" charset="-122"/>
                          <a:cs typeface="宋体" panose="02010600030101010101" pitchFamily="2" charset="-122"/>
                        </a:rPr>
                        <a:t>氟苯和苯乙酮</a:t>
                      </a:r>
                    </a:p>
                    <a:p>
                      <a:pPr algn="ctr">
                        <a:buClrTx/>
                        <a:buSzTx/>
                        <a:buFontTx/>
                      </a:pPr>
                      <a:endParaRPr lang="zh-CN" altLang="en-US" sz="1600" dirty="0">
                        <a:solidFill>
                          <a:srgbClr val="08090C"/>
                        </a:solidFill>
                        <a:uFillTx/>
                        <a:latin typeface="Times New Roman" panose="02020603050405020304" charset="0"/>
                        <a:ea typeface="宋体" panose="02010600030101010101" pitchFamily="2" charset="-122"/>
                        <a:cs typeface="宋体" panose="02010600030101010101" pitchFamily="2" charset="-122"/>
                      </a:endParaRPr>
                    </a:p>
                  </a:txBody>
                  <a:tcPr marL="51117" marR="51117" marT="51117" marB="51117" anchor="ctr"/>
                </a:tc>
                <a:extLst>
                  <a:ext uri="{0D108BD9-81ED-4DB2-BD59-A6C34878D82A}">
                    <a16:rowId xmlns:a16="http://schemas.microsoft.com/office/drawing/2014/main" val="10001"/>
                  </a:ext>
                </a:extLst>
              </a:tr>
              <a:tr h="843915">
                <a:tc>
                  <a:txBody>
                    <a:bodyPr/>
                    <a:lstStyle/>
                    <a:p>
                      <a:pPr algn="ctr">
                        <a:buClrTx/>
                        <a:buSzTx/>
                        <a:buFontTx/>
                        <a:buNone/>
                      </a:pPr>
                      <a:endParaRPr lang="en-US" altLang="zh-CN" sz="1600">
                        <a:solidFill>
                          <a:srgbClr val="08090C"/>
                        </a:solidFill>
                        <a:uFillTx/>
                        <a:latin typeface="Times New Roman" panose="02020603050405020304" charset="0"/>
                        <a:ea typeface="宋体" panose="02010600030101010101" pitchFamily="2" charset="-122"/>
                      </a:endParaRPr>
                    </a:p>
                    <a:p>
                      <a:pPr algn="ctr">
                        <a:buClrTx/>
                        <a:buSzTx/>
                        <a:buFontTx/>
                        <a:buNone/>
                      </a:pPr>
                      <a:r>
                        <a:rPr lang="en-US" altLang="zh-CN" sz="1600">
                          <a:solidFill>
                            <a:srgbClr val="08090C"/>
                          </a:solidFill>
                          <a:uFillTx/>
                          <a:latin typeface="Times New Roman" panose="02020603050405020304" charset="0"/>
                          <a:ea typeface="宋体" panose="02010600030101010101" pitchFamily="2" charset="-122"/>
                        </a:rPr>
                        <a:t>2</a:t>
                      </a:r>
                    </a:p>
                  </a:txBody>
                  <a:tcPr/>
                </a:tc>
                <a:tc>
                  <a:txBody>
                    <a:bodyPr/>
                    <a:lstStyle/>
                    <a:p>
                      <a:pPr algn="l">
                        <a:buClrTx/>
                        <a:buSzTx/>
                        <a:buFontTx/>
                        <a:buNone/>
                      </a:pPr>
                      <a:r>
                        <a:rPr lang="zh-CN" altLang="en-US" sz="1600">
                          <a:solidFill>
                            <a:srgbClr val="08090C"/>
                          </a:solidFill>
                          <a:uFillTx/>
                          <a:latin typeface="Times New Roman" panose="02020603050405020304" charset="0"/>
                          <a:ea typeface="宋体" panose="02010600030101010101" pitchFamily="2" charset="-122"/>
                          <a:cs typeface="宋体" panose="02010600030101010101" pitchFamily="2" charset="-122"/>
                        </a:rPr>
                        <a:t>部分步骤后处理繁琐</a:t>
                      </a:r>
                    </a:p>
                  </a:txBody>
                  <a:tcPr marL="51117" marR="51117" marT="51117" marB="51117" anchor="ctr"/>
                </a:tc>
                <a:tc>
                  <a:txBody>
                    <a:bodyPr/>
                    <a:lstStyle/>
                    <a:p>
                      <a:pPr algn="l">
                        <a:buClrTx/>
                        <a:buSzTx/>
                        <a:buFontTx/>
                        <a:buNone/>
                      </a:pPr>
                      <a:r>
                        <a:rPr lang="zh-CN" altLang="en-US" sz="1600" dirty="0">
                          <a:solidFill>
                            <a:srgbClr val="08090C"/>
                          </a:solidFill>
                          <a:uFillTx/>
                          <a:latin typeface="Times New Roman" panose="02020603050405020304" charset="0"/>
                          <a:ea typeface="宋体" panose="02010600030101010101" pitchFamily="2" charset="-122"/>
                          <a:cs typeface="宋体" panose="02010600030101010101" pitchFamily="2" charset="-122"/>
                        </a:rPr>
                        <a:t>优化反应条件与路线，简化后处理过程比如使用一锅法进行连投</a:t>
                      </a:r>
                    </a:p>
                  </a:txBody>
                  <a:tcPr marL="51117" marR="51117" marT="51117" marB="51117" anchor="ctr"/>
                </a:tc>
                <a:extLst>
                  <a:ext uri="{0D108BD9-81ED-4DB2-BD59-A6C34878D82A}">
                    <a16:rowId xmlns:a16="http://schemas.microsoft.com/office/drawing/2014/main" val="10002"/>
                  </a:ext>
                </a:extLst>
              </a:tr>
            </a:tbl>
          </a:graphicData>
        </a:graphic>
      </p:graphicFrame>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custDataLst>
              <p:tags r:id="rId2"/>
            </p:custDataLst>
          </p:nvPr>
        </p:nvSpPr>
        <p:spPr>
          <a:xfrm>
            <a:off x="4291492" y="413964"/>
            <a:ext cx="3962400" cy="70548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sz="2400" b="1" dirty="0">
                <a:solidFill>
                  <a:schemeClr val="accent1">
                    <a:lumMod val="50000"/>
                  </a:schemeClr>
                </a:solidFill>
                <a:sym typeface="+mn-ea"/>
              </a:rPr>
              <a:t>瑞舒伐他汀的市场价值</a:t>
            </a:r>
            <a:endParaRPr lang="zh-CN" altLang="en-US" sz="2400" b="1" dirty="0">
              <a:solidFill>
                <a:schemeClr val="accent1">
                  <a:lumMod val="50000"/>
                </a:schemeClr>
              </a:solidFill>
              <a:latin typeface="宋体" panose="02010600030101010101" pitchFamily="2" charset="-122"/>
              <a:ea typeface="宋体" panose="02010600030101010101" pitchFamily="2" charset="-122"/>
              <a:sym typeface="+mn-ea"/>
            </a:endParaRPr>
          </a:p>
        </p:txBody>
      </p:sp>
      <p:sp>
        <p:nvSpPr>
          <p:cNvPr id="5" name="内容占位符 2"/>
          <p:cNvSpPr txBox="1"/>
          <p:nvPr>
            <p:custDataLst>
              <p:tags r:id="rId3"/>
            </p:custDataLst>
          </p:nvPr>
        </p:nvSpPr>
        <p:spPr>
          <a:xfrm>
            <a:off x="4741939" y="4828019"/>
            <a:ext cx="6944360" cy="840105"/>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buFontTx/>
              <a:buNone/>
            </a:pPr>
            <a:r>
              <a:rPr lang="en-US" altLang="zh-CN" sz="1600" dirty="0">
                <a:latin typeface="微软雅黑" panose="020B0503020204020204" charset="-122"/>
                <a:ea typeface="微软雅黑" panose="020B0503020204020204" charset="-122"/>
                <a:cs typeface="微软雅黑" panose="020B0503020204020204" charset="-122"/>
                <a:sym typeface="+mn-ea"/>
              </a:rPr>
              <a:t>1. </a:t>
            </a:r>
            <a:r>
              <a:rPr lang="en-US" altLang="zh-CN" sz="1600" dirty="0" err="1">
                <a:latin typeface="微软雅黑" panose="020B0503020204020204" charset="-122"/>
                <a:ea typeface="微软雅黑" panose="020B0503020204020204" charset="-122"/>
                <a:cs typeface="微软雅黑" panose="020B0503020204020204" charset="-122"/>
              </a:rPr>
              <a:t>工业级价格</a:t>
            </a:r>
            <a:r>
              <a:rPr lang="en-US" altLang="zh-CN" sz="1600" dirty="0">
                <a:latin typeface="微软雅黑" panose="020B0503020204020204" charset="-122"/>
                <a:ea typeface="微软雅黑" panose="020B0503020204020204" charset="-122"/>
                <a:cs typeface="微软雅黑" panose="020B0503020204020204" charset="-122"/>
              </a:rPr>
              <a:t> </a:t>
            </a:r>
            <a:r>
              <a:rPr lang="zh-CN" altLang="en-US" sz="1600" dirty="0">
                <a:latin typeface="微软雅黑" panose="020B0503020204020204" charset="-122"/>
                <a:ea typeface="微软雅黑" panose="020B0503020204020204" charset="-122"/>
                <a:cs typeface="微软雅黑" panose="020B0503020204020204" charset="-122"/>
              </a:rPr>
              <a:t>：每公斤几百至一千多元（受集采传导，价格低位）</a:t>
            </a:r>
          </a:p>
          <a:p>
            <a:pPr algn="l">
              <a:lnSpc>
                <a:spcPct val="100000"/>
              </a:lnSpc>
              <a:buFontTx/>
              <a:buNone/>
            </a:pPr>
            <a:r>
              <a:rPr lang="en-US" altLang="zh-CN" sz="1600" dirty="0">
                <a:latin typeface="微软雅黑" panose="020B0503020204020204" charset="-122"/>
                <a:ea typeface="微软雅黑" panose="020B0503020204020204" charset="-122"/>
                <a:cs typeface="微软雅黑" panose="020B0503020204020204" charset="-122"/>
              </a:rPr>
              <a:t>2. 科研级价格：</a:t>
            </a:r>
            <a:r>
              <a:rPr lang="zh-CN" altLang="en-US" sz="1600" dirty="0">
                <a:latin typeface="微软雅黑" panose="020B0503020204020204" charset="-122"/>
                <a:ea typeface="微软雅黑" panose="020B0503020204020204" charset="-122"/>
                <a:cs typeface="微软雅黑" panose="020B0503020204020204" charset="-122"/>
              </a:rPr>
              <a:t>约</a:t>
            </a:r>
            <a:r>
              <a:rPr lang="en-US" altLang="zh-CN" sz="1600" dirty="0">
                <a:latin typeface="微软雅黑" panose="020B0503020204020204" charset="-122"/>
                <a:ea typeface="微软雅黑" panose="020B0503020204020204" charset="-122"/>
                <a:cs typeface="微软雅黑" panose="020B0503020204020204" charset="-122"/>
              </a:rPr>
              <a:t>1</a:t>
            </a:r>
            <a:r>
              <a:rPr lang="zh-CN" altLang="en-US" sz="1600" dirty="0">
                <a:latin typeface="微软雅黑" panose="020B0503020204020204" charset="-122"/>
                <a:ea typeface="微软雅黑" panose="020B0503020204020204" charset="-122"/>
                <a:cs typeface="微软雅黑" panose="020B0503020204020204" charset="-122"/>
              </a:rPr>
              <a:t>200–</a:t>
            </a:r>
            <a:r>
              <a:rPr lang="en-US" altLang="zh-CN" sz="1600" dirty="0">
                <a:latin typeface="微软雅黑" panose="020B0503020204020204" charset="-122"/>
                <a:ea typeface="微软雅黑" panose="020B0503020204020204" charset="-122"/>
                <a:cs typeface="微软雅黑" panose="020B0503020204020204" charset="-122"/>
              </a:rPr>
              <a:t>1</a:t>
            </a:r>
            <a:r>
              <a:rPr lang="zh-CN" altLang="en-US" sz="1600" dirty="0">
                <a:latin typeface="微软雅黑" panose="020B0503020204020204" charset="-122"/>
                <a:ea typeface="微软雅黑" panose="020B0503020204020204" charset="-122"/>
                <a:cs typeface="微软雅黑" panose="020B0503020204020204" charset="-122"/>
              </a:rPr>
              <a:t>950元/克，远高于工业化采购价</a:t>
            </a:r>
          </a:p>
        </p:txBody>
      </p:sp>
      <p:sp>
        <p:nvSpPr>
          <p:cNvPr id="7" name="文本框 6"/>
          <p:cNvSpPr txBox="1"/>
          <p:nvPr/>
        </p:nvSpPr>
        <p:spPr>
          <a:xfrm>
            <a:off x="4803098" y="4156486"/>
            <a:ext cx="2679700" cy="460375"/>
          </a:xfrm>
          <a:prstGeom prst="rect">
            <a:avLst/>
          </a:prstGeom>
          <a:noFill/>
        </p:spPr>
        <p:txBody>
          <a:bodyPr wrap="square" rtlCol="0" anchor="t">
            <a:spAutoFit/>
          </a:bodyPr>
          <a:lstStyle/>
          <a:p>
            <a:pPr algn="l">
              <a:buClrTx/>
              <a:buSzTx/>
              <a:buFontTx/>
            </a:pPr>
            <a:r>
              <a:rPr lang="zh-CN" altLang="en-US" sz="2400" b="1" spc="300" dirty="0">
                <a:solidFill>
                  <a:schemeClr val="accent1">
                    <a:lumMod val="50000"/>
                  </a:schemeClr>
                </a:solidFill>
                <a:uFillTx/>
                <a:latin typeface="+mj-lt"/>
                <a:ea typeface="+mj-ea"/>
                <a:cs typeface="+mj-cs"/>
                <a:sym typeface="+mn-ea"/>
              </a:rPr>
              <a:t>原料药的价格</a:t>
            </a:r>
          </a:p>
        </p:txBody>
      </p:sp>
      <p:sp>
        <p:nvSpPr>
          <p:cNvPr id="8" name="文本框 7"/>
          <p:cNvSpPr txBox="1"/>
          <p:nvPr/>
        </p:nvSpPr>
        <p:spPr>
          <a:xfrm>
            <a:off x="4748673" y="1332249"/>
            <a:ext cx="5336634" cy="2264485"/>
          </a:xfrm>
          <a:prstGeom prst="rect">
            <a:avLst/>
          </a:prstGeom>
          <a:noFill/>
        </p:spPr>
        <p:txBody>
          <a:bodyPr wrap="square" rtlCol="0">
            <a:noAutofit/>
          </a:bodyPr>
          <a:lstStyle/>
          <a:p>
            <a:pPr algn="just">
              <a:lnSpc>
                <a:spcPct val="150000"/>
              </a:lnSpc>
              <a:spcBef>
                <a:spcPts val="0"/>
              </a:spcBef>
              <a:spcAft>
                <a:spcPts val="1000"/>
              </a:spcAft>
              <a:buClrTx/>
              <a:buSzTx/>
              <a:buNone/>
            </a:pPr>
            <a:r>
              <a:rPr lang="en-US" altLang="zh-CN" sz="1600" spc="150" dirty="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rPr>
              <a:t>    </a:t>
            </a:r>
            <a:r>
              <a:rPr lang="zh-CN" altLang="en-US" sz="1600" spc="150" dirty="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rPr>
              <a:t>2024年中国市场规模超48亿元，2025年上半年超26亿元，同比增长9.62%,全球他汀类药物市场2025年约353.1亿美元，2026年预计增至374.6亿美元。原研为阿斯利康（可定），国产仿制药主导销量，36家企业拥有批文集采后价格大幅下降，进入“低单价、高销量”模式</a:t>
            </a:r>
          </a:p>
        </p:txBody>
      </p:sp>
      <p:pic>
        <p:nvPicPr>
          <p:cNvPr id="3" name="图片 2"/>
          <p:cNvPicPr>
            <a:picLocks noChangeAspect="1"/>
          </p:cNvPicPr>
          <p:nvPr/>
        </p:nvPicPr>
        <p:blipFill>
          <a:blip r:embed="rId5"/>
          <a:stretch>
            <a:fillRect/>
          </a:stretch>
        </p:blipFill>
        <p:spPr>
          <a:xfrm>
            <a:off x="1239520" y="2118995"/>
            <a:ext cx="2310954" cy="2498400"/>
          </a:xfrm>
          <a:prstGeom prst="rect">
            <a:avLst/>
          </a:prstGeom>
        </p:spPr>
      </p:pic>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nvGraphicFramePr>
        <p:xfrm>
          <a:off x="378460" y="782320"/>
          <a:ext cx="10493375" cy="5000625"/>
        </p:xfrm>
        <a:graphic>
          <a:graphicData uri="http://schemas.openxmlformats.org/presentationml/2006/ole">
            <mc:AlternateContent xmlns:mc="http://schemas.openxmlformats.org/markup-compatibility/2006">
              <mc:Choice xmlns:v="urn:schemas-microsoft-com:vml" Requires="v">
                <p:oleObj spid="_x0000_s22542" name="CS ChemDraw 64-bit Drawing" r:id="rId4" imgW="7527925" imgH="3586480" progId="ChemDraw.Document.6.0">
                  <p:embed/>
                </p:oleObj>
              </mc:Choice>
              <mc:Fallback>
                <p:oleObj name="CS ChemDraw 64-bit Drawing" r:id="rId4" imgW="7527925" imgH="3586480" progId="ChemDraw.Document.6.0">
                  <p:embed/>
                  <p:pic>
                    <p:nvPicPr>
                      <p:cNvPr id="0" name="图片 2051"/>
                      <p:cNvPicPr/>
                      <p:nvPr/>
                    </p:nvPicPr>
                    <p:blipFill>
                      <a:blip r:embed="rId5"/>
                      <a:stretch>
                        <a:fillRect/>
                      </a:stretch>
                    </p:blipFill>
                    <p:spPr>
                      <a:xfrm>
                        <a:off x="378460" y="782320"/>
                        <a:ext cx="10493375" cy="5000625"/>
                      </a:xfrm>
                      <a:prstGeom prst="rect">
                        <a:avLst/>
                      </a:prstGeom>
                    </p:spPr>
                  </p:pic>
                </p:oleObj>
              </mc:Fallback>
            </mc:AlternateContent>
          </a:graphicData>
        </a:graphic>
      </p:graphicFrame>
      <p:sp>
        <p:nvSpPr>
          <p:cNvPr id="4" name="文本框 3"/>
          <p:cNvSpPr txBox="1"/>
          <p:nvPr/>
        </p:nvSpPr>
        <p:spPr>
          <a:xfrm>
            <a:off x="5640019" y="2973629"/>
            <a:ext cx="914400" cy="914400"/>
          </a:xfrm>
          <a:prstGeom prst="rect">
            <a:avLst/>
          </a:prstGeom>
          <a:noFill/>
        </p:spPr>
        <p:txBody>
          <a:bodyPr wrap="square" rtlCol="0">
            <a:spAutoFit/>
          </a:bodyPr>
          <a:lstStyle/>
          <a:p>
            <a:endParaRPr lang="zh-CN" altLang="en-US" dirty="0"/>
          </a:p>
        </p:txBody>
      </p:sp>
      <p:sp>
        <p:nvSpPr>
          <p:cNvPr id="5" name="文本框 4"/>
          <p:cNvSpPr txBox="1"/>
          <p:nvPr/>
        </p:nvSpPr>
        <p:spPr>
          <a:xfrm>
            <a:off x="3737132" y="6212840"/>
            <a:ext cx="8455250" cy="645160"/>
          </a:xfrm>
          <a:prstGeom prst="rect">
            <a:avLst/>
          </a:prstGeom>
          <a:noFill/>
        </p:spPr>
        <p:txBody>
          <a:bodyPr wrap="square" rtlCol="0">
            <a:spAutoFit/>
          </a:bodyPr>
          <a:lstStyle/>
          <a:p>
            <a:r>
              <a:rPr lang="en-US" altLang="zh-CN" dirty="0">
                <a:latin typeface="Times New Roman" panose="02020603050405020304" charset="0"/>
                <a:cs typeface="Times New Roman" panose="02020603050405020304" charset="0"/>
              </a:rPr>
              <a:t>SHIONOGI SEIYAKU KABUSHIKI KAISHA. Pyrimidine derivatives as HMG-CoA reductase inhibitors: EP0521471B1 [P]. 1993-01-07.</a:t>
            </a:r>
          </a:p>
        </p:txBody>
      </p:sp>
      <p:sp>
        <p:nvSpPr>
          <p:cNvPr id="6" name="标题 5"/>
          <p:cNvSpPr>
            <a:spLocks noGrp="1"/>
          </p:cNvSpPr>
          <p:nvPr>
            <p:ph type="title"/>
            <p:custDataLst>
              <p:tags r:id="rId2"/>
            </p:custDataLst>
          </p:nvPr>
        </p:nvSpPr>
        <p:spPr>
          <a:xfrm>
            <a:off x="228670" y="70"/>
            <a:ext cx="10969200" cy="705600"/>
          </a:xfrm>
        </p:spPr>
        <p:txBody>
          <a:bodyPr/>
          <a:lstStyle/>
          <a:p>
            <a:pPr algn="l"/>
            <a:r>
              <a:rPr lang="zh-CN" altLang="en-US" sz="2400" b="1">
                <a:solidFill>
                  <a:schemeClr val="accent1">
                    <a:lumMod val="50000"/>
                  </a:schemeClr>
                </a:solidFill>
                <a:sym typeface="+mn-ea"/>
              </a:rPr>
              <a:t>瑞舒伐他汀</a:t>
            </a:r>
            <a:r>
              <a:rPr lang="zh-CN" altLang="en-US" sz="2400" b="1">
                <a:solidFill>
                  <a:schemeClr val="accent1">
                    <a:lumMod val="50000"/>
                  </a:schemeClr>
                </a:solidFill>
              </a:rPr>
              <a:t>药物合成路线</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411550" y="313760"/>
            <a:ext cx="10969200" cy="705600"/>
          </a:xfrm>
        </p:spPr>
        <p:txBody>
          <a:bodyPr/>
          <a:lstStyle/>
          <a:p>
            <a:pPr algn="l">
              <a:buClrTx/>
              <a:buSzTx/>
              <a:buFontTx/>
            </a:pPr>
            <a:r>
              <a:rPr lang="zh-CN" altLang="en-US" sz="2400" b="1">
                <a:solidFill>
                  <a:schemeClr val="accent1">
                    <a:lumMod val="50000"/>
                  </a:schemeClr>
                </a:solidFill>
                <a:sym typeface="+mn-ea"/>
              </a:rPr>
              <a:t>瑞舒伐他汀药物</a:t>
            </a:r>
            <a:r>
              <a:rPr lang="zh-CN" altLang="en-US" sz="2400" b="1">
                <a:solidFill>
                  <a:schemeClr val="accent1">
                    <a:lumMod val="50000"/>
                  </a:schemeClr>
                </a:solidFill>
              </a:rPr>
              <a:t>合成路线路线优点、缺点</a:t>
            </a:r>
          </a:p>
        </p:txBody>
      </p:sp>
      <p:graphicFrame>
        <p:nvGraphicFramePr>
          <p:cNvPr id="16" name="表格 15"/>
          <p:cNvGraphicFramePr/>
          <p:nvPr/>
        </p:nvGraphicFramePr>
        <p:xfrm>
          <a:off x="1132205" y="1517650"/>
          <a:ext cx="9982200" cy="4098925"/>
        </p:xfrm>
        <a:graphic>
          <a:graphicData uri="http://schemas.openxmlformats.org/drawingml/2006/table">
            <a:tbl>
              <a:tblPr firstRow="1">
                <a:tableStyleId>{B7BD4722-F1F9-43DE-912B-BC3AB9E171DB}</a:tableStyleId>
              </a:tblPr>
              <a:tblGrid>
                <a:gridCol w="716280">
                  <a:extLst>
                    <a:ext uri="{9D8B030D-6E8A-4147-A177-3AD203B41FA5}">
                      <a16:colId xmlns:a16="http://schemas.microsoft.com/office/drawing/2014/main" val="20000"/>
                    </a:ext>
                  </a:extLst>
                </a:gridCol>
                <a:gridCol w="4889500">
                  <a:extLst>
                    <a:ext uri="{9D8B030D-6E8A-4147-A177-3AD203B41FA5}">
                      <a16:colId xmlns:a16="http://schemas.microsoft.com/office/drawing/2014/main" val="20001"/>
                    </a:ext>
                  </a:extLst>
                </a:gridCol>
                <a:gridCol w="4376420">
                  <a:extLst>
                    <a:ext uri="{9D8B030D-6E8A-4147-A177-3AD203B41FA5}">
                      <a16:colId xmlns:a16="http://schemas.microsoft.com/office/drawing/2014/main" val="20002"/>
                    </a:ext>
                  </a:extLst>
                </a:gridCol>
              </a:tblGrid>
              <a:tr h="477520">
                <a:tc>
                  <a:txBody>
                    <a:bodyPr/>
                    <a:lstStyle/>
                    <a:p>
                      <a:pPr algn="ctr">
                        <a:buNone/>
                      </a:pPr>
                      <a:r>
                        <a:rPr lang="zh-CN" altLang="en-US"/>
                        <a:t>序号</a:t>
                      </a:r>
                    </a:p>
                  </a:txBody>
                  <a:tcPr/>
                </a:tc>
                <a:tc>
                  <a:txBody>
                    <a:bodyPr/>
                    <a:lstStyle/>
                    <a:p>
                      <a:pPr algn="ctr">
                        <a:buNone/>
                      </a:pPr>
                      <a:r>
                        <a:rPr lang="zh-CN" altLang="en-US"/>
                        <a:t>优点</a:t>
                      </a:r>
                    </a:p>
                  </a:txBody>
                  <a:tcPr/>
                </a:tc>
                <a:tc>
                  <a:txBody>
                    <a:bodyPr/>
                    <a:lstStyle/>
                    <a:p>
                      <a:pPr algn="ctr">
                        <a:buClrTx/>
                        <a:buSzTx/>
                        <a:buFontTx/>
                        <a:buNone/>
                      </a:pPr>
                      <a:r>
                        <a:rPr lang="zh-CN" altLang="en-US" sz="1800">
                          <a:sym typeface="+mn-ea"/>
                        </a:rPr>
                        <a:t>缺点</a:t>
                      </a:r>
                      <a:endParaRPr lang="zh-CN" altLang="en-US"/>
                    </a:p>
                  </a:txBody>
                  <a:tcPr/>
                </a:tc>
                <a:extLst>
                  <a:ext uri="{0D108BD9-81ED-4DB2-BD59-A6C34878D82A}">
                    <a16:rowId xmlns:a16="http://schemas.microsoft.com/office/drawing/2014/main" val="10000"/>
                  </a:ext>
                </a:extLst>
              </a:tr>
              <a:tr h="1135380">
                <a:tc>
                  <a:txBody>
                    <a:bodyPr/>
                    <a:lstStyle/>
                    <a:p>
                      <a:pPr algn="ctr">
                        <a:buClrTx/>
                        <a:buSzTx/>
                        <a:buFontTx/>
                        <a:buNone/>
                      </a:pPr>
                      <a:endParaRPr lang="en-US" altLang="zh-CN" sz="1600">
                        <a:latin typeface="Times New Roman" panose="02020603050405020304" charset="0"/>
                        <a:ea typeface="宋体" panose="02010600030101010101" pitchFamily="2" charset="-122"/>
                      </a:endParaRPr>
                    </a:p>
                    <a:p>
                      <a:pPr algn="ctr">
                        <a:buClrTx/>
                        <a:buSzTx/>
                        <a:buFontTx/>
                        <a:buNone/>
                      </a:pPr>
                      <a:r>
                        <a:rPr lang="en-US" altLang="zh-CN" sz="1600">
                          <a:latin typeface="Times New Roman" panose="02020603050405020304" charset="0"/>
                          <a:ea typeface="宋体" panose="02010600030101010101" pitchFamily="2" charset="-122"/>
                        </a:rPr>
                        <a:t>1</a:t>
                      </a:r>
                    </a:p>
                  </a:txBody>
                  <a:tcPr/>
                </a:tc>
                <a:tc>
                  <a:txBody>
                    <a:bodyPr/>
                    <a:lstStyle/>
                    <a:p>
                      <a:pPr>
                        <a:lnSpc>
                          <a:spcPct val="150000"/>
                        </a:lnSpc>
                        <a:buNone/>
                      </a:pPr>
                      <a:r>
                        <a:rPr lang="zh-CN" altLang="en-US" sz="1600" dirty="0">
                          <a:ln>
                            <a:noFill/>
                          </a:ln>
                          <a:solidFill>
                            <a:prstClr val="black"/>
                          </a:solidFill>
                          <a:latin typeface="Times New Roman" panose="02020603050405020304" charset="0"/>
                          <a:ea typeface="宋体" panose="02010600030101010101" pitchFamily="2" charset="-122"/>
                        </a:rPr>
                        <a:t>基于</a:t>
                      </a:r>
                      <a:r>
                        <a:rPr lang="en-US" altLang="zh-CN" sz="1600" dirty="0">
                          <a:ln>
                            <a:noFill/>
                          </a:ln>
                          <a:solidFill>
                            <a:prstClr val="black"/>
                          </a:solidFill>
                          <a:latin typeface="Times New Roman" panose="02020603050405020304" charset="0"/>
                          <a:ea typeface="宋体" panose="02010600030101010101" pitchFamily="2" charset="-122"/>
                        </a:rPr>
                        <a:t>WO2004/002280</a:t>
                      </a:r>
                      <a:r>
                        <a:rPr lang="zh-CN" altLang="en-US" sz="1600" dirty="0">
                          <a:ln>
                            <a:noFill/>
                          </a:ln>
                          <a:solidFill>
                            <a:prstClr val="black"/>
                          </a:solidFill>
                          <a:latin typeface="Times New Roman" panose="02020603050405020304" charset="0"/>
                          <a:ea typeface="宋体" panose="02010600030101010101" pitchFamily="2" charset="-122"/>
                        </a:rPr>
                        <a:t>和</a:t>
                      </a:r>
                      <a:r>
                        <a:rPr lang="en-US" altLang="zh-CN" sz="1600" dirty="0">
                          <a:ln>
                            <a:noFill/>
                          </a:ln>
                          <a:solidFill>
                            <a:prstClr val="black"/>
                          </a:solidFill>
                          <a:latin typeface="Times New Roman" panose="02020603050405020304" charset="0"/>
                          <a:ea typeface="宋体" panose="02010600030101010101" pitchFamily="2" charset="-122"/>
                        </a:rPr>
                        <a:t>EP0521471B1</a:t>
                      </a:r>
                      <a:r>
                        <a:rPr lang="zh-CN" altLang="en-US" sz="1600" dirty="0">
                          <a:ln>
                            <a:noFill/>
                          </a:ln>
                          <a:solidFill>
                            <a:prstClr val="black"/>
                          </a:solidFill>
                          <a:latin typeface="Times New Roman" panose="02020603050405020304" charset="0"/>
                          <a:ea typeface="宋体" panose="02010600030101010101" pitchFamily="2" charset="-122"/>
                        </a:rPr>
                        <a:t>等专利文献，是工业上经过验证的主流路线，路线成熟</a:t>
                      </a:r>
                    </a:p>
                  </a:txBody>
                  <a:tcPr/>
                </a:tc>
                <a:tc>
                  <a:txBody>
                    <a:bodyPr/>
                    <a:lstStyle/>
                    <a:p>
                      <a:pPr algn="l">
                        <a:lnSpc>
                          <a:spcPct val="150000"/>
                        </a:lnSpc>
                        <a:buClrTx/>
                        <a:buSzTx/>
                        <a:buFontTx/>
                        <a:buNone/>
                      </a:pPr>
                      <a:r>
                        <a:rPr lang="zh-CN" altLang="en-US" sz="1600">
                          <a:ln>
                            <a:noFill/>
                          </a:ln>
                          <a:solidFill>
                            <a:prstClr val="black"/>
                          </a:solidFill>
                          <a:latin typeface="Times New Roman" panose="02020603050405020304" charset="0"/>
                          <a:ea typeface="宋体" panose="02010600030101010101" pitchFamily="2" charset="-122"/>
                        </a:rPr>
                        <a:t>从对氟苯甲醛到最终产物约需12–13步，总收率可能偏低</a:t>
                      </a:r>
                    </a:p>
                  </a:txBody>
                  <a:tcPr/>
                </a:tc>
                <a:extLst>
                  <a:ext uri="{0D108BD9-81ED-4DB2-BD59-A6C34878D82A}">
                    <a16:rowId xmlns:a16="http://schemas.microsoft.com/office/drawing/2014/main" val="10001"/>
                  </a:ext>
                </a:extLst>
              </a:tr>
              <a:tr h="887095">
                <a:tc>
                  <a:txBody>
                    <a:bodyPr/>
                    <a:lstStyle/>
                    <a:p>
                      <a:pPr algn="ctr">
                        <a:buClrTx/>
                        <a:buSzTx/>
                        <a:buFontTx/>
                        <a:buNone/>
                      </a:pPr>
                      <a:endParaRPr lang="en-US" altLang="zh-CN" sz="1600">
                        <a:latin typeface="Times New Roman" panose="02020603050405020304" charset="0"/>
                        <a:ea typeface="宋体" panose="02010600030101010101" pitchFamily="2" charset="-122"/>
                      </a:endParaRPr>
                    </a:p>
                    <a:p>
                      <a:pPr algn="ctr">
                        <a:buClrTx/>
                        <a:buSzTx/>
                        <a:buFontTx/>
                        <a:buNone/>
                      </a:pPr>
                      <a:r>
                        <a:rPr lang="en-US" altLang="zh-CN" sz="1600">
                          <a:latin typeface="Times New Roman" panose="02020603050405020304" charset="0"/>
                          <a:ea typeface="宋体" panose="02010600030101010101" pitchFamily="2" charset="-122"/>
                        </a:rPr>
                        <a:t>2</a:t>
                      </a:r>
                    </a:p>
                  </a:txBody>
                  <a:tcPr/>
                </a:tc>
                <a:tc>
                  <a:txBody>
                    <a:bodyPr/>
                    <a:lstStyle/>
                    <a:p>
                      <a:pPr>
                        <a:lnSpc>
                          <a:spcPct val="150000"/>
                        </a:lnSpc>
                        <a:buNone/>
                      </a:pPr>
                      <a:r>
                        <a:rPr lang="en-US" altLang="zh-CN" sz="1600" dirty="0">
                          <a:ln>
                            <a:noFill/>
                          </a:ln>
                          <a:solidFill>
                            <a:prstClr val="black"/>
                          </a:solidFill>
                          <a:latin typeface="Times New Roman" panose="02020603050405020304" charset="0"/>
                          <a:ea typeface="宋体" panose="02010600030101010101" pitchFamily="2" charset="-122"/>
                        </a:rPr>
                        <a:t>Wittig</a:t>
                      </a:r>
                      <a:r>
                        <a:rPr lang="zh-CN" altLang="en-US" sz="1600" dirty="0">
                          <a:ln>
                            <a:noFill/>
                          </a:ln>
                          <a:solidFill>
                            <a:prstClr val="black"/>
                          </a:solidFill>
                          <a:latin typeface="Times New Roman" panose="02020603050405020304" charset="0"/>
                          <a:ea typeface="宋体" panose="02010600030101010101" pitchFamily="2" charset="-122"/>
                        </a:rPr>
                        <a:t>反应构建庚烯酸侧链、非对映选择性还原构建双手性中心（3</a:t>
                      </a:r>
                      <a:r>
                        <a:rPr lang="en-US" altLang="zh-CN" sz="1600" i="1" dirty="0">
                          <a:ln>
                            <a:noFill/>
                          </a:ln>
                          <a:solidFill>
                            <a:prstClr val="black"/>
                          </a:solidFill>
                          <a:latin typeface="Times New Roman" panose="02020603050405020304" charset="0"/>
                          <a:ea typeface="宋体" panose="02010600030101010101" pitchFamily="2" charset="-122"/>
                        </a:rPr>
                        <a:t>R</a:t>
                      </a:r>
                      <a:r>
                        <a:rPr lang="en-US" altLang="zh-CN" sz="1600" dirty="0">
                          <a:ln>
                            <a:noFill/>
                          </a:ln>
                          <a:solidFill>
                            <a:prstClr val="black"/>
                          </a:solidFill>
                          <a:latin typeface="Times New Roman" panose="02020603050405020304" charset="0"/>
                          <a:ea typeface="宋体" panose="02010600030101010101" pitchFamily="2" charset="-122"/>
                        </a:rPr>
                        <a:t>,5</a:t>
                      </a:r>
                      <a:r>
                        <a:rPr lang="en-US" altLang="zh-CN" sz="1600" i="1" dirty="0">
                          <a:ln>
                            <a:noFill/>
                          </a:ln>
                          <a:solidFill>
                            <a:prstClr val="black"/>
                          </a:solidFill>
                          <a:latin typeface="Times New Roman" panose="02020603050405020304" charset="0"/>
                          <a:ea typeface="宋体" panose="02010600030101010101" pitchFamily="2" charset="-122"/>
                        </a:rPr>
                        <a:t>S</a:t>
                      </a:r>
                      <a:r>
                        <a:rPr lang="en-US" altLang="zh-CN" sz="1600" dirty="0">
                          <a:ln>
                            <a:noFill/>
                          </a:ln>
                          <a:solidFill>
                            <a:prstClr val="black"/>
                          </a:solidFill>
                          <a:latin typeface="Times New Roman" panose="02020603050405020304" charset="0"/>
                          <a:ea typeface="宋体" panose="02010600030101010101" pitchFamily="2" charset="-122"/>
                        </a:rPr>
                        <a:t>），</a:t>
                      </a:r>
                      <a:r>
                        <a:rPr lang="zh-CN" altLang="en-US" sz="1600" dirty="0">
                          <a:ln>
                            <a:noFill/>
                          </a:ln>
                          <a:solidFill>
                            <a:prstClr val="black"/>
                          </a:solidFill>
                          <a:latin typeface="Times New Roman" panose="02020603050405020304" charset="0"/>
                          <a:ea typeface="宋体" panose="02010600030101010101" pitchFamily="2" charset="-122"/>
                        </a:rPr>
                        <a:t>策略清晰</a:t>
                      </a:r>
                      <a:endParaRPr lang="en-US" altLang="zh-CN" sz="1600" dirty="0">
                        <a:ln>
                          <a:noFill/>
                        </a:ln>
                        <a:solidFill>
                          <a:prstClr val="black"/>
                        </a:solidFill>
                        <a:latin typeface="Times New Roman" panose="02020603050405020304" charset="0"/>
                        <a:ea typeface="宋体" panose="02010600030101010101" pitchFamily="2" charset="-122"/>
                      </a:endParaRPr>
                    </a:p>
                  </a:txBody>
                  <a:tcPr/>
                </a:tc>
                <a:tc>
                  <a:txBody>
                    <a:bodyPr/>
                    <a:lstStyle/>
                    <a:p>
                      <a:pPr algn="l">
                        <a:lnSpc>
                          <a:spcPct val="150000"/>
                        </a:lnSpc>
                        <a:buClrTx/>
                        <a:buSzTx/>
                        <a:buFontTx/>
                      </a:pPr>
                      <a:r>
                        <a:rPr lang="zh-CN" altLang="en-US" sz="1600" dirty="0">
                          <a:ln>
                            <a:noFill/>
                          </a:ln>
                          <a:solidFill>
                            <a:prstClr val="black"/>
                          </a:solidFill>
                          <a:uFillTx/>
                          <a:latin typeface="Times New Roman" panose="02020603050405020304" charset="0"/>
                          <a:ea typeface="宋体" panose="02010600030101010101" pitchFamily="2" charset="-122"/>
                          <a:cs typeface="宋体" panose="02010600030101010101" pitchFamily="2" charset="-122"/>
                          <a:sym typeface="+mn-ea"/>
                        </a:rPr>
                        <a:t>嘧啶醛合成时可能过氧化或生成杂质；</a:t>
                      </a:r>
                      <a:r>
                        <a:rPr lang="en-US" altLang="zh-CN" sz="1600" dirty="0">
                          <a:ln>
                            <a:noFill/>
                          </a:ln>
                          <a:solidFill>
                            <a:prstClr val="black"/>
                          </a:solidFill>
                          <a:uFillTx/>
                          <a:latin typeface="Times New Roman" panose="02020603050405020304" charset="0"/>
                          <a:ea typeface="宋体" panose="02010600030101010101" pitchFamily="2" charset="-122"/>
                          <a:cs typeface="宋体" panose="02010600030101010101" pitchFamily="2" charset="-122"/>
                          <a:sym typeface="+mn-ea"/>
                        </a:rPr>
                        <a:t>Wittig</a:t>
                      </a:r>
                      <a:r>
                        <a:rPr lang="zh-CN" altLang="en-US" sz="1600" dirty="0">
                          <a:ln>
                            <a:noFill/>
                          </a:ln>
                          <a:solidFill>
                            <a:prstClr val="black"/>
                          </a:solidFill>
                          <a:uFillTx/>
                          <a:latin typeface="Times New Roman" panose="02020603050405020304" charset="0"/>
                          <a:ea typeface="宋体" panose="02010600030101010101" pitchFamily="2" charset="-122"/>
                          <a:cs typeface="宋体" panose="02010600030101010101" pitchFamily="2" charset="-122"/>
                          <a:sym typeface="+mn-ea"/>
                        </a:rPr>
                        <a:t>反应可能有</a:t>
                      </a:r>
                      <a:r>
                        <a:rPr lang="en-US" altLang="zh-CN" sz="1600" i="1" dirty="0">
                          <a:ln>
                            <a:noFill/>
                          </a:ln>
                          <a:solidFill>
                            <a:prstClr val="black"/>
                          </a:solidFill>
                          <a:uFillTx/>
                          <a:latin typeface="Times New Roman" panose="02020603050405020304" charset="0"/>
                          <a:ea typeface="宋体" panose="02010600030101010101" pitchFamily="2" charset="-122"/>
                          <a:cs typeface="宋体" panose="02010600030101010101" pitchFamily="2" charset="-122"/>
                          <a:sym typeface="+mn-ea"/>
                        </a:rPr>
                        <a:t>E</a:t>
                      </a:r>
                      <a:r>
                        <a:rPr lang="en-US" altLang="zh-CN" sz="1600" dirty="0">
                          <a:ln>
                            <a:noFill/>
                          </a:ln>
                          <a:solidFill>
                            <a:prstClr val="black"/>
                          </a:solidFill>
                          <a:uFillTx/>
                          <a:latin typeface="Times New Roman" panose="02020603050405020304" charset="0"/>
                          <a:ea typeface="宋体" panose="02010600030101010101" pitchFamily="2" charset="-122"/>
                          <a:cs typeface="宋体" panose="02010600030101010101" pitchFamily="2" charset="-122"/>
                          <a:sym typeface="+mn-ea"/>
                        </a:rPr>
                        <a:t>/</a:t>
                      </a:r>
                      <a:r>
                        <a:rPr lang="en-US" altLang="zh-CN" sz="1600" i="1" dirty="0">
                          <a:ln>
                            <a:noFill/>
                          </a:ln>
                          <a:solidFill>
                            <a:prstClr val="black"/>
                          </a:solidFill>
                          <a:uFillTx/>
                          <a:latin typeface="Times New Roman" panose="02020603050405020304" charset="0"/>
                          <a:ea typeface="宋体" panose="02010600030101010101" pitchFamily="2" charset="-122"/>
                          <a:cs typeface="宋体" panose="02010600030101010101" pitchFamily="2" charset="-122"/>
                          <a:sym typeface="+mn-ea"/>
                        </a:rPr>
                        <a:t>Z</a:t>
                      </a:r>
                      <a:r>
                        <a:rPr lang="zh-CN" altLang="en-US" sz="1600" dirty="0">
                          <a:ln>
                            <a:noFill/>
                          </a:ln>
                          <a:solidFill>
                            <a:prstClr val="black"/>
                          </a:solidFill>
                          <a:uFillTx/>
                          <a:latin typeface="Times New Roman" panose="02020603050405020304" charset="0"/>
                          <a:ea typeface="宋体" panose="02010600030101010101" pitchFamily="2" charset="-122"/>
                          <a:cs typeface="宋体" panose="02010600030101010101" pitchFamily="2" charset="-122"/>
                          <a:sym typeface="+mn-ea"/>
                        </a:rPr>
                        <a:t>异构体副产物</a:t>
                      </a:r>
                    </a:p>
                    <a:p>
                      <a:pPr algn="l">
                        <a:lnSpc>
                          <a:spcPct val="150000"/>
                        </a:lnSpc>
                        <a:buClrTx/>
                        <a:buSzTx/>
                        <a:buFontTx/>
                      </a:pPr>
                      <a:endParaRPr lang="zh-CN" altLang="en-US" sz="1600" dirty="0">
                        <a:ln>
                          <a:noFill/>
                        </a:ln>
                        <a:solidFill>
                          <a:prstClr val="black"/>
                        </a:solidFill>
                        <a:uFillTx/>
                        <a:latin typeface="Times New Roman" panose="02020603050405020304" charset="0"/>
                        <a:ea typeface="宋体" panose="02010600030101010101" pitchFamily="2" charset="-122"/>
                        <a:cs typeface="宋体" panose="02010600030101010101" pitchFamily="2" charset="-122"/>
                        <a:sym typeface="+mn-ea"/>
                      </a:endParaRPr>
                    </a:p>
                  </a:txBody>
                  <a:tcPr/>
                </a:tc>
                <a:extLst>
                  <a:ext uri="{0D108BD9-81ED-4DB2-BD59-A6C34878D82A}">
                    <a16:rowId xmlns:a16="http://schemas.microsoft.com/office/drawing/2014/main" val="10002"/>
                  </a:ext>
                </a:extLst>
              </a:tr>
              <a:tr h="1341120">
                <a:tc>
                  <a:txBody>
                    <a:bodyPr/>
                    <a:lstStyle/>
                    <a:p>
                      <a:pPr algn="ctr">
                        <a:buClrTx/>
                        <a:buSzTx/>
                        <a:buFontTx/>
                        <a:buNone/>
                      </a:pPr>
                      <a:endParaRPr lang="en-US" altLang="zh-CN" sz="1600">
                        <a:latin typeface="Times New Roman" panose="02020603050405020304" charset="0"/>
                        <a:ea typeface="宋体" panose="02010600030101010101" pitchFamily="2" charset="-122"/>
                      </a:endParaRPr>
                    </a:p>
                    <a:p>
                      <a:pPr algn="ctr">
                        <a:buClrTx/>
                        <a:buSzTx/>
                        <a:buFontTx/>
                        <a:buNone/>
                      </a:pPr>
                      <a:r>
                        <a:rPr lang="en-US" altLang="zh-CN" sz="1600">
                          <a:latin typeface="Times New Roman" panose="02020603050405020304" charset="0"/>
                          <a:ea typeface="宋体" panose="02010600030101010101" pitchFamily="2" charset="-122"/>
                        </a:rPr>
                        <a:t>3</a:t>
                      </a:r>
                    </a:p>
                  </a:txBody>
                  <a:tcPr/>
                </a:tc>
                <a:tc>
                  <a:txBody>
                    <a:bodyPr/>
                    <a:lstStyle/>
                    <a:p>
                      <a:pPr>
                        <a:lnSpc>
                          <a:spcPct val="150000"/>
                        </a:lnSpc>
                        <a:buNone/>
                      </a:pPr>
                      <a:r>
                        <a:rPr lang="en-US" altLang="zh-CN" sz="1600">
                          <a:ln>
                            <a:noFill/>
                          </a:ln>
                          <a:solidFill>
                            <a:prstClr val="black"/>
                          </a:solidFill>
                          <a:latin typeface="Times New Roman" panose="02020603050405020304" charset="0"/>
                          <a:ea typeface="宋体" panose="02010600030101010101" pitchFamily="2" charset="-122"/>
                        </a:rPr>
                        <a:t>TBS</a:t>
                      </a:r>
                      <a:r>
                        <a:rPr lang="zh-CN" altLang="en-US" sz="1600">
                          <a:ln>
                            <a:noFill/>
                          </a:ln>
                          <a:solidFill>
                            <a:prstClr val="black"/>
                          </a:solidFill>
                          <a:latin typeface="Times New Roman" panose="02020603050405020304" charset="0"/>
                          <a:ea typeface="宋体" panose="02010600030101010101" pitchFamily="2" charset="-122"/>
                        </a:rPr>
                        <a:t>保护羟基，后续</a:t>
                      </a:r>
                      <a:r>
                        <a:rPr lang="en-US" altLang="zh-CN" sz="1600">
                          <a:ln>
                            <a:noFill/>
                          </a:ln>
                          <a:solidFill>
                            <a:prstClr val="black"/>
                          </a:solidFill>
                          <a:latin typeface="Times New Roman" panose="02020603050405020304" charset="0"/>
                          <a:ea typeface="宋体" panose="02010600030101010101" pitchFamily="2" charset="-122"/>
                        </a:rPr>
                        <a:t>HF/</a:t>
                      </a:r>
                      <a:r>
                        <a:rPr lang="zh-CN" altLang="en-US" sz="1600">
                          <a:ln>
                            <a:noFill/>
                          </a:ln>
                          <a:solidFill>
                            <a:prstClr val="black"/>
                          </a:solidFill>
                          <a:latin typeface="Times New Roman" panose="02020603050405020304" charset="0"/>
                          <a:ea typeface="宋体" panose="02010600030101010101" pitchFamily="2" charset="-122"/>
                        </a:rPr>
                        <a:t>乙腈脱保护条件温和、选择性好</a:t>
                      </a:r>
                    </a:p>
                    <a:p>
                      <a:pPr>
                        <a:lnSpc>
                          <a:spcPct val="150000"/>
                        </a:lnSpc>
                        <a:buNone/>
                      </a:pPr>
                      <a:endParaRPr lang="zh-CN" altLang="en-US" sz="1600">
                        <a:ln>
                          <a:noFill/>
                        </a:ln>
                        <a:solidFill>
                          <a:prstClr val="black"/>
                        </a:solidFill>
                        <a:latin typeface="Times New Roman" panose="02020603050405020304" charset="0"/>
                        <a:ea typeface="宋体" panose="02010600030101010101" pitchFamily="2" charset="-122"/>
                      </a:endParaRPr>
                    </a:p>
                  </a:txBody>
                  <a:tcPr/>
                </a:tc>
                <a:tc>
                  <a:txBody>
                    <a:bodyPr/>
                    <a:lstStyle/>
                    <a:p>
                      <a:pPr algn="l">
                        <a:lnSpc>
                          <a:spcPct val="150000"/>
                        </a:lnSpc>
                        <a:buClrTx/>
                        <a:buSzTx/>
                        <a:buFontTx/>
                        <a:buNone/>
                      </a:pPr>
                      <a:r>
                        <a:rPr lang="zh-CN" altLang="en-US" sz="1600" dirty="0">
                          <a:ln>
                            <a:noFill/>
                          </a:ln>
                          <a:solidFill>
                            <a:prstClr val="black"/>
                          </a:solidFill>
                          <a:latin typeface="Times New Roman" panose="02020603050405020304" charset="0"/>
                          <a:ea typeface="宋体" panose="02010600030101010101" pitchFamily="2" charset="-122"/>
                        </a:rPr>
                        <a:t>虽保护策略合理，但增加了两步操作（上保护+脱保护），原子经济性一般</a:t>
                      </a:r>
                    </a:p>
                    <a:p>
                      <a:pPr algn="l">
                        <a:lnSpc>
                          <a:spcPct val="150000"/>
                        </a:lnSpc>
                        <a:buClrTx/>
                        <a:buSzTx/>
                        <a:buFontTx/>
                        <a:buNone/>
                      </a:pPr>
                      <a:endParaRPr lang="zh-CN" altLang="en-US" sz="1600" dirty="0">
                        <a:ln>
                          <a:noFill/>
                        </a:ln>
                        <a:solidFill>
                          <a:prstClr val="black"/>
                        </a:solidFill>
                        <a:latin typeface="Times New Roman" panose="02020603050405020304" charset="0"/>
                        <a:ea typeface="宋体" panose="02010600030101010101" pitchFamily="2" charset="-122"/>
                      </a:endParaRPr>
                    </a:p>
                  </a:txBody>
                  <a:tcPr/>
                </a:tc>
                <a:extLst>
                  <a:ext uri="{0D108BD9-81ED-4DB2-BD59-A6C34878D82A}">
                    <a16:rowId xmlns:a16="http://schemas.microsoft.com/office/drawing/2014/main" val="10003"/>
                  </a:ext>
                </a:extLst>
              </a:tr>
            </a:tbl>
          </a:graphicData>
        </a:graphic>
      </p:graphicFrame>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245180" y="290900"/>
            <a:ext cx="10969200" cy="705600"/>
          </a:xfrm>
        </p:spPr>
        <p:txBody>
          <a:bodyPr>
            <a:normAutofit/>
          </a:bodyPr>
          <a:lstStyle/>
          <a:p>
            <a:r>
              <a:rPr lang="zh-CN" altLang="en-US" sz="2665" b="1">
                <a:solidFill>
                  <a:schemeClr val="accent1">
                    <a:lumMod val="50000"/>
                  </a:schemeClr>
                </a:solidFill>
                <a:sym typeface="+mn-ea"/>
              </a:rPr>
              <a:t>瑞舒伐他汀药物理想合成路线中的难点问题和解决方案</a:t>
            </a:r>
          </a:p>
        </p:txBody>
      </p:sp>
      <p:graphicFrame>
        <p:nvGraphicFramePr>
          <p:cNvPr id="6" name="表格 5"/>
          <p:cNvGraphicFramePr/>
          <p:nvPr>
            <p:custDataLst>
              <p:tags r:id="rId3"/>
            </p:custDataLst>
          </p:nvPr>
        </p:nvGraphicFramePr>
        <p:xfrm>
          <a:off x="850265" y="1549400"/>
          <a:ext cx="10492105" cy="4044949"/>
        </p:xfrm>
        <a:graphic>
          <a:graphicData uri="http://schemas.openxmlformats.org/drawingml/2006/table">
            <a:tbl>
              <a:tblPr firstRow="1">
                <a:tableStyleId>{B7BD4722-F1F9-43DE-912B-BC3AB9E171DB}</a:tableStyleId>
              </a:tblPr>
              <a:tblGrid>
                <a:gridCol w="718185">
                  <a:extLst>
                    <a:ext uri="{9D8B030D-6E8A-4147-A177-3AD203B41FA5}">
                      <a16:colId xmlns:a16="http://schemas.microsoft.com/office/drawing/2014/main" val="20000"/>
                    </a:ext>
                  </a:extLst>
                </a:gridCol>
                <a:gridCol w="2334260">
                  <a:extLst>
                    <a:ext uri="{9D8B030D-6E8A-4147-A177-3AD203B41FA5}">
                      <a16:colId xmlns:a16="http://schemas.microsoft.com/office/drawing/2014/main" val="20001"/>
                    </a:ext>
                  </a:extLst>
                </a:gridCol>
                <a:gridCol w="7439660">
                  <a:extLst>
                    <a:ext uri="{9D8B030D-6E8A-4147-A177-3AD203B41FA5}">
                      <a16:colId xmlns:a16="http://schemas.microsoft.com/office/drawing/2014/main" val="20002"/>
                    </a:ext>
                  </a:extLst>
                </a:gridCol>
              </a:tblGrid>
              <a:tr h="593725">
                <a:tc>
                  <a:txBody>
                    <a:bodyPr/>
                    <a:lstStyle/>
                    <a:p>
                      <a:pPr algn="ctr">
                        <a:lnSpc>
                          <a:spcPct val="150000"/>
                        </a:lnSpc>
                        <a:buNone/>
                      </a:pPr>
                      <a:r>
                        <a:rPr lang="zh-CN" altLang="en-US"/>
                        <a:t>序号</a:t>
                      </a:r>
                    </a:p>
                  </a:txBody>
                  <a:tcPr/>
                </a:tc>
                <a:tc>
                  <a:txBody>
                    <a:bodyPr/>
                    <a:lstStyle/>
                    <a:p>
                      <a:pPr algn="ctr">
                        <a:lnSpc>
                          <a:spcPct val="150000"/>
                        </a:lnSpc>
                      </a:pPr>
                      <a:r>
                        <a:rPr lang="zh-CN" altLang="en-US" sz="1800">
                          <a:sym typeface="+mn-ea"/>
                        </a:rPr>
                        <a:t>缺点 </a:t>
                      </a:r>
                      <a:r>
                        <a:rPr lang="en-US" altLang="zh-CN" sz="1800">
                          <a:sym typeface="+mn-ea"/>
                        </a:rPr>
                        <a:t>/ </a:t>
                      </a:r>
                      <a:r>
                        <a:rPr lang="zh-CN" altLang="en-US" sz="1800">
                          <a:sym typeface="+mn-ea"/>
                        </a:rPr>
                        <a:t>难点</a:t>
                      </a:r>
                      <a:endParaRPr lang="zh-CN" altLang="en-US"/>
                    </a:p>
                  </a:txBody>
                  <a:tcPr/>
                </a:tc>
                <a:tc>
                  <a:txBody>
                    <a:bodyPr/>
                    <a:lstStyle/>
                    <a:p>
                      <a:pPr algn="ctr">
                        <a:lnSpc>
                          <a:spcPct val="150000"/>
                        </a:lnSpc>
                      </a:pPr>
                      <a:r>
                        <a:rPr lang="zh-CN" altLang="en-US" sz="1800">
                          <a:sym typeface="+mn-ea"/>
                        </a:rPr>
                        <a:t>解决方案</a:t>
                      </a:r>
                      <a:endParaRPr lang="zh-CN" altLang="en-US"/>
                    </a:p>
                  </a:txBody>
                  <a:tcPr/>
                </a:tc>
                <a:extLst>
                  <a:ext uri="{0D108BD9-81ED-4DB2-BD59-A6C34878D82A}">
                    <a16:rowId xmlns:a16="http://schemas.microsoft.com/office/drawing/2014/main" val="10000"/>
                  </a:ext>
                </a:extLst>
              </a:tr>
              <a:tr h="982980">
                <a:tc>
                  <a:txBody>
                    <a:bodyPr/>
                    <a:lstStyle/>
                    <a:p>
                      <a:pPr algn="ctr">
                        <a:buClrTx/>
                        <a:buSzTx/>
                        <a:buFontTx/>
                        <a:buNone/>
                      </a:pPr>
                      <a:endParaRPr lang="zh-CN" altLang="en-US" sz="1600">
                        <a:solidFill>
                          <a:srgbClr val="08090C"/>
                        </a:solidFill>
                        <a:uFillTx/>
                        <a:latin typeface="Times New Roman" panose="02020603050405020304" charset="0"/>
                        <a:ea typeface="宋体" panose="02010600030101010101" pitchFamily="2" charset="-122"/>
                      </a:endParaRPr>
                    </a:p>
                    <a:p>
                      <a:pPr algn="ctr">
                        <a:buClrTx/>
                        <a:buSzTx/>
                        <a:buFontTx/>
                        <a:buNone/>
                      </a:pPr>
                      <a:r>
                        <a:rPr lang="zh-CN" altLang="en-US" sz="1600">
                          <a:solidFill>
                            <a:srgbClr val="08090C"/>
                          </a:solidFill>
                          <a:uFillTx/>
                          <a:latin typeface="Times New Roman" panose="02020603050405020304" charset="0"/>
                          <a:ea typeface="宋体" panose="02010600030101010101" pitchFamily="2" charset="-122"/>
                        </a:rPr>
                        <a:t>1</a:t>
                      </a:r>
                    </a:p>
                  </a:txBody>
                  <a:tcPr/>
                </a:tc>
                <a:tc>
                  <a:txBody>
                    <a:bodyPr/>
                    <a:lstStyle/>
                    <a:p>
                      <a:pPr algn="l">
                        <a:buClrTx/>
                        <a:buSzTx/>
                        <a:buFontTx/>
                      </a:pPr>
                      <a:r>
                        <a:rPr lang="en-US" altLang="zh-CN" sz="1600">
                          <a:solidFill>
                            <a:srgbClr val="08090C"/>
                          </a:solidFill>
                          <a:uFillTx/>
                          <a:latin typeface="Times New Roman" panose="02020603050405020304" charset="0"/>
                          <a:ea typeface="宋体" panose="02010600030101010101" pitchFamily="2" charset="-122"/>
                          <a:cs typeface="宋体" panose="02010600030101010101" pitchFamily="2" charset="-122"/>
                        </a:rPr>
                        <a:t>Wittig</a:t>
                      </a:r>
                      <a:r>
                        <a:rPr lang="zh-CN" altLang="en-US" sz="1600">
                          <a:solidFill>
                            <a:srgbClr val="08090C"/>
                          </a:solidFill>
                          <a:uFillTx/>
                          <a:latin typeface="Times New Roman" panose="02020603050405020304" charset="0"/>
                          <a:ea typeface="宋体" panose="02010600030101010101" pitchFamily="2" charset="-122"/>
                          <a:cs typeface="宋体" panose="02010600030101010101" pitchFamily="2" charset="-122"/>
                        </a:rPr>
                        <a:t>反应</a:t>
                      </a:r>
                      <a:r>
                        <a:rPr lang="en-US" altLang="zh-CN" sz="1600" i="1">
                          <a:solidFill>
                            <a:srgbClr val="08090C"/>
                          </a:solidFill>
                          <a:uFillTx/>
                          <a:latin typeface="Times New Roman" panose="02020603050405020304" charset="0"/>
                          <a:ea typeface="宋体" panose="02010600030101010101" pitchFamily="2" charset="-122"/>
                          <a:cs typeface="宋体" panose="02010600030101010101" pitchFamily="2" charset="-122"/>
                        </a:rPr>
                        <a:t>E</a:t>
                      </a:r>
                      <a:r>
                        <a:rPr lang="en-US" altLang="zh-CN" sz="1600">
                          <a:solidFill>
                            <a:srgbClr val="08090C"/>
                          </a:solidFill>
                          <a:uFillTx/>
                          <a:latin typeface="Times New Roman" panose="02020603050405020304" charset="0"/>
                          <a:ea typeface="宋体" panose="02010600030101010101" pitchFamily="2" charset="-122"/>
                          <a:cs typeface="宋体" panose="02010600030101010101" pitchFamily="2" charset="-122"/>
                        </a:rPr>
                        <a:t>/</a:t>
                      </a:r>
                      <a:r>
                        <a:rPr lang="en-US" altLang="zh-CN" sz="1600" i="1">
                          <a:solidFill>
                            <a:srgbClr val="08090C"/>
                          </a:solidFill>
                          <a:uFillTx/>
                          <a:latin typeface="Times New Roman" panose="02020603050405020304" charset="0"/>
                          <a:ea typeface="宋体" panose="02010600030101010101" pitchFamily="2" charset="-122"/>
                          <a:cs typeface="宋体" panose="02010600030101010101" pitchFamily="2" charset="-122"/>
                        </a:rPr>
                        <a:t>Z</a:t>
                      </a:r>
                      <a:r>
                        <a:rPr lang="zh-CN" altLang="en-US" sz="1600">
                          <a:solidFill>
                            <a:srgbClr val="08090C"/>
                          </a:solidFill>
                          <a:uFillTx/>
                          <a:latin typeface="Times New Roman" panose="02020603050405020304" charset="0"/>
                          <a:ea typeface="宋体" panose="02010600030101010101" pitchFamily="2" charset="-122"/>
                          <a:cs typeface="宋体" panose="02010600030101010101" pitchFamily="2" charset="-122"/>
                        </a:rPr>
                        <a:t>选择性控制</a:t>
                      </a:r>
                    </a:p>
                  </a:txBody>
                  <a:tcPr marL="51117" marR="51117" marT="51117" marB="51117" anchor="ctr"/>
                </a:tc>
                <a:tc>
                  <a:txBody>
                    <a:bodyPr/>
                    <a:lstStyle/>
                    <a:p>
                      <a:pPr algn="l">
                        <a:buClrTx/>
                        <a:buSzTx/>
                        <a:buFontTx/>
                      </a:pPr>
                      <a:r>
                        <a:rPr lang="zh-CN" altLang="en-US" sz="1600" dirty="0">
                          <a:solidFill>
                            <a:srgbClr val="08090C"/>
                          </a:solidFill>
                          <a:uFillTx/>
                          <a:latin typeface="Times New Roman" panose="02020603050405020304" charset="0"/>
                          <a:ea typeface="宋体" panose="02010600030101010101" pitchFamily="2" charset="-122"/>
                          <a:cs typeface="宋体" panose="02010600030101010101" pitchFamily="2" charset="-122"/>
                        </a:rPr>
                        <a:t> </a:t>
                      </a:r>
                    </a:p>
                    <a:p>
                      <a:pPr algn="l">
                        <a:buClrTx/>
                        <a:buSzTx/>
                        <a:buFontTx/>
                      </a:pPr>
                      <a:r>
                        <a:rPr lang="zh-CN" altLang="en-US" sz="1600" dirty="0">
                          <a:solidFill>
                            <a:srgbClr val="08090C"/>
                          </a:solidFill>
                          <a:uFillTx/>
                          <a:latin typeface="Times New Roman" panose="02020603050405020304" charset="0"/>
                          <a:ea typeface="宋体" panose="02010600030101010101" pitchFamily="2" charset="-122"/>
                          <a:cs typeface="宋体" panose="02010600030101010101" pitchFamily="2" charset="-122"/>
                        </a:rPr>
                        <a:t>使用稳定叶立德（</a:t>
                      </a:r>
                      <a:r>
                        <a:rPr lang="en-US" altLang="zh-CN" sz="1600" dirty="0">
                          <a:solidFill>
                            <a:srgbClr val="08090C"/>
                          </a:solidFill>
                          <a:uFillTx/>
                          <a:latin typeface="Times New Roman" panose="02020603050405020304" charset="0"/>
                          <a:ea typeface="宋体" panose="02010600030101010101" pitchFamily="2" charset="-122"/>
                          <a:cs typeface="宋体" panose="02010600030101010101" pitchFamily="2" charset="-122"/>
                        </a:rPr>
                        <a:t>Ph₃P=）</a:t>
                      </a:r>
                      <a:r>
                        <a:rPr lang="zh-CN" altLang="en-US" sz="1600" dirty="0">
                          <a:solidFill>
                            <a:srgbClr val="08090C"/>
                          </a:solidFill>
                          <a:uFillTx/>
                          <a:latin typeface="Times New Roman" panose="02020603050405020304" charset="0"/>
                          <a:ea typeface="宋体" panose="02010600030101010101" pitchFamily="2" charset="-122"/>
                          <a:cs typeface="宋体" panose="02010600030101010101" pitchFamily="2" charset="-122"/>
                        </a:rPr>
                        <a:t>在甲苯中回流，热力学控制生成反式（</a:t>
                      </a:r>
                      <a:r>
                        <a:rPr lang="en-US" altLang="zh-CN" sz="1600" i="1" dirty="0">
                          <a:solidFill>
                            <a:srgbClr val="08090C"/>
                          </a:solidFill>
                          <a:uFillTx/>
                          <a:latin typeface="Times New Roman" panose="02020603050405020304" charset="0"/>
                          <a:ea typeface="宋体" panose="02010600030101010101" pitchFamily="2" charset="-122"/>
                          <a:cs typeface="宋体" panose="02010600030101010101" pitchFamily="2" charset="-122"/>
                        </a:rPr>
                        <a:t>E</a:t>
                      </a:r>
                      <a:r>
                        <a:rPr lang="en-US" altLang="zh-CN" sz="1600" dirty="0">
                          <a:solidFill>
                            <a:srgbClr val="08090C"/>
                          </a:solidFill>
                          <a:uFillTx/>
                          <a:latin typeface="Times New Roman" panose="02020603050405020304" charset="0"/>
                          <a:ea typeface="宋体" panose="02010600030101010101" pitchFamily="2" charset="-122"/>
                          <a:cs typeface="宋体" panose="02010600030101010101" pitchFamily="2" charset="-122"/>
                        </a:rPr>
                        <a:t>）</a:t>
                      </a:r>
                      <a:r>
                        <a:rPr lang="zh-CN" altLang="en-US" sz="1600" dirty="0">
                          <a:solidFill>
                            <a:srgbClr val="08090C"/>
                          </a:solidFill>
                          <a:uFillTx/>
                          <a:latin typeface="Times New Roman" panose="02020603050405020304" charset="0"/>
                          <a:ea typeface="宋体" panose="02010600030101010101" pitchFamily="2" charset="-122"/>
                          <a:cs typeface="宋体" panose="02010600030101010101" pitchFamily="2" charset="-122"/>
                        </a:rPr>
                        <a:t>异构体；避免强碱条件</a:t>
                      </a:r>
                    </a:p>
                    <a:p>
                      <a:pPr algn="l">
                        <a:buClrTx/>
                        <a:buSzTx/>
                        <a:buFontTx/>
                      </a:pPr>
                      <a:endParaRPr lang="zh-CN" altLang="en-US" sz="1600" dirty="0">
                        <a:solidFill>
                          <a:srgbClr val="08090C"/>
                        </a:solidFill>
                        <a:uFillTx/>
                        <a:latin typeface="Times New Roman" panose="02020603050405020304" charset="0"/>
                        <a:ea typeface="宋体" panose="02010600030101010101" pitchFamily="2" charset="-122"/>
                        <a:cs typeface="宋体" panose="02010600030101010101" pitchFamily="2" charset="-122"/>
                      </a:endParaRPr>
                    </a:p>
                  </a:txBody>
                  <a:tcPr marL="51117" marR="51117" marT="51117" marB="51117" anchor="ctr"/>
                </a:tc>
                <a:extLst>
                  <a:ext uri="{0D108BD9-81ED-4DB2-BD59-A6C34878D82A}">
                    <a16:rowId xmlns:a16="http://schemas.microsoft.com/office/drawing/2014/main" val="10001"/>
                  </a:ext>
                </a:extLst>
              </a:tr>
              <a:tr h="982980">
                <a:tc>
                  <a:txBody>
                    <a:bodyPr/>
                    <a:lstStyle/>
                    <a:p>
                      <a:pPr algn="ctr">
                        <a:buClrTx/>
                        <a:buSzTx/>
                        <a:buFontTx/>
                        <a:buNone/>
                      </a:pPr>
                      <a:endParaRPr lang="zh-CN" altLang="en-US" sz="1600">
                        <a:solidFill>
                          <a:srgbClr val="08090C"/>
                        </a:solidFill>
                        <a:uFillTx/>
                        <a:latin typeface="Times New Roman" panose="02020603050405020304" charset="0"/>
                        <a:ea typeface="宋体" panose="02010600030101010101" pitchFamily="2" charset="-122"/>
                      </a:endParaRPr>
                    </a:p>
                    <a:p>
                      <a:pPr algn="ctr">
                        <a:buClrTx/>
                        <a:buSzTx/>
                        <a:buFontTx/>
                        <a:buNone/>
                      </a:pPr>
                      <a:r>
                        <a:rPr lang="zh-CN" altLang="en-US" sz="1600">
                          <a:solidFill>
                            <a:srgbClr val="08090C"/>
                          </a:solidFill>
                          <a:uFillTx/>
                          <a:latin typeface="Times New Roman" panose="02020603050405020304" charset="0"/>
                          <a:ea typeface="宋体" panose="02010600030101010101" pitchFamily="2" charset="-122"/>
                        </a:rPr>
                        <a:t>2</a:t>
                      </a:r>
                    </a:p>
                  </a:txBody>
                  <a:tcPr/>
                </a:tc>
                <a:tc>
                  <a:txBody>
                    <a:bodyPr/>
                    <a:lstStyle/>
                    <a:p>
                      <a:pPr algn="l">
                        <a:buClrTx/>
                        <a:buSzTx/>
                        <a:buFontTx/>
                      </a:pPr>
                      <a:r>
                        <a:rPr lang="zh-CN" altLang="en-US" sz="1600">
                          <a:solidFill>
                            <a:srgbClr val="08090C"/>
                          </a:solidFill>
                          <a:uFillTx/>
                          <a:latin typeface="Times New Roman" panose="02020603050405020304" charset="0"/>
                          <a:ea typeface="宋体" panose="02010600030101010101" pitchFamily="2" charset="-122"/>
                          <a:cs typeface="宋体" panose="02010600030101010101" pitchFamily="2" charset="-122"/>
                        </a:rPr>
                        <a:t>侧链</a:t>
                      </a:r>
                      <a:r>
                        <a:rPr lang="en-US" altLang="zh-CN" sz="1600">
                          <a:solidFill>
                            <a:srgbClr val="08090C"/>
                          </a:solidFill>
                          <a:uFillTx/>
                          <a:latin typeface="Times New Roman" panose="02020603050405020304" charset="0"/>
                          <a:ea typeface="宋体" panose="02010600030101010101" pitchFamily="2" charset="-122"/>
                          <a:cs typeface="宋体" panose="02010600030101010101" pitchFamily="2" charset="-122"/>
                        </a:rPr>
                        <a:t>TBS</a:t>
                      </a:r>
                      <a:r>
                        <a:rPr lang="zh-CN" altLang="en-US" sz="1600">
                          <a:solidFill>
                            <a:srgbClr val="08090C"/>
                          </a:solidFill>
                          <a:uFillTx/>
                          <a:latin typeface="Times New Roman" panose="02020603050405020304" charset="0"/>
                          <a:ea typeface="宋体" panose="02010600030101010101" pitchFamily="2" charset="-122"/>
                          <a:cs typeface="宋体" panose="02010600030101010101" pitchFamily="2" charset="-122"/>
                        </a:rPr>
                        <a:t>保护/脱保护繁琐</a:t>
                      </a:r>
                    </a:p>
                    <a:p>
                      <a:pPr algn="l">
                        <a:buClrTx/>
                        <a:buSzTx/>
                        <a:buFontTx/>
                      </a:pPr>
                      <a:endParaRPr lang="zh-CN" altLang="en-US" sz="1600">
                        <a:solidFill>
                          <a:srgbClr val="08090C"/>
                        </a:solidFill>
                        <a:uFillTx/>
                        <a:latin typeface="Times New Roman" panose="02020603050405020304" charset="0"/>
                        <a:ea typeface="宋体" panose="02010600030101010101" pitchFamily="2" charset="-122"/>
                        <a:cs typeface="宋体" panose="02010600030101010101" pitchFamily="2" charset="-122"/>
                      </a:endParaRPr>
                    </a:p>
                  </a:txBody>
                  <a:tcPr marL="51117" marR="51117" marT="51117" marB="51117" anchor="ctr"/>
                </a:tc>
                <a:tc>
                  <a:txBody>
                    <a:bodyPr/>
                    <a:lstStyle/>
                    <a:p>
                      <a:pPr algn="l">
                        <a:buClrTx/>
                        <a:buSzTx/>
                        <a:buFontTx/>
                      </a:pPr>
                      <a:r>
                        <a:rPr lang="en-US" altLang="zh-CN" sz="1600">
                          <a:solidFill>
                            <a:srgbClr val="08090C"/>
                          </a:solidFill>
                          <a:uFillTx/>
                          <a:latin typeface="Times New Roman" panose="02020603050405020304" charset="0"/>
                          <a:ea typeface="宋体" panose="02010600030101010101" pitchFamily="2" charset="-122"/>
                          <a:cs typeface="宋体" panose="02010600030101010101" pitchFamily="2" charset="-122"/>
                        </a:rPr>
                        <a:t> </a:t>
                      </a:r>
                      <a:r>
                        <a:rPr lang="zh-CN" altLang="en-US" sz="1600">
                          <a:solidFill>
                            <a:srgbClr val="08090C"/>
                          </a:solidFill>
                          <a:uFillTx/>
                          <a:latin typeface="Times New Roman" panose="02020603050405020304" charset="0"/>
                          <a:ea typeface="宋体" panose="02010600030101010101" pitchFamily="2" charset="-122"/>
                          <a:cs typeface="宋体" panose="02010600030101010101" pitchFamily="2" charset="-122"/>
                        </a:rPr>
                        <a:t>探索一锅法：</a:t>
                      </a:r>
                      <a:r>
                        <a:rPr lang="en-US" altLang="zh-CN" sz="1600">
                          <a:solidFill>
                            <a:srgbClr val="08090C"/>
                          </a:solidFill>
                          <a:uFillTx/>
                          <a:latin typeface="Times New Roman" panose="02020603050405020304" charset="0"/>
                          <a:ea typeface="宋体" panose="02010600030101010101" pitchFamily="2" charset="-122"/>
                          <a:cs typeface="宋体" panose="02010600030101010101" pitchFamily="2" charset="-122"/>
                        </a:rPr>
                        <a:t>Wittig</a:t>
                      </a:r>
                      <a:r>
                        <a:rPr lang="zh-CN" altLang="en-US" sz="1600">
                          <a:solidFill>
                            <a:srgbClr val="08090C"/>
                          </a:solidFill>
                          <a:uFillTx/>
                          <a:latin typeface="Times New Roman" panose="02020603050405020304" charset="0"/>
                          <a:ea typeface="宋体" panose="02010600030101010101" pitchFamily="2" charset="-122"/>
                          <a:cs typeface="宋体" panose="02010600030101010101" pitchFamily="2" charset="-122"/>
                        </a:rPr>
                        <a:t>反应后直接脱保护而不分离</a:t>
                      </a:r>
                      <a:r>
                        <a:rPr lang="en-US" altLang="zh-CN" sz="1600">
                          <a:solidFill>
                            <a:srgbClr val="08090C"/>
                          </a:solidFill>
                          <a:uFillTx/>
                          <a:latin typeface="Times New Roman" panose="02020603050405020304" charset="0"/>
                          <a:ea typeface="宋体" panose="02010600030101010101" pitchFamily="2" charset="-122"/>
                          <a:cs typeface="宋体" panose="02010600030101010101" pitchFamily="2" charset="-122"/>
                        </a:rPr>
                        <a:t>TBS</a:t>
                      </a:r>
                      <a:r>
                        <a:rPr lang="zh-CN" altLang="en-US" sz="1600">
                          <a:solidFill>
                            <a:srgbClr val="08090C"/>
                          </a:solidFill>
                          <a:uFillTx/>
                          <a:latin typeface="Times New Roman" panose="02020603050405020304" charset="0"/>
                          <a:ea typeface="宋体" panose="02010600030101010101" pitchFamily="2" charset="-122"/>
                          <a:cs typeface="宋体" panose="02010600030101010101" pitchFamily="2" charset="-122"/>
                        </a:rPr>
                        <a:t>中间体；或改用更易脱除的保护基（如乙酰基）</a:t>
                      </a:r>
                    </a:p>
                    <a:p>
                      <a:pPr algn="l">
                        <a:buClrTx/>
                        <a:buSzTx/>
                        <a:buFontTx/>
                      </a:pPr>
                      <a:endParaRPr lang="zh-CN" altLang="en-US" sz="1600">
                        <a:solidFill>
                          <a:srgbClr val="08090C"/>
                        </a:solidFill>
                        <a:uFillTx/>
                        <a:latin typeface="Times New Roman" panose="02020603050405020304" charset="0"/>
                        <a:ea typeface="宋体" panose="02010600030101010101" pitchFamily="2" charset="-122"/>
                        <a:cs typeface="宋体" panose="02010600030101010101" pitchFamily="2" charset="-122"/>
                      </a:endParaRPr>
                    </a:p>
                  </a:txBody>
                  <a:tcPr marL="51117" marR="51117" marT="51117" marB="51117" anchor="ctr"/>
                </a:tc>
                <a:extLst>
                  <a:ext uri="{0D108BD9-81ED-4DB2-BD59-A6C34878D82A}">
                    <a16:rowId xmlns:a16="http://schemas.microsoft.com/office/drawing/2014/main" val="10002"/>
                  </a:ext>
                </a:extLst>
              </a:tr>
              <a:tr h="1390650">
                <a:tc>
                  <a:txBody>
                    <a:bodyPr/>
                    <a:lstStyle/>
                    <a:p>
                      <a:pPr algn="ctr">
                        <a:buClrTx/>
                        <a:buSzTx/>
                        <a:buFontTx/>
                        <a:buNone/>
                      </a:pPr>
                      <a:endParaRPr lang="en-US" altLang="zh-CN" sz="1600">
                        <a:solidFill>
                          <a:srgbClr val="08090C"/>
                        </a:solidFill>
                        <a:uFillTx/>
                        <a:latin typeface="Times New Roman" panose="02020603050405020304" charset="0"/>
                        <a:ea typeface="宋体" panose="02010600030101010101" pitchFamily="2" charset="-122"/>
                      </a:endParaRPr>
                    </a:p>
                    <a:p>
                      <a:pPr algn="ctr">
                        <a:buClrTx/>
                        <a:buSzTx/>
                        <a:buFontTx/>
                        <a:buNone/>
                      </a:pPr>
                      <a:endParaRPr lang="en-US" altLang="zh-CN" sz="1600">
                        <a:solidFill>
                          <a:srgbClr val="08090C"/>
                        </a:solidFill>
                        <a:uFillTx/>
                        <a:latin typeface="Times New Roman" panose="02020603050405020304" charset="0"/>
                        <a:ea typeface="宋体" panose="02010600030101010101" pitchFamily="2" charset="-122"/>
                      </a:endParaRPr>
                    </a:p>
                    <a:p>
                      <a:pPr algn="ctr">
                        <a:buClrTx/>
                        <a:buSzTx/>
                        <a:buFontTx/>
                        <a:buNone/>
                      </a:pPr>
                      <a:r>
                        <a:rPr lang="en-US" altLang="zh-CN" sz="1600">
                          <a:solidFill>
                            <a:srgbClr val="08090C"/>
                          </a:solidFill>
                          <a:uFillTx/>
                          <a:latin typeface="Times New Roman" panose="02020603050405020304" charset="0"/>
                          <a:ea typeface="宋体" panose="02010600030101010101" pitchFamily="2" charset="-122"/>
                        </a:rPr>
                        <a:t>3</a:t>
                      </a:r>
                    </a:p>
                    <a:p>
                      <a:pPr algn="ctr">
                        <a:buClrTx/>
                        <a:buSzTx/>
                        <a:buFontTx/>
                        <a:buNone/>
                      </a:pPr>
                      <a:endParaRPr lang="en-US" altLang="zh-CN" sz="1600">
                        <a:solidFill>
                          <a:srgbClr val="08090C"/>
                        </a:solidFill>
                        <a:uFillTx/>
                        <a:latin typeface="Times New Roman" panose="02020603050405020304" charset="0"/>
                        <a:ea typeface="宋体" panose="02010600030101010101" pitchFamily="2" charset="-122"/>
                      </a:endParaRPr>
                    </a:p>
                  </a:txBody>
                  <a:tcPr/>
                </a:tc>
                <a:tc>
                  <a:txBody>
                    <a:bodyPr/>
                    <a:lstStyle/>
                    <a:p>
                      <a:pPr algn="l">
                        <a:buClrTx/>
                        <a:buSzTx/>
                        <a:buFontTx/>
                        <a:buNone/>
                      </a:pPr>
                      <a:r>
                        <a:rPr lang="zh-CN" altLang="en-US" sz="1600">
                          <a:solidFill>
                            <a:srgbClr val="08090C"/>
                          </a:solidFill>
                          <a:uFillTx/>
                          <a:latin typeface="Times New Roman" panose="02020603050405020304" charset="0"/>
                          <a:ea typeface="宋体" panose="02010600030101010101" pitchFamily="2" charset="-122"/>
                        </a:rPr>
                        <a:t>嘧啶醛的合成收率不稳定</a:t>
                      </a:r>
                    </a:p>
                  </a:txBody>
                  <a:tcPr marL="51117" marR="51117" marT="51117" marB="51117" anchor="ctr"/>
                </a:tc>
                <a:tc>
                  <a:txBody>
                    <a:bodyPr/>
                    <a:lstStyle/>
                    <a:p>
                      <a:pPr algn="l">
                        <a:buClrTx/>
                        <a:buSzTx/>
                        <a:buFontTx/>
                        <a:buNone/>
                      </a:pPr>
                      <a:r>
                        <a:rPr lang="en-US" altLang="zh-CN" sz="1600" dirty="0">
                          <a:solidFill>
                            <a:srgbClr val="08090C"/>
                          </a:solidFill>
                          <a:uFillTx/>
                          <a:latin typeface="Times New Roman" panose="02020603050405020304" charset="0"/>
                          <a:ea typeface="宋体" panose="02010600030101010101" pitchFamily="2" charset="-122"/>
                          <a:cs typeface="宋体" panose="02010600030101010101" pitchFamily="2" charset="-122"/>
                        </a:rPr>
                        <a:t>TPAP/NMO</a:t>
                      </a:r>
                      <a:r>
                        <a:rPr lang="zh-CN" altLang="en-US" sz="1600" dirty="0">
                          <a:solidFill>
                            <a:srgbClr val="08090C"/>
                          </a:solidFill>
                          <a:uFillTx/>
                          <a:latin typeface="Times New Roman" panose="02020603050405020304" charset="0"/>
                          <a:ea typeface="宋体" panose="02010600030101010101" pitchFamily="2" charset="-122"/>
                          <a:cs typeface="宋体" panose="02010600030101010101" pitchFamily="2" charset="-122"/>
                        </a:rPr>
                        <a:t>较</a:t>
                      </a:r>
                      <a:r>
                        <a:rPr lang="en-US" altLang="zh-CN" sz="1600" dirty="0">
                          <a:solidFill>
                            <a:srgbClr val="08090C"/>
                          </a:solidFill>
                          <a:uFillTx/>
                          <a:latin typeface="Times New Roman" panose="02020603050405020304" charset="0"/>
                          <a:ea typeface="宋体" panose="02010600030101010101" pitchFamily="2" charset="-122"/>
                          <a:cs typeface="宋体" panose="02010600030101010101" pitchFamily="2" charset="-122"/>
                        </a:rPr>
                        <a:t>MnO₂</a:t>
                      </a:r>
                      <a:r>
                        <a:rPr lang="zh-CN" altLang="en-US" sz="1600" dirty="0">
                          <a:solidFill>
                            <a:srgbClr val="08090C"/>
                          </a:solidFill>
                          <a:uFillTx/>
                          <a:latin typeface="Times New Roman" panose="02020603050405020304" charset="0"/>
                          <a:ea typeface="宋体" panose="02010600030101010101" pitchFamily="2" charset="-122"/>
                          <a:cs typeface="宋体" panose="02010600030101010101" pitchFamily="2" charset="-122"/>
                        </a:rPr>
                        <a:t>更温和、易过滤，适合放大；可优化为催化量</a:t>
                      </a:r>
                      <a:r>
                        <a:rPr lang="en-US" altLang="zh-CN" sz="1600" dirty="0">
                          <a:solidFill>
                            <a:srgbClr val="08090C"/>
                          </a:solidFill>
                          <a:uFillTx/>
                          <a:latin typeface="Times New Roman" panose="02020603050405020304" charset="0"/>
                          <a:ea typeface="宋体" panose="02010600030101010101" pitchFamily="2" charset="-122"/>
                          <a:cs typeface="宋体" panose="02010600030101010101" pitchFamily="2" charset="-122"/>
                        </a:rPr>
                        <a:t>TPAP + </a:t>
                      </a:r>
                      <a:r>
                        <a:rPr lang="zh-CN" altLang="en-US" sz="1600" dirty="0">
                          <a:solidFill>
                            <a:srgbClr val="08090C"/>
                          </a:solidFill>
                          <a:uFillTx/>
                          <a:latin typeface="Times New Roman" panose="02020603050405020304" charset="0"/>
                          <a:ea typeface="宋体" panose="02010600030101010101" pitchFamily="2" charset="-122"/>
                          <a:cs typeface="宋体" panose="02010600030101010101" pitchFamily="2" charset="-122"/>
                        </a:rPr>
                        <a:t>共氧化剂</a:t>
                      </a:r>
                    </a:p>
                  </a:txBody>
                  <a:tcPr marL="51117" marR="51117" marT="51117" marB="51117" anchor="ctr"/>
                </a:tc>
                <a:extLst>
                  <a:ext uri="{0D108BD9-81ED-4DB2-BD59-A6C34878D82A}">
                    <a16:rowId xmlns:a16="http://schemas.microsoft.com/office/drawing/2014/main" val="10003"/>
                  </a:ext>
                </a:extLst>
              </a:tr>
            </a:tbl>
          </a:graphicData>
        </a:graphic>
      </p:graphicFrame>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custDataLst>
              <p:tags r:id="rId3"/>
            </p:custDataLst>
          </p:nvPr>
        </p:nvSpPr>
        <p:spPr>
          <a:xfrm>
            <a:off x="4291492" y="413964"/>
            <a:ext cx="3962400" cy="70548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sz="2400" b="1" dirty="0">
                <a:solidFill>
                  <a:schemeClr val="accent1">
                    <a:lumMod val="50000"/>
                  </a:schemeClr>
                </a:solidFill>
                <a:sym typeface="+mn-ea"/>
              </a:rPr>
              <a:t>匹伐他汀的市场价值</a:t>
            </a:r>
            <a:endParaRPr lang="zh-CN" altLang="en-US" sz="2400" b="1" dirty="0">
              <a:solidFill>
                <a:schemeClr val="accent1">
                  <a:lumMod val="50000"/>
                </a:schemeClr>
              </a:solidFill>
              <a:latin typeface="宋体" panose="02010600030101010101" pitchFamily="2" charset="-122"/>
              <a:ea typeface="宋体" panose="02010600030101010101" pitchFamily="2" charset="-122"/>
              <a:sym typeface="+mn-ea"/>
            </a:endParaRPr>
          </a:p>
        </p:txBody>
      </p:sp>
      <p:sp>
        <p:nvSpPr>
          <p:cNvPr id="5" name="内容占位符 2"/>
          <p:cNvSpPr txBox="1"/>
          <p:nvPr>
            <p:custDataLst>
              <p:tags r:id="rId4"/>
            </p:custDataLst>
          </p:nvPr>
        </p:nvSpPr>
        <p:spPr>
          <a:xfrm>
            <a:off x="4741939" y="4828019"/>
            <a:ext cx="6944360" cy="840105"/>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buFontTx/>
              <a:buNone/>
            </a:pPr>
            <a:r>
              <a:rPr lang="en-US" altLang="zh-CN" sz="1600" dirty="0">
                <a:latin typeface="微软雅黑" panose="020B0503020204020204" charset="-122"/>
                <a:ea typeface="微软雅黑" panose="020B0503020204020204" charset="-122"/>
                <a:cs typeface="微软雅黑" panose="020B0503020204020204" charset="-122"/>
                <a:sym typeface="+mn-ea"/>
              </a:rPr>
              <a:t>1. </a:t>
            </a:r>
            <a:r>
              <a:rPr lang="en-US" altLang="zh-CN" sz="1600" dirty="0" err="1">
                <a:latin typeface="微软雅黑" panose="020B0503020204020204" charset="-122"/>
                <a:ea typeface="微软雅黑" panose="020B0503020204020204" charset="-122"/>
                <a:cs typeface="微软雅黑" panose="020B0503020204020204" charset="-122"/>
              </a:rPr>
              <a:t>工业级价格</a:t>
            </a:r>
            <a:r>
              <a:rPr lang="en-US" altLang="zh-CN" sz="1600" dirty="0">
                <a:latin typeface="微软雅黑" panose="020B0503020204020204" charset="-122"/>
                <a:ea typeface="微软雅黑" panose="020B0503020204020204" charset="-122"/>
                <a:cs typeface="微软雅黑" panose="020B0503020204020204" charset="-122"/>
              </a:rPr>
              <a:t> </a:t>
            </a:r>
            <a:r>
              <a:rPr lang="zh-CN" altLang="en-US" sz="1600" dirty="0">
                <a:latin typeface="微软雅黑" panose="020B0503020204020204" charset="-122"/>
                <a:ea typeface="微软雅黑" panose="020B0503020204020204" charset="-122"/>
                <a:cs typeface="微软雅黑" panose="020B0503020204020204" charset="-122"/>
              </a:rPr>
              <a:t>：1.3 万-1.8 万元/千克，批量采购价约1.5 万元/千克。</a:t>
            </a:r>
          </a:p>
          <a:p>
            <a:pPr algn="l">
              <a:lnSpc>
                <a:spcPct val="100000"/>
              </a:lnSpc>
              <a:buFontTx/>
              <a:buNone/>
            </a:pPr>
            <a:r>
              <a:rPr lang="en-US" altLang="zh-CN" sz="1600" dirty="0">
                <a:latin typeface="微软雅黑" panose="020B0503020204020204" charset="-122"/>
                <a:ea typeface="微软雅黑" panose="020B0503020204020204" charset="-122"/>
                <a:cs typeface="微软雅黑" panose="020B0503020204020204" charset="-122"/>
              </a:rPr>
              <a:t>2. 科研级价格：</a:t>
            </a:r>
            <a:r>
              <a:rPr lang="zh-CN" altLang="en-US" sz="1600" dirty="0">
                <a:latin typeface="微软雅黑" panose="020B0503020204020204" charset="-122"/>
                <a:ea typeface="微软雅黑" panose="020B0503020204020204" charset="-122"/>
                <a:cs typeface="微软雅黑" panose="020B0503020204020204" charset="-122"/>
              </a:rPr>
              <a:t>15,000 - 30,000 元/</a:t>
            </a:r>
            <a:r>
              <a:rPr lang="en-US" altLang="zh-CN" sz="1600" dirty="0">
                <a:latin typeface="微软雅黑" panose="020B0503020204020204" charset="-122"/>
                <a:ea typeface="微软雅黑" panose="020B0503020204020204" charset="-122"/>
                <a:cs typeface="微软雅黑" panose="020B0503020204020204" charset="-122"/>
              </a:rPr>
              <a:t>kg</a:t>
            </a:r>
          </a:p>
        </p:txBody>
      </p:sp>
      <p:sp>
        <p:nvSpPr>
          <p:cNvPr id="7" name="文本框 6"/>
          <p:cNvSpPr txBox="1"/>
          <p:nvPr/>
        </p:nvSpPr>
        <p:spPr>
          <a:xfrm>
            <a:off x="4803098" y="4156486"/>
            <a:ext cx="2679700" cy="460375"/>
          </a:xfrm>
          <a:prstGeom prst="rect">
            <a:avLst/>
          </a:prstGeom>
          <a:noFill/>
        </p:spPr>
        <p:txBody>
          <a:bodyPr wrap="square" rtlCol="0" anchor="t">
            <a:spAutoFit/>
          </a:bodyPr>
          <a:lstStyle/>
          <a:p>
            <a:pPr algn="l">
              <a:buClrTx/>
              <a:buSzTx/>
              <a:buFontTx/>
            </a:pPr>
            <a:r>
              <a:rPr lang="zh-CN" altLang="en-US" sz="2400" b="1" spc="300" dirty="0">
                <a:solidFill>
                  <a:schemeClr val="accent1">
                    <a:lumMod val="50000"/>
                  </a:schemeClr>
                </a:solidFill>
                <a:uFillTx/>
                <a:latin typeface="+mj-lt"/>
                <a:ea typeface="+mj-ea"/>
                <a:cs typeface="+mj-cs"/>
                <a:sym typeface="+mn-ea"/>
              </a:rPr>
              <a:t>原料药的价格</a:t>
            </a:r>
          </a:p>
        </p:txBody>
      </p:sp>
      <p:sp>
        <p:nvSpPr>
          <p:cNvPr id="8" name="文本框 7"/>
          <p:cNvSpPr txBox="1"/>
          <p:nvPr/>
        </p:nvSpPr>
        <p:spPr>
          <a:xfrm>
            <a:off x="4748673" y="1332249"/>
            <a:ext cx="5336634" cy="2264485"/>
          </a:xfrm>
          <a:prstGeom prst="rect">
            <a:avLst/>
          </a:prstGeom>
          <a:noFill/>
        </p:spPr>
        <p:txBody>
          <a:bodyPr wrap="square" rtlCol="0">
            <a:noAutofit/>
          </a:bodyPr>
          <a:lstStyle/>
          <a:p>
            <a:pPr algn="just">
              <a:lnSpc>
                <a:spcPct val="150000"/>
              </a:lnSpc>
              <a:spcBef>
                <a:spcPts val="0"/>
              </a:spcBef>
              <a:spcAft>
                <a:spcPts val="1000"/>
              </a:spcAft>
              <a:buClrTx/>
              <a:buSzTx/>
              <a:buNone/>
            </a:pPr>
            <a:r>
              <a:rPr lang="en-US" altLang="zh-CN" sz="1600" spc="150" dirty="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rPr>
              <a:t>    </a:t>
            </a:r>
            <a:r>
              <a:rPr lang="zh-CN" altLang="en-US" sz="1600" spc="150" dirty="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rPr>
              <a:t>匹伐他汀全球制剂市场2024年约12亿美元，原料药市场约3-4亿美元规模。中国</a:t>
            </a:r>
            <a:r>
              <a:rPr lang="en-US" altLang="zh-CN" sz="1600" spc="150" dirty="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rPr>
              <a:t>API</a:t>
            </a:r>
            <a:r>
              <a:rPr lang="zh-CN" altLang="en-US" sz="1600" spc="150" dirty="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rPr>
              <a:t>价格受集采影响呈下降趋势，估计当前在5,000-8,000元/</a:t>
            </a:r>
            <a:r>
              <a:rPr lang="en-US" altLang="zh-CN" sz="1600" spc="150" dirty="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rPr>
              <a:t>kg</a:t>
            </a:r>
            <a:r>
              <a:rPr lang="zh-CN" altLang="en-US" sz="1600" spc="150" dirty="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rPr>
              <a:t>区间。未来增长主要取决于亚太市场需求扩张及仿制药替代进程。</a:t>
            </a:r>
          </a:p>
        </p:txBody>
      </p:sp>
      <p:graphicFrame>
        <p:nvGraphicFramePr>
          <p:cNvPr id="2" name="对象 1"/>
          <p:cNvGraphicFramePr>
            <a:graphicFrameLocks noChangeAspect="1"/>
          </p:cNvGraphicFramePr>
          <p:nvPr/>
        </p:nvGraphicFramePr>
        <p:xfrm>
          <a:off x="1492456" y="2179899"/>
          <a:ext cx="2308174" cy="2498400"/>
        </p:xfrm>
        <a:graphic>
          <a:graphicData uri="http://schemas.openxmlformats.org/presentationml/2006/ole">
            <mc:AlternateContent xmlns:mc="http://schemas.openxmlformats.org/markup-compatibility/2006">
              <mc:Choice xmlns:v="urn:schemas-microsoft-com:vml" Requires="v">
                <p:oleObj spid="_x0000_s27662" name="CS ChemDraw Drawing" r:id="rId6" imgW="1584325" imgH="1712595" progId="ChemDraw.Document.6.0">
                  <p:embed/>
                </p:oleObj>
              </mc:Choice>
              <mc:Fallback>
                <p:oleObj name="CS ChemDraw Drawing" r:id="rId6" imgW="1584325" imgH="1712595" progId="ChemDraw.Document.6.0">
                  <p:embed/>
                  <p:pic>
                    <p:nvPicPr>
                      <p:cNvPr id="0" name="图片 3073"/>
                      <p:cNvPicPr/>
                      <p:nvPr/>
                    </p:nvPicPr>
                    <p:blipFill>
                      <a:blip r:embed="rId7"/>
                      <a:stretch>
                        <a:fillRect/>
                      </a:stretch>
                    </p:blipFill>
                    <p:spPr>
                      <a:xfrm>
                        <a:off x="1492456" y="2179899"/>
                        <a:ext cx="2308174" cy="2498400"/>
                      </a:xfrm>
                      <a:prstGeom prst="rect">
                        <a:avLst/>
                      </a:prstGeom>
                    </p:spPr>
                  </p:pic>
                </p:oleObj>
              </mc:Fallback>
            </mc:AlternateContent>
          </a:graphicData>
        </a:graphic>
      </p:graphicFrame>
    </p:spTree>
    <p:custDataLst>
      <p:tags r:id="rId2"/>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6316345" y="6489700"/>
            <a:ext cx="5875655" cy="368300"/>
          </a:xfrm>
          <a:prstGeom prst="rect">
            <a:avLst/>
          </a:prstGeom>
          <a:noFill/>
        </p:spPr>
        <p:txBody>
          <a:bodyPr wrap="square" rtlCol="0">
            <a:spAutoFit/>
          </a:bodyPr>
          <a:lstStyle/>
          <a:p>
            <a:r>
              <a:rPr lang="en-US" altLang="zh-CN">
                <a:latin typeface="Times New Roman" panose="02020603050405020304" charset="0"/>
                <a:cs typeface="Times New Roman" panose="02020603050405020304" charset="0"/>
              </a:rPr>
              <a:t>Yusuke Yagi</a:t>
            </a:r>
            <a:r>
              <a:rPr lang="en-US" altLang="zh-CN">
                <a:latin typeface="Times New Roman" panose="02020603050405020304" charset="0"/>
                <a:cs typeface="Times New Roman" panose="02020603050405020304" charset="0"/>
                <a:sym typeface="+mn-ea"/>
              </a:rPr>
              <a:t>, et al., </a:t>
            </a:r>
            <a:r>
              <a:rPr lang="en-US" altLang="zh-CN" i="1">
                <a:latin typeface="Times New Roman" panose="02020603050405020304" charset="0"/>
                <a:cs typeface="Times New Roman" panose="02020603050405020304" charset="0"/>
              </a:rPr>
              <a:t>Org</a:t>
            </a:r>
            <a:r>
              <a:rPr lang="en-US" altLang="zh-CN">
                <a:latin typeface="Times New Roman" panose="02020603050405020304" charset="0"/>
                <a:cs typeface="Times New Roman" panose="02020603050405020304" charset="0"/>
              </a:rPr>
              <a:t>. </a:t>
            </a:r>
            <a:r>
              <a:rPr lang="en-US" altLang="zh-CN" i="1">
                <a:latin typeface="Times New Roman" panose="02020603050405020304" charset="0"/>
                <a:cs typeface="Times New Roman" panose="02020603050405020304" charset="0"/>
              </a:rPr>
              <a:t>Biomol</a:t>
            </a:r>
            <a:r>
              <a:rPr lang="en-US" altLang="zh-CN">
                <a:latin typeface="Times New Roman" panose="02020603050405020304" charset="0"/>
                <a:cs typeface="Times New Roman" panose="02020603050405020304" charset="0"/>
              </a:rPr>
              <a:t>. </a:t>
            </a:r>
            <a:r>
              <a:rPr lang="en-US" altLang="zh-CN" i="1">
                <a:latin typeface="Times New Roman" panose="02020603050405020304" charset="0"/>
                <a:cs typeface="Times New Roman" panose="02020603050405020304" charset="0"/>
              </a:rPr>
              <a:t>Chem</a:t>
            </a:r>
            <a:r>
              <a:rPr lang="en-US" altLang="zh-CN">
                <a:latin typeface="Times New Roman" panose="02020603050405020304" charset="0"/>
                <a:cs typeface="Times New Roman" panose="02020603050405020304" charset="0"/>
              </a:rPr>
              <a:t>., </a:t>
            </a:r>
            <a:r>
              <a:rPr lang="en-US" altLang="zh-CN" b="1">
                <a:latin typeface="Times New Roman" panose="02020603050405020304" charset="0"/>
                <a:cs typeface="Times New Roman" panose="02020603050405020304" charset="0"/>
              </a:rPr>
              <a:t>2015</a:t>
            </a:r>
            <a:r>
              <a:rPr lang="en-US" altLang="zh-CN">
                <a:latin typeface="Times New Roman" panose="02020603050405020304" charset="0"/>
                <a:cs typeface="Times New Roman" panose="02020603050405020304" charset="0"/>
              </a:rPr>
              <a:t>, </a:t>
            </a:r>
            <a:r>
              <a:rPr lang="en-US" altLang="zh-CN" i="1">
                <a:latin typeface="Times New Roman" panose="02020603050405020304" charset="0"/>
                <a:cs typeface="Times New Roman" panose="02020603050405020304" charset="0"/>
              </a:rPr>
              <a:t>13</a:t>
            </a:r>
            <a:r>
              <a:rPr lang="en-US" altLang="zh-CN">
                <a:latin typeface="Times New Roman" panose="02020603050405020304" charset="0"/>
                <a:cs typeface="Times New Roman" panose="02020603050405020304" charset="0"/>
              </a:rPr>
              <a:t>, 1113-1121.</a:t>
            </a:r>
          </a:p>
        </p:txBody>
      </p:sp>
      <p:sp>
        <p:nvSpPr>
          <p:cNvPr id="4" name="标题 3"/>
          <p:cNvSpPr>
            <a:spLocks noGrp="1"/>
          </p:cNvSpPr>
          <p:nvPr>
            <p:ph type="title"/>
            <p:custDataLst>
              <p:tags r:id="rId2"/>
            </p:custDataLst>
          </p:nvPr>
        </p:nvSpPr>
        <p:spPr>
          <a:xfrm>
            <a:off x="70" y="70"/>
            <a:ext cx="10969200" cy="705600"/>
          </a:xfrm>
        </p:spPr>
        <p:txBody>
          <a:bodyPr/>
          <a:lstStyle/>
          <a:p>
            <a:r>
              <a:rPr lang="zh-CN" altLang="en-US" sz="2400" b="1">
                <a:solidFill>
                  <a:schemeClr val="accent1">
                    <a:lumMod val="50000"/>
                  </a:schemeClr>
                </a:solidFill>
              </a:rPr>
              <a:t>匹伐他汀药物合成路线</a:t>
            </a:r>
          </a:p>
        </p:txBody>
      </p:sp>
      <p:graphicFrame>
        <p:nvGraphicFramePr>
          <p:cNvPr id="3" name="内容占位符 2"/>
          <p:cNvGraphicFramePr>
            <a:graphicFrameLocks noGrp="1" noChangeAspect="1"/>
          </p:cNvGraphicFramePr>
          <p:nvPr>
            <p:ph idx="1"/>
          </p:nvPr>
        </p:nvGraphicFramePr>
        <p:xfrm>
          <a:off x="114935" y="803593"/>
          <a:ext cx="11367135" cy="5588000"/>
        </p:xfrm>
        <a:graphic>
          <a:graphicData uri="http://schemas.openxmlformats.org/presentationml/2006/ole">
            <mc:AlternateContent xmlns:mc="http://schemas.openxmlformats.org/markup-compatibility/2006">
              <mc:Choice xmlns:v="urn:schemas-microsoft-com:vml" Requires="v">
                <p:oleObj spid="_x0000_s40968" r:id="rId4" imgW="9839325" imgH="4836160" progId="ChemDraw.Document.6.0">
                  <p:embed/>
                </p:oleObj>
              </mc:Choice>
              <mc:Fallback>
                <p:oleObj r:id="rId4" imgW="9839325" imgH="4836160" progId="ChemDraw.Document.6.0">
                  <p:embed/>
                  <p:pic>
                    <p:nvPicPr>
                      <p:cNvPr id="0" name="图片 6"/>
                      <p:cNvPicPr/>
                      <p:nvPr/>
                    </p:nvPicPr>
                    <p:blipFill>
                      <a:blip r:embed="rId5"/>
                      <a:stretch>
                        <a:fillRect/>
                      </a:stretch>
                    </p:blipFill>
                    <p:spPr>
                      <a:xfrm>
                        <a:off x="114935" y="803593"/>
                        <a:ext cx="11367135" cy="5588000"/>
                      </a:xfrm>
                      <a:prstGeom prst="rect">
                        <a:avLst/>
                      </a:prstGeom>
                    </p:spPr>
                  </p:pic>
                </p:oleObj>
              </mc:Fallback>
            </mc:AlternateContent>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411550" y="313760"/>
            <a:ext cx="10969200" cy="705600"/>
          </a:xfrm>
        </p:spPr>
        <p:txBody>
          <a:bodyPr/>
          <a:lstStyle/>
          <a:p>
            <a:pPr algn="l">
              <a:buClrTx/>
              <a:buSzTx/>
              <a:buFontTx/>
            </a:pPr>
            <a:r>
              <a:rPr lang="zh-CN" altLang="en-US" sz="2400" b="1">
                <a:solidFill>
                  <a:schemeClr val="accent1">
                    <a:lumMod val="50000"/>
                  </a:schemeClr>
                </a:solidFill>
                <a:sym typeface="+mn-ea"/>
              </a:rPr>
              <a:t>匹伐他汀药物</a:t>
            </a:r>
            <a:r>
              <a:rPr lang="zh-CN" altLang="en-US" sz="2400" b="1">
                <a:solidFill>
                  <a:schemeClr val="accent1">
                    <a:lumMod val="50000"/>
                  </a:schemeClr>
                </a:solidFill>
              </a:rPr>
              <a:t>合成路线路线优点、缺点</a:t>
            </a:r>
          </a:p>
        </p:txBody>
      </p:sp>
      <p:graphicFrame>
        <p:nvGraphicFramePr>
          <p:cNvPr id="16" name="表格 15"/>
          <p:cNvGraphicFramePr/>
          <p:nvPr/>
        </p:nvGraphicFramePr>
        <p:xfrm>
          <a:off x="1132205" y="1517650"/>
          <a:ext cx="9982200" cy="4213924"/>
        </p:xfrm>
        <a:graphic>
          <a:graphicData uri="http://schemas.openxmlformats.org/drawingml/2006/table">
            <a:tbl>
              <a:tblPr firstRow="1">
                <a:tableStyleId>{B7BD4722-F1F9-43DE-912B-BC3AB9E171DB}</a:tableStyleId>
              </a:tblPr>
              <a:tblGrid>
                <a:gridCol w="716280">
                  <a:extLst>
                    <a:ext uri="{9D8B030D-6E8A-4147-A177-3AD203B41FA5}">
                      <a16:colId xmlns:a16="http://schemas.microsoft.com/office/drawing/2014/main" val="20000"/>
                    </a:ext>
                  </a:extLst>
                </a:gridCol>
                <a:gridCol w="4889500">
                  <a:extLst>
                    <a:ext uri="{9D8B030D-6E8A-4147-A177-3AD203B41FA5}">
                      <a16:colId xmlns:a16="http://schemas.microsoft.com/office/drawing/2014/main" val="20001"/>
                    </a:ext>
                  </a:extLst>
                </a:gridCol>
                <a:gridCol w="4376420">
                  <a:extLst>
                    <a:ext uri="{9D8B030D-6E8A-4147-A177-3AD203B41FA5}">
                      <a16:colId xmlns:a16="http://schemas.microsoft.com/office/drawing/2014/main" val="20002"/>
                    </a:ext>
                  </a:extLst>
                </a:gridCol>
              </a:tblGrid>
              <a:tr h="477520">
                <a:tc>
                  <a:txBody>
                    <a:bodyPr/>
                    <a:lstStyle/>
                    <a:p>
                      <a:pPr algn="ctr">
                        <a:buNone/>
                      </a:pPr>
                      <a:r>
                        <a:rPr lang="zh-CN" altLang="en-US"/>
                        <a:t>序号</a:t>
                      </a:r>
                    </a:p>
                  </a:txBody>
                  <a:tcPr/>
                </a:tc>
                <a:tc>
                  <a:txBody>
                    <a:bodyPr/>
                    <a:lstStyle/>
                    <a:p>
                      <a:pPr algn="ctr">
                        <a:buNone/>
                      </a:pPr>
                      <a:r>
                        <a:rPr lang="zh-CN" altLang="en-US"/>
                        <a:t>优点</a:t>
                      </a:r>
                    </a:p>
                  </a:txBody>
                  <a:tcPr/>
                </a:tc>
                <a:tc>
                  <a:txBody>
                    <a:bodyPr/>
                    <a:lstStyle/>
                    <a:p>
                      <a:pPr algn="ctr">
                        <a:buClrTx/>
                        <a:buSzTx/>
                        <a:buFontTx/>
                        <a:buNone/>
                      </a:pPr>
                      <a:r>
                        <a:rPr lang="zh-CN" altLang="en-US" sz="1800">
                          <a:sym typeface="+mn-ea"/>
                        </a:rPr>
                        <a:t>缺点</a:t>
                      </a:r>
                      <a:endParaRPr lang="zh-CN" altLang="en-US"/>
                    </a:p>
                  </a:txBody>
                  <a:tcPr/>
                </a:tc>
                <a:extLst>
                  <a:ext uri="{0D108BD9-81ED-4DB2-BD59-A6C34878D82A}">
                    <a16:rowId xmlns:a16="http://schemas.microsoft.com/office/drawing/2014/main" val="10000"/>
                  </a:ext>
                </a:extLst>
              </a:tr>
              <a:tr h="1318895">
                <a:tc>
                  <a:txBody>
                    <a:bodyPr/>
                    <a:lstStyle/>
                    <a:p>
                      <a:pPr algn="ctr">
                        <a:buClrTx/>
                        <a:buSzTx/>
                        <a:buFontTx/>
                        <a:buNone/>
                      </a:pPr>
                      <a:endParaRPr lang="en-US" altLang="zh-CN" sz="1600">
                        <a:latin typeface="Times New Roman" panose="02020603050405020304" charset="0"/>
                        <a:ea typeface="宋体" panose="02010600030101010101" pitchFamily="2" charset="-122"/>
                      </a:endParaRPr>
                    </a:p>
                    <a:p>
                      <a:pPr algn="ctr">
                        <a:buClrTx/>
                        <a:buSzTx/>
                        <a:buFontTx/>
                        <a:buNone/>
                      </a:pPr>
                      <a:endParaRPr lang="en-US" altLang="zh-CN" sz="1600">
                        <a:latin typeface="Times New Roman" panose="02020603050405020304" charset="0"/>
                        <a:ea typeface="宋体" panose="02010600030101010101" pitchFamily="2" charset="-122"/>
                      </a:endParaRPr>
                    </a:p>
                    <a:p>
                      <a:pPr algn="ctr">
                        <a:buClrTx/>
                        <a:buSzTx/>
                        <a:buFontTx/>
                        <a:buNone/>
                      </a:pPr>
                      <a:r>
                        <a:rPr lang="en-US" altLang="zh-CN" sz="1600">
                          <a:latin typeface="Times New Roman" panose="02020603050405020304" charset="0"/>
                          <a:ea typeface="宋体" panose="02010600030101010101" pitchFamily="2" charset="-122"/>
                        </a:rPr>
                        <a:t>1</a:t>
                      </a:r>
                    </a:p>
                  </a:txBody>
                  <a:tcPr/>
                </a:tc>
                <a:tc>
                  <a:txBody>
                    <a:bodyPr/>
                    <a:lstStyle/>
                    <a:p>
                      <a:pPr algn="l">
                        <a:lnSpc>
                          <a:spcPct val="150000"/>
                        </a:lnSpc>
                        <a:buNone/>
                      </a:pPr>
                      <a:r>
                        <a:rPr lang="zh-CN" altLang="en-US" sz="1600" dirty="0">
                          <a:ln>
                            <a:noFill/>
                          </a:ln>
                          <a:solidFill>
                            <a:prstClr val="black"/>
                          </a:solidFill>
                          <a:latin typeface="Times New Roman" panose="02020603050405020304" charset="0"/>
                          <a:ea typeface="宋体" panose="02010600030101010101" pitchFamily="2" charset="-122"/>
                        </a:rPr>
                        <a:t>手性二醇作为核心构建单元：直接利用手性二醇的两个羟基进行保护，无需环氧开环步骤，简化了手性中心的引入方式</a:t>
                      </a:r>
                    </a:p>
                  </a:txBody>
                  <a:tcPr/>
                </a:tc>
                <a:tc>
                  <a:txBody>
                    <a:bodyPr/>
                    <a:lstStyle/>
                    <a:p>
                      <a:pPr algn="l">
                        <a:lnSpc>
                          <a:spcPct val="150000"/>
                        </a:lnSpc>
                        <a:buClrTx/>
                        <a:buSzTx/>
                        <a:buFontTx/>
                        <a:buNone/>
                      </a:pPr>
                      <a:r>
                        <a:rPr lang="zh-CN" altLang="en-US" sz="1600">
                          <a:ln>
                            <a:noFill/>
                          </a:ln>
                          <a:solidFill>
                            <a:prstClr val="black"/>
                          </a:solidFill>
                          <a:latin typeface="Times New Roman" panose="02020603050405020304" charset="0"/>
                          <a:ea typeface="宋体" panose="02010600030101010101" pitchFamily="2" charset="-122"/>
                        </a:rPr>
                        <a:t>路线中需要两次引入和脱除</a:t>
                      </a:r>
                      <a:r>
                        <a:rPr lang="en-US" altLang="zh-CN" sz="1600">
                          <a:ln>
                            <a:noFill/>
                          </a:ln>
                          <a:solidFill>
                            <a:prstClr val="black"/>
                          </a:solidFill>
                          <a:latin typeface="Times New Roman" panose="02020603050405020304" charset="0"/>
                          <a:ea typeface="宋体" panose="02010600030101010101" pitchFamily="2" charset="-122"/>
                        </a:rPr>
                        <a:t>TBS</a:t>
                      </a:r>
                      <a:r>
                        <a:rPr lang="zh-CN" altLang="en-US" sz="1600">
                          <a:ln>
                            <a:noFill/>
                          </a:ln>
                          <a:solidFill>
                            <a:prstClr val="black"/>
                          </a:solidFill>
                          <a:latin typeface="Times New Roman" panose="02020603050405020304" charset="0"/>
                          <a:ea typeface="宋体" panose="02010600030101010101" pitchFamily="2" charset="-122"/>
                        </a:rPr>
                        <a:t>保护基，增加了总反应步骤数。脱保护使用的</a:t>
                      </a:r>
                      <a:r>
                        <a:rPr lang="en-US" altLang="zh-CN" sz="1600">
                          <a:ln>
                            <a:noFill/>
                          </a:ln>
                          <a:solidFill>
                            <a:prstClr val="black"/>
                          </a:solidFill>
                          <a:latin typeface="Times New Roman" panose="02020603050405020304" charset="0"/>
                          <a:ea typeface="宋体" panose="02010600030101010101" pitchFamily="2" charset="-122"/>
                        </a:rPr>
                        <a:t>TBAF</a:t>
                      </a:r>
                      <a:r>
                        <a:rPr lang="zh-CN" altLang="en-US" sz="1600">
                          <a:ln>
                            <a:noFill/>
                          </a:ln>
                          <a:solidFill>
                            <a:prstClr val="black"/>
                          </a:solidFill>
                          <a:latin typeface="Times New Roman" panose="02020603050405020304" charset="0"/>
                          <a:ea typeface="宋体" panose="02010600030101010101" pitchFamily="2" charset="-122"/>
                        </a:rPr>
                        <a:t>会产生含氟废物，需要额外的环保处理措施，增加了生产成本和环境负担</a:t>
                      </a:r>
                    </a:p>
                  </a:txBody>
                  <a:tcPr/>
                </a:tc>
                <a:extLst>
                  <a:ext uri="{0D108BD9-81ED-4DB2-BD59-A6C34878D82A}">
                    <a16:rowId xmlns:a16="http://schemas.microsoft.com/office/drawing/2014/main" val="10001"/>
                  </a:ext>
                </a:extLst>
              </a:tr>
              <a:tr h="887095">
                <a:tc>
                  <a:txBody>
                    <a:bodyPr/>
                    <a:lstStyle/>
                    <a:p>
                      <a:pPr algn="ctr">
                        <a:buClrTx/>
                        <a:buSzTx/>
                        <a:buFontTx/>
                        <a:buNone/>
                      </a:pPr>
                      <a:endParaRPr lang="en-US" altLang="zh-CN" sz="1600">
                        <a:latin typeface="Times New Roman" panose="02020603050405020304" charset="0"/>
                        <a:ea typeface="宋体" panose="02010600030101010101" pitchFamily="2" charset="-122"/>
                      </a:endParaRPr>
                    </a:p>
                    <a:p>
                      <a:pPr algn="ctr">
                        <a:buClrTx/>
                        <a:buSzTx/>
                        <a:buFontTx/>
                        <a:buNone/>
                      </a:pPr>
                      <a:r>
                        <a:rPr lang="en-US" altLang="zh-CN" sz="1600">
                          <a:latin typeface="Times New Roman" panose="02020603050405020304" charset="0"/>
                          <a:ea typeface="宋体" panose="02010600030101010101" pitchFamily="2" charset="-122"/>
                        </a:rPr>
                        <a:t>2</a:t>
                      </a:r>
                    </a:p>
                  </a:txBody>
                  <a:tcPr/>
                </a:tc>
                <a:tc>
                  <a:txBody>
                    <a:bodyPr/>
                    <a:lstStyle/>
                    <a:p>
                      <a:pPr algn="l">
                        <a:lnSpc>
                          <a:spcPct val="150000"/>
                        </a:lnSpc>
                        <a:buNone/>
                      </a:pPr>
                      <a:r>
                        <a:rPr lang="zh-CN" altLang="en-US" sz="1600" dirty="0">
                          <a:ln>
                            <a:noFill/>
                          </a:ln>
                          <a:solidFill>
                            <a:prstClr val="black"/>
                          </a:solidFill>
                          <a:latin typeface="Times New Roman" panose="02020603050405020304" charset="0"/>
                          <a:ea typeface="宋体" panose="02010600030101010101" pitchFamily="2" charset="-122"/>
                        </a:rPr>
                        <a:t>两个羟基同时用</a:t>
                      </a:r>
                      <a:r>
                        <a:rPr lang="en-US" altLang="zh-CN" sz="1600" dirty="0">
                          <a:ln>
                            <a:noFill/>
                          </a:ln>
                          <a:solidFill>
                            <a:prstClr val="black"/>
                          </a:solidFill>
                          <a:latin typeface="Times New Roman" panose="02020603050405020304" charset="0"/>
                          <a:ea typeface="宋体" panose="02010600030101010101" pitchFamily="2" charset="-122"/>
                        </a:rPr>
                        <a:t>TBS</a:t>
                      </a:r>
                      <a:r>
                        <a:rPr lang="zh-CN" altLang="en-US" sz="1600" dirty="0">
                          <a:ln>
                            <a:noFill/>
                          </a:ln>
                          <a:solidFill>
                            <a:prstClr val="black"/>
                          </a:solidFill>
                          <a:latin typeface="Times New Roman" panose="02020603050405020304" charset="0"/>
                          <a:ea typeface="宋体" panose="02010600030101010101" pitchFamily="2" charset="-122"/>
                        </a:rPr>
                        <a:t>保护，一步完成双羟基保护，操作简便</a:t>
                      </a:r>
                    </a:p>
                  </a:txBody>
                  <a:tcPr/>
                </a:tc>
                <a:tc>
                  <a:txBody>
                    <a:bodyPr/>
                    <a:lstStyle/>
                    <a:p>
                      <a:pPr algn="l">
                        <a:lnSpc>
                          <a:spcPct val="150000"/>
                        </a:lnSpc>
                        <a:buClrTx/>
                        <a:buSzTx/>
                        <a:buFontTx/>
                      </a:pPr>
                      <a:r>
                        <a:rPr lang="zh-CN" altLang="en-US" sz="1600" dirty="0">
                          <a:ln>
                            <a:noFill/>
                          </a:ln>
                          <a:solidFill>
                            <a:prstClr val="black"/>
                          </a:solidFill>
                          <a:uFillTx/>
                          <a:latin typeface="Times New Roman" panose="02020603050405020304" charset="0"/>
                          <a:ea typeface="宋体" panose="02010600030101010101" pitchFamily="2" charset="-122"/>
                          <a:cs typeface="宋体" panose="02010600030101010101" pitchFamily="2" charset="-122"/>
                          <a:sym typeface="+mn-ea"/>
                        </a:rPr>
                        <a:t>合成涉及</a:t>
                      </a:r>
                      <a:r>
                        <a:rPr lang="en-US" altLang="zh-CN" sz="1600" dirty="0">
                          <a:ln>
                            <a:noFill/>
                          </a:ln>
                          <a:solidFill>
                            <a:prstClr val="black"/>
                          </a:solidFill>
                          <a:uFillTx/>
                          <a:latin typeface="Times New Roman" panose="02020603050405020304" charset="0"/>
                          <a:ea typeface="宋体" panose="02010600030101010101" pitchFamily="2" charset="-122"/>
                          <a:cs typeface="宋体" panose="02010600030101010101" pitchFamily="2" charset="-122"/>
                          <a:sym typeface="+mn-ea"/>
                        </a:rPr>
                        <a:t>DIBAL-H</a:t>
                      </a:r>
                      <a:r>
                        <a:rPr lang="zh-CN" altLang="en-US" sz="1600" dirty="0">
                          <a:ln>
                            <a:noFill/>
                          </a:ln>
                          <a:solidFill>
                            <a:prstClr val="black"/>
                          </a:solidFill>
                          <a:uFillTx/>
                          <a:latin typeface="Times New Roman" panose="02020603050405020304" charset="0"/>
                          <a:ea typeface="宋体" panose="02010600030101010101" pitchFamily="2" charset="-122"/>
                          <a:cs typeface="宋体" panose="02010600030101010101" pitchFamily="2" charset="-122"/>
                          <a:sym typeface="+mn-ea"/>
                        </a:rPr>
                        <a:t>还原酯到醛，或</a:t>
                      </a:r>
                      <a:r>
                        <a:rPr lang="en-US" altLang="zh-CN" sz="1600" dirty="0">
                          <a:ln>
                            <a:noFill/>
                          </a:ln>
                          <a:solidFill>
                            <a:prstClr val="black"/>
                          </a:solidFill>
                          <a:uFillTx/>
                          <a:latin typeface="Times New Roman" panose="02020603050405020304" charset="0"/>
                          <a:ea typeface="宋体" panose="02010600030101010101" pitchFamily="2" charset="-122"/>
                          <a:cs typeface="宋体" panose="02010600030101010101" pitchFamily="2" charset="-122"/>
                          <a:sym typeface="+mn-ea"/>
                        </a:rPr>
                        <a:t>HWE</a:t>
                      </a:r>
                      <a:r>
                        <a:rPr lang="zh-CN" altLang="en-US" sz="1600" dirty="0">
                          <a:ln>
                            <a:noFill/>
                          </a:ln>
                          <a:solidFill>
                            <a:prstClr val="black"/>
                          </a:solidFill>
                          <a:uFillTx/>
                          <a:latin typeface="Times New Roman" panose="02020603050405020304" charset="0"/>
                          <a:ea typeface="宋体" panose="02010600030101010101" pitchFamily="2" charset="-122"/>
                          <a:cs typeface="宋体" panose="02010600030101010101" pitchFamily="2" charset="-122"/>
                          <a:sym typeface="+mn-ea"/>
                        </a:rPr>
                        <a:t>试剂制备涉及</a:t>
                      </a:r>
                      <a:r>
                        <a:rPr lang="en-US" altLang="zh-CN" sz="1600" i="1" dirty="0">
                          <a:ln>
                            <a:noFill/>
                          </a:ln>
                          <a:solidFill>
                            <a:prstClr val="black"/>
                          </a:solidFill>
                          <a:uFillTx/>
                          <a:latin typeface="Times New Roman" panose="02020603050405020304" charset="0"/>
                          <a:ea typeface="宋体" panose="02010600030101010101" pitchFamily="2" charset="-122"/>
                          <a:cs typeface="宋体" panose="02010600030101010101" pitchFamily="2" charset="-122"/>
                          <a:sym typeface="+mn-ea"/>
                        </a:rPr>
                        <a:t>n</a:t>
                      </a:r>
                      <a:r>
                        <a:rPr lang="en-US" altLang="zh-CN" sz="1600" dirty="0">
                          <a:ln>
                            <a:noFill/>
                          </a:ln>
                          <a:solidFill>
                            <a:prstClr val="black"/>
                          </a:solidFill>
                          <a:uFillTx/>
                          <a:latin typeface="Times New Roman" panose="02020603050405020304" charset="0"/>
                          <a:ea typeface="宋体" panose="02010600030101010101" pitchFamily="2" charset="-122"/>
                          <a:cs typeface="宋体" panose="02010600030101010101" pitchFamily="2" charset="-122"/>
                          <a:sym typeface="+mn-ea"/>
                        </a:rPr>
                        <a:t>-BuLi，</a:t>
                      </a:r>
                      <a:r>
                        <a:rPr lang="zh-CN" altLang="en-US" sz="1600" dirty="0">
                          <a:ln>
                            <a:noFill/>
                          </a:ln>
                          <a:solidFill>
                            <a:prstClr val="black"/>
                          </a:solidFill>
                          <a:uFillTx/>
                          <a:latin typeface="Times New Roman" panose="02020603050405020304" charset="0"/>
                          <a:ea typeface="宋体" panose="02010600030101010101" pitchFamily="2" charset="-122"/>
                          <a:cs typeface="宋体" panose="02010600030101010101" pitchFamily="2" charset="-122"/>
                          <a:sym typeface="+mn-ea"/>
                        </a:rPr>
                        <a:t>仍存在操作安全挑战</a:t>
                      </a:r>
                    </a:p>
                  </a:txBody>
                  <a:tcPr/>
                </a:tc>
                <a:extLst>
                  <a:ext uri="{0D108BD9-81ED-4DB2-BD59-A6C34878D82A}">
                    <a16:rowId xmlns:a16="http://schemas.microsoft.com/office/drawing/2014/main" val="10002"/>
                  </a:ext>
                </a:extLst>
              </a:tr>
              <a:tr h="1341120">
                <a:tc>
                  <a:txBody>
                    <a:bodyPr/>
                    <a:lstStyle/>
                    <a:p>
                      <a:pPr algn="ctr">
                        <a:buClrTx/>
                        <a:buSzTx/>
                        <a:buFontTx/>
                        <a:buNone/>
                      </a:pPr>
                      <a:endParaRPr lang="en-US" altLang="zh-CN" sz="1600">
                        <a:latin typeface="Times New Roman" panose="02020603050405020304" charset="0"/>
                        <a:ea typeface="宋体" panose="02010600030101010101" pitchFamily="2" charset="-122"/>
                      </a:endParaRPr>
                    </a:p>
                    <a:p>
                      <a:pPr algn="ctr">
                        <a:buClrTx/>
                        <a:buSzTx/>
                        <a:buFontTx/>
                        <a:buNone/>
                      </a:pPr>
                      <a:r>
                        <a:rPr lang="en-US" altLang="zh-CN" sz="1600">
                          <a:latin typeface="Times New Roman" panose="02020603050405020304" charset="0"/>
                          <a:ea typeface="宋体" panose="02010600030101010101" pitchFamily="2" charset="-122"/>
                        </a:rPr>
                        <a:t>3</a:t>
                      </a:r>
                    </a:p>
                  </a:txBody>
                  <a:tcPr/>
                </a:tc>
                <a:tc>
                  <a:txBody>
                    <a:bodyPr/>
                    <a:lstStyle/>
                    <a:p>
                      <a:pPr algn="l">
                        <a:lnSpc>
                          <a:spcPct val="150000"/>
                        </a:lnSpc>
                        <a:buNone/>
                      </a:pPr>
                      <a:r>
                        <a:rPr lang="zh-CN" altLang="en-US" sz="1600">
                          <a:ln>
                            <a:noFill/>
                          </a:ln>
                          <a:solidFill>
                            <a:prstClr val="black"/>
                          </a:solidFill>
                          <a:latin typeface="Times New Roman" panose="02020603050405020304" charset="0"/>
                          <a:ea typeface="宋体" panose="02010600030101010101" pitchFamily="2" charset="-122"/>
                        </a:rPr>
                        <a:t>通过醛与磷酸酯的缩合反应高效构建(</a:t>
                      </a:r>
                      <a:r>
                        <a:rPr lang="en-US" altLang="zh-CN" sz="1600">
                          <a:ln>
                            <a:noFill/>
                          </a:ln>
                          <a:solidFill>
                            <a:prstClr val="black"/>
                          </a:solidFill>
                          <a:latin typeface="Times New Roman" panose="02020603050405020304" charset="0"/>
                          <a:ea typeface="宋体" panose="02010600030101010101" pitchFamily="2" charset="-122"/>
                        </a:rPr>
                        <a:t>E)-</a:t>
                      </a:r>
                      <a:r>
                        <a:rPr lang="zh-CN" altLang="en-US" sz="1600">
                          <a:ln>
                            <a:noFill/>
                          </a:ln>
                          <a:solidFill>
                            <a:prstClr val="black"/>
                          </a:solidFill>
                          <a:latin typeface="Times New Roman" panose="02020603050405020304" charset="0"/>
                          <a:ea typeface="宋体" panose="02010600030101010101" pitchFamily="2" charset="-122"/>
                        </a:rPr>
                        <a:t>构型的共轭二烯侧链</a:t>
                      </a:r>
                    </a:p>
                  </a:txBody>
                  <a:tcPr/>
                </a:tc>
                <a:tc>
                  <a:txBody>
                    <a:bodyPr/>
                    <a:lstStyle/>
                    <a:p>
                      <a:pPr algn="l">
                        <a:lnSpc>
                          <a:spcPct val="150000"/>
                        </a:lnSpc>
                        <a:buClrTx/>
                        <a:buSzTx/>
                        <a:buFontTx/>
                        <a:buNone/>
                      </a:pPr>
                      <a:endParaRPr lang="zh-CN" altLang="en-US" sz="1600" dirty="0">
                        <a:ln>
                          <a:noFill/>
                        </a:ln>
                        <a:solidFill>
                          <a:prstClr val="black"/>
                        </a:solidFill>
                        <a:latin typeface="Times New Roman" panose="02020603050405020304" charset="0"/>
                        <a:ea typeface="宋体" panose="02010600030101010101" pitchFamily="2" charset="-122"/>
                      </a:endParaRPr>
                    </a:p>
                  </a:txBody>
                  <a:tcPr/>
                </a:tc>
                <a:extLst>
                  <a:ext uri="{0D108BD9-81ED-4DB2-BD59-A6C34878D82A}">
                    <a16:rowId xmlns:a16="http://schemas.microsoft.com/office/drawing/2014/main" val="10003"/>
                  </a:ext>
                </a:extLst>
              </a:tr>
            </a:tbl>
          </a:graphicData>
        </a:graphic>
      </p:graphicFrame>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245180" y="290900"/>
            <a:ext cx="10969200" cy="705600"/>
          </a:xfrm>
        </p:spPr>
        <p:txBody>
          <a:bodyPr>
            <a:normAutofit/>
          </a:bodyPr>
          <a:lstStyle/>
          <a:p>
            <a:r>
              <a:rPr lang="zh-CN" altLang="en-US" sz="2665" b="1">
                <a:solidFill>
                  <a:schemeClr val="accent1">
                    <a:lumMod val="50000"/>
                  </a:schemeClr>
                </a:solidFill>
                <a:sym typeface="+mn-ea"/>
              </a:rPr>
              <a:t>瑞舒伐他汀药物理想合成路线中的难点问题和解决方案</a:t>
            </a:r>
          </a:p>
        </p:txBody>
      </p:sp>
      <p:graphicFrame>
        <p:nvGraphicFramePr>
          <p:cNvPr id="6" name="表格 5"/>
          <p:cNvGraphicFramePr/>
          <p:nvPr>
            <p:custDataLst>
              <p:tags r:id="rId3"/>
            </p:custDataLst>
          </p:nvPr>
        </p:nvGraphicFramePr>
        <p:xfrm>
          <a:off x="850265" y="1549400"/>
          <a:ext cx="10492105" cy="3093085"/>
        </p:xfrm>
        <a:graphic>
          <a:graphicData uri="http://schemas.openxmlformats.org/drawingml/2006/table">
            <a:tbl>
              <a:tblPr firstRow="1">
                <a:tableStyleId>{B7BD4722-F1F9-43DE-912B-BC3AB9E171DB}</a:tableStyleId>
              </a:tblPr>
              <a:tblGrid>
                <a:gridCol w="718185">
                  <a:extLst>
                    <a:ext uri="{9D8B030D-6E8A-4147-A177-3AD203B41FA5}">
                      <a16:colId xmlns:a16="http://schemas.microsoft.com/office/drawing/2014/main" val="20000"/>
                    </a:ext>
                  </a:extLst>
                </a:gridCol>
                <a:gridCol w="4422140">
                  <a:extLst>
                    <a:ext uri="{9D8B030D-6E8A-4147-A177-3AD203B41FA5}">
                      <a16:colId xmlns:a16="http://schemas.microsoft.com/office/drawing/2014/main" val="20001"/>
                    </a:ext>
                  </a:extLst>
                </a:gridCol>
                <a:gridCol w="5351780">
                  <a:extLst>
                    <a:ext uri="{9D8B030D-6E8A-4147-A177-3AD203B41FA5}">
                      <a16:colId xmlns:a16="http://schemas.microsoft.com/office/drawing/2014/main" val="20002"/>
                    </a:ext>
                  </a:extLst>
                </a:gridCol>
              </a:tblGrid>
              <a:tr h="655320">
                <a:tc>
                  <a:txBody>
                    <a:bodyPr/>
                    <a:lstStyle/>
                    <a:p>
                      <a:pPr algn="ctr">
                        <a:lnSpc>
                          <a:spcPct val="150000"/>
                        </a:lnSpc>
                        <a:buNone/>
                      </a:pPr>
                      <a:r>
                        <a:rPr lang="zh-CN" altLang="en-US"/>
                        <a:t>序号</a:t>
                      </a:r>
                    </a:p>
                  </a:txBody>
                  <a:tcPr/>
                </a:tc>
                <a:tc>
                  <a:txBody>
                    <a:bodyPr/>
                    <a:lstStyle/>
                    <a:p>
                      <a:pPr algn="ctr">
                        <a:lnSpc>
                          <a:spcPct val="150000"/>
                        </a:lnSpc>
                      </a:pPr>
                      <a:r>
                        <a:rPr lang="zh-CN" altLang="en-US" sz="1800">
                          <a:sym typeface="+mn-ea"/>
                        </a:rPr>
                        <a:t>缺点 </a:t>
                      </a:r>
                      <a:r>
                        <a:rPr lang="en-US" altLang="zh-CN" sz="1800">
                          <a:sym typeface="+mn-ea"/>
                        </a:rPr>
                        <a:t>/ </a:t>
                      </a:r>
                      <a:r>
                        <a:rPr lang="zh-CN" altLang="en-US" sz="1800">
                          <a:sym typeface="+mn-ea"/>
                        </a:rPr>
                        <a:t>难点</a:t>
                      </a:r>
                      <a:endParaRPr lang="zh-CN" altLang="en-US"/>
                    </a:p>
                  </a:txBody>
                  <a:tcPr/>
                </a:tc>
                <a:tc>
                  <a:txBody>
                    <a:bodyPr/>
                    <a:lstStyle/>
                    <a:p>
                      <a:pPr algn="ctr">
                        <a:lnSpc>
                          <a:spcPct val="150000"/>
                        </a:lnSpc>
                      </a:pPr>
                      <a:r>
                        <a:rPr lang="zh-CN" altLang="en-US" sz="1800">
                          <a:sym typeface="+mn-ea"/>
                        </a:rPr>
                        <a:t>解决方案</a:t>
                      </a:r>
                      <a:endParaRPr lang="zh-CN" altLang="en-US"/>
                    </a:p>
                  </a:txBody>
                  <a:tcPr/>
                </a:tc>
                <a:extLst>
                  <a:ext uri="{0D108BD9-81ED-4DB2-BD59-A6C34878D82A}">
                    <a16:rowId xmlns:a16="http://schemas.microsoft.com/office/drawing/2014/main" val="10000"/>
                  </a:ext>
                </a:extLst>
              </a:tr>
              <a:tr h="1256030">
                <a:tc>
                  <a:txBody>
                    <a:bodyPr/>
                    <a:lstStyle/>
                    <a:p>
                      <a:pPr algn="ctr">
                        <a:buClrTx/>
                        <a:buSzTx/>
                        <a:buFontTx/>
                        <a:buNone/>
                      </a:pPr>
                      <a:endParaRPr lang="zh-CN" altLang="en-US" sz="1600">
                        <a:solidFill>
                          <a:srgbClr val="08090C"/>
                        </a:solidFill>
                        <a:uFillTx/>
                        <a:latin typeface="Times New Roman" panose="02020603050405020304" charset="0"/>
                        <a:ea typeface="宋体" panose="02010600030101010101" pitchFamily="2" charset="-122"/>
                      </a:endParaRPr>
                    </a:p>
                    <a:p>
                      <a:pPr algn="ctr">
                        <a:buClrTx/>
                        <a:buSzTx/>
                        <a:buFontTx/>
                        <a:buNone/>
                      </a:pPr>
                      <a:r>
                        <a:rPr lang="zh-CN" altLang="en-US" sz="1600">
                          <a:solidFill>
                            <a:srgbClr val="08090C"/>
                          </a:solidFill>
                          <a:uFillTx/>
                          <a:latin typeface="Times New Roman" panose="02020603050405020304" charset="0"/>
                          <a:ea typeface="宋体" panose="02010600030101010101" pitchFamily="2" charset="-122"/>
                        </a:rPr>
                        <a:t>1</a:t>
                      </a:r>
                    </a:p>
                  </a:txBody>
                  <a:tcPr/>
                </a:tc>
                <a:tc>
                  <a:txBody>
                    <a:bodyPr/>
                    <a:lstStyle/>
                    <a:p>
                      <a:pPr algn="l">
                        <a:buClrTx/>
                        <a:buSzTx/>
                        <a:buFontTx/>
                      </a:pPr>
                      <a:r>
                        <a:rPr lang="zh-CN" altLang="en-US" sz="1600">
                          <a:solidFill>
                            <a:srgbClr val="08090C"/>
                          </a:solidFill>
                          <a:uFillTx/>
                          <a:latin typeface="Times New Roman" panose="02020603050405020304" charset="0"/>
                          <a:ea typeface="宋体" panose="02010600030101010101" pitchFamily="2" charset="-122"/>
                          <a:cs typeface="宋体" panose="02010600030101010101" pitchFamily="2" charset="-122"/>
                        </a:rPr>
                        <a:t>路线中需要两次引入和脱除</a:t>
                      </a:r>
                      <a:r>
                        <a:rPr lang="en-US" altLang="zh-CN" sz="1600">
                          <a:solidFill>
                            <a:srgbClr val="08090C"/>
                          </a:solidFill>
                          <a:uFillTx/>
                          <a:latin typeface="Times New Roman" panose="02020603050405020304" charset="0"/>
                          <a:ea typeface="宋体" panose="02010600030101010101" pitchFamily="2" charset="-122"/>
                          <a:cs typeface="宋体" panose="02010600030101010101" pitchFamily="2" charset="-122"/>
                        </a:rPr>
                        <a:t>TBS</a:t>
                      </a:r>
                      <a:r>
                        <a:rPr lang="zh-CN" altLang="en-US" sz="1600">
                          <a:solidFill>
                            <a:srgbClr val="08090C"/>
                          </a:solidFill>
                          <a:uFillTx/>
                          <a:latin typeface="Times New Roman" panose="02020603050405020304" charset="0"/>
                          <a:ea typeface="宋体" panose="02010600030101010101" pitchFamily="2" charset="-122"/>
                          <a:cs typeface="宋体" panose="02010600030101010101" pitchFamily="2" charset="-122"/>
                        </a:rPr>
                        <a:t>保护基，增加了总反应步骤数。脱保护使用的</a:t>
                      </a:r>
                      <a:r>
                        <a:rPr lang="en-US" altLang="zh-CN" sz="1600">
                          <a:solidFill>
                            <a:srgbClr val="08090C"/>
                          </a:solidFill>
                          <a:uFillTx/>
                          <a:latin typeface="Times New Roman" panose="02020603050405020304" charset="0"/>
                          <a:ea typeface="宋体" panose="02010600030101010101" pitchFamily="2" charset="-122"/>
                          <a:cs typeface="宋体" panose="02010600030101010101" pitchFamily="2" charset="-122"/>
                        </a:rPr>
                        <a:t>TBAF</a:t>
                      </a:r>
                      <a:r>
                        <a:rPr lang="zh-CN" altLang="en-US" sz="1600">
                          <a:solidFill>
                            <a:srgbClr val="08090C"/>
                          </a:solidFill>
                          <a:uFillTx/>
                          <a:latin typeface="Times New Roman" panose="02020603050405020304" charset="0"/>
                          <a:ea typeface="宋体" panose="02010600030101010101" pitchFamily="2" charset="-122"/>
                          <a:cs typeface="宋体" panose="02010600030101010101" pitchFamily="2" charset="-122"/>
                        </a:rPr>
                        <a:t>会产生含氟废物，需要额外的环保处理措施，增加了生产成本和环境负担。</a:t>
                      </a:r>
                    </a:p>
                  </a:txBody>
                  <a:tcPr marL="51117" marR="51117" marT="51117" marB="51117" anchor="ctr"/>
                </a:tc>
                <a:tc>
                  <a:txBody>
                    <a:bodyPr/>
                    <a:lstStyle/>
                    <a:p>
                      <a:pPr algn="l">
                        <a:buClrTx/>
                        <a:buSzTx/>
                        <a:buFontTx/>
                      </a:pPr>
                      <a:r>
                        <a:rPr lang="zh-CN" altLang="en-US" sz="1600" dirty="0">
                          <a:solidFill>
                            <a:srgbClr val="08090C"/>
                          </a:solidFill>
                          <a:uFillTx/>
                          <a:latin typeface="Times New Roman" panose="02020603050405020304" charset="0"/>
                          <a:ea typeface="宋体" panose="02010600030101010101" pitchFamily="2" charset="-122"/>
                          <a:cs typeface="宋体" panose="02010600030101010101" pitchFamily="2" charset="-122"/>
                        </a:rPr>
                        <a:t> 开发一锅法保护基引入/脱除策略，或研究无需保护基的直接转化方法，减少反应步骤</a:t>
                      </a:r>
                    </a:p>
                  </a:txBody>
                  <a:tcPr marL="51117" marR="51117" marT="51117" marB="51117" anchor="ctr"/>
                </a:tc>
                <a:extLst>
                  <a:ext uri="{0D108BD9-81ED-4DB2-BD59-A6C34878D82A}">
                    <a16:rowId xmlns:a16="http://schemas.microsoft.com/office/drawing/2014/main" val="10001"/>
                  </a:ext>
                </a:extLst>
              </a:tr>
              <a:tr h="1181735">
                <a:tc>
                  <a:txBody>
                    <a:bodyPr/>
                    <a:lstStyle/>
                    <a:p>
                      <a:pPr algn="ctr">
                        <a:buClrTx/>
                        <a:buSzTx/>
                        <a:buFontTx/>
                        <a:buNone/>
                      </a:pPr>
                      <a:endParaRPr lang="zh-CN" altLang="en-US" sz="1600">
                        <a:solidFill>
                          <a:srgbClr val="08090C"/>
                        </a:solidFill>
                        <a:uFillTx/>
                        <a:latin typeface="Times New Roman" panose="02020603050405020304" charset="0"/>
                        <a:ea typeface="宋体" panose="02010600030101010101" pitchFamily="2" charset="-122"/>
                      </a:endParaRPr>
                    </a:p>
                    <a:p>
                      <a:pPr algn="ctr">
                        <a:buClrTx/>
                        <a:buSzTx/>
                        <a:buFontTx/>
                        <a:buNone/>
                      </a:pPr>
                      <a:r>
                        <a:rPr lang="zh-CN" altLang="en-US" sz="1600">
                          <a:solidFill>
                            <a:srgbClr val="08090C"/>
                          </a:solidFill>
                          <a:uFillTx/>
                          <a:latin typeface="Times New Roman" panose="02020603050405020304" charset="0"/>
                          <a:ea typeface="宋体" panose="02010600030101010101" pitchFamily="2" charset="-122"/>
                        </a:rPr>
                        <a:t>2</a:t>
                      </a:r>
                    </a:p>
                  </a:txBody>
                  <a:tcPr/>
                </a:tc>
                <a:tc>
                  <a:txBody>
                    <a:bodyPr/>
                    <a:lstStyle/>
                    <a:p>
                      <a:pPr algn="l">
                        <a:buClrTx/>
                        <a:buSzTx/>
                        <a:buFontTx/>
                      </a:pPr>
                      <a:r>
                        <a:rPr lang="zh-CN" altLang="en-US" sz="1600">
                          <a:solidFill>
                            <a:srgbClr val="08090C"/>
                          </a:solidFill>
                          <a:uFillTx/>
                          <a:latin typeface="Times New Roman" panose="02020603050405020304" charset="0"/>
                          <a:ea typeface="宋体" panose="02010600030101010101" pitchFamily="2" charset="-122"/>
                          <a:cs typeface="宋体" panose="02010600030101010101" pitchFamily="2" charset="-122"/>
                        </a:rPr>
                        <a:t>合成涉及</a:t>
                      </a:r>
                      <a:r>
                        <a:rPr lang="en-US" altLang="zh-CN" sz="1600">
                          <a:solidFill>
                            <a:srgbClr val="08090C"/>
                          </a:solidFill>
                          <a:uFillTx/>
                          <a:latin typeface="Times New Roman" panose="02020603050405020304" charset="0"/>
                          <a:ea typeface="宋体" panose="02010600030101010101" pitchFamily="2" charset="-122"/>
                          <a:cs typeface="宋体" panose="02010600030101010101" pitchFamily="2" charset="-122"/>
                        </a:rPr>
                        <a:t>DIBAL-H</a:t>
                      </a:r>
                      <a:r>
                        <a:rPr lang="zh-CN" altLang="en-US" sz="1600">
                          <a:solidFill>
                            <a:srgbClr val="08090C"/>
                          </a:solidFill>
                          <a:uFillTx/>
                          <a:latin typeface="Times New Roman" panose="02020603050405020304" charset="0"/>
                          <a:ea typeface="宋体" panose="02010600030101010101" pitchFamily="2" charset="-122"/>
                          <a:cs typeface="宋体" panose="02010600030101010101" pitchFamily="2" charset="-122"/>
                        </a:rPr>
                        <a:t>还原酯到醛，或</a:t>
                      </a:r>
                      <a:r>
                        <a:rPr lang="en-US" altLang="zh-CN" sz="1600">
                          <a:solidFill>
                            <a:srgbClr val="08090C"/>
                          </a:solidFill>
                          <a:uFillTx/>
                          <a:latin typeface="Times New Roman" panose="02020603050405020304" charset="0"/>
                          <a:ea typeface="宋体" panose="02010600030101010101" pitchFamily="2" charset="-122"/>
                          <a:cs typeface="宋体" panose="02010600030101010101" pitchFamily="2" charset="-122"/>
                        </a:rPr>
                        <a:t>HWE</a:t>
                      </a:r>
                      <a:r>
                        <a:rPr lang="zh-CN" altLang="en-US" sz="1600">
                          <a:solidFill>
                            <a:srgbClr val="08090C"/>
                          </a:solidFill>
                          <a:uFillTx/>
                          <a:latin typeface="Times New Roman" panose="02020603050405020304" charset="0"/>
                          <a:ea typeface="宋体" panose="02010600030101010101" pitchFamily="2" charset="-122"/>
                          <a:cs typeface="宋体" panose="02010600030101010101" pitchFamily="2" charset="-122"/>
                        </a:rPr>
                        <a:t>试剂制备涉及</a:t>
                      </a:r>
                      <a:r>
                        <a:rPr lang="en-US" altLang="zh-CN" sz="1600">
                          <a:solidFill>
                            <a:srgbClr val="08090C"/>
                          </a:solidFill>
                          <a:uFillTx/>
                          <a:latin typeface="Times New Roman" panose="02020603050405020304" charset="0"/>
                          <a:ea typeface="宋体" panose="02010600030101010101" pitchFamily="2" charset="-122"/>
                          <a:cs typeface="宋体" panose="02010600030101010101" pitchFamily="2" charset="-122"/>
                        </a:rPr>
                        <a:t>n-BuLi，</a:t>
                      </a:r>
                      <a:r>
                        <a:rPr lang="zh-CN" altLang="en-US" sz="1600">
                          <a:solidFill>
                            <a:srgbClr val="08090C"/>
                          </a:solidFill>
                          <a:uFillTx/>
                          <a:latin typeface="Times New Roman" panose="02020603050405020304" charset="0"/>
                          <a:ea typeface="宋体" panose="02010600030101010101" pitchFamily="2" charset="-122"/>
                          <a:cs typeface="宋体" panose="02010600030101010101" pitchFamily="2" charset="-122"/>
                        </a:rPr>
                        <a:t>仍存在操作安全挑战。</a:t>
                      </a:r>
                    </a:p>
                  </a:txBody>
                  <a:tcPr marL="51117" marR="51117" marT="51117" marB="51117" anchor="ctr"/>
                </a:tc>
                <a:tc>
                  <a:txBody>
                    <a:bodyPr/>
                    <a:lstStyle/>
                    <a:p>
                      <a:pPr algn="l">
                        <a:buClrTx/>
                        <a:buSzTx/>
                        <a:buFontTx/>
                      </a:pPr>
                      <a:r>
                        <a:rPr lang="en-US" altLang="zh-CN" sz="1600">
                          <a:solidFill>
                            <a:srgbClr val="08090C"/>
                          </a:solidFill>
                          <a:uFillTx/>
                          <a:latin typeface="Times New Roman" panose="02020603050405020304" charset="0"/>
                          <a:ea typeface="宋体" panose="02010600030101010101" pitchFamily="2" charset="-122"/>
                          <a:cs typeface="宋体" panose="02010600030101010101" pitchFamily="2" charset="-122"/>
                        </a:rPr>
                        <a:t> </a:t>
                      </a:r>
                      <a:r>
                        <a:rPr lang="zh-CN" altLang="en-US" sz="1600">
                          <a:solidFill>
                            <a:srgbClr val="08090C"/>
                          </a:solidFill>
                          <a:uFillTx/>
                          <a:latin typeface="Times New Roman" panose="02020603050405020304" charset="0"/>
                          <a:ea typeface="宋体" panose="02010600030101010101" pitchFamily="2" charset="-122"/>
                          <a:cs typeface="宋体" panose="02010600030101010101" pitchFamily="2" charset="-122"/>
                        </a:rPr>
                        <a:t>探索酶催化开环或不对称有机催化体系，替代强碱体系，降低安全风险和环境负担</a:t>
                      </a:r>
                    </a:p>
                    <a:p>
                      <a:pPr algn="l">
                        <a:buClrTx/>
                        <a:buSzTx/>
                        <a:buFontTx/>
                      </a:pPr>
                      <a:endParaRPr lang="zh-CN" altLang="en-US" sz="1600">
                        <a:solidFill>
                          <a:srgbClr val="08090C"/>
                        </a:solidFill>
                        <a:uFillTx/>
                        <a:latin typeface="Times New Roman" panose="02020603050405020304" charset="0"/>
                        <a:ea typeface="宋体" panose="02010600030101010101" pitchFamily="2" charset="-122"/>
                        <a:cs typeface="宋体" panose="02010600030101010101" pitchFamily="2" charset="-122"/>
                      </a:endParaRPr>
                    </a:p>
                  </a:txBody>
                  <a:tcPr marL="51117" marR="51117" marT="51117" marB="51117" anchor="ctr"/>
                </a:tc>
                <a:extLst>
                  <a:ext uri="{0D108BD9-81ED-4DB2-BD59-A6C34878D82A}">
                    <a16:rowId xmlns:a16="http://schemas.microsoft.com/office/drawing/2014/main" val="10002"/>
                  </a:ext>
                </a:extLst>
              </a:tr>
            </a:tbl>
          </a:graphicData>
        </a:graphic>
      </p:graphicFrame>
    </p:spTree>
    <p:custDataLst>
      <p:tags r:id="rId1"/>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48281" y="115330"/>
            <a:ext cx="1338828" cy="369332"/>
          </a:xfrm>
          <a:prstGeom prst="rect">
            <a:avLst/>
          </a:prstGeom>
          <a:noFill/>
        </p:spPr>
        <p:txBody>
          <a:bodyPr wrap="none" rtlCol="0">
            <a:spAutoFit/>
          </a:bodyPr>
          <a:lstStyle/>
          <a:p>
            <a:r>
              <a:rPr lang="zh-CN" altLang="en-US" b="1" dirty="0">
                <a:latin typeface="黑体" panose="02010609060101010101" pitchFamily="49" charset="-122"/>
                <a:ea typeface="黑体" panose="02010609060101010101" pitchFamily="49" charset="-122"/>
              </a:rPr>
              <a:t>他汀类药物</a:t>
            </a:r>
          </a:p>
        </p:txBody>
      </p:sp>
      <p:sp>
        <p:nvSpPr>
          <p:cNvPr id="2" name="文本框 1"/>
          <p:cNvSpPr txBox="1"/>
          <p:nvPr/>
        </p:nvSpPr>
        <p:spPr>
          <a:xfrm>
            <a:off x="1699327" y="139606"/>
            <a:ext cx="1210588" cy="338554"/>
          </a:xfrm>
          <a:prstGeom prst="rect">
            <a:avLst/>
          </a:prstGeom>
          <a:noFill/>
        </p:spPr>
        <p:txBody>
          <a:bodyPr wrap="none" rtlCol="0">
            <a:spAutoFit/>
          </a:bodyPr>
          <a:lstStyle/>
          <a:p>
            <a:r>
              <a:rPr lang="zh-CN" altLang="en-US" sz="1600" dirty="0">
                <a:solidFill>
                  <a:srgbClr val="C00000"/>
                </a:solidFill>
                <a:latin typeface="黑体" panose="02010609060101010101" pitchFamily="49" charset="-122"/>
                <a:ea typeface="黑体" panose="02010609060101010101" pitchFamily="49" charset="-122"/>
              </a:rPr>
              <a:t>汇聚式合成</a:t>
            </a:r>
          </a:p>
        </p:txBody>
      </p:sp>
      <p:graphicFrame>
        <p:nvGraphicFramePr>
          <p:cNvPr id="3" name="对象 2"/>
          <p:cNvGraphicFramePr>
            <a:graphicFrameLocks noChangeAspect="1"/>
          </p:cNvGraphicFramePr>
          <p:nvPr/>
        </p:nvGraphicFramePr>
        <p:xfrm>
          <a:off x="525057" y="748512"/>
          <a:ext cx="10915650" cy="5629275"/>
        </p:xfrm>
        <a:graphic>
          <a:graphicData uri="http://schemas.openxmlformats.org/presentationml/2006/ole">
            <mc:AlternateContent xmlns:mc="http://schemas.openxmlformats.org/markup-compatibility/2006">
              <mc:Choice xmlns:v="urn:schemas-microsoft-com:vml" Requires="v">
                <p:oleObj spid="_x0000_s80898" name="CS ChemDraw Drawing" r:id="rId3" imgW="7778750" imgH="4018280" progId="ChemDraw.Document.6.0">
                  <p:embed/>
                </p:oleObj>
              </mc:Choice>
              <mc:Fallback>
                <p:oleObj name="CS ChemDraw Drawing" r:id="rId3" imgW="7778750" imgH="4018280" progId="ChemDraw.Document.6.0">
                  <p:embed/>
                  <p:pic>
                    <p:nvPicPr>
                      <p:cNvPr id="3" name="对象 2"/>
                      <p:cNvPicPr/>
                      <p:nvPr/>
                    </p:nvPicPr>
                    <p:blipFill>
                      <a:blip r:embed="rId4"/>
                      <a:stretch>
                        <a:fillRect/>
                      </a:stretch>
                    </p:blipFill>
                    <p:spPr>
                      <a:xfrm>
                        <a:off x="525057" y="748512"/>
                        <a:ext cx="10915650" cy="5629275"/>
                      </a:xfrm>
                      <a:prstGeom prst="rect">
                        <a:avLst/>
                      </a:prstGeom>
                    </p:spPr>
                  </p:pic>
                </p:oleObj>
              </mc:Fallback>
            </mc:AlternateContent>
          </a:graphicData>
        </a:graphic>
      </p:graphicFrame>
    </p:spTree>
    <p:extLst>
      <p:ext uri="{BB962C8B-B14F-4D97-AF65-F5344CB8AC3E}">
        <p14:creationId xmlns:p14="http://schemas.microsoft.com/office/powerpoint/2010/main" val="33422097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p:nvPr/>
        </p:nvGraphicFramePr>
        <p:xfrm>
          <a:off x="2323465" y="358140"/>
          <a:ext cx="9281795" cy="1760220"/>
        </p:xfrm>
        <a:graphic>
          <a:graphicData uri="http://schemas.openxmlformats.org/presentationml/2006/ole">
            <mc:AlternateContent xmlns:mc="http://schemas.openxmlformats.org/markup-compatibility/2006">
              <mc:Choice xmlns:v="urn:schemas-microsoft-com:vml" Requires="v">
                <p:oleObj spid="_x0000_s42006" r:id="rId3" imgW="7836535" imgH="1487805" progId="ChemDraw.Document.6.0">
                  <p:embed/>
                </p:oleObj>
              </mc:Choice>
              <mc:Fallback>
                <p:oleObj r:id="rId3" imgW="7836535" imgH="1487805" progId="ChemDraw.Document.6.0">
                  <p:embed/>
                  <p:pic>
                    <p:nvPicPr>
                      <p:cNvPr id="2" name="对象 1"/>
                      <p:cNvPicPr/>
                      <p:nvPr/>
                    </p:nvPicPr>
                    <p:blipFill>
                      <a:blip r:embed="rId4"/>
                      <a:stretch>
                        <a:fillRect/>
                      </a:stretch>
                    </p:blipFill>
                    <p:spPr>
                      <a:xfrm>
                        <a:off x="2323465" y="358140"/>
                        <a:ext cx="9281795" cy="1760220"/>
                      </a:xfrm>
                      <a:prstGeom prst="rect">
                        <a:avLst/>
                      </a:prstGeom>
                    </p:spPr>
                  </p:pic>
                </p:oleObj>
              </mc:Fallback>
            </mc:AlternateContent>
          </a:graphicData>
        </a:graphic>
      </p:graphicFrame>
      <p:graphicFrame>
        <p:nvGraphicFramePr>
          <p:cNvPr id="9" name="对象 8"/>
          <p:cNvGraphicFramePr/>
          <p:nvPr/>
        </p:nvGraphicFramePr>
        <p:xfrm>
          <a:off x="2323465" y="3291523"/>
          <a:ext cx="8641715" cy="1576705"/>
        </p:xfrm>
        <a:graphic>
          <a:graphicData uri="http://schemas.openxmlformats.org/presentationml/2006/ole">
            <mc:AlternateContent xmlns:mc="http://schemas.openxmlformats.org/markup-compatibility/2006">
              <mc:Choice xmlns:v="urn:schemas-microsoft-com:vml" Requires="v">
                <p:oleObj spid="_x0000_s42007" r:id="rId5" imgW="7296150" imgH="1332865" progId="ChemDraw.Document.6.0">
                  <p:embed/>
                </p:oleObj>
              </mc:Choice>
              <mc:Fallback>
                <p:oleObj r:id="rId5" imgW="7296150" imgH="1332865" progId="ChemDraw.Document.6.0">
                  <p:embed/>
                  <p:pic>
                    <p:nvPicPr>
                      <p:cNvPr id="9" name="对象 8"/>
                      <p:cNvPicPr/>
                      <p:nvPr/>
                    </p:nvPicPr>
                    <p:blipFill>
                      <a:blip r:embed="rId6"/>
                      <a:stretch>
                        <a:fillRect/>
                      </a:stretch>
                    </p:blipFill>
                    <p:spPr>
                      <a:xfrm>
                        <a:off x="2323465" y="3291523"/>
                        <a:ext cx="8641715" cy="1576705"/>
                      </a:xfrm>
                      <a:prstGeom prst="rect">
                        <a:avLst/>
                      </a:prstGeom>
                    </p:spPr>
                  </p:pic>
                </p:oleObj>
              </mc:Fallback>
            </mc:AlternateContent>
          </a:graphicData>
        </a:graphic>
      </p:graphicFrame>
      <p:graphicFrame>
        <p:nvGraphicFramePr>
          <p:cNvPr id="12" name="对象 11"/>
          <p:cNvGraphicFramePr/>
          <p:nvPr/>
        </p:nvGraphicFramePr>
        <p:xfrm>
          <a:off x="2323465" y="5133658"/>
          <a:ext cx="5005705" cy="1400175"/>
        </p:xfrm>
        <a:graphic>
          <a:graphicData uri="http://schemas.openxmlformats.org/presentationml/2006/ole">
            <mc:AlternateContent xmlns:mc="http://schemas.openxmlformats.org/markup-compatibility/2006">
              <mc:Choice xmlns:v="urn:schemas-microsoft-com:vml" Requires="v">
                <p:oleObj spid="_x0000_s42008" r:id="rId7" imgW="4231005" imgH="1184910" progId="ChemDraw.Document.6.0">
                  <p:embed/>
                </p:oleObj>
              </mc:Choice>
              <mc:Fallback>
                <p:oleObj r:id="rId7" imgW="4231005" imgH="1184910" progId="ChemDraw.Document.6.0">
                  <p:embed/>
                  <p:pic>
                    <p:nvPicPr>
                      <p:cNvPr id="12" name="对象 11"/>
                      <p:cNvPicPr/>
                      <p:nvPr/>
                    </p:nvPicPr>
                    <p:blipFill>
                      <a:blip r:embed="rId8"/>
                      <a:stretch>
                        <a:fillRect/>
                      </a:stretch>
                    </p:blipFill>
                    <p:spPr>
                      <a:xfrm>
                        <a:off x="2323465" y="5133658"/>
                        <a:ext cx="5005705" cy="1400175"/>
                      </a:xfrm>
                      <a:prstGeom prst="rect">
                        <a:avLst/>
                      </a:prstGeom>
                    </p:spPr>
                  </p:pic>
                </p:oleObj>
              </mc:Fallback>
            </mc:AlternateContent>
          </a:graphicData>
        </a:graphic>
      </p:graphicFrame>
      <p:graphicFrame>
        <p:nvGraphicFramePr>
          <p:cNvPr id="14" name="对象 13"/>
          <p:cNvGraphicFramePr/>
          <p:nvPr/>
        </p:nvGraphicFramePr>
        <p:xfrm>
          <a:off x="46990" y="358140"/>
          <a:ext cx="1496695" cy="1643380"/>
        </p:xfrm>
        <a:graphic>
          <a:graphicData uri="http://schemas.openxmlformats.org/presentationml/2006/ole">
            <mc:AlternateContent xmlns:mc="http://schemas.openxmlformats.org/markup-compatibility/2006">
              <mc:Choice xmlns:v="urn:schemas-microsoft-com:vml" Requires="v">
                <p:oleObj spid="_x0000_s42009" r:id="rId9" imgW="1262380" imgH="1390650" progId="ChemDraw.Document.6.0">
                  <p:embed/>
                </p:oleObj>
              </mc:Choice>
              <mc:Fallback>
                <p:oleObj r:id="rId9" imgW="1262380" imgH="1390650" progId="ChemDraw.Document.6.0">
                  <p:embed/>
                  <p:pic>
                    <p:nvPicPr>
                      <p:cNvPr id="14" name="对象 13"/>
                      <p:cNvPicPr/>
                      <p:nvPr/>
                    </p:nvPicPr>
                    <p:blipFill>
                      <a:blip r:embed="rId10"/>
                      <a:stretch>
                        <a:fillRect/>
                      </a:stretch>
                    </p:blipFill>
                    <p:spPr>
                      <a:xfrm>
                        <a:off x="46990" y="358140"/>
                        <a:ext cx="1496695" cy="1643380"/>
                      </a:xfrm>
                      <a:prstGeom prst="rect">
                        <a:avLst/>
                      </a:prstGeom>
                    </p:spPr>
                  </p:pic>
                </p:oleObj>
              </mc:Fallback>
            </mc:AlternateContent>
          </a:graphicData>
        </a:graphic>
      </p:graphicFrame>
      <p:graphicFrame>
        <p:nvGraphicFramePr>
          <p:cNvPr id="16" name="对象 15"/>
          <p:cNvGraphicFramePr/>
          <p:nvPr/>
        </p:nvGraphicFramePr>
        <p:xfrm>
          <a:off x="158115" y="3520440"/>
          <a:ext cx="1680845" cy="1513840"/>
        </p:xfrm>
        <a:graphic>
          <a:graphicData uri="http://schemas.openxmlformats.org/presentationml/2006/ole">
            <mc:AlternateContent xmlns:mc="http://schemas.openxmlformats.org/markup-compatibility/2006">
              <mc:Choice xmlns:v="urn:schemas-microsoft-com:vml" Requires="v">
                <p:oleObj spid="_x0000_s42010" r:id="rId11" imgW="1423035" imgH="1281430" progId="ChemDraw.Document.6.0">
                  <p:embed/>
                </p:oleObj>
              </mc:Choice>
              <mc:Fallback>
                <p:oleObj r:id="rId11" imgW="1423035" imgH="1281430" progId="ChemDraw.Document.6.0">
                  <p:embed/>
                  <p:pic>
                    <p:nvPicPr>
                      <p:cNvPr id="16" name="对象 15"/>
                      <p:cNvPicPr/>
                      <p:nvPr/>
                    </p:nvPicPr>
                    <p:blipFill>
                      <a:blip r:embed="rId12"/>
                      <a:stretch>
                        <a:fillRect/>
                      </a:stretch>
                    </p:blipFill>
                    <p:spPr>
                      <a:xfrm>
                        <a:off x="158115" y="3520440"/>
                        <a:ext cx="1680845" cy="1513840"/>
                      </a:xfrm>
                      <a:prstGeom prst="rect">
                        <a:avLst/>
                      </a:prstGeom>
                    </p:spPr>
                  </p:pic>
                </p:oleObj>
              </mc:Fallback>
            </mc:AlternateContent>
          </a:graphicData>
        </a:graphic>
      </p:graphicFrame>
      <p:sp>
        <p:nvSpPr>
          <p:cNvPr id="18" name="文本框 17"/>
          <p:cNvSpPr txBox="1"/>
          <p:nvPr/>
        </p:nvSpPr>
        <p:spPr>
          <a:xfrm>
            <a:off x="44495" y="1999615"/>
            <a:ext cx="1586410" cy="646331"/>
          </a:xfrm>
          <a:prstGeom prst="rect">
            <a:avLst/>
          </a:prstGeom>
          <a:noFill/>
        </p:spPr>
        <p:txBody>
          <a:bodyPr wrap="square" rtlCol="0">
            <a:spAutoFit/>
          </a:bodyPr>
          <a:lstStyle/>
          <a:p>
            <a:pPr algn="ctr"/>
            <a:r>
              <a:rPr lang="zh-CN" altLang="en-US" dirty="0">
                <a:latin typeface="宋体" panose="02010600030101010101" pitchFamily="2" charset="-122"/>
                <a:ea typeface="宋体" panose="02010600030101010101" pitchFamily="2" charset="-122"/>
              </a:rPr>
              <a:t>氟伐他汀</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关键中间体</a:t>
            </a:r>
          </a:p>
        </p:txBody>
      </p:sp>
      <p:sp>
        <p:nvSpPr>
          <p:cNvPr id="10" name="文本框 9">
            <a:extLst>
              <a:ext uri="{FF2B5EF4-FFF2-40B4-BE49-F238E27FC236}">
                <a16:creationId xmlns:a16="http://schemas.microsoft.com/office/drawing/2014/main" id="{AB91F3A5-87AA-4452-A2E8-38BF72B3F63C}"/>
              </a:ext>
            </a:extLst>
          </p:cNvPr>
          <p:cNvSpPr txBox="1"/>
          <p:nvPr/>
        </p:nvSpPr>
        <p:spPr>
          <a:xfrm>
            <a:off x="205332" y="5187414"/>
            <a:ext cx="1586410" cy="646331"/>
          </a:xfrm>
          <a:prstGeom prst="rect">
            <a:avLst/>
          </a:prstGeom>
          <a:noFill/>
        </p:spPr>
        <p:txBody>
          <a:bodyPr wrap="square" rtlCol="0">
            <a:spAutoFit/>
          </a:bodyPr>
          <a:lstStyle/>
          <a:p>
            <a:pPr algn="ctr"/>
            <a:r>
              <a:rPr lang="zh-CN" altLang="en-US" dirty="0">
                <a:latin typeface="宋体" panose="02010600030101010101" pitchFamily="2" charset="-122"/>
                <a:ea typeface="宋体" panose="02010600030101010101" pitchFamily="2" charset="-122"/>
              </a:rPr>
              <a:t>阿托伐他汀</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关键中间体</a:t>
            </a:r>
          </a:p>
        </p:txBody>
      </p:sp>
    </p:spTree>
    <p:extLst>
      <p:ext uri="{BB962C8B-B14F-4D97-AF65-F5344CB8AC3E}">
        <p14:creationId xmlns:p14="http://schemas.microsoft.com/office/powerpoint/2010/main" val="5554815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对象 7"/>
          <p:cNvGraphicFramePr/>
          <p:nvPr/>
        </p:nvGraphicFramePr>
        <p:xfrm>
          <a:off x="2511425" y="138113"/>
          <a:ext cx="7639050" cy="1864360"/>
        </p:xfrm>
        <a:graphic>
          <a:graphicData uri="http://schemas.openxmlformats.org/presentationml/2006/ole">
            <mc:AlternateContent xmlns:mc="http://schemas.openxmlformats.org/markup-compatibility/2006">
              <mc:Choice xmlns:v="urn:schemas-microsoft-com:vml" Requires="v">
                <p:oleObj spid="_x0000_s43034" r:id="rId3" imgW="6452235" imgH="1577975" progId="ChemDraw.Document.6.0">
                  <p:embed/>
                </p:oleObj>
              </mc:Choice>
              <mc:Fallback>
                <p:oleObj r:id="rId3" imgW="6452235" imgH="1577975" progId="ChemDraw.Document.6.0">
                  <p:embed/>
                  <p:pic>
                    <p:nvPicPr>
                      <p:cNvPr id="8" name="对象 7"/>
                      <p:cNvPicPr/>
                      <p:nvPr/>
                    </p:nvPicPr>
                    <p:blipFill>
                      <a:blip r:embed="rId4"/>
                      <a:stretch>
                        <a:fillRect/>
                      </a:stretch>
                    </p:blipFill>
                    <p:spPr>
                      <a:xfrm>
                        <a:off x="2511425" y="138113"/>
                        <a:ext cx="7639050" cy="1864360"/>
                      </a:xfrm>
                      <a:prstGeom prst="rect">
                        <a:avLst/>
                      </a:prstGeom>
                    </p:spPr>
                  </p:pic>
                </p:oleObj>
              </mc:Fallback>
            </mc:AlternateContent>
          </a:graphicData>
        </a:graphic>
      </p:graphicFrame>
      <p:graphicFrame>
        <p:nvGraphicFramePr>
          <p:cNvPr id="10" name="对象 9"/>
          <p:cNvGraphicFramePr/>
          <p:nvPr/>
        </p:nvGraphicFramePr>
        <p:xfrm>
          <a:off x="2511425" y="2074228"/>
          <a:ext cx="5036185" cy="1694180"/>
        </p:xfrm>
        <a:graphic>
          <a:graphicData uri="http://schemas.openxmlformats.org/presentationml/2006/ole">
            <mc:AlternateContent xmlns:mc="http://schemas.openxmlformats.org/markup-compatibility/2006">
              <mc:Choice xmlns:v="urn:schemas-microsoft-com:vml" Requires="v">
                <p:oleObj spid="_x0000_s43035" r:id="rId5" imgW="4256405" imgH="1429385" progId="ChemDraw.Document.6.0">
                  <p:embed/>
                </p:oleObj>
              </mc:Choice>
              <mc:Fallback>
                <p:oleObj r:id="rId5" imgW="4256405" imgH="1429385" progId="ChemDraw.Document.6.0">
                  <p:embed/>
                  <p:pic>
                    <p:nvPicPr>
                      <p:cNvPr id="10" name="对象 9"/>
                      <p:cNvPicPr/>
                      <p:nvPr/>
                    </p:nvPicPr>
                    <p:blipFill>
                      <a:blip r:embed="rId6"/>
                      <a:stretch>
                        <a:fillRect/>
                      </a:stretch>
                    </p:blipFill>
                    <p:spPr>
                      <a:xfrm>
                        <a:off x="2511425" y="2074228"/>
                        <a:ext cx="5036185" cy="1694180"/>
                      </a:xfrm>
                      <a:prstGeom prst="rect">
                        <a:avLst/>
                      </a:prstGeom>
                    </p:spPr>
                  </p:pic>
                </p:oleObj>
              </mc:Fallback>
            </mc:AlternateContent>
          </a:graphicData>
        </a:graphic>
      </p:graphicFrame>
      <p:graphicFrame>
        <p:nvGraphicFramePr>
          <p:cNvPr id="12" name="对象 11"/>
          <p:cNvGraphicFramePr/>
          <p:nvPr/>
        </p:nvGraphicFramePr>
        <p:xfrm>
          <a:off x="66675" y="3732530"/>
          <a:ext cx="1544955" cy="1408430"/>
        </p:xfrm>
        <a:graphic>
          <a:graphicData uri="http://schemas.openxmlformats.org/presentationml/2006/ole">
            <mc:AlternateContent xmlns:mc="http://schemas.openxmlformats.org/markup-compatibility/2006">
              <mc:Choice xmlns:v="urn:schemas-microsoft-com:vml" Requires="v">
                <p:oleObj spid="_x0000_s43036" r:id="rId7" imgW="1307465" imgH="1191260" progId="ChemDraw.Document.6.0">
                  <p:embed/>
                </p:oleObj>
              </mc:Choice>
              <mc:Fallback>
                <p:oleObj r:id="rId7" imgW="1307465" imgH="1191260" progId="ChemDraw.Document.6.0">
                  <p:embed/>
                  <p:pic>
                    <p:nvPicPr>
                      <p:cNvPr id="12" name="对象 11"/>
                      <p:cNvPicPr/>
                      <p:nvPr/>
                    </p:nvPicPr>
                    <p:blipFill>
                      <a:blip r:embed="rId8"/>
                      <a:stretch>
                        <a:fillRect/>
                      </a:stretch>
                    </p:blipFill>
                    <p:spPr>
                      <a:xfrm>
                        <a:off x="66675" y="3732530"/>
                        <a:ext cx="1544955" cy="1408430"/>
                      </a:xfrm>
                      <a:prstGeom prst="rect">
                        <a:avLst/>
                      </a:prstGeom>
                    </p:spPr>
                  </p:pic>
                </p:oleObj>
              </mc:Fallback>
            </mc:AlternateContent>
          </a:graphicData>
        </a:graphic>
      </p:graphicFrame>
      <p:graphicFrame>
        <p:nvGraphicFramePr>
          <p:cNvPr id="14" name="对象 13"/>
          <p:cNvGraphicFramePr/>
          <p:nvPr/>
        </p:nvGraphicFramePr>
        <p:xfrm>
          <a:off x="-20320" y="286385"/>
          <a:ext cx="1718945" cy="1542415"/>
        </p:xfrm>
        <a:graphic>
          <a:graphicData uri="http://schemas.openxmlformats.org/presentationml/2006/ole">
            <mc:AlternateContent xmlns:mc="http://schemas.openxmlformats.org/markup-compatibility/2006">
              <mc:Choice xmlns:v="urn:schemas-microsoft-com:vml" Requires="v">
                <p:oleObj spid="_x0000_s43037" r:id="rId9" imgW="1455420" imgH="1300480" progId="ChemDraw.Document.6.0">
                  <p:embed/>
                </p:oleObj>
              </mc:Choice>
              <mc:Fallback>
                <p:oleObj r:id="rId9" imgW="1455420" imgH="1300480" progId="ChemDraw.Document.6.0">
                  <p:embed/>
                  <p:pic>
                    <p:nvPicPr>
                      <p:cNvPr id="14" name="对象 13"/>
                      <p:cNvPicPr/>
                      <p:nvPr/>
                    </p:nvPicPr>
                    <p:blipFill>
                      <a:blip r:embed="rId10"/>
                      <a:stretch>
                        <a:fillRect/>
                      </a:stretch>
                    </p:blipFill>
                    <p:spPr>
                      <a:xfrm>
                        <a:off x="-20320" y="286385"/>
                        <a:ext cx="1718945" cy="1542415"/>
                      </a:xfrm>
                      <a:prstGeom prst="rect">
                        <a:avLst/>
                      </a:prstGeom>
                    </p:spPr>
                  </p:pic>
                </p:oleObj>
              </mc:Fallback>
            </mc:AlternateContent>
          </a:graphicData>
        </a:graphic>
      </p:graphicFrame>
      <p:graphicFrame>
        <p:nvGraphicFramePr>
          <p:cNvPr id="21" name="对象 20"/>
          <p:cNvGraphicFramePr/>
          <p:nvPr/>
        </p:nvGraphicFramePr>
        <p:xfrm>
          <a:off x="2511425" y="3591878"/>
          <a:ext cx="7331710" cy="1689735"/>
        </p:xfrm>
        <a:graphic>
          <a:graphicData uri="http://schemas.openxmlformats.org/presentationml/2006/ole">
            <mc:AlternateContent xmlns:mc="http://schemas.openxmlformats.org/markup-compatibility/2006">
              <mc:Choice xmlns:v="urn:schemas-microsoft-com:vml" Requires="v">
                <p:oleObj spid="_x0000_s43038" r:id="rId11" imgW="6194425" imgH="1423035" progId="ChemDraw.Document.6.0">
                  <p:embed/>
                </p:oleObj>
              </mc:Choice>
              <mc:Fallback>
                <p:oleObj r:id="rId11" imgW="6194425" imgH="1423035" progId="ChemDraw.Document.6.0">
                  <p:embed/>
                  <p:pic>
                    <p:nvPicPr>
                      <p:cNvPr id="21" name="对象 20"/>
                      <p:cNvPicPr/>
                      <p:nvPr/>
                    </p:nvPicPr>
                    <p:blipFill>
                      <a:blip r:embed="rId12"/>
                      <a:stretch>
                        <a:fillRect/>
                      </a:stretch>
                    </p:blipFill>
                    <p:spPr>
                      <a:xfrm>
                        <a:off x="2511425" y="3591878"/>
                        <a:ext cx="7331710" cy="1689735"/>
                      </a:xfrm>
                      <a:prstGeom prst="rect">
                        <a:avLst/>
                      </a:prstGeom>
                    </p:spPr>
                  </p:pic>
                </p:oleObj>
              </mc:Fallback>
            </mc:AlternateContent>
          </a:graphicData>
        </a:graphic>
      </p:graphicFrame>
      <p:graphicFrame>
        <p:nvGraphicFramePr>
          <p:cNvPr id="23" name="对象 22"/>
          <p:cNvGraphicFramePr/>
          <p:nvPr/>
        </p:nvGraphicFramePr>
        <p:xfrm>
          <a:off x="2511425" y="5374958"/>
          <a:ext cx="4679950" cy="1477645"/>
        </p:xfrm>
        <a:graphic>
          <a:graphicData uri="http://schemas.openxmlformats.org/presentationml/2006/ole">
            <mc:AlternateContent xmlns:mc="http://schemas.openxmlformats.org/markup-compatibility/2006">
              <mc:Choice xmlns:v="urn:schemas-microsoft-com:vml" Requires="v">
                <p:oleObj spid="_x0000_s43039" r:id="rId13" imgW="3953510" imgH="1249045" progId="ChemDraw.Document.6.0">
                  <p:embed/>
                </p:oleObj>
              </mc:Choice>
              <mc:Fallback>
                <p:oleObj r:id="rId13" imgW="3953510" imgH="1249045" progId="ChemDraw.Document.6.0">
                  <p:embed/>
                  <p:pic>
                    <p:nvPicPr>
                      <p:cNvPr id="23" name="对象 22"/>
                      <p:cNvPicPr/>
                      <p:nvPr/>
                    </p:nvPicPr>
                    <p:blipFill>
                      <a:blip r:embed="rId14"/>
                      <a:stretch>
                        <a:fillRect/>
                      </a:stretch>
                    </p:blipFill>
                    <p:spPr>
                      <a:xfrm>
                        <a:off x="2511425" y="5374958"/>
                        <a:ext cx="4679950" cy="1477645"/>
                      </a:xfrm>
                      <a:prstGeom prst="rect">
                        <a:avLst/>
                      </a:prstGeom>
                    </p:spPr>
                  </p:pic>
                </p:oleObj>
              </mc:Fallback>
            </mc:AlternateContent>
          </a:graphicData>
        </a:graphic>
      </p:graphicFrame>
      <p:sp>
        <p:nvSpPr>
          <p:cNvPr id="11" name="文本框 10">
            <a:extLst>
              <a:ext uri="{FF2B5EF4-FFF2-40B4-BE49-F238E27FC236}">
                <a16:creationId xmlns:a16="http://schemas.microsoft.com/office/drawing/2014/main" id="{9E40E699-203E-4535-8BFC-F6C019C2A754}"/>
              </a:ext>
            </a:extLst>
          </p:cNvPr>
          <p:cNvSpPr txBox="1"/>
          <p:nvPr/>
        </p:nvSpPr>
        <p:spPr>
          <a:xfrm>
            <a:off x="33750" y="1964108"/>
            <a:ext cx="1586410" cy="646331"/>
          </a:xfrm>
          <a:prstGeom prst="rect">
            <a:avLst/>
          </a:prstGeom>
          <a:noFill/>
        </p:spPr>
        <p:txBody>
          <a:bodyPr wrap="square" rtlCol="0">
            <a:spAutoFit/>
          </a:bodyPr>
          <a:lstStyle/>
          <a:p>
            <a:pPr algn="ctr"/>
            <a:r>
              <a:rPr lang="zh-CN" altLang="en-US" dirty="0">
                <a:latin typeface="宋体" panose="02010600030101010101" pitchFamily="2" charset="-122"/>
                <a:ea typeface="宋体" panose="02010600030101010101" pitchFamily="2" charset="-122"/>
              </a:rPr>
              <a:t>瑞舒他汀</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关键中间体</a:t>
            </a:r>
          </a:p>
        </p:txBody>
      </p:sp>
      <p:sp>
        <p:nvSpPr>
          <p:cNvPr id="13" name="文本框 12">
            <a:extLst>
              <a:ext uri="{FF2B5EF4-FFF2-40B4-BE49-F238E27FC236}">
                <a16:creationId xmlns:a16="http://schemas.microsoft.com/office/drawing/2014/main" id="{B143DBE2-4712-4CAF-89F8-823A64054009}"/>
              </a:ext>
            </a:extLst>
          </p:cNvPr>
          <p:cNvSpPr txBox="1"/>
          <p:nvPr/>
        </p:nvSpPr>
        <p:spPr>
          <a:xfrm>
            <a:off x="66675" y="5281613"/>
            <a:ext cx="1586410" cy="646331"/>
          </a:xfrm>
          <a:prstGeom prst="rect">
            <a:avLst/>
          </a:prstGeom>
          <a:noFill/>
        </p:spPr>
        <p:txBody>
          <a:bodyPr wrap="square" rtlCol="0">
            <a:spAutoFit/>
          </a:bodyPr>
          <a:lstStyle/>
          <a:p>
            <a:pPr algn="ctr"/>
            <a:r>
              <a:rPr lang="zh-CN" altLang="en-US" dirty="0">
                <a:latin typeface="宋体" panose="02010600030101010101" pitchFamily="2" charset="-122"/>
                <a:ea typeface="宋体" panose="02010600030101010101" pitchFamily="2" charset="-122"/>
              </a:rPr>
              <a:t>匹伐他汀</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关键中间体</a:t>
            </a:r>
          </a:p>
        </p:txBody>
      </p:sp>
    </p:spTree>
    <p:extLst>
      <p:ext uri="{BB962C8B-B14F-4D97-AF65-F5344CB8AC3E}">
        <p14:creationId xmlns:p14="http://schemas.microsoft.com/office/powerpoint/2010/main" val="17819467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BFFC7562-B34A-4F9B-84FC-E8F75A7E862B}"/>
              </a:ext>
            </a:extLst>
          </p:cNvPr>
          <p:cNvSpPr/>
          <p:nvPr/>
        </p:nvSpPr>
        <p:spPr>
          <a:xfrm>
            <a:off x="223520" y="4298868"/>
            <a:ext cx="1599342" cy="748145"/>
          </a:xfrm>
          <a:prstGeom prst="rect">
            <a:avLst/>
          </a:prstGeom>
          <a:solidFill>
            <a:schemeClr val="accent1">
              <a:lumMod val="20000"/>
              <a:lumOff val="80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6" name="对象 5"/>
          <p:cNvGraphicFramePr/>
          <p:nvPr/>
        </p:nvGraphicFramePr>
        <p:xfrm>
          <a:off x="223520" y="2387283"/>
          <a:ext cx="9512935" cy="2941955"/>
        </p:xfrm>
        <a:graphic>
          <a:graphicData uri="http://schemas.openxmlformats.org/presentationml/2006/ole">
            <mc:AlternateContent xmlns:mc="http://schemas.openxmlformats.org/markup-compatibility/2006">
              <mc:Choice xmlns:v="urn:schemas-microsoft-com:vml" Requires="v">
                <p:oleObj spid="_x0000_s44042" r:id="rId3" imgW="8030210" imgH="2479040" progId="ChemDraw.Document.6.0">
                  <p:embed/>
                </p:oleObj>
              </mc:Choice>
              <mc:Fallback>
                <p:oleObj r:id="rId3" imgW="8030210" imgH="2479040" progId="ChemDraw.Document.6.0">
                  <p:embed/>
                  <p:pic>
                    <p:nvPicPr>
                      <p:cNvPr id="6" name="对象 5"/>
                      <p:cNvPicPr/>
                      <p:nvPr/>
                    </p:nvPicPr>
                    <p:blipFill>
                      <a:blip r:embed="rId4"/>
                      <a:stretch>
                        <a:fillRect/>
                      </a:stretch>
                    </p:blipFill>
                    <p:spPr>
                      <a:xfrm>
                        <a:off x="223520" y="2387283"/>
                        <a:ext cx="9512935" cy="2941955"/>
                      </a:xfrm>
                      <a:prstGeom prst="rect">
                        <a:avLst/>
                      </a:prstGeom>
                    </p:spPr>
                  </p:pic>
                </p:oleObj>
              </mc:Fallback>
            </mc:AlternateContent>
          </a:graphicData>
        </a:graphic>
      </p:graphicFrame>
      <p:sp>
        <p:nvSpPr>
          <p:cNvPr id="25" name="文本框 24"/>
          <p:cNvSpPr txBox="1"/>
          <p:nvPr/>
        </p:nvSpPr>
        <p:spPr>
          <a:xfrm>
            <a:off x="224155" y="721995"/>
            <a:ext cx="1509111" cy="369332"/>
          </a:xfrm>
          <a:prstGeom prst="rect">
            <a:avLst/>
          </a:prstGeom>
          <a:noFill/>
        </p:spPr>
        <p:txBody>
          <a:bodyPr wrap="square" rtlCol="0">
            <a:spAutoFit/>
          </a:bodyPr>
          <a:lstStyle/>
          <a:p>
            <a:r>
              <a:rPr lang="zh-CN" altLang="en-US" dirty="0">
                <a:latin typeface="宋体" panose="02010600030101010101" pitchFamily="2" charset="-122"/>
                <a:ea typeface="宋体" panose="02010600030101010101" pitchFamily="2" charset="-122"/>
              </a:rPr>
              <a:t>通用中间体：</a:t>
            </a:r>
          </a:p>
        </p:txBody>
      </p:sp>
      <p:graphicFrame>
        <p:nvGraphicFramePr>
          <p:cNvPr id="8" name="对象 7"/>
          <p:cNvGraphicFramePr/>
          <p:nvPr>
            <p:extLst/>
          </p:nvPr>
        </p:nvGraphicFramePr>
        <p:xfrm>
          <a:off x="2030864" y="363855"/>
          <a:ext cx="1742440" cy="1084580"/>
        </p:xfrm>
        <a:graphic>
          <a:graphicData uri="http://schemas.openxmlformats.org/presentationml/2006/ole">
            <mc:AlternateContent xmlns:mc="http://schemas.openxmlformats.org/markup-compatibility/2006">
              <mc:Choice xmlns:v="urn:schemas-microsoft-com:vml" Requires="v">
                <p:oleObj spid="_x0000_s44043" r:id="rId5" imgW="1468120" imgH="914400" progId="ChemDraw.Document.6.0">
                  <p:embed/>
                </p:oleObj>
              </mc:Choice>
              <mc:Fallback>
                <p:oleObj r:id="rId5" imgW="1468120" imgH="914400" progId="ChemDraw.Document.6.0">
                  <p:embed/>
                  <p:pic>
                    <p:nvPicPr>
                      <p:cNvPr id="8" name="对象 7"/>
                      <p:cNvPicPr/>
                      <p:nvPr/>
                    </p:nvPicPr>
                    <p:blipFill>
                      <a:blip r:embed="rId6"/>
                      <a:stretch>
                        <a:fillRect/>
                      </a:stretch>
                    </p:blipFill>
                    <p:spPr>
                      <a:xfrm>
                        <a:off x="2030864" y="363855"/>
                        <a:ext cx="1742440" cy="1084580"/>
                      </a:xfrm>
                      <a:prstGeom prst="rect">
                        <a:avLst/>
                      </a:prstGeom>
                    </p:spPr>
                  </p:pic>
                </p:oleObj>
              </mc:Fallback>
            </mc:AlternateContent>
          </a:graphicData>
        </a:graphic>
      </p:graphicFrame>
    </p:spTree>
    <p:extLst>
      <p:ext uri="{BB962C8B-B14F-4D97-AF65-F5344CB8AC3E}">
        <p14:creationId xmlns:p14="http://schemas.microsoft.com/office/powerpoint/2010/main" val="22023065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F43CC914-37F3-46C1-B403-B5D977947AC0}"/>
              </a:ext>
            </a:extLst>
          </p:cNvPr>
          <p:cNvSpPr/>
          <p:nvPr/>
        </p:nvSpPr>
        <p:spPr>
          <a:xfrm>
            <a:off x="7194336" y="2228851"/>
            <a:ext cx="1599342" cy="748145"/>
          </a:xfrm>
          <a:prstGeom prst="rect">
            <a:avLst/>
          </a:prstGeom>
          <a:solidFill>
            <a:schemeClr val="accent1">
              <a:lumMod val="20000"/>
              <a:lumOff val="80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4" name="对象 3"/>
          <p:cNvGraphicFramePr/>
          <p:nvPr/>
        </p:nvGraphicFramePr>
        <p:xfrm>
          <a:off x="224155" y="2228851"/>
          <a:ext cx="10560050" cy="3177540"/>
        </p:xfrm>
        <a:graphic>
          <a:graphicData uri="http://schemas.openxmlformats.org/presentationml/2006/ole">
            <mc:AlternateContent xmlns:mc="http://schemas.openxmlformats.org/markup-compatibility/2006">
              <mc:Choice xmlns:v="urn:schemas-microsoft-com:vml" Requires="v">
                <p:oleObj spid="_x0000_s45066" r:id="rId3" imgW="8487410" imgH="2536825" progId="ChemDraw.Document.6.0">
                  <p:embed/>
                </p:oleObj>
              </mc:Choice>
              <mc:Fallback>
                <p:oleObj r:id="rId3" imgW="8487410" imgH="2536825" progId="ChemDraw.Document.6.0">
                  <p:embed/>
                  <p:pic>
                    <p:nvPicPr>
                      <p:cNvPr id="4" name="对象 3"/>
                      <p:cNvPicPr/>
                      <p:nvPr/>
                    </p:nvPicPr>
                    <p:blipFill>
                      <a:blip r:embed="rId4"/>
                      <a:stretch>
                        <a:fillRect/>
                      </a:stretch>
                    </p:blipFill>
                    <p:spPr>
                      <a:xfrm>
                        <a:off x="224155" y="2228851"/>
                        <a:ext cx="10560050" cy="3177540"/>
                      </a:xfrm>
                      <a:prstGeom prst="rect">
                        <a:avLst/>
                      </a:prstGeom>
                    </p:spPr>
                  </p:pic>
                </p:oleObj>
              </mc:Fallback>
            </mc:AlternateContent>
          </a:graphicData>
        </a:graphic>
      </p:graphicFrame>
      <p:graphicFrame>
        <p:nvGraphicFramePr>
          <p:cNvPr id="6" name="对象 5"/>
          <p:cNvGraphicFramePr/>
          <p:nvPr/>
        </p:nvGraphicFramePr>
        <p:xfrm>
          <a:off x="1743287" y="470853"/>
          <a:ext cx="1963420" cy="905510"/>
        </p:xfrm>
        <a:graphic>
          <a:graphicData uri="http://schemas.openxmlformats.org/presentationml/2006/ole">
            <mc:AlternateContent xmlns:mc="http://schemas.openxmlformats.org/markup-compatibility/2006">
              <mc:Choice xmlns:v="urn:schemas-microsoft-com:vml" Requires="v">
                <p:oleObj spid="_x0000_s45067" r:id="rId5" imgW="1654810" imgH="760095" progId="ChemDraw.Document.6.0">
                  <p:embed/>
                </p:oleObj>
              </mc:Choice>
              <mc:Fallback>
                <p:oleObj r:id="rId5" imgW="1654810" imgH="760095" progId="ChemDraw.Document.6.0">
                  <p:embed/>
                  <p:pic>
                    <p:nvPicPr>
                      <p:cNvPr id="6" name="对象 5"/>
                      <p:cNvPicPr/>
                      <p:nvPr/>
                    </p:nvPicPr>
                    <p:blipFill>
                      <a:blip r:embed="rId6"/>
                      <a:stretch>
                        <a:fillRect/>
                      </a:stretch>
                    </p:blipFill>
                    <p:spPr>
                      <a:xfrm>
                        <a:off x="1743287" y="470853"/>
                        <a:ext cx="1963420" cy="905510"/>
                      </a:xfrm>
                      <a:prstGeom prst="rect">
                        <a:avLst/>
                      </a:prstGeom>
                    </p:spPr>
                  </p:pic>
                </p:oleObj>
              </mc:Fallback>
            </mc:AlternateContent>
          </a:graphicData>
        </a:graphic>
      </p:graphicFrame>
      <p:sp>
        <p:nvSpPr>
          <p:cNvPr id="7" name="文本框 6">
            <a:extLst>
              <a:ext uri="{FF2B5EF4-FFF2-40B4-BE49-F238E27FC236}">
                <a16:creationId xmlns:a16="http://schemas.microsoft.com/office/drawing/2014/main" id="{337C72F2-55B2-4D7C-9F51-5DE423A5D1C2}"/>
              </a:ext>
            </a:extLst>
          </p:cNvPr>
          <p:cNvSpPr txBox="1"/>
          <p:nvPr/>
        </p:nvSpPr>
        <p:spPr>
          <a:xfrm>
            <a:off x="234176" y="738942"/>
            <a:ext cx="1509111" cy="369332"/>
          </a:xfrm>
          <a:prstGeom prst="rect">
            <a:avLst/>
          </a:prstGeom>
          <a:noFill/>
        </p:spPr>
        <p:txBody>
          <a:bodyPr wrap="square" rtlCol="0">
            <a:spAutoFit/>
          </a:bodyPr>
          <a:lstStyle/>
          <a:p>
            <a:r>
              <a:rPr lang="zh-CN" altLang="en-US" dirty="0">
                <a:latin typeface="宋体" panose="02010600030101010101" pitchFamily="2" charset="-122"/>
                <a:ea typeface="宋体" panose="02010600030101010101" pitchFamily="2" charset="-122"/>
              </a:rPr>
              <a:t>通用中间体：</a:t>
            </a:r>
          </a:p>
        </p:txBody>
      </p:sp>
    </p:spTree>
    <p:extLst>
      <p:ext uri="{BB962C8B-B14F-4D97-AF65-F5344CB8AC3E}">
        <p14:creationId xmlns:p14="http://schemas.microsoft.com/office/powerpoint/2010/main" val="8453275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对象 7">
            <a:extLst>
              <a:ext uri="{FF2B5EF4-FFF2-40B4-BE49-F238E27FC236}">
                <a16:creationId xmlns:a16="http://schemas.microsoft.com/office/drawing/2014/main" id="{3C70BBA5-EF38-4688-830D-963AC2EDEA62}"/>
              </a:ext>
            </a:extLst>
          </p:cNvPr>
          <p:cNvGraphicFramePr/>
          <p:nvPr>
            <p:extLst>
              <p:ext uri="{D42A27DB-BD31-4B8C-83A1-F6EECF244321}">
                <p14:modId xmlns:p14="http://schemas.microsoft.com/office/powerpoint/2010/main" val="289966514"/>
              </p:ext>
            </p:extLst>
          </p:nvPr>
        </p:nvGraphicFramePr>
        <p:xfrm>
          <a:off x="642906" y="1609907"/>
          <a:ext cx="1496695" cy="1643380"/>
        </p:xfrm>
        <a:graphic>
          <a:graphicData uri="http://schemas.openxmlformats.org/presentationml/2006/ole">
            <mc:AlternateContent xmlns:mc="http://schemas.openxmlformats.org/markup-compatibility/2006">
              <mc:Choice xmlns:v="urn:schemas-microsoft-com:vml" Requires="v">
                <p:oleObj spid="_x0000_s46106" r:id="rId3" imgW="1262380" imgH="1390650" progId="ChemDraw.Document.6.0">
                  <p:embed/>
                </p:oleObj>
              </mc:Choice>
              <mc:Fallback>
                <p:oleObj r:id="rId3" imgW="1262380" imgH="1390650" progId="ChemDraw.Document.6.0">
                  <p:embed/>
                  <p:pic>
                    <p:nvPicPr>
                      <p:cNvPr id="14" name="对象 13"/>
                      <p:cNvPicPr/>
                      <p:nvPr/>
                    </p:nvPicPr>
                    <p:blipFill>
                      <a:blip r:embed="rId4"/>
                      <a:stretch>
                        <a:fillRect/>
                      </a:stretch>
                    </p:blipFill>
                    <p:spPr>
                      <a:xfrm>
                        <a:off x="642906" y="1609907"/>
                        <a:ext cx="1496695" cy="1643380"/>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7DD3C6EB-E48E-468B-BFE2-806908309D45}"/>
              </a:ext>
            </a:extLst>
          </p:cNvPr>
          <p:cNvGraphicFramePr/>
          <p:nvPr>
            <p:extLst>
              <p:ext uri="{D42A27DB-BD31-4B8C-83A1-F6EECF244321}">
                <p14:modId xmlns:p14="http://schemas.microsoft.com/office/powerpoint/2010/main" val="1034309902"/>
              </p:ext>
            </p:extLst>
          </p:nvPr>
        </p:nvGraphicFramePr>
        <p:xfrm>
          <a:off x="5919708" y="1592744"/>
          <a:ext cx="1680845" cy="1513840"/>
        </p:xfrm>
        <a:graphic>
          <a:graphicData uri="http://schemas.openxmlformats.org/presentationml/2006/ole">
            <mc:AlternateContent xmlns:mc="http://schemas.openxmlformats.org/markup-compatibility/2006">
              <mc:Choice xmlns:v="urn:schemas-microsoft-com:vml" Requires="v">
                <p:oleObj spid="_x0000_s46107" r:id="rId5" imgW="1423035" imgH="1281430" progId="ChemDraw.Document.6.0">
                  <p:embed/>
                </p:oleObj>
              </mc:Choice>
              <mc:Fallback>
                <p:oleObj r:id="rId5" imgW="1423035" imgH="1281430" progId="ChemDraw.Document.6.0">
                  <p:embed/>
                  <p:pic>
                    <p:nvPicPr>
                      <p:cNvPr id="16" name="对象 15"/>
                      <p:cNvPicPr/>
                      <p:nvPr/>
                    </p:nvPicPr>
                    <p:blipFill>
                      <a:blip r:embed="rId6"/>
                      <a:stretch>
                        <a:fillRect/>
                      </a:stretch>
                    </p:blipFill>
                    <p:spPr>
                      <a:xfrm>
                        <a:off x="5919708" y="1592744"/>
                        <a:ext cx="1680845" cy="1513840"/>
                      </a:xfrm>
                      <a:prstGeom prst="rect">
                        <a:avLst/>
                      </a:prstGeom>
                    </p:spPr>
                  </p:pic>
                </p:oleObj>
              </mc:Fallback>
            </mc:AlternateContent>
          </a:graphicData>
        </a:graphic>
      </p:graphicFrame>
      <p:sp>
        <p:nvSpPr>
          <p:cNvPr id="10" name="文本框 9">
            <a:extLst>
              <a:ext uri="{FF2B5EF4-FFF2-40B4-BE49-F238E27FC236}">
                <a16:creationId xmlns:a16="http://schemas.microsoft.com/office/drawing/2014/main" id="{3EF26352-4A92-40CA-8A21-508685E7D96D}"/>
              </a:ext>
            </a:extLst>
          </p:cNvPr>
          <p:cNvSpPr txBox="1"/>
          <p:nvPr/>
        </p:nvSpPr>
        <p:spPr>
          <a:xfrm>
            <a:off x="640411" y="3251382"/>
            <a:ext cx="1586410" cy="646331"/>
          </a:xfrm>
          <a:prstGeom prst="rect">
            <a:avLst/>
          </a:prstGeom>
          <a:noFill/>
        </p:spPr>
        <p:txBody>
          <a:bodyPr wrap="square" rtlCol="0">
            <a:spAutoFit/>
          </a:bodyPr>
          <a:lstStyle/>
          <a:p>
            <a:pPr algn="ctr"/>
            <a:r>
              <a:rPr lang="zh-CN" altLang="en-US" dirty="0">
                <a:latin typeface="宋体" panose="02010600030101010101" pitchFamily="2" charset="-122"/>
                <a:ea typeface="宋体" panose="02010600030101010101" pitchFamily="2" charset="-122"/>
              </a:rPr>
              <a:t>氟伐他汀</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关键中间体</a:t>
            </a:r>
          </a:p>
        </p:txBody>
      </p:sp>
      <p:sp>
        <p:nvSpPr>
          <p:cNvPr id="11" name="文本框 10">
            <a:extLst>
              <a:ext uri="{FF2B5EF4-FFF2-40B4-BE49-F238E27FC236}">
                <a16:creationId xmlns:a16="http://schemas.microsoft.com/office/drawing/2014/main" id="{4AC00936-8083-4946-96D4-A682AFB14B7C}"/>
              </a:ext>
            </a:extLst>
          </p:cNvPr>
          <p:cNvSpPr txBox="1"/>
          <p:nvPr/>
        </p:nvSpPr>
        <p:spPr>
          <a:xfrm>
            <a:off x="5966925" y="3259718"/>
            <a:ext cx="1586410" cy="646331"/>
          </a:xfrm>
          <a:prstGeom prst="rect">
            <a:avLst/>
          </a:prstGeom>
          <a:noFill/>
        </p:spPr>
        <p:txBody>
          <a:bodyPr wrap="square" rtlCol="0">
            <a:spAutoFit/>
          </a:bodyPr>
          <a:lstStyle/>
          <a:p>
            <a:pPr algn="ctr"/>
            <a:r>
              <a:rPr lang="zh-CN" altLang="en-US" dirty="0">
                <a:latin typeface="宋体" panose="02010600030101010101" pitchFamily="2" charset="-122"/>
                <a:ea typeface="宋体" panose="02010600030101010101" pitchFamily="2" charset="-122"/>
              </a:rPr>
              <a:t>阿托伐他汀</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关键中间体</a:t>
            </a:r>
          </a:p>
        </p:txBody>
      </p:sp>
      <p:graphicFrame>
        <p:nvGraphicFramePr>
          <p:cNvPr id="12" name="对象 11">
            <a:extLst>
              <a:ext uri="{FF2B5EF4-FFF2-40B4-BE49-F238E27FC236}">
                <a16:creationId xmlns:a16="http://schemas.microsoft.com/office/drawing/2014/main" id="{9A6E8F21-483B-4956-AE4F-E253F2FA376F}"/>
              </a:ext>
            </a:extLst>
          </p:cNvPr>
          <p:cNvGraphicFramePr/>
          <p:nvPr>
            <p:extLst>
              <p:ext uri="{D42A27DB-BD31-4B8C-83A1-F6EECF244321}">
                <p14:modId xmlns:p14="http://schemas.microsoft.com/office/powerpoint/2010/main" val="2283430717"/>
              </p:ext>
            </p:extLst>
          </p:nvPr>
        </p:nvGraphicFramePr>
        <p:xfrm>
          <a:off x="8703808" y="1592744"/>
          <a:ext cx="1544955" cy="1408430"/>
        </p:xfrm>
        <a:graphic>
          <a:graphicData uri="http://schemas.openxmlformats.org/presentationml/2006/ole">
            <mc:AlternateContent xmlns:mc="http://schemas.openxmlformats.org/markup-compatibility/2006">
              <mc:Choice xmlns:v="urn:schemas-microsoft-com:vml" Requires="v">
                <p:oleObj spid="_x0000_s46108" r:id="rId7" imgW="1307465" imgH="1191260" progId="ChemDraw.Document.6.0">
                  <p:embed/>
                </p:oleObj>
              </mc:Choice>
              <mc:Fallback>
                <p:oleObj r:id="rId7" imgW="1307465" imgH="1191260" progId="ChemDraw.Document.6.0">
                  <p:embed/>
                  <p:pic>
                    <p:nvPicPr>
                      <p:cNvPr id="12" name="对象 11"/>
                      <p:cNvPicPr/>
                      <p:nvPr/>
                    </p:nvPicPr>
                    <p:blipFill>
                      <a:blip r:embed="rId8"/>
                      <a:stretch>
                        <a:fillRect/>
                      </a:stretch>
                    </p:blipFill>
                    <p:spPr>
                      <a:xfrm>
                        <a:off x="8703808" y="1592744"/>
                        <a:ext cx="1544955" cy="1408430"/>
                      </a:xfrm>
                      <a:prstGeom prst="rect">
                        <a:avLst/>
                      </a:prstGeom>
                    </p:spPr>
                  </p:pic>
                </p:oleObj>
              </mc:Fallback>
            </mc:AlternateContent>
          </a:graphicData>
        </a:graphic>
      </p:graphicFrame>
      <p:graphicFrame>
        <p:nvGraphicFramePr>
          <p:cNvPr id="13" name="对象 12">
            <a:extLst>
              <a:ext uri="{FF2B5EF4-FFF2-40B4-BE49-F238E27FC236}">
                <a16:creationId xmlns:a16="http://schemas.microsoft.com/office/drawing/2014/main" id="{B9954E81-0492-46A3-92F7-6120C01E3299}"/>
              </a:ext>
            </a:extLst>
          </p:cNvPr>
          <p:cNvGraphicFramePr/>
          <p:nvPr>
            <p:extLst>
              <p:ext uri="{D42A27DB-BD31-4B8C-83A1-F6EECF244321}">
                <p14:modId xmlns:p14="http://schemas.microsoft.com/office/powerpoint/2010/main" val="3893514542"/>
              </p:ext>
            </p:extLst>
          </p:nvPr>
        </p:nvGraphicFramePr>
        <p:xfrm>
          <a:off x="3093614" y="1592744"/>
          <a:ext cx="1718945" cy="1542415"/>
        </p:xfrm>
        <a:graphic>
          <a:graphicData uri="http://schemas.openxmlformats.org/presentationml/2006/ole">
            <mc:AlternateContent xmlns:mc="http://schemas.openxmlformats.org/markup-compatibility/2006">
              <mc:Choice xmlns:v="urn:schemas-microsoft-com:vml" Requires="v">
                <p:oleObj spid="_x0000_s46109" r:id="rId9" imgW="1455420" imgH="1300480" progId="ChemDraw.Document.6.0">
                  <p:embed/>
                </p:oleObj>
              </mc:Choice>
              <mc:Fallback>
                <p:oleObj r:id="rId9" imgW="1455420" imgH="1300480" progId="ChemDraw.Document.6.0">
                  <p:embed/>
                  <p:pic>
                    <p:nvPicPr>
                      <p:cNvPr id="14" name="对象 13"/>
                      <p:cNvPicPr/>
                      <p:nvPr/>
                    </p:nvPicPr>
                    <p:blipFill>
                      <a:blip r:embed="rId10"/>
                      <a:stretch>
                        <a:fillRect/>
                      </a:stretch>
                    </p:blipFill>
                    <p:spPr>
                      <a:xfrm>
                        <a:off x="3093614" y="1592744"/>
                        <a:ext cx="1718945" cy="1542415"/>
                      </a:xfrm>
                      <a:prstGeom prst="rect">
                        <a:avLst/>
                      </a:prstGeom>
                    </p:spPr>
                  </p:pic>
                </p:oleObj>
              </mc:Fallback>
            </mc:AlternateContent>
          </a:graphicData>
        </a:graphic>
      </p:graphicFrame>
      <p:sp>
        <p:nvSpPr>
          <p:cNvPr id="14" name="文本框 13">
            <a:extLst>
              <a:ext uri="{FF2B5EF4-FFF2-40B4-BE49-F238E27FC236}">
                <a16:creationId xmlns:a16="http://schemas.microsoft.com/office/drawing/2014/main" id="{814764FB-C23C-4CD3-AF97-CAFD6D4FB1FD}"/>
              </a:ext>
            </a:extLst>
          </p:cNvPr>
          <p:cNvSpPr txBox="1"/>
          <p:nvPr/>
        </p:nvSpPr>
        <p:spPr>
          <a:xfrm>
            <a:off x="3147684" y="3270467"/>
            <a:ext cx="1586410" cy="646331"/>
          </a:xfrm>
          <a:prstGeom prst="rect">
            <a:avLst/>
          </a:prstGeom>
          <a:noFill/>
        </p:spPr>
        <p:txBody>
          <a:bodyPr wrap="square" rtlCol="0">
            <a:spAutoFit/>
          </a:bodyPr>
          <a:lstStyle/>
          <a:p>
            <a:pPr algn="ctr"/>
            <a:r>
              <a:rPr lang="zh-CN" altLang="en-US" dirty="0">
                <a:latin typeface="宋体" panose="02010600030101010101" pitchFamily="2" charset="-122"/>
                <a:ea typeface="宋体" panose="02010600030101010101" pitchFamily="2" charset="-122"/>
              </a:rPr>
              <a:t>瑞舒他汀</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关键中间体</a:t>
            </a:r>
          </a:p>
        </p:txBody>
      </p:sp>
      <p:sp>
        <p:nvSpPr>
          <p:cNvPr id="15" name="文本框 14">
            <a:extLst>
              <a:ext uri="{FF2B5EF4-FFF2-40B4-BE49-F238E27FC236}">
                <a16:creationId xmlns:a16="http://schemas.microsoft.com/office/drawing/2014/main" id="{377DD284-A5E0-474E-AB2E-341F230A2FF8}"/>
              </a:ext>
            </a:extLst>
          </p:cNvPr>
          <p:cNvSpPr txBox="1"/>
          <p:nvPr/>
        </p:nvSpPr>
        <p:spPr>
          <a:xfrm>
            <a:off x="8703808" y="3141827"/>
            <a:ext cx="1586410" cy="646331"/>
          </a:xfrm>
          <a:prstGeom prst="rect">
            <a:avLst/>
          </a:prstGeom>
          <a:noFill/>
        </p:spPr>
        <p:txBody>
          <a:bodyPr wrap="square" rtlCol="0">
            <a:spAutoFit/>
          </a:bodyPr>
          <a:lstStyle/>
          <a:p>
            <a:pPr algn="ctr"/>
            <a:r>
              <a:rPr lang="zh-CN" altLang="en-US" dirty="0">
                <a:latin typeface="宋体" panose="02010600030101010101" pitchFamily="2" charset="-122"/>
                <a:ea typeface="宋体" panose="02010600030101010101" pitchFamily="2" charset="-122"/>
              </a:rPr>
              <a:t>匹伐他汀</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关键中间体</a:t>
            </a:r>
          </a:p>
        </p:txBody>
      </p:sp>
      <p:sp>
        <p:nvSpPr>
          <p:cNvPr id="16" name="文本框 15">
            <a:extLst>
              <a:ext uri="{FF2B5EF4-FFF2-40B4-BE49-F238E27FC236}">
                <a16:creationId xmlns:a16="http://schemas.microsoft.com/office/drawing/2014/main" id="{4C5E58A1-5F08-42CA-AA69-A6A15F8A882D}"/>
              </a:ext>
            </a:extLst>
          </p:cNvPr>
          <p:cNvSpPr txBox="1"/>
          <p:nvPr/>
        </p:nvSpPr>
        <p:spPr>
          <a:xfrm>
            <a:off x="640411" y="5444121"/>
            <a:ext cx="1509111" cy="369332"/>
          </a:xfrm>
          <a:prstGeom prst="rect">
            <a:avLst/>
          </a:prstGeom>
          <a:noFill/>
        </p:spPr>
        <p:txBody>
          <a:bodyPr wrap="square" rtlCol="0">
            <a:spAutoFit/>
          </a:bodyPr>
          <a:lstStyle/>
          <a:p>
            <a:r>
              <a:rPr lang="zh-CN" altLang="en-US" dirty="0">
                <a:latin typeface="宋体" panose="02010600030101010101" pitchFamily="2" charset="-122"/>
                <a:ea typeface="宋体" panose="02010600030101010101" pitchFamily="2" charset="-122"/>
              </a:rPr>
              <a:t>通用中间体：</a:t>
            </a:r>
          </a:p>
        </p:txBody>
      </p:sp>
      <p:graphicFrame>
        <p:nvGraphicFramePr>
          <p:cNvPr id="17" name="对象 16">
            <a:extLst>
              <a:ext uri="{FF2B5EF4-FFF2-40B4-BE49-F238E27FC236}">
                <a16:creationId xmlns:a16="http://schemas.microsoft.com/office/drawing/2014/main" id="{975CCE68-1A6D-45B2-96C2-A1E95BAB90E3}"/>
              </a:ext>
            </a:extLst>
          </p:cNvPr>
          <p:cNvGraphicFramePr/>
          <p:nvPr>
            <p:extLst>
              <p:ext uri="{D42A27DB-BD31-4B8C-83A1-F6EECF244321}">
                <p14:modId xmlns:p14="http://schemas.microsoft.com/office/powerpoint/2010/main" val="791967"/>
              </p:ext>
            </p:extLst>
          </p:nvPr>
        </p:nvGraphicFramePr>
        <p:xfrm>
          <a:off x="2447120" y="5085981"/>
          <a:ext cx="1742440" cy="1084580"/>
        </p:xfrm>
        <a:graphic>
          <a:graphicData uri="http://schemas.openxmlformats.org/presentationml/2006/ole">
            <mc:AlternateContent xmlns:mc="http://schemas.openxmlformats.org/markup-compatibility/2006">
              <mc:Choice xmlns:v="urn:schemas-microsoft-com:vml" Requires="v">
                <p:oleObj spid="_x0000_s46110" r:id="rId11" imgW="1468120" imgH="914400" progId="ChemDraw.Document.6.0">
                  <p:embed/>
                </p:oleObj>
              </mc:Choice>
              <mc:Fallback>
                <p:oleObj r:id="rId11" imgW="1468120" imgH="914400" progId="ChemDraw.Document.6.0">
                  <p:embed/>
                  <p:pic>
                    <p:nvPicPr>
                      <p:cNvPr id="8" name="对象 7"/>
                      <p:cNvPicPr/>
                      <p:nvPr/>
                    </p:nvPicPr>
                    <p:blipFill>
                      <a:blip r:embed="rId12"/>
                      <a:stretch>
                        <a:fillRect/>
                      </a:stretch>
                    </p:blipFill>
                    <p:spPr>
                      <a:xfrm>
                        <a:off x="2447120" y="5085981"/>
                        <a:ext cx="1742440" cy="1084580"/>
                      </a:xfrm>
                      <a:prstGeom prst="rect">
                        <a:avLst/>
                      </a:prstGeom>
                    </p:spPr>
                  </p:pic>
                </p:oleObj>
              </mc:Fallback>
            </mc:AlternateContent>
          </a:graphicData>
        </a:graphic>
      </p:graphicFrame>
      <p:graphicFrame>
        <p:nvGraphicFramePr>
          <p:cNvPr id="18" name="对象 17">
            <a:extLst>
              <a:ext uri="{FF2B5EF4-FFF2-40B4-BE49-F238E27FC236}">
                <a16:creationId xmlns:a16="http://schemas.microsoft.com/office/drawing/2014/main" id="{C0A96776-0AE7-4BB4-837B-116925577927}"/>
              </a:ext>
            </a:extLst>
          </p:cNvPr>
          <p:cNvGraphicFramePr/>
          <p:nvPr>
            <p:extLst>
              <p:ext uri="{D42A27DB-BD31-4B8C-83A1-F6EECF244321}">
                <p14:modId xmlns:p14="http://schemas.microsoft.com/office/powerpoint/2010/main" val="1002407942"/>
              </p:ext>
            </p:extLst>
          </p:nvPr>
        </p:nvGraphicFramePr>
        <p:xfrm>
          <a:off x="4851264" y="5085981"/>
          <a:ext cx="1963420" cy="1028216"/>
        </p:xfrm>
        <a:graphic>
          <a:graphicData uri="http://schemas.openxmlformats.org/presentationml/2006/ole">
            <mc:AlternateContent xmlns:mc="http://schemas.openxmlformats.org/markup-compatibility/2006">
              <mc:Choice xmlns:v="urn:schemas-microsoft-com:vml" Requires="v">
                <p:oleObj spid="_x0000_s46111" r:id="rId13" imgW="1654810" imgH="760095" progId="ChemDraw.Document.6.0">
                  <p:embed/>
                </p:oleObj>
              </mc:Choice>
              <mc:Fallback>
                <p:oleObj r:id="rId13" imgW="1654810" imgH="760095" progId="ChemDraw.Document.6.0">
                  <p:embed/>
                  <p:pic>
                    <p:nvPicPr>
                      <p:cNvPr id="6" name="对象 5"/>
                      <p:cNvPicPr/>
                      <p:nvPr/>
                    </p:nvPicPr>
                    <p:blipFill>
                      <a:blip r:embed="rId14"/>
                      <a:stretch>
                        <a:fillRect/>
                      </a:stretch>
                    </p:blipFill>
                    <p:spPr>
                      <a:xfrm>
                        <a:off x="4851264" y="5085981"/>
                        <a:ext cx="1963420" cy="1028216"/>
                      </a:xfrm>
                      <a:prstGeom prst="rect">
                        <a:avLst/>
                      </a:prstGeom>
                    </p:spPr>
                  </p:pic>
                </p:oleObj>
              </mc:Fallback>
            </mc:AlternateContent>
          </a:graphicData>
        </a:graphic>
      </p:graphicFrame>
      <p:sp>
        <p:nvSpPr>
          <p:cNvPr id="2" name="矩形 1">
            <a:extLst>
              <a:ext uri="{FF2B5EF4-FFF2-40B4-BE49-F238E27FC236}">
                <a16:creationId xmlns:a16="http://schemas.microsoft.com/office/drawing/2014/main" id="{0E2D0F79-DAF8-4840-95E7-CCFAADB2529E}"/>
              </a:ext>
            </a:extLst>
          </p:cNvPr>
          <p:cNvSpPr/>
          <p:nvPr/>
        </p:nvSpPr>
        <p:spPr>
          <a:xfrm>
            <a:off x="568056" y="859881"/>
            <a:ext cx="4544834" cy="369332"/>
          </a:xfrm>
          <a:prstGeom prst="rect">
            <a:avLst/>
          </a:prstGeom>
        </p:spPr>
        <p:txBody>
          <a:bodyPr wrap="none">
            <a:spAutoFit/>
          </a:bodyPr>
          <a:lstStyle/>
          <a:p>
            <a:r>
              <a:rPr lang="zh-CN" altLang="en-US" dirty="0"/>
              <a:t>AI模型的训练数据和知识库构建通用中间体</a:t>
            </a:r>
          </a:p>
        </p:txBody>
      </p:sp>
      <p:sp>
        <p:nvSpPr>
          <p:cNvPr id="19" name="矩形 18">
            <a:extLst>
              <a:ext uri="{FF2B5EF4-FFF2-40B4-BE49-F238E27FC236}">
                <a16:creationId xmlns:a16="http://schemas.microsoft.com/office/drawing/2014/main" id="{18836DF1-F759-40BC-B54F-283E0289898F}"/>
              </a:ext>
            </a:extLst>
          </p:cNvPr>
          <p:cNvSpPr/>
          <p:nvPr/>
        </p:nvSpPr>
        <p:spPr>
          <a:xfrm>
            <a:off x="609000" y="4422470"/>
            <a:ext cx="2954655" cy="369332"/>
          </a:xfrm>
          <a:prstGeom prst="rect">
            <a:avLst/>
          </a:prstGeom>
        </p:spPr>
        <p:txBody>
          <a:bodyPr wrap="none">
            <a:spAutoFit/>
          </a:bodyPr>
          <a:lstStyle/>
          <a:p>
            <a:r>
              <a:rPr lang="zh-CN" altLang="en-US" dirty="0"/>
              <a:t>利用酶催化构建通用中间体</a:t>
            </a:r>
          </a:p>
        </p:txBody>
      </p:sp>
    </p:spTree>
    <p:extLst>
      <p:ext uri="{BB962C8B-B14F-4D97-AF65-F5344CB8AC3E}">
        <p14:creationId xmlns:p14="http://schemas.microsoft.com/office/powerpoint/2010/main" val="32215606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B90EB281-7104-4A27-8596-923832C9E192}"/>
              </a:ext>
            </a:extLst>
          </p:cNvPr>
          <p:cNvSpPr>
            <a:spLocks noGrp="1"/>
          </p:cNvSpPr>
          <p:nvPr>
            <p:ph type="title"/>
          </p:nvPr>
        </p:nvSpPr>
        <p:spPr>
          <a:xfrm>
            <a:off x="0" y="2930904"/>
            <a:ext cx="12192000" cy="1325563"/>
          </a:xfrm>
        </p:spPr>
        <p:txBody>
          <a:bodyPr/>
          <a:lstStyle/>
          <a:p>
            <a:pPr algn="ctr"/>
            <a:r>
              <a:rPr lang="zh-CN" altLang="en-US" b="1" i="1" dirty="0"/>
              <a:t>谢谢大家</a:t>
            </a:r>
          </a:p>
        </p:txBody>
      </p:sp>
    </p:spTree>
    <p:custDataLst>
      <p:tags r:id="rId1"/>
    </p:custDataLst>
    <p:extLst>
      <p:ext uri="{BB962C8B-B14F-4D97-AF65-F5344CB8AC3E}">
        <p14:creationId xmlns:p14="http://schemas.microsoft.com/office/powerpoint/2010/main" val="31156523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p:nvPr>
            <p:extLst/>
          </p:nvPr>
        </p:nvGraphicFramePr>
        <p:xfrm>
          <a:off x="1342281" y="2119516"/>
          <a:ext cx="2855081" cy="2497345"/>
        </p:xfrm>
        <a:graphic>
          <a:graphicData uri="http://schemas.openxmlformats.org/presentationml/2006/ole">
            <mc:AlternateContent xmlns:mc="http://schemas.openxmlformats.org/markup-compatibility/2006">
              <mc:Choice xmlns:v="urn:schemas-microsoft-com:vml" Requires="v">
                <p:oleObj spid="_x0000_s47108" r:id="rId6" imgW="1556385" imgH="1478915" progId="MDLDraw.Document.1">
                  <p:embed/>
                </p:oleObj>
              </mc:Choice>
              <mc:Fallback>
                <p:oleObj r:id="rId6" imgW="1556385" imgH="1478915" progId="MDLDraw.Document.1">
                  <p:embed/>
                  <p:pic>
                    <p:nvPicPr>
                      <p:cNvPr id="2" name="对象 1"/>
                      <p:cNvPicPr/>
                      <p:nvPr/>
                    </p:nvPicPr>
                    <p:blipFill>
                      <a:blip r:embed="rId7"/>
                      <a:stretch>
                        <a:fillRect/>
                      </a:stretch>
                    </p:blipFill>
                    <p:spPr>
                      <a:xfrm>
                        <a:off x="1342281" y="2119516"/>
                        <a:ext cx="2855081" cy="2497345"/>
                      </a:xfrm>
                      <a:prstGeom prst="rect">
                        <a:avLst/>
                      </a:prstGeom>
                    </p:spPr>
                  </p:pic>
                </p:oleObj>
              </mc:Fallback>
            </mc:AlternateContent>
          </a:graphicData>
        </a:graphic>
      </p:graphicFrame>
      <p:sp>
        <p:nvSpPr>
          <p:cNvPr id="4" name="标题 1">
            <a:extLst>
              <a:ext uri="{FF2B5EF4-FFF2-40B4-BE49-F238E27FC236}">
                <a16:creationId xmlns:a16="http://schemas.microsoft.com/office/drawing/2014/main" id="{6D640952-E139-48D6-8B79-49A61159A50E}"/>
              </a:ext>
            </a:extLst>
          </p:cNvPr>
          <p:cNvSpPr txBox="1">
            <a:spLocks/>
          </p:cNvSpPr>
          <p:nvPr>
            <p:custDataLst>
              <p:tags r:id="rId3"/>
            </p:custDataLst>
          </p:nvPr>
        </p:nvSpPr>
        <p:spPr>
          <a:xfrm>
            <a:off x="4291492" y="413964"/>
            <a:ext cx="3962400" cy="70548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sz="2400" b="1" dirty="0">
                <a:solidFill>
                  <a:schemeClr val="accent1">
                    <a:lumMod val="50000"/>
                  </a:schemeClr>
                </a:solidFill>
                <a:sym typeface="+mn-ea"/>
              </a:rPr>
              <a:t>氟伐他汀的市场价值</a:t>
            </a:r>
            <a:endParaRPr lang="zh-CN" altLang="en-US" sz="2400" b="1" dirty="0">
              <a:solidFill>
                <a:schemeClr val="accent1">
                  <a:lumMod val="50000"/>
                </a:schemeClr>
              </a:solidFill>
              <a:latin typeface="宋体" panose="02010600030101010101" pitchFamily="2" charset="-122"/>
              <a:ea typeface="宋体" panose="02010600030101010101" pitchFamily="2" charset="-122"/>
              <a:sym typeface="+mn-ea"/>
            </a:endParaRPr>
          </a:p>
        </p:txBody>
      </p:sp>
      <p:sp>
        <p:nvSpPr>
          <p:cNvPr id="5" name="内容占位符 2">
            <a:extLst>
              <a:ext uri="{FF2B5EF4-FFF2-40B4-BE49-F238E27FC236}">
                <a16:creationId xmlns:a16="http://schemas.microsoft.com/office/drawing/2014/main" id="{6C3EEB3F-F423-457D-A245-2A0F88C4C13F}"/>
              </a:ext>
            </a:extLst>
          </p:cNvPr>
          <p:cNvSpPr txBox="1">
            <a:spLocks/>
          </p:cNvSpPr>
          <p:nvPr>
            <p:custDataLst>
              <p:tags r:id="rId4"/>
            </p:custDataLst>
          </p:nvPr>
        </p:nvSpPr>
        <p:spPr>
          <a:xfrm>
            <a:off x="4741939" y="4828019"/>
            <a:ext cx="6944360" cy="840105"/>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buFontTx/>
              <a:buNone/>
            </a:pPr>
            <a:r>
              <a:rPr lang="en-US" altLang="zh-CN" sz="1600" dirty="0">
                <a:latin typeface="微软雅黑" panose="020B0503020204020204" charset="-122"/>
                <a:ea typeface="微软雅黑" panose="020B0503020204020204" charset="-122"/>
                <a:cs typeface="微软雅黑" panose="020B0503020204020204" charset="-122"/>
                <a:sym typeface="+mn-ea"/>
              </a:rPr>
              <a:t>1. </a:t>
            </a:r>
            <a:r>
              <a:rPr lang="en-US" altLang="zh-CN" sz="1600" dirty="0" err="1">
                <a:latin typeface="微软雅黑" panose="020B0503020204020204" charset="-122"/>
                <a:ea typeface="微软雅黑" panose="020B0503020204020204" charset="-122"/>
                <a:cs typeface="微软雅黑" panose="020B0503020204020204" charset="-122"/>
              </a:rPr>
              <a:t>工业级价格</a:t>
            </a:r>
            <a:r>
              <a:rPr lang="en-US" altLang="zh-CN" sz="1600" dirty="0">
                <a:latin typeface="微软雅黑" panose="020B0503020204020204" charset="-122"/>
                <a:ea typeface="微软雅黑" panose="020B0503020204020204" charset="-122"/>
                <a:cs typeface="微软雅黑" panose="020B0503020204020204" charset="-122"/>
              </a:rPr>
              <a:t> (≥99.5%)：约 1,000 元/kg</a:t>
            </a:r>
          </a:p>
          <a:p>
            <a:pPr algn="l">
              <a:lnSpc>
                <a:spcPct val="100000"/>
              </a:lnSpc>
              <a:buFontTx/>
              <a:buNone/>
            </a:pPr>
            <a:r>
              <a:rPr lang="en-US" altLang="zh-CN" sz="1600" dirty="0">
                <a:latin typeface="微软雅黑" panose="020B0503020204020204" charset="-122"/>
                <a:ea typeface="微软雅黑" panose="020B0503020204020204" charset="-122"/>
                <a:cs typeface="微软雅黑" panose="020B0503020204020204" charset="-122"/>
              </a:rPr>
              <a:t>2. 科研级价格：100mg (≥98%) ：790.42元（阿拉丁）</a:t>
            </a:r>
          </a:p>
          <a:p>
            <a:pPr algn="l">
              <a:lnSpc>
                <a:spcPct val="150000"/>
              </a:lnSpc>
              <a:buFontTx/>
              <a:buNone/>
            </a:pPr>
            <a:endParaRPr lang="en-US" altLang="zh-CN" sz="1600" dirty="0">
              <a:latin typeface="微软雅黑" panose="020B0503020204020204" charset="-122"/>
              <a:ea typeface="微软雅黑" panose="020B0503020204020204" charset="-122"/>
              <a:cs typeface="微软雅黑" panose="020B0503020204020204" charset="-122"/>
            </a:endParaRPr>
          </a:p>
        </p:txBody>
      </p:sp>
      <p:sp>
        <p:nvSpPr>
          <p:cNvPr id="7" name="文本框 6">
            <a:extLst>
              <a:ext uri="{FF2B5EF4-FFF2-40B4-BE49-F238E27FC236}">
                <a16:creationId xmlns:a16="http://schemas.microsoft.com/office/drawing/2014/main" id="{21A43A8B-63D7-45A2-9627-890DFF42F465}"/>
              </a:ext>
            </a:extLst>
          </p:cNvPr>
          <p:cNvSpPr txBox="1"/>
          <p:nvPr/>
        </p:nvSpPr>
        <p:spPr>
          <a:xfrm>
            <a:off x="4803098" y="4156486"/>
            <a:ext cx="2679700" cy="460375"/>
          </a:xfrm>
          <a:prstGeom prst="rect">
            <a:avLst/>
          </a:prstGeom>
          <a:noFill/>
        </p:spPr>
        <p:txBody>
          <a:bodyPr wrap="square" rtlCol="0" anchor="t">
            <a:spAutoFit/>
          </a:bodyPr>
          <a:lstStyle/>
          <a:p>
            <a:pPr algn="l">
              <a:buClrTx/>
              <a:buSzTx/>
              <a:buFontTx/>
            </a:pPr>
            <a:r>
              <a:rPr lang="zh-CN" altLang="en-US" sz="2400" b="1" spc="300" dirty="0">
                <a:solidFill>
                  <a:schemeClr val="accent1">
                    <a:lumMod val="50000"/>
                  </a:schemeClr>
                </a:solidFill>
                <a:uFillTx/>
                <a:latin typeface="+mj-lt"/>
                <a:ea typeface="+mj-ea"/>
                <a:cs typeface="+mj-cs"/>
                <a:sym typeface="+mn-ea"/>
              </a:rPr>
              <a:t>原料药的价格</a:t>
            </a:r>
          </a:p>
        </p:txBody>
      </p:sp>
      <p:sp>
        <p:nvSpPr>
          <p:cNvPr id="8" name="文本框 7">
            <a:extLst>
              <a:ext uri="{FF2B5EF4-FFF2-40B4-BE49-F238E27FC236}">
                <a16:creationId xmlns:a16="http://schemas.microsoft.com/office/drawing/2014/main" id="{7B830F31-1BCD-434B-BAE3-D8DEF2BA23A1}"/>
              </a:ext>
            </a:extLst>
          </p:cNvPr>
          <p:cNvSpPr txBox="1"/>
          <p:nvPr/>
        </p:nvSpPr>
        <p:spPr>
          <a:xfrm>
            <a:off x="4748673" y="1332249"/>
            <a:ext cx="5336634" cy="2264485"/>
          </a:xfrm>
          <a:prstGeom prst="rect">
            <a:avLst/>
          </a:prstGeom>
          <a:noFill/>
        </p:spPr>
        <p:txBody>
          <a:bodyPr wrap="square" rtlCol="0">
            <a:noAutofit/>
          </a:bodyPr>
          <a:lstStyle/>
          <a:p>
            <a:pPr algn="just">
              <a:lnSpc>
                <a:spcPct val="150000"/>
              </a:lnSpc>
              <a:spcBef>
                <a:spcPts val="0"/>
              </a:spcBef>
              <a:spcAft>
                <a:spcPts val="1000"/>
              </a:spcAft>
              <a:buClrTx/>
              <a:buSzTx/>
              <a:buNone/>
            </a:pPr>
            <a:r>
              <a:rPr lang="en-US" altLang="zh-CN" sz="1600" spc="150" dirty="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rPr>
              <a:t>    氟伐他汀钠药物市场规模在2024年估值为7亿美元</a:t>
            </a:r>
            <a:r>
              <a:rPr lang="zh-CN" altLang="en-US" sz="1600" spc="150" dirty="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rPr>
              <a:t>。</a:t>
            </a:r>
            <a:r>
              <a:rPr lang="en-US" altLang="zh-CN" sz="1600" spc="150" dirty="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rPr>
              <a:t>氟伐他汀钠药物市场预计将从2025年的8亿美元增长到2035年的12亿美元。氟伐他汀钠药市场复合年增长率（CAGR）预计在预测期（2026-2035年）内约为4.4%。</a:t>
            </a:r>
          </a:p>
        </p:txBody>
      </p:sp>
    </p:spTree>
    <p:custDataLst>
      <p:tags r:id="rId2"/>
    </p:custDataLst>
    <p:extLst>
      <p:ext uri="{BB962C8B-B14F-4D97-AF65-F5344CB8AC3E}">
        <p14:creationId xmlns:p14="http://schemas.microsoft.com/office/powerpoint/2010/main" val="15971788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3"/>
            </p:custDataLst>
          </p:nvPr>
        </p:nvSpPr>
        <p:spPr>
          <a:xfrm>
            <a:off x="555695" y="307410"/>
            <a:ext cx="10969200" cy="705600"/>
          </a:xfrm>
        </p:spPr>
        <p:txBody>
          <a:bodyPr/>
          <a:lstStyle/>
          <a:p>
            <a:r>
              <a:rPr lang="zh-CN" altLang="en-US" sz="2400" b="1">
                <a:solidFill>
                  <a:schemeClr val="accent1">
                    <a:lumMod val="50000"/>
                  </a:schemeClr>
                </a:solidFill>
                <a:sym typeface="+mn-ea"/>
              </a:rPr>
              <a:t>氟伐他汀</a:t>
            </a:r>
            <a:r>
              <a:rPr lang="zh-CN" altLang="en-US" sz="2400" b="1">
                <a:solidFill>
                  <a:schemeClr val="accent1">
                    <a:lumMod val="50000"/>
                  </a:schemeClr>
                </a:solidFill>
              </a:rPr>
              <a:t>药物合成路线</a:t>
            </a:r>
          </a:p>
        </p:txBody>
      </p:sp>
      <p:graphicFrame>
        <p:nvGraphicFramePr>
          <p:cNvPr id="4" name="对象 3"/>
          <p:cNvGraphicFramePr/>
          <p:nvPr/>
        </p:nvGraphicFramePr>
        <p:xfrm>
          <a:off x="1560830" y="600393"/>
          <a:ext cx="8676005" cy="5656580"/>
        </p:xfrm>
        <a:graphic>
          <a:graphicData uri="http://schemas.openxmlformats.org/presentationml/2006/ole">
            <mc:AlternateContent xmlns:mc="http://schemas.openxmlformats.org/markup-compatibility/2006">
              <mc:Choice xmlns:v="urn:schemas-microsoft-com:vml" Requires="v">
                <p:oleObj spid="_x0000_s48132" r:id="rId6" imgW="6634480" imgH="4323715" progId="MDLDraw.Document.1">
                  <p:embed/>
                </p:oleObj>
              </mc:Choice>
              <mc:Fallback>
                <p:oleObj r:id="rId6" imgW="6634480" imgH="4323715" progId="MDLDraw.Document.1">
                  <p:embed/>
                  <p:pic>
                    <p:nvPicPr>
                      <p:cNvPr id="4" name="对象 3"/>
                      <p:cNvPicPr/>
                      <p:nvPr/>
                    </p:nvPicPr>
                    <p:blipFill>
                      <a:blip r:embed="rId7"/>
                      <a:stretch>
                        <a:fillRect/>
                      </a:stretch>
                    </p:blipFill>
                    <p:spPr>
                      <a:xfrm>
                        <a:off x="1560830" y="600393"/>
                        <a:ext cx="8676005" cy="5656580"/>
                      </a:xfrm>
                      <a:prstGeom prst="rect">
                        <a:avLst/>
                      </a:prstGeom>
                    </p:spPr>
                  </p:pic>
                </p:oleObj>
              </mc:Fallback>
            </mc:AlternateContent>
          </a:graphicData>
        </a:graphic>
      </p:graphicFrame>
      <p:sp>
        <p:nvSpPr>
          <p:cNvPr id="6" name="文本框 5"/>
          <p:cNvSpPr txBox="1"/>
          <p:nvPr/>
        </p:nvSpPr>
        <p:spPr>
          <a:xfrm>
            <a:off x="7128510" y="6489700"/>
            <a:ext cx="5018405" cy="368300"/>
          </a:xfrm>
          <a:prstGeom prst="rect">
            <a:avLst/>
          </a:prstGeom>
          <a:noFill/>
        </p:spPr>
        <p:txBody>
          <a:bodyPr wrap="square" rtlCol="0">
            <a:spAutoFit/>
          </a:bodyPr>
          <a:lstStyle/>
          <a:p>
            <a:r>
              <a:rPr lang="en-US" altLang="zh-CN">
                <a:latin typeface="Times New Roman" panose="02020603050405020304" charset="0"/>
                <a:cs typeface="Times New Roman" panose="02020603050405020304" charset="0"/>
              </a:rPr>
              <a:t>CAI ZY, et al., </a:t>
            </a:r>
            <a:r>
              <a:rPr lang="en-US" altLang="zh-CN" i="1">
                <a:latin typeface="Times New Roman" panose="02020603050405020304" charset="0"/>
                <a:cs typeface="Times New Roman" panose="02020603050405020304" charset="0"/>
              </a:rPr>
              <a:t>Chin. J. Pharm</a:t>
            </a:r>
            <a:r>
              <a:rPr lang="en-US" altLang="zh-CN">
                <a:latin typeface="Times New Roman" panose="02020603050405020304" charset="0"/>
                <a:cs typeface="Times New Roman" panose="02020603050405020304" charset="0"/>
              </a:rPr>
              <a:t>., </a:t>
            </a:r>
            <a:r>
              <a:rPr lang="en-US" altLang="zh-CN" b="1">
                <a:latin typeface="Times New Roman" panose="02020603050405020304" charset="0"/>
                <a:cs typeface="Times New Roman" panose="02020603050405020304" charset="0"/>
              </a:rPr>
              <a:t>2007</a:t>
            </a:r>
            <a:r>
              <a:rPr lang="en-US" altLang="zh-CN">
                <a:latin typeface="Times New Roman" panose="02020603050405020304" charset="0"/>
                <a:cs typeface="Times New Roman" panose="02020603050405020304" charset="0"/>
              </a:rPr>
              <a:t>,</a:t>
            </a:r>
            <a:r>
              <a:rPr lang="en-US" altLang="zh-CN" i="1">
                <a:latin typeface="Times New Roman" panose="02020603050405020304" charset="0"/>
                <a:cs typeface="Times New Roman" panose="02020603050405020304" charset="0"/>
              </a:rPr>
              <a:t> 38(2)</a:t>
            </a:r>
            <a:r>
              <a:rPr lang="en-US" altLang="zh-CN">
                <a:latin typeface="Times New Roman" panose="02020603050405020304" charset="0"/>
                <a:cs typeface="Times New Roman" panose="02020603050405020304" charset="0"/>
              </a:rPr>
              <a:t>, 73-75.</a:t>
            </a:r>
          </a:p>
        </p:txBody>
      </p:sp>
    </p:spTree>
    <p:custDataLst>
      <p:tags r:id="rId2"/>
    </p:custDataLst>
    <p:extLst>
      <p:ext uri="{BB962C8B-B14F-4D97-AF65-F5344CB8AC3E}">
        <p14:creationId xmlns:p14="http://schemas.microsoft.com/office/powerpoint/2010/main" val="13453267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411550" y="313760"/>
            <a:ext cx="10969200" cy="705600"/>
          </a:xfrm>
        </p:spPr>
        <p:txBody>
          <a:bodyPr/>
          <a:lstStyle/>
          <a:p>
            <a:pPr algn="l">
              <a:buClrTx/>
              <a:buSzTx/>
              <a:buFontTx/>
            </a:pPr>
            <a:r>
              <a:rPr lang="zh-CN" altLang="en-US" sz="2400" b="1">
                <a:solidFill>
                  <a:schemeClr val="accent1">
                    <a:lumMod val="50000"/>
                  </a:schemeClr>
                </a:solidFill>
                <a:sym typeface="+mn-ea"/>
              </a:rPr>
              <a:t>氟伐他汀药物</a:t>
            </a:r>
            <a:r>
              <a:rPr lang="zh-CN" altLang="en-US" sz="2400" b="1">
                <a:solidFill>
                  <a:schemeClr val="accent1">
                    <a:lumMod val="50000"/>
                  </a:schemeClr>
                </a:solidFill>
              </a:rPr>
              <a:t>合成路线路线优点、缺点</a:t>
            </a:r>
          </a:p>
        </p:txBody>
      </p:sp>
      <p:graphicFrame>
        <p:nvGraphicFramePr>
          <p:cNvPr id="16" name="表格 15"/>
          <p:cNvGraphicFramePr/>
          <p:nvPr/>
        </p:nvGraphicFramePr>
        <p:xfrm>
          <a:off x="1132205" y="1517650"/>
          <a:ext cx="9982200" cy="3841115"/>
        </p:xfrm>
        <a:graphic>
          <a:graphicData uri="http://schemas.openxmlformats.org/drawingml/2006/table">
            <a:tbl>
              <a:tblPr firstRow="1">
                <a:tableStyleId>{B7BD4722-F1F9-43DE-912B-BC3AB9E171DB}</a:tableStyleId>
              </a:tblPr>
              <a:tblGrid>
                <a:gridCol w="716280">
                  <a:extLst>
                    <a:ext uri="{9D8B030D-6E8A-4147-A177-3AD203B41FA5}">
                      <a16:colId xmlns:a16="http://schemas.microsoft.com/office/drawing/2014/main" val="20000"/>
                    </a:ext>
                  </a:extLst>
                </a:gridCol>
                <a:gridCol w="4889500">
                  <a:extLst>
                    <a:ext uri="{9D8B030D-6E8A-4147-A177-3AD203B41FA5}">
                      <a16:colId xmlns:a16="http://schemas.microsoft.com/office/drawing/2014/main" val="20001"/>
                    </a:ext>
                  </a:extLst>
                </a:gridCol>
                <a:gridCol w="4376420">
                  <a:extLst>
                    <a:ext uri="{9D8B030D-6E8A-4147-A177-3AD203B41FA5}">
                      <a16:colId xmlns:a16="http://schemas.microsoft.com/office/drawing/2014/main" val="20002"/>
                    </a:ext>
                  </a:extLst>
                </a:gridCol>
              </a:tblGrid>
              <a:tr h="477520">
                <a:tc>
                  <a:txBody>
                    <a:bodyPr/>
                    <a:lstStyle/>
                    <a:p>
                      <a:pPr algn="ctr">
                        <a:buNone/>
                      </a:pPr>
                      <a:r>
                        <a:rPr lang="zh-CN" altLang="en-US"/>
                        <a:t>序号</a:t>
                      </a:r>
                    </a:p>
                  </a:txBody>
                  <a:tcPr/>
                </a:tc>
                <a:tc>
                  <a:txBody>
                    <a:bodyPr/>
                    <a:lstStyle/>
                    <a:p>
                      <a:pPr algn="ctr">
                        <a:buNone/>
                      </a:pPr>
                      <a:r>
                        <a:rPr lang="zh-CN" altLang="en-US"/>
                        <a:t>优点</a:t>
                      </a:r>
                    </a:p>
                  </a:txBody>
                  <a:tcPr/>
                </a:tc>
                <a:tc>
                  <a:txBody>
                    <a:bodyPr/>
                    <a:lstStyle/>
                    <a:p>
                      <a:pPr algn="ctr">
                        <a:buClrTx/>
                        <a:buSzTx/>
                        <a:buFontTx/>
                        <a:buNone/>
                      </a:pPr>
                      <a:r>
                        <a:rPr lang="zh-CN" altLang="en-US" sz="1800">
                          <a:sym typeface="+mn-ea"/>
                        </a:rPr>
                        <a:t>缺点</a:t>
                      </a:r>
                      <a:endParaRPr lang="zh-CN" altLang="en-US"/>
                    </a:p>
                  </a:txBody>
                  <a:tcPr/>
                </a:tc>
                <a:extLst>
                  <a:ext uri="{0D108BD9-81ED-4DB2-BD59-A6C34878D82A}">
                    <a16:rowId xmlns:a16="http://schemas.microsoft.com/office/drawing/2014/main" val="10000"/>
                  </a:ext>
                </a:extLst>
              </a:tr>
              <a:tr h="1135380">
                <a:tc>
                  <a:txBody>
                    <a:bodyPr/>
                    <a:lstStyle/>
                    <a:p>
                      <a:pPr algn="ctr">
                        <a:buClrTx/>
                        <a:buSzTx/>
                        <a:buFontTx/>
                        <a:buNone/>
                      </a:pPr>
                      <a:endParaRPr lang="en-US" altLang="zh-CN" sz="1600">
                        <a:latin typeface="Times New Roman" panose="02020603050405020304" charset="0"/>
                        <a:ea typeface="宋体" panose="02010600030101010101" pitchFamily="2" charset="-122"/>
                      </a:endParaRPr>
                    </a:p>
                    <a:p>
                      <a:pPr algn="ctr">
                        <a:buClrTx/>
                        <a:buSzTx/>
                        <a:buFontTx/>
                        <a:buNone/>
                      </a:pPr>
                      <a:r>
                        <a:rPr lang="en-US" altLang="zh-CN" sz="1600">
                          <a:latin typeface="Times New Roman" panose="02020603050405020304" charset="0"/>
                          <a:ea typeface="宋体" panose="02010600030101010101" pitchFamily="2" charset="-122"/>
                        </a:rPr>
                        <a:t>1</a:t>
                      </a:r>
                    </a:p>
                  </a:txBody>
                  <a:tcPr/>
                </a:tc>
                <a:tc>
                  <a:txBody>
                    <a:bodyPr/>
                    <a:lstStyle/>
                    <a:p>
                      <a:pPr>
                        <a:lnSpc>
                          <a:spcPct val="150000"/>
                        </a:lnSpc>
                        <a:buNone/>
                      </a:pPr>
                      <a:r>
                        <a:rPr lang="zh-CN" altLang="en-US" sz="1600" dirty="0">
                          <a:ln>
                            <a:noFill/>
                          </a:ln>
                          <a:solidFill>
                            <a:prstClr val="black"/>
                          </a:solidFill>
                          <a:latin typeface="Times New Roman" panose="02020603050405020304" charset="0"/>
                          <a:ea typeface="宋体" panose="02010600030101010101" pitchFamily="2" charset="-122"/>
                          <a:sym typeface="+mn-ea"/>
                        </a:rPr>
                        <a:t>原料易得、成本低，</a:t>
                      </a:r>
                      <a:r>
                        <a:rPr lang="zh-CN" altLang="en-US" sz="1600" dirty="0">
                          <a:ln>
                            <a:noFill/>
                          </a:ln>
                          <a:solidFill>
                            <a:prstClr val="black"/>
                          </a:solidFill>
                          <a:latin typeface="Times New Roman" panose="02020603050405020304" charset="0"/>
                          <a:ea typeface="宋体" panose="02010600030101010101" pitchFamily="2" charset="-122"/>
                        </a:rPr>
                        <a:t>路线短、流程简洁</a:t>
                      </a:r>
                      <a:r>
                        <a:rPr lang="zh-CN" altLang="en-US" sz="1600" dirty="0">
                          <a:ln>
                            <a:noFill/>
                          </a:ln>
                          <a:solidFill>
                            <a:prstClr val="black"/>
                          </a:solidFill>
                          <a:latin typeface="Times New Roman" panose="02020603050405020304" charset="0"/>
                          <a:ea typeface="宋体" panose="02010600030101010101" pitchFamily="2" charset="-122"/>
                          <a:sym typeface="+mn-ea"/>
                        </a:rPr>
                        <a:t>反应条件温和，三废少</a:t>
                      </a:r>
                      <a:r>
                        <a:rPr lang="zh-CN" altLang="en-US" sz="1600" dirty="0">
                          <a:ln>
                            <a:noFill/>
                          </a:ln>
                          <a:solidFill>
                            <a:prstClr val="black"/>
                          </a:solidFill>
                          <a:latin typeface="Times New Roman" panose="02020603050405020304" charset="0"/>
                          <a:ea typeface="宋体" panose="02010600030101010101" pitchFamily="2" charset="-122"/>
                        </a:rPr>
                        <a:t>，适合工业化</a:t>
                      </a:r>
                    </a:p>
                  </a:txBody>
                  <a:tcPr/>
                </a:tc>
                <a:tc>
                  <a:txBody>
                    <a:bodyPr/>
                    <a:lstStyle/>
                    <a:p>
                      <a:pPr algn="l">
                        <a:lnSpc>
                          <a:spcPct val="150000"/>
                        </a:lnSpc>
                        <a:buClrTx/>
                        <a:buSzTx/>
                        <a:buFontTx/>
                        <a:buNone/>
                      </a:pPr>
                      <a:r>
                        <a:rPr lang="zh-CN" altLang="en-US" sz="1600">
                          <a:ln>
                            <a:noFill/>
                          </a:ln>
                          <a:solidFill>
                            <a:prstClr val="black"/>
                          </a:solidFill>
                          <a:latin typeface="Times New Roman" panose="02020603050405020304" charset="0"/>
                          <a:ea typeface="宋体" panose="02010600030101010101" pitchFamily="2" charset="-122"/>
                        </a:rPr>
                        <a:t>还原步骤需要−78℃超低温，低温条件苛刻，工业放大能耗高、设备要求高</a:t>
                      </a:r>
                    </a:p>
                  </a:txBody>
                  <a:tcPr/>
                </a:tc>
                <a:extLst>
                  <a:ext uri="{0D108BD9-81ED-4DB2-BD59-A6C34878D82A}">
                    <a16:rowId xmlns:a16="http://schemas.microsoft.com/office/drawing/2014/main" val="10001"/>
                  </a:ext>
                </a:extLst>
              </a:tr>
              <a:tr h="887095">
                <a:tc>
                  <a:txBody>
                    <a:bodyPr/>
                    <a:lstStyle/>
                    <a:p>
                      <a:pPr algn="ctr">
                        <a:buClrTx/>
                        <a:buSzTx/>
                        <a:buFontTx/>
                        <a:buNone/>
                      </a:pPr>
                      <a:endParaRPr lang="en-US" altLang="zh-CN" sz="1600">
                        <a:latin typeface="Times New Roman" panose="02020603050405020304" charset="0"/>
                        <a:ea typeface="宋体" panose="02010600030101010101" pitchFamily="2" charset="-122"/>
                      </a:endParaRPr>
                    </a:p>
                    <a:p>
                      <a:pPr algn="ctr">
                        <a:buClrTx/>
                        <a:buSzTx/>
                        <a:buFontTx/>
                        <a:buNone/>
                      </a:pPr>
                      <a:r>
                        <a:rPr lang="en-US" altLang="zh-CN" sz="1600">
                          <a:latin typeface="Times New Roman" panose="02020603050405020304" charset="0"/>
                          <a:ea typeface="宋体" panose="02010600030101010101" pitchFamily="2" charset="-122"/>
                        </a:rPr>
                        <a:t>2</a:t>
                      </a:r>
                    </a:p>
                  </a:txBody>
                  <a:tcPr/>
                </a:tc>
                <a:tc>
                  <a:txBody>
                    <a:bodyPr/>
                    <a:lstStyle/>
                    <a:p>
                      <a:pPr>
                        <a:lnSpc>
                          <a:spcPct val="150000"/>
                        </a:lnSpc>
                        <a:buNone/>
                      </a:pPr>
                      <a:r>
                        <a:rPr lang="zh-CN" altLang="en-US" sz="1600" dirty="0">
                          <a:ln>
                            <a:noFill/>
                          </a:ln>
                          <a:solidFill>
                            <a:prstClr val="black"/>
                          </a:solidFill>
                          <a:latin typeface="Times New Roman" panose="02020603050405020304" charset="0"/>
                          <a:ea typeface="宋体" panose="02010600030101010101" pitchFamily="2" charset="-122"/>
                        </a:rPr>
                        <a:t>还原步骤大幅优化：溶剂改为甲醇</a:t>
                      </a:r>
                      <a:r>
                        <a:rPr lang="en-US" altLang="zh-CN" sz="1600" dirty="0">
                          <a:ln>
                            <a:noFill/>
                          </a:ln>
                          <a:solidFill>
                            <a:prstClr val="black"/>
                          </a:solidFill>
                          <a:latin typeface="Times New Roman" panose="02020603050405020304" charset="0"/>
                          <a:ea typeface="宋体" panose="02010600030101010101" pitchFamily="2" charset="-122"/>
                        </a:rPr>
                        <a:t> - THF</a:t>
                      </a:r>
                      <a:r>
                        <a:rPr lang="zh-CN" altLang="en-US" sz="1600" dirty="0">
                          <a:ln>
                            <a:noFill/>
                          </a:ln>
                          <a:solidFill>
                            <a:prstClr val="black"/>
                          </a:solidFill>
                          <a:latin typeface="Times New Roman" panose="02020603050405020304" charset="0"/>
                          <a:ea typeface="宋体" panose="02010600030101010101" pitchFamily="2" charset="-122"/>
                        </a:rPr>
                        <a:t>（</a:t>
                      </a:r>
                      <a:r>
                        <a:rPr lang="en-US" altLang="zh-CN" sz="1600" dirty="0">
                          <a:ln>
                            <a:noFill/>
                          </a:ln>
                          <a:solidFill>
                            <a:prstClr val="black"/>
                          </a:solidFill>
                          <a:latin typeface="Times New Roman" panose="02020603050405020304" charset="0"/>
                          <a:ea typeface="宋体" panose="02010600030101010101" pitchFamily="2" charset="-122"/>
                        </a:rPr>
                        <a:t>1:4</a:t>
                      </a:r>
                      <a:r>
                        <a:rPr lang="zh-CN" altLang="en-US" sz="1600" dirty="0">
                          <a:ln>
                            <a:noFill/>
                          </a:ln>
                          <a:solidFill>
                            <a:prstClr val="black"/>
                          </a:solidFill>
                          <a:latin typeface="Times New Roman" panose="02020603050405020304" charset="0"/>
                          <a:ea typeface="宋体" panose="02010600030101010101" pitchFamily="2" charset="-122"/>
                        </a:rPr>
                        <a:t>），反应时间缩短至</a:t>
                      </a:r>
                      <a:r>
                        <a:rPr lang="en-US" altLang="zh-CN" sz="1600" dirty="0">
                          <a:ln>
                            <a:noFill/>
                          </a:ln>
                          <a:solidFill>
                            <a:prstClr val="black"/>
                          </a:solidFill>
                          <a:latin typeface="Times New Roman" panose="02020603050405020304" charset="0"/>
                          <a:ea typeface="宋体" panose="02010600030101010101" pitchFamily="2" charset="-122"/>
                        </a:rPr>
                        <a:t> 2.5h</a:t>
                      </a:r>
                      <a:r>
                        <a:rPr lang="zh-CN" altLang="en-US" sz="1600" dirty="0">
                          <a:ln>
                            <a:noFill/>
                          </a:ln>
                          <a:solidFill>
                            <a:prstClr val="black"/>
                          </a:solidFill>
                          <a:latin typeface="Times New Roman" panose="02020603050405020304" charset="0"/>
                          <a:ea typeface="宋体" panose="02010600030101010101" pitchFamily="2" charset="-122"/>
                        </a:rPr>
                        <a:t>；</a:t>
                      </a:r>
                      <a:endParaRPr lang="en-US" altLang="zh-CN" sz="1600" dirty="0">
                        <a:ln>
                          <a:noFill/>
                        </a:ln>
                        <a:solidFill>
                          <a:prstClr val="black"/>
                        </a:solidFill>
                        <a:latin typeface="Times New Roman" panose="02020603050405020304" charset="0"/>
                        <a:ea typeface="宋体" panose="02010600030101010101" pitchFamily="2" charset="-122"/>
                      </a:endParaRPr>
                    </a:p>
                  </a:txBody>
                  <a:tcPr/>
                </a:tc>
                <a:tc>
                  <a:txBody>
                    <a:bodyPr/>
                    <a:lstStyle/>
                    <a:p>
                      <a:pPr algn="ctr">
                        <a:lnSpc>
                          <a:spcPct val="150000"/>
                        </a:lnSpc>
                        <a:buClrTx/>
                        <a:buSzTx/>
                        <a:buFontTx/>
                      </a:pPr>
                      <a:r>
                        <a:rPr lang="zh-CN" altLang="en-US" sz="1600" dirty="0">
                          <a:uFillTx/>
                          <a:latin typeface="Times New Roman" panose="02020603050405020304" charset="0"/>
                          <a:ea typeface="宋体" panose="02010600030101010101" pitchFamily="2" charset="-122"/>
                          <a:cs typeface="宋体" panose="02010600030101010101" pitchFamily="2" charset="-122"/>
                          <a:sym typeface="+mn-ea"/>
                        </a:rPr>
                        <a:t>使用Et₃B/NaBH₄试剂反应需无水无氧</a:t>
                      </a:r>
                      <a:endParaRPr lang="zh-CN" altLang="en-US" sz="1600" dirty="0">
                        <a:ln>
                          <a:noFill/>
                        </a:ln>
                        <a:solidFill>
                          <a:prstClr val="black"/>
                        </a:solidFill>
                        <a:uFillTx/>
                        <a:latin typeface="Times New Roman" panose="02020603050405020304" charset="0"/>
                        <a:ea typeface="宋体" panose="02010600030101010101" pitchFamily="2" charset="-122"/>
                        <a:cs typeface="宋体" panose="02010600030101010101" pitchFamily="2" charset="-122"/>
                        <a:sym typeface="+mn-ea"/>
                      </a:endParaRPr>
                    </a:p>
                  </a:txBody>
                  <a:tcPr/>
                </a:tc>
                <a:extLst>
                  <a:ext uri="{0D108BD9-81ED-4DB2-BD59-A6C34878D82A}">
                    <a16:rowId xmlns:a16="http://schemas.microsoft.com/office/drawing/2014/main" val="10002"/>
                  </a:ext>
                </a:extLst>
              </a:tr>
              <a:tr h="1341120">
                <a:tc>
                  <a:txBody>
                    <a:bodyPr/>
                    <a:lstStyle/>
                    <a:p>
                      <a:pPr algn="ctr">
                        <a:buClrTx/>
                        <a:buSzTx/>
                        <a:buFontTx/>
                        <a:buNone/>
                      </a:pPr>
                      <a:endParaRPr lang="en-US" altLang="zh-CN" sz="1600">
                        <a:latin typeface="Times New Roman" panose="02020603050405020304" charset="0"/>
                        <a:ea typeface="宋体" panose="02010600030101010101" pitchFamily="2" charset="-122"/>
                      </a:endParaRPr>
                    </a:p>
                    <a:p>
                      <a:pPr algn="ctr">
                        <a:buClrTx/>
                        <a:buSzTx/>
                        <a:buFontTx/>
                        <a:buNone/>
                      </a:pPr>
                      <a:r>
                        <a:rPr lang="en-US" altLang="zh-CN" sz="1600">
                          <a:latin typeface="Times New Roman" panose="02020603050405020304" charset="0"/>
                          <a:ea typeface="宋体" panose="02010600030101010101" pitchFamily="2" charset="-122"/>
                        </a:rPr>
                        <a:t>3</a:t>
                      </a:r>
                    </a:p>
                  </a:txBody>
                  <a:tcPr/>
                </a:tc>
                <a:tc>
                  <a:txBody>
                    <a:bodyPr/>
                    <a:lstStyle/>
                    <a:p>
                      <a:pPr>
                        <a:lnSpc>
                          <a:spcPct val="150000"/>
                        </a:lnSpc>
                        <a:buNone/>
                      </a:pPr>
                      <a:r>
                        <a:rPr lang="zh-CN" altLang="en-US" sz="1600">
                          <a:ln>
                            <a:noFill/>
                          </a:ln>
                          <a:solidFill>
                            <a:prstClr val="black"/>
                          </a:solidFill>
                          <a:latin typeface="Times New Roman" panose="02020603050405020304" charset="0"/>
                          <a:ea typeface="宋体" panose="02010600030101010101" pitchFamily="2" charset="-122"/>
                        </a:rPr>
                        <a:t>用</a:t>
                      </a:r>
                      <a:r>
                        <a:rPr lang="en-US" altLang="zh-CN" sz="1600">
                          <a:ln>
                            <a:noFill/>
                          </a:ln>
                          <a:solidFill>
                            <a:prstClr val="black"/>
                          </a:solidFill>
                          <a:latin typeface="Times New Roman" panose="02020603050405020304" charset="0"/>
                          <a:ea typeface="宋体" panose="02010600030101010101" pitchFamily="2" charset="-122"/>
                        </a:rPr>
                        <a:t>H</a:t>
                      </a:r>
                      <a:r>
                        <a:rPr lang="en-US" altLang="zh-CN" sz="1600" baseline="-25000">
                          <a:ln>
                            <a:noFill/>
                          </a:ln>
                          <a:solidFill>
                            <a:prstClr val="black"/>
                          </a:solidFill>
                          <a:latin typeface="Times New Roman" panose="02020603050405020304" charset="0"/>
                          <a:ea typeface="宋体" panose="02010600030101010101" pitchFamily="2" charset="-122"/>
                        </a:rPr>
                        <a:t>2</a:t>
                      </a:r>
                      <a:r>
                        <a:rPr lang="en-US" altLang="zh-CN" sz="1600">
                          <a:ln>
                            <a:noFill/>
                          </a:ln>
                          <a:solidFill>
                            <a:prstClr val="black"/>
                          </a:solidFill>
                          <a:latin typeface="Times New Roman" panose="02020603050405020304" charset="0"/>
                          <a:ea typeface="宋体" panose="02010600030101010101" pitchFamily="2" charset="-122"/>
                        </a:rPr>
                        <a:t>O</a:t>
                      </a:r>
                      <a:r>
                        <a:rPr lang="en-US" altLang="zh-CN" sz="1600" baseline="-25000">
                          <a:ln>
                            <a:noFill/>
                          </a:ln>
                          <a:solidFill>
                            <a:prstClr val="black"/>
                          </a:solidFill>
                          <a:latin typeface="Times New Roman" panose="02020603050405020304" charset="0"/>
                          <a:ea typeface="宋体" panose="02010600030101010101" pitchFamily="2" charset="-122"/>
                        </a:rPr>
                        <a:t>2</a:t>
                      </a:r>
                      <a:r>
                        <a:rPr lang="zh-CN" altLang="en-US" sz="1600">
                          <a:ln>
                            <a:noFill/>
                          </a:ln>
                          <a:solidFill>
                            <a:prstClr val="black"/>
                          </a:solidFill>
                          <a:latin typeface="Times New Roman" panose="02020603050405020304" charset="0"/>
                          <a:ea typeface="宋体" panose="02010600030101010101" pitchFamily="2" charset="-122"/>
                        </a:rPr>
                        <a:t>代替甲醇分解硼络合物，所得粗品无需柱色谱分离</a:t>
                      </a:r>
                      <a:r>
                        <a:rPr lang="en-US" altLang="zh-CN" sz="1600">
                          <a:ln>
                            <a:noFill/>
                          </a:ln>
                          <a:solidFill>
                            <a:prstClr val="black"/>
                          </a:solidFill>
                          <a:latin typeface="Times New Roman" panose="02020603050405020304" charset="0"/>
                          <a:ea typeface="宋体" panose="02010600030101010101" pitchFamily="2" charset="-122"/>
                        </a:rPr>
                        <a:t> </a:t>
                      </a:r>
                      <a:r>
                        <a:rPr lang="zh-CN" altLang="en-US" sz="1600">
                          <a:ln>
                            <a:noFill/>
                          </a:ln>
                          <a:solidFill>
                            <a:prstClr val="black"/>
                          </a:solidFill>
                          <a:latin typeface="Times New Roman" panose="02020603050405020304" charset="0"/>
                          <a:ea typeface="宋体" panose="02010600030101010101" pitchFamily="2" charset="-122"/>
                        </a:rPr>
                        <a:t>，直接用</a:t>
                      </a:r>
                      <a:r>
                        <a:rPr lang="en-US" altLang="zh-CN" sz="1600">
                          <a:ln>
                            <a:noFill/>
                          </a:ln>
                          <a:solidFill>
                            <a:prstClr val="black"/>
                          </a:solidFill>
                          <a:latin typeface="Times New Roman" panose="02020603050405020304" charset="0"/>
                          <a:ea typeface="宋体" panose="02010600030101010101" pitchFamily="2" charset="-122"/>
                        </a:rPr>
                        <a:t> </a:t>
                      </a:r>
                      <a:r>
                        <a:rPr lang="zh-CN" altLang="en-US" sz="1600">
                          <a:ln>
                            <a:noFill/>
                          </a:ln>
                          <a:solidFill>
                            <a:prstClr val="black"/>
                          </a:solidFill>
                          <a:latin typeface="Times New Roman" panose="02020603050405020304" charset="0"/>
                          <a:ea typeface="宋体" panose="02010600030101010101" pitchFamily="2" charset="-122"/>
                        </a:rPr>
                        <a:t>乙酸乙酯重结晶即可得产物，收率提升至</a:t>
                      </a:r>
                      <a:r>
                        <a:rPr lang="en-US" altLang="zh-CN" sz="1600">
                          <a:ln>
                            <a:noFill/>
                          </a:ln>
                          <a:solidFill>
                            <a:prstClr val="black"/>
                          </a:solidFill>
                          <a:latin typeface="Times New Roman" panose="02020603050405020304" charset="0"/>
                          <a:ea typeface="宋体" panose="02010600030101010101" pitchFamily="2" charset="-122"/>
                        </a:rPr>
                        <a:t>75%</a:t>
                      </a:r>
                      <a:endParaRPr lang="zh-CN" altLang="en-US" sz="1600">
                        <a:ln>
                          <a:noFill/>
                        </a:ln>
                        <a:solidFill>
                          <a:prstClr val="black"/>
                        </a:solidFill>
                        <a:latin typeface="Times New Roman" panose="02020603050405020304" charset="0"/>
                        <a:ea typeface="宋体" panose="02010600030101010101" pitchFamily="2" charset="-122"/>
                      </a:endParaRPr>
                    </a:p>
                  </a:txBody>
                  <a:tcPr/>
                </a:tc>
                <a:tc>
                  <a:txBody>
                    <a:bodyPr/>
                    <a:lstStyle/>
                    <a:p>
                      <a:pPr algn="l">
                        <a:lnSpc>
                          <a:spcPct val="150000"/>
                        </a:lnSpc>
                        <a:buClrTx/>
                        <a:buSzTx/>
                        <a:buFontTx/>
                        <a:buNone/>
                      </a:pPr>
                      <a:r>
                        <a:rPr lang="en-US" altLang="zh-CN" sz="1600" dirty="0" err="1">
                          <a:ln>
                            <a:noFill/>
                          </a:ln>
                          <a:solidFill>
                            <a:prstClr val="black"/>
                          </a:solidFill>
                          <a:latin typeface="Times New Roman" panose="02020603050405020304" charset="0"/>
                          <a:ea typeface="宋体" panose="02010600030101010101" pitchFamily="2" charset="-122"/>
                        </a:rPr>
                        <a:t>Vilsmeier</a:t>
                      </a:r>
                      <a:r>
                        <a:rPr lang="en-US" altLang="zh-CN" sz="1600" dirty="0">
                          <a:ln>
                            <a:noFill/>
                          </a:ln>
                          <a:solidFill>
                            <a:prstClr val="black"/>
                          </a:solidFill>
                          <a:latin typeface="Times New Roman" panose="02020603050405020304" charset="0"/>
                          <a:ea typeface="宋体" panose="02010600030101010101" pitchFamily="2" charset="-122"/>
                        </a:rPr>
                        <a:t>-Haack</a:t>
                      </a:r>
                      <a:r>
                        <a:rPr lang="zh-CN" altLang="en-US" sz="1600" dirty="0">
                          <a:ln>
                            <a:noFill/>
                          </a:ln>
                          <a:solidFill>
                            <a:prstClr val="black"/>
                          </a:solidFill>
                          <a:latin typeface="Times New Roman" panose="02020603050405020304" charset="0"/>
                          <a:ea typeface="宋体" panose="02010600030101010101" pitchFamily="2" charset="-122"/>
                        </a:rPr>
                        <a:t>反应需使用</a:t>
                      </a:r>
                      <a:r>
                        <a:rPr lang="en-US" altLang="zh-CN" sz="1600" dirty="0" err="1">
                          <a:ln>
                            <a:noFill/>
                          </a:ln>
                          <a:solidFill>
                            <a:prstClr val="black"/>
                          </a:solidFill>
                          <a:latin typeface="Times New Roman" panose="02020603050405020304" charset="0"/>
                          <a:ea typeface="宋体" panose="02010600030101010101" pitchFamily="2" charset="-122"/>
                        </a:rPr>
                        <a:t>POCl</a:t>
                      </a:r>
                      <a:r>
                        <a:rPr lang="en-US" altLang="en-US" sz="1600" dirty="0">
                          <a:ln>
                            <a:noFill/>
                          </a:ln>
                          <a:solidFill>
                            <a:prstClr val="black"/>
                          </a:solidFill>
                          <a:latin typeface="Times New Roman" panose="02020603050405020304" charset="0"/>
                          <a:ea typeface="宋体" panose="02010600030101010101" pitchFamily="2" charset="-122"/>
                        </a:rPr>
                        <a:t>₃</a:t>
                      </a:r>
                      <a:r>
                        <a:rPr lang="zh-CN" altLang="en-US" sz="1600" dirty="0">
                          <a:ln>
                            <a:noFill/>
                          </a:ln>
                          <a:solidFill>
                            <a:prstClr val="black"/>
                          </a:solidFill>
                          <a:latin typeface="Times New Roman" panose="02020603050405020304" charset="0"/>
                          <a:ea typeface="宋体" panose="02010600030101010101" pitchFamily="2" charset="-122"/>
                        </a:rPr>
                        <a:t>和乙腈，反应后产生大量酸性含磷废水，处理困难</a:t>
                      </a:r>
                    </a:p>
                  </a:txBody>
                  <a:tcPr/>
                </a:tc>
                <a:extLst>
                  <a:ext uri="{0D108BD9-81ED-4DB2-BD59-A6C34878D82A}">
                    <a16:rowId xmlns:a16="http://schemas.microsoft.com/office/drawing/2014/main" val="10003"/>
                  </a:ext>
                </a:extLst>
              </a:tr>
            </a:tbl>
          </a:graphicData>
        </a:graphic>
      </p:graphicFrame>
    </p:spTree>
    <p:custDataLst>
      <p:tags r:id="rId1"/>
    </p:custDataLst>
    <p:extLst>
      <p:ext uri="{BB962C8B-B14F-4D97-AF65-F5344CB8AC3E}">
        <p14:creationId xmlns:p14="http://schemas.microsoft.com/office/powerpoint/2010/main" val="33780667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245180" y="290900"/>
            <a:ext cx="10969200" cy="705600"/>
          </a:xfrm>
        </p:spPr>
        <p:txBody>
          <a:bodyPr>
            <a:normAutofit/>
          </a:bodyPr>
          <a:lstStyle/>
          <a:p>
            <a:r>
              <a:rPr lang="zh-CN" altLang="en-US" sz="2665" b="1">
                <a:solidFill>
                  <a:schemeClr val="accent1">
                    <a:lumMod val="50000"/>
                  </a:schemeClr>
                </a:solidFill>
                <a:sym typeface="+mn-ea"/>
              </a:rPr>
              <a:t>氟伐他汀药物理想合成路线中的难点问题和解决方案</a:t>
            </a:r>
          </a:p>
        </p:txBody>
      </p:sp>
      <p:graphicFrame>
        <p:nvGraphicFramePr>
          <p:cNvPr id="6" name="表格 5"/>
          <p:cNvGraphicFramePr/>
          <p:nvPr/>
        </p:nvGraphicFramePr>
        <p:xfrm>
          <a:off x="850265" y="1549400"/>
          <a:ext cx="10492105" cy="3759200"/>
        </p:xfrm>
        <a:graphic>
          <a:graphicData uri="http://schemas.openxmlformats.org/drawingml/2006/table">
            <a:tbl>
              <a:tblPr firstRow="1">
                <a:tableStyleId>{B7BD4722-F1F9-43DE-912B-BC3AB9E171DB}</a:tableStyleId>
              </a:tblPr>
              <a:tblGrid>
                <a:gridCol w="718185">
                  <a:extLst>
                    <a:ext uri="{9D8B030D-6E8A-4147-A177-3AD203B41FA5}">
                      <a16:colId xmlns:a16="http://schemas.microsoft.com/office/drawing/2014/main" val="20000"/>
                    </a:ext>
                  </a:extLst>
                </a:gridCol>
                <a:gridCol w="2334260">
                  <a:extLst>
                    <a:ext uri="{9D8B030D-6E8A-4147-A177-3AD203B41FA5}">
                      <a16:colId xmlns:a16="http://schemas.microsoft.com/office/drawing/2014/main" val="20001"/>
                    </a:ext>
                  </a:extLst>
                </a:gridCol>
                <a:gridCol w="7439660">
                  <a:extLst>
                    <a:ext uri="{9D8B030D-6E8A-4147-A177-3AD203B41FA5}">
                      <a16:colId xmlns:a16="http://schemas.microsoft.com/office/drawing/2014/main" val="20002"/>
                    </a:ext>
                  </a:extLst>
                </a:gridCol>
              </a:tblGrid>
              <a:tr h="562610">
                <a:tc>
                  <a:txBody>
                    <a:bodyPr/>
                    <a:lstStyle/>
                    <a:p>
                      <a:pPr algn="ctr">
                        <a:lnSpc>
                          <a:spcPct val="150000"/>
                        </a:lnSpc>
                        <a:buNone/>
                      </a:pPr>
                      <a:r>
                        <a:rPr lang="zh-CN" altLang="en-US"/>
                        <a:t>序号</a:t>
                      </a:r>
                    </a:p>
                  </a:txBody>
                  <a:tcPr/>
                </a:tc>
                <a:tc>
                  <a:txBody>
                    <a:bodyPr/>
                    <a:lstStyle/>
                    <a:p>
                      <a:pPr algn="ctr">
                        <a:lnSpc>
                          <a:spcPct val="150000"/>
                        </a:lnSpc>
                      </a:pPr>
                      <a:r>
                        <a:rPr lang="zh-CN" altLang="en-US" sz="1800">
                          <a:sym typeface="+mn-ea"/>
                        </a:rPr>
                        <a:t>缺点 </a:t>
                      </a:r>
                      <a:r>
                        <a:rPr lang="en-US" altLang="zh-CN" sz="1800">
                          <a:sym typeface="+mn-ea"/>
                        </a:rPr>
                        <a:t>/ </a:t>
                      </a:r>
                      <a:r>
                        <a:rPr lang="zh-CN" altLang="en-US" sz="1800">
                          <a:sym typeface="+mn-ea"/>
                        </a:rPr>
                        <a:t>难点</a:t>
                      </a:r>
                      <a:endParaRPr lang="zh-CN" altLang="en-US"/>
                    </a:p>
                  </a:txBody>
                  <a:tcPr/>
                </a:tc>
                <a:tc>
                  <a:txBody>
                    <a:bodyPr/>
                    <a:lstStyle/>
                    <a:p>
                      <a:pPr algn="ctr">
                        <a:lnSpc>
                          <a:spcPct val="150000"/>
                        </a:lnSpc>
                      </a:pPr>
                      <a:r>
                        <a:rPr lang="zh-CN" altLang="en-US" sz="1800">
                          <a:sym typeface="+mn-ea"/>
                        </a:rPr>
                        <a:t>解决方案</a:t>
                      </a:r>
                      <a:endParaRPr lang="zh-CN" altLang="en-US"/>
                    </a:p>
                  </a:txBody>
                  <a:tcPr/>
                </a:tc>
                <a:extLst>
                  <a:ext uri="{0D108BD9-81ED-4DB2-BD59-A6C34878D82A}">
                    <a16:rowId xmlns:a16="http://schemas.microsoft.com/office/drawing/2014/main" val="10000"/>
                  </a:ext>
                </a:extLst>
              </a:tr>
              <a:tr h="843915">
                <a:tc>
                  <a:txBody>
                    <a:bodyPr/>
                    <a:lstStyle/>
                    <a:p>
                      <a:pPr algn="ctr">
                        <a:buClrTx/>
                        <a:buSzTx/>
                        <a:buFontTx/>
                        <a:buNone/>
                      </a:pPr>
                      <a:endParaRPr lang="zh-CN" altLang="en-US" sz="1600">
                        <a:solidFill>
                          <a:srgbClr val="08090C"/>
                        </a:solidFill>
                        <a:uFillTx/>
                        <a:latin typeface="Times New Roman" panose="02020603050405020304" charset="0"/>
                        <a:ea typeface="宋体" panose="02010600030101010101" pitchFamily="2" charset="-122"/>
                      </a:endParaRPr>
                    </a:p>
                    <a:p>
                      <a:pPr algn="ctr">
                        <a:buClrTx/>
                        <a:buSzTx/>
                        <a:buFontTx/>
                        <a:buNone/>
                      </a:pPr>
                      <a:r>
                        <a:rPr lang="zh-CN" altLang="en-US" sz="1600">
                          <a:solidFill>
                            <a:srgbClr val="08090C"/>
                          </a:solidFill>
                          <a:uFillTx/>
                          <a:latin typeface="Times New Roman" panose="02020603050405020304" charset="0"/>
                          <a:ea typeface="宋体" panose="02010600030101010101" pitchFamily="2" charset="-122"/>
                        </a:rPr>
                        <a:t>1</a:t>
                      </a:r>
                    </a:p>
                  </a:txBody>
                  <a:tcPr/>
                </a:tc>
                <a:tc>
                  <a:txBody>
                    <a:bodyPr/>
                    <a:lstStyle/>
                    <a:p>
                      <a:pPr algn="ctr">
                        <a:buClrTx/>
                        <a:buSzTx/>
                        <a:buFontTx/>
                      </a:pPr>
                      <a:r>
                        <a:rPr lang="zh-CN" altLang="en-US" sz="1600">
                          <a:solidFill>
                            <a:srgbClr val="08090C"/>
                          </a:solidFill>
                          <a:uFillTx/>
                          <a:latin typeface="Times New Roman" panose="02020603050405020304" charset="0"/>
                          <a:ea typeface="宋体" panose="02010600030101010101" pitchFamily="2" charset="-122"/>
                          <a:cs typeface="宋体" panose="02010600030101010101" pitchFamily="2" charset="-122"/>
                        </a:rPr>
                        <a:t>-78℃超低温还原，设备要求高</a:t>
                      </a:r>
                    </a:p>
                  </a:txBody>
                  <a:tcPr marL="51117" marR="51117" marT="51117" marB="51117" anchor="ctr"/>
                </a:tc>
                <a:tc>
                  <a:txBody>
                    <a:bodyPr/>
                    <a:lstStyle/>
                    <a:p>
                      <a:pPr algn="ctr">
                        <a:buClrTx/>
                        <a:buSzTx/>
                        <a:buFontTx/>
                      </a:pPr>
                      <a:r>
                        <a:rPr lang="zh-CN" altLang="en-US" sz="1600" dirty="0">
                          <a:solidFill>
                            <a:srgbClr val="08090C"/>
                          </a:solidFill>
                          <a:uFillTx/>
                          <a:latin typeface="Times New Roman" panose="02020603050405020304" charset="0"/>
                          <a:ea typeface="宋体" panose="02010600030101010101" pitchFamily="2" charset="-122"/>
                          <a:cs typeface="宋体" panose="02010600030101010101" pitchFamily="2" charset="-122"/>
                        </a:rPr>
                        <a:t> 使用手性催化剂 / 酶催化替代低温化学还原或可采用连续流工艺。</a:t>
                      </a:r>
                    </a:p>
                  </a:txBody>
                  <a:tcPr marL="51117" marR="51117" marT="51117" marB="51117" anchor="ctr"/>
                </a:tc>
                <a:extLst>
                  <a:ext uri="{0D108BD9-81ED-4DB2-BD59-A6C34878D82A}">
                    <a16:rowId xmlns:a16="http://schemas.microsoft.com/office/drawing/2014/main" val="10001"/>
                  </a:ext>
                </a:extLst>
              </a:tr>
              <a:tr h="1014095">
                <a:tc>
                  <a:txBody>
                    <a:bodyPr/>
                    <a:lstStyle/>
                    <a:p>
                      <a:pPr algn="ctr">
                        <a:buClrTx/>
                        <a:buSzTx/>
                        <a:buFontTx/>
                        <a:buNone/>
                      </a:pPr>
                      <a:endParaRPr lang="zh-CN" altLang="en-US" sz="1600">
                        <a:solidFill>
                          <a:srgbClr val="08090C"/>
                        </a:solidFill>
                        <a:uFillTx/>
                        <a:latin typeface="Times New Roman" panose="02020603050405020304" charset="0"/>
                        <a:ea typeface="宋体" panose="02010600030101010101" pitchFamily="2" charset="-122"/>
                      </a:endParaRPr>
                    </a:p>
                    <a:p>
                      <a:pPr algn="ctr">
                        <a:buClrTx/>
                        <a:buSzTx/>
                        <a:buFontTx/>
                        <a:buNone/>
                      </a:pPr>
                      <a:r>
                        <a:rPr lang="zh-CN" altLang="en-US" sz="1600">
                          <a:solidFill>
                            <a:srgbClr val="08090C"/>
                          </a:solidFill>
                          <a:uFillTx/>
                          <a:latin typeface="Times New Roman" panose="02020603050405020304" charset="0"/>
                          <a:ea typeface="宋体" panose="02010600030101010101" pitchFamily="2" charset="-122"/>
                        </a:rPr>
                        <a:t>2</a:t>
                      </a:r>
                    </a:p>
                  </a:txBody>
                  <a:tcPr/>
                </a:tc>
                <a:tc>
                  <a:txBody>
                    <a:bodyPr/>
                    <a:lstStyle/>
                    <a:p>
                      <a:pPr algn="ctr">
                        <a:buClrTx/>
                        <a:buSzTx/>
                        <a:buFontTx/>
                      </a:pPr>
                      <a:r>
                        <a:rPr lang="zh-CN" altLang="en-US" sz="1600">
                          <a:solidFill>
                            <a:srgbClr val="08090C"/>
                          </a:solidFill>
                          <a:uFillTx/>
                          <a:latin typeface="Times New Roman" panose="02020603050405020304" charset="0"/>
                          <a:ea typeface="宋体" panose="02010600030101010101" pitchFamily="2" charset="-122"/>
                          <a:cs typeface="宋体" panose="02010600030101010101" pitchFamily="2" charset="-122"/>
                        </a:rPr>
                        <a:t>Et₃B/NaBH₄试剂对水、氧气敏感</a:t>
                      </a:r>
                    </a:p>
                  </a:txBody>
                  <a:tcPr marL="51117" marR="51117" marT="51117" marB="51117" anchor="ctr"/>
                </a:tc>
                <a:tc>
                  <a:txBody>
                    <a:bodyPr/>
                    <a:lstStyle/>
                    <a:p>
                      <a:pPr algn="ctr">
                        <a:buClrTx/>
                        <a:buSzTx/>
                        <a:buFontTx/>
                      </a:pPr>
                      <a:r>
                        <a:rPr lang="en-US" altLang="zh-CN" sz="1600">
                          <a:solidFill>
                            <a:srgbClr val="08090C"/>
                          </a:solidFill>
                          <a:uFillTx/>
                          <a:latin typeface="Times New Roman" panose="02020603050405020304" charset="0"/>
                          <a:ea typeface="宋体" panose="02010600030101010101" pitchFamily="2" charset="-122"/>
                          <a:cs typeface="宋体" panose="02010600030101010101" pitchFamily="2" charset="-122"/>
                        </a:rPr>
                        <a:t> </a:t>
                      </a:r>
                      <a:r>
                        <a:rPr lang="zh-CN" altLang="en-US" sz="1600">
                          <a:solidFill>
                            <a:srgbClr val="08090C"/>
                          </a:solidFill>
                          <a:uFillTx/>
                          <a:latin typeface="Times New Roman" panose="02020603050405020304" charset="0"/>
                          <a:ea typeface="宋体" panose="02010600030101010101" pitchFamily="2" charset="-122"/>
                          <a:cs typeface="宋体" panose="02010600030101010101" pitchFamily="2" charset="-122"/>
                        </a:rPr>
                        <a:t>改用不对称催化加氢，在常温</a:t>
                      </a:r>
                      <a:r>
                        <a:rPr lang="en-US" altLang="zh-CN" sz="1600">
                          <a:solidFill>
                            <a:srgbClr val="08090C"/>
                          </a:solidFill>
                          <a:uFillTx/>
                          <a:latin typeface="Times New Roman" panose="02020603050405020304" charset="0"/>
                          <a:ea typeface="宋体" panose="02010600030101010101" pitchFamily="2" charset="-122"/>
                          <a:cs typeface="宋体" panose="02010600030101010101" pitchFamily="2" charset="-122"/>
                        </a:rPr>
                        <a:t> / </a:t>
                      </a:r>
                      <a:r>
                        <a:rPr lang="zh-CN" altLang="en-US" sz="1600">
                          <a:solidFill>
                            <a:srgbClr val="08090C"/>
                          </a:solidFill>
                          <a:uFillTx/>
                          <a:latin typeface="Times New Roman" panose="02020603050405020304" charset="0"/>
                          <a:ea typeface="宋体" panose="02010600030101010101" pitchFamily="2" charset="-122"/>
                          <a:cs typeface="宋体" panose="02010600030101010101" pitchFamily="2" charset="-122"/>
                        </a:rPr>
                        <a:t>常压下实现高立体选择性还原，如硼氢化钠（</a:t>
                      </a:r>
                      <a:r>
                        <a:rPr lang="en-US" altLang="zh-CN" sz="1600">
                          <a:solidFill>
                            <a:srgbClr val="08090C"/>
                          </a:solidFill>
                          <a:uFillTx/>
                          <a:latin typeface="Times New Roman" panose="02020603050405020304" charset="0"/>
                          <a:ea typeface="宋体" panose="02010600030101010101" pitchFamily="2" charset="-122"/>
                          <a:cs typeface="宋体" panose="02010600030101010101" pitchFamily="2" charset="-122"/>
                        </a:rPr>
                        <a:t>NaBH</a:t>
                      </a:r>
                      <a:r>
                        <a:rPr lang="en-US" altLang="en-US" sz="1600">
                          <a:solidFill>
                            <a:srgbClr val="08090C"/>
                          </a:solidFill>
                          <a:uFillTx/>
                          <a:latin typeface="Times New Roman" panose="02020603050405020304" charset="0"/>
                          <a:ea typeface="宋体" panose="02010600030101010101" pitchFamily="2" charset="-122"/>
                          <a:cs typeface="宋体" panose="02010600030101010101" pitchFamily="2" charset="-122"/>
                        </a:rPr>
                        <a:t>₄</a:t>
                      </a:r>
                      <a:r>
                        <a:rPr lang="zh-CN" altLang="en-US" sz="1600">
                          <a:solidFill>
                            <a:srgbClr val="08090C"/>
                          </a:solidFill>
                          <a:uFillTx/>
                          <a:latin typeface="Times New Roman" panose="02020603050405020304" charset="0"/>
                          <a:ea typeface="宋体" panose="02010600030101010101" pitchFamily="2" charset="-122"/>
                          <a:cs typeface="宋体" panose="02010600030101010101" pitchFamily="2" charset="-122"/>
                        </a:rPr>
                        <a:t>）</a:t>
                      </a:r>
                      <a:r>
                        <a:rPr lang="en-US" altLang="zh-CN" sz="1600">
                          <a:solidFill>
                            <a:srgbClr val="08090C"/>
                          </a:solidFill>
                          <a:uFillTx/>
                          <a:latin typeface="Times New Roman" panose="02020603050405020304" charset="0"/>
                          <a:ea typeface="宋体" panose="02010600030101010101" pitchFamily="2" charset="-122"/>
                          <a:cs typeface="宋体" panose="02010600030101010101" pitchFamily="2" charset="-122"/>
                        </a:rPr>
                        <a:t>/LiI </a:t>
                      </a:r>
                      <a:r>
                        <a:rPr lang="zh-CN" altLang="en-US" sz="1600">
                          <a:solidFill>
                            <a:srgbClr val="08090C"/>
                          </a:solidFill>
                          <a:uFillTx/>
                          <a:latin typeface="Times New Roman" panose="02020603050405020304" charset="0"/>
                          <a:ea typeface="宋体" panose="02010600030101010101" pitchFamily="2" charset="-122"/>
                          <a:cs typeface="宋体" panose="02010600030101010101" pitchFamily="2" charset="-122"/>
                        </a:rPr>
                        <a:t>复合还原体系代替</a:t>
                      </a:r>
                      <a:r>
                        <a:rPr lang="en-US" altLang="zh-CN" sz="1600">
                          <a:solidFill>
                            <a:srgbClr val="08090C"/>
                          </a:solidFill>
                          <a:uFillTx/>
                          <a:latin typeface="Times New Roman" panose="02020603050405020304" charset="0"/>
                          <a:ea typeface="宋体" panose="02010600030101010101" pitchFamily="2" charset="-122"/>
                          <a:cs typeface="宋体" panose="02010600030101010101" pitchFamily="2" charset="-122"/>
                        </a:rPr>
                        <a:t>Et</a:t>
                      </a:r>
                      <a:r>
                        <a:rPr lang="en-US" altLang="en-US" sz="1600">
                          <a:solidFill>
                            <a:srgbClr val="08090C"/>
                          </a:solidFill>
                          <a:uFillTx/>
                          <a:latin typeface="Times New Roman" panose="02020603050405020304" charset="0"/>
                          <a:ea typeface="宋体" panose="02010600030101010101" pitchFamily="2" charset="-122"/>
                          <a:cs typeface="宋体" panose="02010600030101010101" pitchFamily="2" charset="-122"/>
                        </a:rPr>
                        <a:t>₃</a:t>
                      </a:r>
                      <a:r>
                        <a:rPr lang="en-US" altLang="zh-CN" sz="1600">
                          <a:solidFill>
                            <a:srgbClr val="08090C"/>
                          </a:solidFill>
                          <a:uFillTx/>
                          <a:latin typeface="Times New Roman" panose="02020603050405020304" charset="0"/>
                          <a:ea typeface="宋体" panose="02010600030101010101" pitchFamily="2" charset="-122"/>
                          <a:cs typeface="宋体" panose="02010600030101010101" pitchFamily="2" charset="-122"/>
                        </a:rPr>
                        <a:t>B/NaBH</a:t>
                      </a:r>
                      <a:r>
                        <a:rPr lang="en-US" altLang="en-US" sz="1600">
                          <a:solidFill>
                            <a:srgbClr val="08090C"/>
                          </a:solidFill>
                          <a:uFillTx/>
                          <a:latin typeface="Times New Roman" panose="02020603050405020304" charset="0"/>
                          <a:ea typeface="宋体" panose="02010600030101010101" pitchFamily="2" charset="-122"/>
                          <a:cs typeface="宋体" panose="02010600030101010101" pitchFamily="2" charset="-122"/>
                        </a:rPr>
                        <a:t>₄</a:t>
                      </a:r>
                      <a:r>
                        <a:rPr lang="zh-CN" altLang="en-US" sz="1600">
                          <a:solidFill>
                            <a:srgbClr val="08090C"/>
                          </a:solidFill>
                          <a:uFillTx/>
                          <a:latin typeface="Times New Roman" panose="02020603050405020304" charset="0"/>
                          <a:ea typeface="宋体" panose="02010600030101010101" pitchFamily="2" charset="-122"/>
                          <a:cs typeface="宋体" panose="02010600030101010101" pitchFamily="2" charset="-122"/>
                        </a:rPr>
                        <a:t>是一种有效的替代方案，尝试酶催化还原（如羰基还原酶），在温和水相体系中反应</a:t>
                      </a:r>
                    </a:p>
                  </a:txBody>
                  <a:tcPr marL="51117" marR="51117" marT="51117" marB="51117" anchor="ctr"/>
                </a:tc>
                <a:extLst>
                  <a:ext uri="{0D108BD9-81ED-4DB2-BD59-A6C34878D82A}">
                    <a16:rowId xmlns:a16="http://schemas.microsoft.com/office/drawing/2014/main" val="10002"/>
                  </a:ext>
                </a:extLst>
              </a:tr>
              <a:tr h="1338580">
                <a:tc>
                  <a:txBody>
                    <a:bodyPr/>
                    <a:lstStyle/>
                    <a:p>
                      <a:pPr algn="ctr">
                        <a:buClrTx/>
                        <a:buSzTx/>
                        <a:buFontTx/>
                        <a:buNone/>
                      </a:pPr>
                      <a:endParaRPr lang="en-US" altLang="zh-CN" sz="1600">
                        <a:solidFill>
                          <a:srgbClr val="08090C"/>
                        </a:solidFill>
                        <a:uFillTx/>
                        <a:latin typeface="Times New Roman" panose="02020603050405020304" charset="0"/>
                        <a:ea typeface="宋体" panose="02010600030101010101" pitchFamily="2" charset="-122"/>
                      </a:endParaRPr>
                    </a:p>
                    <a:p>
                      <a:pPr algn="ctr">
                        <a:buClrTx/>
                        <a:buSzTx/>
                        <a:buFontTx/>
                        <a:buNone/>
                      </a:pPr>
                      <a:endParaRPr lang="en-US" altLang="zh-CN" sz="1600">
                        <a:solidFill>
                          <a:srgbClr val="08090C"/>
                        </a:solidFill>
                        <a:uFillTx/>
                        <a:latin typeface="Times New Roman" panose="02020603050405020304" charset="0"/>
                        <a:ea typeface="宋体" panose="02010600030101010101" pitchFamily="2" charset="-122"/>
                      </a:endParaRPr>
                    </a:p>
                    <a:p>
                      <a:pPr algn="ctr">
                        <a:buClrTx/>
                        <a:buSzTx/>
                        <a:buFontTx/>
                        <a:buNone/>
                      </a:pPr>
                      <a:r>
                        <a:rPr lang="en-US" altLang="zh-CN" sz="1600">
                          <a:solidFill>
                            <a:srgbClr val="08090C"/>
                          </a:solidFill>
                          <a:uFillTx/>
                          <a:latin typeface="Times New Roman" panose="02020603050405020304" charset="0"/>
                          <a:ea typeface="宋体" panose="02010600030101010101" pitchFamily="2" charset="-122"/>
                        </a:rPr>
                        <a:t>3</a:t>
                      </a:r>
                    </a:p>
                    <a:p>
                      <a:pPr algn="ctr">
                        <a:buClrTx/>
                        <a:buSzTx/>
                        <a:buFontTx/>
                        <a:buNone/>
                      </a:pPr>
                      <a:endParaRPr lang="en-US" altLang="zh-CN" sz="1600">
                        <a:solidFill>
                          <a:srgbClr val="08090C"/>
                        </a:solidFill>
                        <a:uFillTx/>
                        <a:latin typeface="Times New Roman" panose="02020603050405020304" charset="0"/>
                        <a:ea typeface="宋体" panose="02010600030101010101" pitchFamily="2" charset="-122"/>
                      </a:endParaRPr>
                    </a:p>
                  </a:txBody>
                  <a:tcPr/>
                </a:tc>
                <a:tc>
                  <a:txBody>
                    <a:bodyPr/>
                    <a:lstStyle/>
                    <a:p>
                      <a:pPr algn="ctr">
                        <a:buClrTx/>
                        <a:buSzTx/>
                        <a:buFontTx/>
                        <a:buNone/>
                      </a:pPr>
                      <a:r>
                        <a:rPr lang="zh-CN" altLang="en-US" sz="1600">
                          <a:ln>
                            <a:noFill/>
                          </a:ln>
                          <a:solidFill>
                            <a:prstClr val="black"/>
                          </a:solidFill>
                          <a:latin typeface="Times New Roman" panose="02020603050405020304" charset="0"/>
                          <a:ea typeface="宋体" panose="02010600030101010101" pitchFamily="2" charset="-122"/>
                          <a:sym typeface="+mn-ea"/>
                        </a:rPr>
                        <a:t>该合成路线使用</a:t>
                      </a:r>
                      <a:r>
                        <a:rPr lang="en-US" altLang="zh-CN" sz="1600">
                          <a:ln>
                            <a:noFill/>
                          </a:ln>
                          <a:solidFill>
                            <a:prstClr val="black"/>
                          </a:solidFill>
                          <a:latin typeface="Times New Roman" panose="02020603050405020304" charset="0"/>
                          <a:ea typeface="宋体" panose="02010600030101010101" pitchFamily="2" charset="-122"/>
                          <a:sym typeface="+mn-ea"/>
                        </a:rPr>
                        <a:t>POCl</a:t>
                      </a:r>
                      <a:r>
                        <a:rPr lang="en-US" altLang="en-US" sz="1600">
                          <a:ln>
                            <a:noFill/>
                          </a:ln>
                          <a:solidFill>
                            <a:prstClr val="black"/>
                          </a:solidFill>
                          <a:latin typeface="Times New Roman" panose="02020603050405020304" charset="0"/>
                          <a:ea typeface="宋体" panose="02010600030101010101" pitchFamily="2" charset="-122"/>
                          <a:sym typeface="+mn-ea"/>
                        </a:rPr>
                        <a:t>₃</a:t>
                      </a:r>
                      <a:r>
                        <a:rPr lang="zh-CN" altLang="en-US" sz="1600">
                          <a:ln>
                            <a:noFill/>
                          </a:ln>
                          <a:solidFill>
                            <a:prstClr val="black"/>
                          </a:solidFill>
                          <a:latin typeface="Times New Roman" panose="02020603050405020304" charset="0"/>
                          <a:ea typeface="宋体" panose="02010600030101010101" pitchFamily="2" charset="-122"/>
                          <a:sym typeface="+mn-ea"/>
                        </a:rPr>
                        <a:t>，反应后产生大量酸性含磷废水，处理困难</a:t>
                      </a:r>
                      <a:endParaRPr lang="zh-CN" altLang="en-US" sz="1600">
                        <a:solidFill>
                          <a:srgbClr val="08090C"/>
                        </a:solidFill>
                        <a:uFillTx/>
                        <a:latin typeface="Times New Roman" panose="02020603050405020304" charset="0"/>
                        <a:ea typeface="宋体" panose="02010600030101010101" pitchFamily="2" charset="-122"/>
                      </a:endParaRPr>
                    </a:p>
                  </a:txBody>
                  <a:tcPr marL="51117" marR="51117" marT="51117" marB="51117" anchor="ctr"/>
                </a:tc>
                <a:tc>
                  <a:txBody>
                    <a:bodyPr/>
                    <a:lstStyle/>
                    <a:p>
                      <a:pPr algn="ctr">
                        <a:buClrTx/>
                        <a:buSzTx/>
                        <a:buFontTx/>
                        <a:buNone/>
                      </a:pPr>
                      <a:r>
                        <a:rPr lang="zh-CN" altLang="en-US" sz="1600" dirty="0">
                          <a:solidFill>
                            <a:srgbClr val="08090C"/>
                          </a:solidFill>
                          <a:uFillTx/>
                          <a:latin typeface="Times New Roman" panose="02020603050405020304" charset="0"/>
                          <a:ea typeface="宋体" panose="02010600030101010101" pitchFamily="2" charset="-122"/>
                          <a:cs typeface="宋体" panose="02010600030101010101" pitchFamily="2" charset="-122"/>
                        </a:rPr>
                        <a:t>使用更绿色的甲酰化试剂：在构建醛中间体时，可以采用选择性更好毒性更低的甲酰化试剂，或探索全新的反应路径，从源头避免产生含磷废水</a:t>
                      </a:r>
                    </a:p>
                  </a:txBody>
                  <a:tcPr marL="51117" marR="51117" marT="51117" marB="51117" anchor="ctr"/>
                </a:tc>
                <a:extLst>
                  <a:ext uri="{0D108BD9-81ED-4DB2-BD59-A6C34878D82A}">
                    <a16:rowId xmlns:a16="http://schemas.microsoft.com/office/drawing/2014/main" val="10003"/>
                  </a:ext>
                </a:extLst>
              </a:tr>
            </a:tbl>
          </a:graphicData>
        </a:graphic>
      </p:graphicFrame>
    </p:spTree>
    <p:custDataLst>
      <p:tags r:id="rId1"/>
    </p:custDataLst>
    <p:extLst>
      <p:ext uri="{BB962C8B-B14F-4D97-AF65-F5344CB8AC3E}">
        <p14:creationId xmlns:p14="http://schemas.microsoft.com/office/powerpoint/2010/main" val="30681073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131416" y="4022469"/>
            <a:ext cx="2081213" cy="922020"/>
          </a:xfrm>
          <a:prstGeom prst="rect">
            <a:avLst/>
          </a:prstGeom>
          <a:noFill/>
        </p:spPr>
        <p:txBody>
          <a:bodyPr wrap="square" rtlCol="0">
            <a:spAutoFit/>
          </a:bodyPr>
          <a:lstStyle/>
          <a:p>
            <a:r>
              <a:rPr lang="en-US" altLang="zh-CN" noProof="1">
                <a:latin typeface="Times New Roman" panose="02020603050405020304" charset="0"/>
                <a:ea typeface="宋体" panose="02010600030101010101" pitchFamily="2" charset="-122"/>
                <a:cs typeface="+mn-cs"/>
              </a:rPr>
              <a:t>     </a:t>
            </a:r>
            <a:r>
              <a:rPr lang="zh-CN" altLang="en-US" noProof="1">
                <a:latin typeface="Times New Roman" panose="02020603050405020304" charset="0"/>
                <a:ea typeface="宋体" panose="02010600030101010101" pitchFamily="2" charset="-122"/>
                <a:cs typeface="+mn-cs"/>
              </a:rPr>
              <a:t>阿托伐他汀</a:t>
            </a:r>
            <a:endParaRPr lang="zh-CN" altLang="en-US" noProof="1">
              <a:latin typeface="Times New Roman" panose="02020603050405020304" charset="0"/>
            </a:endParaRPr>
          </a:p>
          <a:p>
            <a:r>
              <a:rPr lang="en-US" altLang="zh-CN" noProof="1">
                <a:latin typeface="Times New Roman" panose="02020603050405020304" charset="0"/>
                <a:ea typeface="宋体" panose="02010600030101010101" pitchFamily="2" charset="-122"/>
                <a:cs typeface="+mn-cs"/>
              </a:rPr>
              <a:t>     Atorvastatin</a:t>
            </a:r>
            <a:endParaRPr lang="en-US" altLang="zh-CN" noProof="1">
              <a:latin typeface="Times New Roman" panose="02020603050405020304" charset="0"/>
            </a:endParaRPr>
          </a:p>
          <a:p>
            <a:r>
              <a:rPr lang="en-US" altLang="zh-CN" noProof="1">
                <a:latin typeface="Times New Roman" panose="02020603050405020304" charset="0"/>
                <a:ea typeface="宋体" panose="02010600030101010101" pitchFamily="2" charset="-122"/>
                <a:cs typeface="+mn-cs"/>
              </a:rPr>
              <a:t>   </a:t>
            </a:r>
            <a:r>
              <a:rPr lang="zh-CN" altLang="en-US" noProof="1">
                <a:latin typeface="Times New Roman" panose="02020603050405020304" charset="0"/>
                <a:ea typeface="宋体" panose="02010600030101010101" pitchFamily="2" charset="-122"/>
                <a:cs typeface="+mn-cs"/>
              </a:rPr>
              <a:t>＄</a:t>
            </a:r>
            <a:r>
              <a:rPr lang="en-US" altLang="zh-CN" noProof="1">
                <a:latin typeface="Times New Roman" panose="02020603050405020304" charset="0"/>
                <a:ea typeface="宋体" panose="02010600030101010101" pitchFamily="2" charset="-122"/>
                <a:cs typeface="+mn-cs"/>
              </a:rPr>
              <a:t>1.07 Billion</a:t>
            </a:r>
            <a:endParaRPr lang="en-US" altLang="zh-CN" noProof="1">
              <a:latin typeface="Times New Roman" panose="02020603050405020304" charset="0"/>
            </a:endParaRPr>
          </a:p>
        </p:txBody>
      </p:sp>
      <p:pic>
        <p:nvPicPr>
          <p:cNvPr id="2050" name="图片 3"/>
          <p:cNvPicPr>
            <a:picLocks noChangeAspect="1"/>
          </p:cNvPicPr>
          <p:nvPr/>
        </p:nvPicPr>
        <p:blipFill>
          <a:blip r:embed="rId2"/>
          <a:stretch>
            <a:fillRect/>
          </a:stretch>
        </p:blipFill>
        <p:spPr>
          <a:xfrm>
            <a:off x="339254" y="2293682"/>
            <a:ext cx="3432175" cy="1530350"/>
          </a:xfrm>
          <a:prstGeom prst="rect">
            <a:avLst/>
          </a:prstGeom>
          <a:noFill/>
          <a:ln w="9525">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3" name="文本框 1"/>
          <p:cNvSpPr txBox="1"/>
          <p:nvPr/>
        </p:nvSpPr>
        <p:spPr>
          <a:xfrm>
            <a:off x="1990725" y="836613"/>
            <a:ext cx="8245475" cy="3141662"/>
          </a:xfrm>
          <a:prstGeom prst="rect">
            <a:avLst/>
          </a:prstGeom>
          <a:noFill/>
          <a:ln w="9525">
            <a:noFill/>
          </a:ln>
        </p:spPr>
        <p:txBody>
          <a:bodyPr wrap="square" anchor="t" anchorCtr="0"/>
          <a:lstStyle/>
          <a:p>
            <a:pPr indent="457200"/>
            <a:r>
              <a:rPr lang="zh-CN" altLang="en-US" dirty="0">
                <a:latin typeface="Arial" panose="020B0604020202020204" pitchFamily="34" charset="0"/>
                <a:ea typeface="宋体" panose="02010600030101010101" pitchFamily="2" charset="-122"/>
              </a:rPr>
              <a:t>阿托伐他汀，为他汀类血脂调节药，主要作用部位在肝脏，可减少胆固醇的合成，增加低密度脂蛋白受体合成。适用于高胆固醇血症原发性高胆固醇血症患者。</a:t>
            </a:r>
          </a:p>
          <a:p>
            <a:pPr indent="457200"/>
            <a:endParaRPr lang="zh-CN" altLang="en-US" dirty="0">
              <a:latin typeface="Arial" panose="020B0604020202020204" pitchFamily="34" charset="0"/>
              <a:ea typeface="宋体" panose="02010600030101010101" pitchFamily="2" charset="-122"/>
            </a:endParaRPr>
          </a:p>
          <a:p>
            <a:pPr indent="457200"/>
            <a:r>
              <a:rPr lang="zh-CN" altLang="en-US" dirty="0">
                <a:latin typeface="Arial" panose="020B0604020202020204" pitchFamily="34" charset="0"/>
                <a:ea typeface="宋体" panose="02010600030101010101" pitchFamily="2" charset="-122"/>
              </a:rPr>
              <a:t>自</a:t>
            </a:r>
            <a:r>
              <a:rPr lang="en-US" altLang="zh-CN" dirty="0">
                <a:latin typeface="Arial" panose="020B0604020202020204" pitchFamily="34" charset="0"/>
                <a:ea typeface="宋体" panose="02010600030101010101" pitchFamily="2" charset="-122"/>
              </a:rPr>
              <a:t>2016</a:t>
            </a:r>
            <a:r>
              <a:rPr lang="zh-CN" altLang="en-US" dirty="0">
                <a:latin typeface="Arial" panose="020B0604020202020204" pitchFamily="34" charset="0"/>
                <a:ea typeface="宋体" panose="02010600030101010101" pitchFamily="2" charset="-122"/>
              </a:rPr>
              <a:t>年上市以来，累计销售额高达492.7亿元，在近十年国内公立医疗机构创新药销售额中位列榜首。中国高血脂患者超 2.4 亿，心血管病患者3.3 亿，阿托伐他汀作为指南推荐一线降脂药，其临床地位不可替代。已成为史上最畅销的药物之一，也是全球医药史上最成功单品之一。</a:t>
            </a:r>
          </a:p>
        </p:txBody>
      </p:sp>
      <p:sp>
        <p:nvSpPr>
          <p:cNvPr id="3074" name="文本框 1"/>
          <p:cNvSpPr txBox="1"/>
          <p:nvPr/>
        </p:nvSpPr>
        <p:spPr>
          <a:xfrm>
            <a:off x="1558925" y="333375"/>
            <a:ext cx="1697038" cy="460375"/>
          </a:xfrm>
          <a:prstGeom prst="rect">
            <a:avLst/>
          </a:prstGeom>
          <a:noFill/>
          <a:ln w="9525">
            <a:noFill/>
          </a:ln>
        </p:spPr>
        <p:txBody>
          <a:bodyPr wrap="square" anchor="t" anchorCtr="0">
            <a:spAutoFit/>
          </a:bodyPr>
          <a:lstStyle/>
          <a:p>
            <a:r>
              <a:rPr lang="zh-CN" altLang="en-US" sz="2400" b="1">
                <a:latin typeface="Arial" panose="020B0604020202020204" pitchFamily="34" charset="0"/>
                <a:ea typeface="宋体" panose="02010600030101010101" pitchFamily="2" charset="-122"/>
              </a:rPr>
              <a:t>市场价值</a:t>
            </a:r>
          </a:p>
        </p:txBody>
      </p:sp>
      <p:sp>
        <p:nvSpPr>
          <p:cNvPr id="3075" name="文本框 3"/>
          <p:cNvSpPr txBox="1"/>
          <p:nvPr/>
        </p:nvSpPr>
        <p:spPr>
          <a:xfrm>
            <a:off x="1558925" y="4005263"/>
            <a:ext cx="3094038" cy="460375"/>
          </a:xfrm>
          <a:prstGeom prst="rect">
            <a:avLst/>
          </a:prstGeom>
          <a:noFill/>
          <a:ln w="9525">
            <a:noFill/>
          </a:ln>
        </p:spPr>
        <p:txBody>
          <a:bodyPr wrap="square" anchor="t" anchorCtr="0">
            <a:spAutoFit/>
          </a:bodyPr>
          <a:lstStyle/>
          <a:p>
            <a:r>
              <a:rPr lang="zh-CN" altLang="en-US" sz="2400" b="1" dirty="0">
                <a:latin typeface="Arial" panose="020B0604020202020204" pitchFamily="34" charset="0"/>
                <a:ea typeface="宋体" panose="02010600030101010101" pitchFamily="2" charset="-122"/>
              </a:rPr>
              <a:t>原料药价格</a:t>
            </a:r>
          </a:p>
        </p:txBody>
      </p:sp>
      <p:sp>
        <p:nvSpPr>
          <p:cNvPr id="3076" name="文本框 4"/>
          <p:cNvSpPr txBox="1"/>
          <p:nvPr/>
        </p:nvSpPr>
        <p:spPr>
          <a:xfrm>
            <a:off x="2135188" y="4581525"/>
            <a:ext cx="7929562" cy="1857375"/>
          </a:xfrm>
          <a:prstGeom prst="rect">
            <a:avLst/>
          </a:prstGeom>
          <a:noFill/>
          <a:ln w="9525">
            <a:noFill/>
          </a:ln>
        </p:spPr>
        <p:txBody>
          <a:bodyPr wrap="square" anchor="t" anchorCtr="0"/>
          <a:lstStyle/>
          <a:p>
            <a:r>
              <a:rPr lang="zh-CN" altLang="en-US" dirty="0">
                <a:latin typeface="Arial" panose="020B0604020202020204" pitchFamily="34" charset="0"/>
                <a:ea typeface="宋体" panose="02010600030101010101" pitchFamily="2" charset="-122"/>
              </a:rPr>
              <a:t>工业级价格（</a:t>
            </a:r>
            <a:r>
              <a:rPr lang="en-US" altLang="zh-CN" dirty="0">
                <a:latin typeface="Arial" panose="020B0604020202020204" pitchFamily="34" charset="0"/>
                <a:ea typeface="宋体" panose="02010600030101010101" pitchFamily="2" charset="-122"/>
              </a:rPr>
              <a:t>99%</a:t>
            </a:r>
            <a:r>
              <a:rPr lang="zh-CN" altLang="en-US" dirty="0">
                <a:latin typeface="Arial" panose="020B0604020202020204" pitchFamily="34" charset="0"/>
                <a:ea typeface="宋体" panose="02010600030101010101" pitchFamily="2" charset="-122"/>
              </a:rPr>
              <a:t>；＞</a:t>
            </a:r>
            <a:r>
              <a:rPr lang="en-US" altLang="zh-CN" dirty="0">
                <a:latin typeface="Arial" panose="020B0604020202020204" pitchFamily="34" charset="0"/>
                <a:ea typeface="宋体" panose="02010600030101010101" pitchFamily="2" charset="-122"/>
              </a:rPr>
              <a:t>100kg</a:t>
            </a:r>
            <a:r>
              <a:rPr lang="zh-CN" altLang="en-US" dirty="0">
                <a:latin typeface="Arial" panose="020B0604020202020204" pitchFamily="34" charset="0"/>
                <a:ea typeface="宋体" panose="02010600030101010101" pitchFamily="2" charset="-122"/>
              </a:rPr>
              <a:t>）：￥3,200</a:t>
            </a:r>
            <a:r>
              <a:rPr lang="en-US" altLang="zh-CN" dirty="0">
                <a:latin typeface="Arial" panose="020B0604020202020204" pitchFamily="34" charset="0"/>
                <a:ea typeface="宋体" panose="02010600030101010101" pitchFamily="2" charset="-122"/>
              </a:rPr>
              <a:t> </a:t>
            </a:r>
            <a:r>
              <a:rPr lang="zh-CN" altLang="en-US" dirty="0">
                <a:latin typeface="Arial" panose="020B0604020202020204" pitchFamily="34" charset="0"/>
                <a:ea typeface="宋体" panose="02010600030101010101" pitchFamily="2" charset="-122"/>
              </a:rPr>
              <a:t>/ </a:t>
            </a:r>
            <a:r>
              <a:rPr lang="en-US" altLang="zh-CN" dirty="0">
                <a:latin typeface="Arial" panose="020B0604020202020204" pitchFamily="34" charset="0"/>
                <a:ea typeface="宋体" panose="02010600030101010101" pitchFamily="2" charset="-122"/>
              </a:rPr>
              <a:t>kg</a:t>
            </a:r>
          </a:p>
          <a:p>
            <a:r>
              <a:rPr lang="zh-CN" altLang="en-US" dirty="0">
                <a:latin typeface="Arial" panose="020B0604020202020204" pitchFamily="34" charset="0"/>
                <a:ea typeface="宋体" panose="02010600030101010101" pitchFamily="2" charset="-122"/>
              </a:rPr>
              <a:t>小批量（1–50</a:t>
            </a:r>
            <a:r>
              <a:rPr lang="en-US" altLang="zh-CN" dirty="0">
                <a:latin typeface="Arial" panose="020B0604020202020204" pitchFamily="34" charset="0"/>
                <a:ea typeface="宋体" panose="02010600030101010101" pitchFamily="2" charset="-122"/>
              </a:rPr>
              <a:t>kg）：</a:t>
            </a:r>
            <a:r>
              <a:rPr lang="zh-CN" altLang="en-US" dirty="0">
                <a:latin typeface="Arial" panose="020B0604020202020204" pitchFamily="34" charset="0"/>
                <a:ea typeface="宋体" panose="02010600030101010101" pitchFamily="2" charset="-122"/>
              </a:rPr>
              <a:t>约</a:t>
            </a:r>
            <a:r>
              <a:rPr lang="zh-CN" altLang="en-US" dirty="0">
                <a:latin typeface="Arial" panose="020B0604020202020204" pitchFamily="34" charset="0"/>
                <a:ea typeface="宋体" panose="02010600030101010101" pitchFamily="2" charset="-122"/>
                <a:sym typeface="宋体" panose="02010600030101010101" pitchFamily="2" charset="-122"/>
              </a:rPr>
              <a:t>￥</a:t>
            </a:r>
            <a:r>
              <a:rPr lang="zh-CN" altLang="en-US" dirty="0">
                <a:latin typeface="Arial" panose="020B0604020202020204" pitchFamily="34" charset="0"/>
                <a:ea typeface="宋体" panose="02010600030101010101" pitchFamily="2" charset="-122"/>
              </a:rPr>
              <a:t>5,000–6,500 </a:t>
            </a:r>
            <a:r>
              <a:rPr lang="en-US" altLang="zh-CN" dirty="0">
                <a:latin typeface="Arial" panose="020B0604020202020204" pitchFamily="34" charset="0"/>
                <a:ea typeface="宋体" panose="02010600030101010101" pitchFamily="2" charset="-122"/>
              </a:rPr>
              <a:t>/ kg</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703388" y="6021388"/>
            <a:ext cx="5988050" cy="460375"/>
          </a:xfrm>
          <a:prstGeom prst="rect">
            <a:avLst/>
          </a:prstGeom>
          <a:noFill/>
        </p:spPr>
        <p:txBody>
          <a:bodyPr wrap="square" rtlCol="0">
            <a:spAutoFit/>
          </a:bodyPr>
          <a:lstStyle/>
          <a:p>
            <a:r>
              <a:rPr lang="en-US" altLang="zh-CN" sz="1200" noProof="1">
                <a:latin typeface="Times New Roman" panose="02020603050405020304" charset="0"/>
                <a:ea typeface="宋体" panose="02010600030101010101" pitchFamily="2" charset="-122"/>
                <a:cs typeface="+mn-cs"/>
              </a:rPr>
              <a:t>1.Synthetic Communications, 45(24), 2832–2840</a:t>
            </a:r>
            <a:endParaRPr lang="en-US" altLang="zh-CN" sz="1200" noProof="1">
              <a:latin typeface="Times New Roman" panose="02020603050405020304" charset="0"/>
            </a:endParaRPr>
          </a:p>
          <a:p>
            <a:r>
              <a:rPr lang="en-US" altLang="zh-CN" sz="1200" noProof="1">
                <a:latin typeface="Times New Roman" panose="02020603050405020304" charset="0"/>
                <a:ea typeface="宋体" panose="02010600030101010101" pitchFamily="2" charset="-122"/>
                <a:cs typeface="+mn-cs"/>
              </a:rPr>
              <a:t>2. Chemistry Central Journal 9, 7 (2015).</a:t>
            </a:r>
            <a:endParaRPr lang="en-US" altLang="zh-CN" sz="1200" noProof="1">
              <a:latin typeface="Times New Roman" panose="02020603050405020304" charset="0"/>
            </a:endParaRPr>
          </a:p>
        </p:txBody>
      </p:sp>
      <p:pic>
        <p:nvPicPr>
          <p:cNvPr id="4098" name="图片 6"/>
          <p:cNvPicPr>
            <a:picLocks noChangeAspect="1"/>
          </p:cNvPicPr>
          <p:nvPr/>
        </p:nvPicPr>
        <p:blipFill>
          <a:blip r:embed="rId2"/>
          <a:stretch>
            <a:fillRect/>
          </a:stretch>
        </p:blipFill>
        <p:spPr>
          <a:xfrm>
            <a:off x="1558925" y="836613"/>
            <a:ext cx="9039225" cy="4451350"/>
          </a:xfrm>
          <a:prstGeom prst="rect">
            <a:avLst/>
          </a:prstGeom>
          <a:noFill/>
          <a:ln w="9525">
            <a:noFill/>
          </a:ln>
        </p:spPr>
      </p:pic>
      <p:sp>
        <p:nvSpPr>
          <p:cNvPr id="4099" name="文本框 7"/>
          <p:cNvSpPr txBox="1"/>
          <p:nvPr/>
        </p:nvSpPr>
        <p:spPr>
          <a:xfrm>
            <a:off x="1558925" y="333375"/>
            <a:ext cx="1697038" cy="460375"/>
          </a:xfrm>
          <a:prstGeom prst="rect">
            <a:avLst/>
          </a:prstGeom>
          <a:noFill/>
          <a:ln w="9525">
            <a:noFill/>
          </a:ln>
        </p:spPr>
        <p:txBody>
          <a:bodyPr wrap="square" anchor="t" anchorCtr="0">
            <a:spAutoFit/>
          </a:bodyPr>
          <a:lstStyle/>
          <a:p>
            <a:r>
              <a:rPr lang="zh-CN" altLang="en-US" sz="2400" b="1">
                <a:latin typeface="Arial" panose="020B0604020202020204" pitchFamily="34" charset="0"/>
                <a:ea typeface="宋体" panose="02010600030101010101" pitchFamily="2" charset="-122"/>
              </a:rPr>
              <a:t>合成路线</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文本框 1"/>
          <p:cNvSpPr txBox="1"/>
          <p:nvPr/>
        </p:nvSpPr>
        <p:spPr>
          <a:xfrm>
            <a:off x="1774825" y="476250"/>
            <a:ext cx="8794750" cy="1514475"/>
          </a:xfrm>
          <a:prstGeom prst="rect">
            <a:avLst/>
          </a:prstGeom>
          <a:noFill/>
          <a:ln w="9525">
            <a:noFill/>
          </a:ln>
        </p:spPr>
        <p:txBody>
          <a:bodyPr wrap="square" anchor="t" anchorCtr="0"/>
          <a:lstStyle/>
          <a:p>
            <a:pPr>
              <a:lnSpc>
                <a:spcPts val="3000"/>
              </a:lnSpc>
            </a:pPr>
            <a:r>
              <a:rPr lang="zh-CN" altLang="en-US">
                <a:latin typeface="Arial" panose="020B0604020202020204" pitchFamily="34" charset="0"/>
                <a:ea typeface="宋体" panose="02010600030101010101" pitchFamily="2" charset="-122"/>
              </a:rPr>
              <a:t>合成路线优点：</a:t>
            </a:r>
          </a:p>
          <a:p>
            <a:pPr>
              <a:lnSpc>
                <a:spcPts val="3000"/>
              </a:lnSpc>
              <a:buChar char="•"/>
            </a:pPr>
            <a:r>
              <a:rPr lang="zh-CN" altLang="en-US">
                <a:latin typeface="Arial" panose="020B0604020202020204" pitchFamily="34" charset="0"/>
                <a:ea typeface="宋体" panose="02010600030101010101" pitchFamily="2" charset="-122"/>
              </a:rPr>
              <a:t>该合成路线优化了价格昂贵的</a:t>
            </a:r>
            <a:r>
              <a:rPr lang="en-US" altLang="zh-CN">
                <a:latin typeface="Arial" panose="020B0604020202020204" pitchFamily="34" charset="0"/>
                <a:ea typeface="宋体" panose="02010600030101010101" pitchFamily="2" charset="-122"/>
              </a:rPr>
              <a:t>4-</a:t>
            </a:r>
            <a:r>
              <a:rPr lang="zh-CN" altLang="en-US">
                <a:latin typeface="Arial" panose="020B0604020202020204" pitchFamily="34" charset="0"/>
                <a:ea typeface="宋体" panose="02010600030101010101" pitchFamily="2" charset="-122"/>
              </a:rPr>
              <a:t>氟苯醛，总收率更高，成本更低。</a:t>
            </a:r>
          </a:p>
          <a:p>
            <a:pPr>
              <a:lnSpc>
                <a:spcPts val="3000"/>
              </a:lnSpc>
              <a:buChar char="•"/>
            </a:pPr>
            <a:r>
              <a:rPr lang="zh-CN" altLang="en-US">
                <a:latin typeface="Arial" panose="020B0604020202020204" pitchFamily="34" charset="0"/>
                <a:ea typeface="宋体" panose="02010600030101010101" pitchFamily="2" charset="-122"/>
              </a:rPr>
              <a:t>整体路线不涉及高温高压，在合成中间体</a:t>
            </a:r>
            <a:r>
              <a:rPr lang="en-US" altLang="zh-CN">
                <a:latin typeface="Arial" panose="020B0604020202020204" pitchFamily="34" charset="0"/>
                <a:ea typeface="宋体" panose="02010600030101010101" pitchFamily="2" charset="-122"/>
              </a:rPr>
              <a:t> </a:t>
            </a:r>
            <a:r>
              <a:rPr lang="en-US" altLang="zh-CN" b="1">
                <a:latin typeface="Arial" panose="020B0604020202020204" pitchFamily="34" charset="0"/>
                <a:ea typeface="宋体" panose="02010600030101010101" pitchFamily="2" charset="-122"/>
              </a:rPr>
              <a:t>7 </a:t>
            </a:r>
            <a:r>
              <a:rPr lang="zh-CN" altLang="en-US">
                <a:latin typeface="Arial" panose="020B0604020202020204" pitchFamily="34" charset="0"/>
                <a:ea typeface="宋体" panose="02010600030101010101" pitchFamily="2" charset="-122"/>
              </a:rPr>
              <a:t>时，反应温度为</a:t>
            </a:r>
            <a:r>
              <a:rPr lang="en-US" altLang="zh-CN">
                <a:latin typeface="Arial" panose="020B0604020202020204" pitchFamily="34" charset="0"/>
                <a:ea typeface="宋体" panose="02010600030101010101" pitchFamily="2" charset="-122"/>
              </a:rPr>
              <a:t>80℃</a:t>
            </a:r>
            <a:r>
              <a:rPr lang="zh-CN" altLang="en-US">
                <a:latin typeface="Arial" panose="020B0604020202020204" pitchFamily="34" charset="0"/>
                <a:ea typeface="宋体" panose="02010600030101010101" pitchFamily="2" charset="-122"/>
              </a:rPr>
              <a:t>，反应条件安全。</a:t>
            </a:r>
          </a:p>
          <a:p>
            <a:pPr>
              <a:lnSpc>
                <a:spcPts val="3000"/>
              </a:lnSpc>
              <a:buChar char="•"/>
            </a:pPr>
            <a:r>
              <a:rPr lang="zh-CN" altLang="en-US">
                <a:latin typeface="Arial" panose="020B0604020202020204" pitchFamily="34" charset="0"/>
                <a:ea typeface="宋体" panose="02010600030101010101" pitchFamily="2" charset="-122"/>
              </a:rPr>
              <a:t>化合物</a:t>
            </a:r>
            <a:r>
              <a:rPr lang="en-US" altLang="zh-CN">
                <a:latin typeface="Arial" panose="020B0604020202020204" pitchFamily="34" charset="0"/>
                <a:ea typeface="宋体" panose="02010600030101010101" pitchFamily="2" charset="-122"/>
              </a:rPr>
              <a:t> </a:t>
            </a:r>
            <a:r>
              <a:rPr lang="en-US" altLang="zh-CN" b="1">
                <a:latin typeface="Arial" panose="020B0604020202020204" pitchFamily="34" charset="0"/>
                <a:ea typeface="宋体" panose="02010600030101010101" pitchFamily="2" charset="-122"/>
              </a:rPr>
              <a:t>8 </a:t>
            </a:r>
            <a:r>
              <a:rPr lang="zh-CN" altLang="en-US">
                <a:latin typeface="Arial" panose="020B0604020202020204" pitchFamily="34" charset="0"/>
                <a:ea typeface="宋体" panose="02010600030101010101" pitchFamily="2" charset="-122"/>
              </a:rPr>
              <a:t>合成时，可以通过避光反应，控制杂质生成，提高产物纯度。</a:t>
            </a:r>
          </a:p>
        </p:txBody>
      </p:sp>
      <p:sp>
        <p:nvSpPr>
          <p:cNvPr id="5122" name="文本框 2"/>
          <p:cNvSpPr txBox="1"/>
          <p:nvPr/>
        </p:nvSpPr>
        <p:spPr>
          <a:xfrm>
            <a:off x="1841500" y="2557463"/>
            <a:ext cx="8502650" cy="1245235"/>
          </a:xfrm>
          <a:prstGeom prst="rect">
            <a:avLst/>
          </a:prstGeom>
          <a:noFill/>
          <a:ln w="9525">
            <a:noFill/>
          </a:ln>
        </p:spPr>
        <p:txBody>
          <a:bodyPr wrap="square" anchor="t" anchorCtr="0">
            <a:spAutoFit/>
          </a:bodyPr>
          <a:lstStyle/>
          <a:p>
            <a:pPr>
              <a:lnSpc>
                <a:spcPts val="3000"/>
              </a:lnSpc>
            </a:pPr>
            <a:r>
              <a:rPr lang="zh-CN" altLang="en-US">
                <a:latin typeface="Arial" panose="020B0604020202020204" pitchFamily="34" charset="0"/>
                <a:ea typeface="宋体" panose="02010600030101010101" pitchFamily="2" charset="-122"/>
              </a:rPr>
              <a:t>合成路线缺点：</a:t>
            </a:r>
          </a:p>
          <a:p>
            <a:pPr>
              <a:lnSpc>
                <a:spcPts val="3000"/>
              </a:lnSpc>
              <a:buChar char="•"/>
            </a:pPr>
            <a:r>
              <a:rPr lang="zh-CN" altLang="en-US">
                <a:latin typeface="Arial" panose="020B0604020202020204" pitchFamily="34" charset="0"/>
                <a:ea typeface="宋体" panose="02010600030101010101" pitchFamily="2" charset="-122"/>
              </a:rPr>
              <a:t>使用</a:t>
            </a:r>
            <a:r>
              <a:rPr lang="en-US" altLang="zh-CN">
                <a:latin typeface="Arial" panose="020B0604020202020204" pitchFamily="34" charset="0"/>
                <a:ea typeface="宋体" panose="02010600030101010101" pitchFamily="2" charset="-122"/>
              </a:rPr>
              <a:t>NaH</a:t>
            </a:r>
            <a:r>
              <a:rPr lang="zh-CN" altLang="en-US">
                <a:latin typeface="Arial" panose="020B0604020202020204" pitchFamily="34" charset="0"/>
                <a:ea typeface="宋体" panose="02010600030101010101" pitchFamily="2" charset="-122"/>
              </a:rPr>
              <a:t>与</a:t>
            </a:r>
            <a:r>
              <a:rPr lang="en-US" altLang="zh-CN">
                <a:latin typeface="Arial" panose="020B0604020202020204" pitchFamily="34" charset="0"/>
                <a:ea typeface="宋体" panose="02010600030101010101" pitchFamily="2" charset="-122"/>
              </a:rPr>
              <a:t>Br</a:t>
            </a:r>
            <a:r>
              <a:rPr lang="en-US" altLang="zh-CN" baseline="-25000">
                <a:latin typeface="Arial" panose="020B0604020202020204" pitchFamily="34" charset="0"/>
                <a:ea typeface="宋体" panose="02010600030101010101" pitchFamily="2" charset="-122"/>
              </a:rPr>
              <a:t>2</a:t>
            </a:r>
            <a:r>
              <a:rPr lang="zh-CN" altLang="en-US">
                <a:latin typeface="Arial" panose="020B0604020202020204" pitchFamily="34" charset="0"/>
                <a:ea typeface="宋体" panose="02010600030101010101" pitchFamily="2" charset="-122"/>
              </a:rPr>
              <a:t>，</a:t>
            </a:r>
            <a:r>
              <a:rPr lang="en-US" altLang="zh-CN">
                <a:latin typeface="Arial" panose="020B0604020202020204" pitchFamily="34" charset="0"/>
                <a:ea typeface="宋体" panose="02010600030101010101" pitchFamily="2" charset="-122"/>
              </a:rPr>
              <a:t>NaH</a:t>
            </a:r>
            <a:r>
              <a:rPr lang="zh-CN" altLang="en-US">
                <a:latin typeface="Arial" panose="020B0604020202020204" pitchFamily="34" charset="0"/>
                <a:ea typeface="宋体" panose="02010600030101010101" pitchFamily="2" charset="-122"/>
              </a:rPr>
              <a:t>遇水易放热、起火、爆炸，对无水无氧、加料速度要求极高，难以放大进行工业制造；</a:t>
            </a:r>
            <a:r>
              <a:rPr lang="en-US" altLang="zh-CN">
                <a:latin typeface="Arial" panose="020B0604020202020204" pitchFamily="34" charset="0"/>
                <a:ea typeface="宋体" panose="02010600030101010101" pitchFamily="2" charset="-122"/>
              </a:rPr>
              <a:t>Br</a:t>
            </a:r>
            <a:r>
              <a:rPr lang="en-US" altLang="zh-CN" baseline="-25000">
                <a:latin typeface="Arial" panose="020B0604020202020204" pitchFamily="34" charset="0"/>
                <a:ea typeface="宋体" panose="02010600030101010101" pitchFamily="2" charset="-122"/>
              </a:rPr>
              <a:t>2</a:t>
            </a:r>
            <a:r>
              <a:rPr lang="zh-CN" altLang="en-US">
                <a:latin typeface="Arial" panose="020B0604020202020204" pitchFamily="34" charset="0"/>
                <a:ea typeface="宋体" panose="02010600030101010101" pitchFamily="2" charset="-122"/>
              </a:rPr>
              <a:t>剧毒、强腐蚀性、强刺激性，对设备与防护要求高。</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对象 3"/>
          <p:cNvGraphicFramePr>
            <a:graphicFrameLocks noChangeAspect="1"/>
          </p:cNvGraphicFramePr>
          <p:nvPr/>
        </p:nvGraphicFramePr>
        <p:xfrm>
          <a:off x="3639178" y="1418034"/>
          <a:ext cx="4913644" cy="4731391"/>
        </p:xfrm>
        <a:graphic>
          <a:graphicData uri="http://schemas.openxmlformats.org/presentationml/2006/ole">
            <mc:AlternateContent xmlns:mc="http://schemas.openxmlformats.org/markup-compatibility/2006">
              <mc:Choice xmlns:v="urn:schemas-microsoft-com:vml" Requires="v">
                <p:oleObj spid="_x0000_s49156" name="CS ChemDraw Drawing" r:id="rId3" imgW="1704975" imgH="1640840" progId="ChemDraw.Document.6.0">
                  <p:embed/>
                </p:oleObj>
              </mc:Choice>
              <mc:Fallback>
                <p:oleObj name="CS ChemDraw Drawing" r:id="rId3" imgW="1704975" imgH="1640840" progId="ChemDraw.Document.6.0">
                  <p:embed/>
                  <p:pic>
                    <p:nvPicPr>
                      <p:cNvPr id="4" name="对象 3"/>
                      <p:cNvPicPr/>
                      <p:nvPr/>
                    </p:nvPicPr>
                    <p:blipFill>
                      <a:blip r:embed="rId4"/>
                      <a:stretch>
                        <a:fillRect/>
                      </a:stretch>
                    </p:blipFill>
                    <p:spPr>
                      <a:xfrm>
                        <a:off x="3639178" y="1418034"/>
                        <a:ext cx="4913644" cy="4731391"/>
                      </a:xfrm>
                      <a:prstGeom prst="rect">
                        <a:avLst/>
                      </a:prstGeom>
                    </p:spPr>
                  </p:pic>
                </p:oleObj>
              </mc:Fallback>
            </mc:AlternateContent>
          </a:graphicData>
        </a:graphic>
      </p:graphicFrame>
      <p:sp>
        <p:nvSpPr>
          <p:cNvPr id="3" name="文本框 2"/>
          <p:cNvSpPr txBox="1"/>
          <p:nvPr/>
        </p:nvSpPr>
        <p:spPr>
          <a:xfrm>
            <a:off x="409389" y="273645"/>
            <a:ext cx="5167753" cy="461665"/>
          </a:xfrm>
          <a:prstGeom prst="rect">
            <a:avLst/>
          </a:prstGeom>
          <a:noFill/>
        </p:spPr>
        <p:txBody>
          <a:bodyPr wrap="square" rtlCol="0">
            <a:spAutoFit/>
          </a:bodyPr>
          <a:lstStyle/>
          <a:p>
            <a:r>
              <a:rPr lang="en-US" altLang="zh-CN" sz="2400" b="1" dirty="0">
                <a:latin typeface="Times New Roman" panose="02020603050405020304" charset="0"/>
                <a:ea typeface="宋体" panose="02010600030101010101" pitchFamily="2" charset="-122"/>
                <a:cs typeface="Times New Roman" panose="02020603050405020304" charset="0"/>
              </a:rPr>
              <a:t>Part 1 </a:t>
            </a:r>
            <a:r>
              <a:rPr lang="zh-CN" altLang="en-US" sz="2400" b="1" dirty="0">
                <a:latin typeface="Times New Roman" panose="02020603050405020304" charset="0"/>
                <a:ea typeface="宋体" panose="02010600030101010101" pitchFamily="2" charset="-122"/>
                <a:cs typeface="Times New Roman" panose="02020603050405020304" charset="0"/>
              </a:rPr>
              <a:t>阿托伐他汀分子结构</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文本框 31"/>
          <p:cNvSpPr txBox="1"/>
          <p:nvPr/>
        </p:nvSpPr>
        <p:spPr>
          <a:xfrm>
            <a:off x="409389" y="273645"/>
            <a:ext cx="5167753" cy="461665"/>
          </a:xfrm>
          <a:prstGeom prst="rect">
            <a:avLst/>
          </a:prstGeom>
          <a:noFill/>
        </p:spPr>
        <p:txBody>
          <a:bodyPr wrap="square" rtlCol="0">
            <a:spAutoFit/>
          </a:bodyPr>
          <a:lstStyle/>
          <a:p>
            <a:r>
              <a:rPr lang="en-US" altLang="zh-CN" sz="2400" b="1" dirty="0">
                <a:latin typeface="Times New Roman" panose="02020603050405020304" charset="0"/>
                <a:ea typeface="宋体" panose="02010600030101010101" pitchFamily="2" charset="-122"/>
                <a:cs typeface="Times New Roman" panose="02020603050405020304" charset="0"/>
              </a:rPr>
              <a:t>Part 2 </a:t>
            </a:r>
            <a:r>
              <a:rPr lang="zh-CN" altLang="en-US" sz="2400" b="1" dirty="0">
                <a:latin typeface="Times New Roman" panose="02020603050405020304" charset="0"/>
                <a:ea typeface="宋体" panose="02010600030101010101" pitchFamily="2" charset="-122"/>
                <a:cs typeface="Times New Roman" panose="02020603050405020304" charset="0"/>
              </a:rPr>
              <a:t>阿托伐他汀原料药的市场分析</a:t>
            </a:r>
          </a:p>
        </p:txBody>
      </p:sp>
      <p:sp>
        <p:nvSpPr>
          <p:cNvPr id="3" name="文本框 2"/>
          <p:cNvSpPr txBox="1"/>
          <p:nvPr/>
        </p:nvSpPr>
        <p:spPr>
          <a:xfrm>
            <a:off x="564909" y="996287"/>
            <a:ext cx="10950498" cy="5588068"/>
          </a:xfrm>
          <a:prstGeom prst="rect">
            <a:avLst/>
          </a:prstGeom>
          <a:noFill/>
        </p:spPr>
        <p:txBody>
          <a:bodyPr wrap="square">
            <a:spAutoFit/>
          </a:bodyPr>
          <a:lstStyle/>
          <a:p>
            <a:pPr marL="285750" indent="-285750">
              <a:lnSpc>
                <a:spcPct val="150000"/>
              </a:lnSpc>
              <a:buFont typeface="Arial" panose="020B0604020202020204" pitchFamily="34" charset="0"/>
              <a:buChar char="•"/>
            </a:pPr>
            <a:r>
              <a:rPr lang="zh-CN" altLang="en-US" sz="1600" b="1" dirty="0">
                <a:solidFill>
                  <a:srgbClr val="3333CC"/>
                </a:solidFill>
                <a:latin typeface="Times New Roman" panose="02020603050405020304" charset="0"/>
                <a:ea typeface="宋体" panose="02010600030101010101" pitchFamily="2" charset="-122"/>
                <a:cs typeface="Times New Roman" panose="02020603050405020304" charset="0"/>
              </a:rPr>
              <a:t>市场规模：</a:t>
            </a:r>
            <a:r>
              <a:rPr lang="zh-CN" altLang="en-US" sz="1600" b="1" dirty="0">
                <a:solidFill>
                  <a:srgbClr val="FF0000"/>
                </a:solidFill>
                <a:latin typeface="Times New Roman" panose="02020603050405020304" charset="0"/>
                <a:ea typeface="宋体" panose="02010600030101010101" pitchFamily="2" charset="-122"/>
                <a:cs typeface="Times New Roman" panose="02020603050405020304" charset="0"/>
              </a:rPr>
              <a:t>2023 年</a:t>
            </a:r>
            <a:r>
              <a:rPr lang="zh-CN" altLang="en-US" sz="1600" dirty="0">
                <a:latin typeface="Times New Roman" panose="02020603050405020304" charset="0"/>
                <a:ea typeface="宋体" panose="02010600030101010101" pitchFamily="2" charset="-122"/>
                <a:cs typeface="Times New Roman" panose="02020603050405020304" charset="0"/>
              </a:rPr>
              <a:t>，中国阿托伐他汀原料药市场规模达到约 </a:t>
            </a:r>
            <a:r>
              <a:rPr lang="zh-CN" altLang="en-US" sz="1600" b="1" dirty="0">
                <a:solidFill>
                  <a:srgbClr val="FF0000"/>
                </a:solidFill>
                <a:latin typeface="Times New Roman" panose="02020603050405020304" charset="0"/>
                <a:ea typeface="宋体" panose="02010600030101010101" pitchFamily="2" charset="-122"/>
                <a:cs typeface="Times New Roman" panose="02020603050405020304" charset="0"/>
              </a:rPr>
              <a:t>45 亿元人民币</a:t>
            </a:r>
            <a:r>
              <a:rPr lang="zh-CN" altLang="en-US" sz="1600" dirty="0">
                <a:latin typeface="Times New Roman" panose="02020603050405020304" charset="0"/>
                <a:ea typeface="宋体" panose="02010600030101010101" pitchFamily="2" charset="-122"/>
                <a:cs typeface="Times New Roman" panose="02020603050405020304" charset="0"/>
              </a:rPr>
              <a:t>，同比增长 </a:t>
            </a:r>
            <a:r>
              <a:rPr lang="zh-CN" altLang="en-US" sz="1600" b="1" dirty="0">
                <a:solidFill>
                  <a:srgbClr val="FF0000"/>
                </a:solidFill>
                <a:latin typeface="Times New Roman" panose="02020603050405020304" charset="0"/>
                <a:ea typeface="宋体" panose="02010600030101010101" pitchFamily="2" charset="-122"/>
                <a:cs typeface="Times New Roman" panose="02020603050405020304" charset="0"/>
              </a:rPr>
              <a:t>8%</a:t>
            </a:r>
            <a:r>
              <a:rPr lang="zh-CN" altLang="en-US" sz="1600" dirty="0">
                <a:latin typeface="Times New Roman" panose="02020603050405020304" charset="0"/>
                <a:ea typeface="宋体" panose="02010600030101010101" pitchFamily="2" charset="-122"/>
                <a:cs typeface="Times New Roman" panose="02020603050405020304" charset="0"/>
              </a:rPr>
              <a:t>。预计到 </a:t>
            </a:r>
            <a:r>
              <a:rPr lang="zh-CN" altLang="en-US" sz="1600" b="1" dirty="0">
                <a:solidFill>
                  <a:srgbClr val="FF0000"/>
                </a:solidFill>
                <a:latin typeface="Times New Roman" panose="02020603050405020304" charset="0"/>
                <a:ea typeface="宋体" panose="02010600030101010101" pitchFamily="2" charset="-122"/>
                <a:cs typeface="Times New Roman" panose="02020603050405020304" charset="0"/>
              </a:rPr>
              <a:t>2025 年</a:t>
            </a:r>
            <a:r>
              <a:rPr lang="zh-CN" altLang="en-US" sz="1600" dirty="0">
                <a:latin typeface="Times New Roman" panose="02020603050405020304" charset="0"/>
                <a:ea typeface="宋体" panose="02010600030101010101" pitchFamily="2" charset="-122"/>
                <a:cs typeface="Times New Roman" panose="02020603050405020304" charset="0"/>
              </a:rPr>
              <a:t>，市场规模将进一步扩大至 </a:t>
            </a:r>
            <a:r>
              <a:rPr lang="zh-CN" altLang="en-US" sz="1600" b="1" dirty="0">
                <a:solidFill>
                  <a:srgbClr val="FF0000"/>
                </a:solidFill>
                <a:latin typeface="Times New Roman" panose="02020603050405020304" charset="0"/>
                <a:ea typeface="宋体" panose="02010600030101010101" pitchFamily="2" charset="-122"/>
                <a:cs typeface="Times New Roman" panose="02020603050405020304" charset="0"/>
              </a:rPr>
              <a:t>55 亿元人民币</a:t>
            </a:r>
            <a:r>
              <a:rPr lang="zh-CN" altLang="en-US" sz="1600" dirty="0">
                <a:latin typeface="Times New Roman" panose="02020603050405020304" charset="0"/>
                <a:ea typeface="宋体" panose="02010600030101010101" pitchFamily="2" charset="-122"/>
                <a:cs typeface="Times New Roman" panose="02020603050405020304" charset="0"/>
              </a:rPr>
              <a:t>，年复合增长率约为 </a:t>
            </a:r>
            <a:r>
              <a:rPr lang="zh-CN" altLang="en-US" sz="1600" b="1" dirty="0">
                <a:solidFill>
                  <a:srgbClr val="FF0000"/>
                </a:solidFill>
                <a:latin typeface="Times New Roman" panose="02020603050405020304" charset="0"/>
                <a:ea typeface="宋体" panose="02010600030101010101" pitchFamily="2" charset="-122"/>
                <a:cs typeface="Times New Roman" panose="02020603050405020304" charset="0"/>
              </a:rPr>
              <a:t>9.5%</a:t>
            </a:r>
            <a:r>
              <a:rPr lang="zh-CN" altLang="en-US" sz="1600" dirty="0">
                <a:latin typeface="Times New Roman" panose="02020603050405020304" charset="0"/>
                <a:ea typeface="宋体" panose="02010600030101010101" pitchFamily="2" charset="-122"/>
                <a:cs typeface="Times New Roman" panose="02020603050405020304" charset="0"/>
              </a:rPr>
              <a:t>。</a:t>
            </a:r>
            <a:endParaRPr lang="en-US" altLang="zh-CN" sz="1600" dirty="0">
              <a:latin typeface="Times New Roman" panose="02020603050405020304" charset="0"/>
              <a:ea typeface="宋体" panose="02010600030101010101" pitchFamily="2" charset="-122"/>
              <a:cs typeface="Times New Roman" panose="02020603050405020304" charset="0"/>
            </a:endParaRPr>
          </a:p>
          <a:p>
            <a:pPr marL="285750" indent="-285750">
              <a:lnSpc>
                <a:spcPct val="150000"/>
              </a:lnSpc>
              <a:buFont typeface="Arial" panose="020B0604020202020204" pitchFamily="34" charset="0"/>
              <a:buChar char="•"/>
            </a:pPr>
            <a:endParaRPr lang="en-US" altLang="zh-CN" sz="1600" dirty="0">
              <a:latin typeface="Times New Roman" panose="02020603050405020304" charset="0"/>
              <a:ea typeface="宋体" panose="02010600030101010101" pitchFamily="2" charset="-122"/>
              <a:cs typeface="Times New Roman" panose="02020603050405020304" charset="0"/>
            </a:endParaRPr>
          </a:p>
          <a:p>
            <a:pPr marL="285750" indent="-285750">
              <a:lnSpc>
                <a:spcPct val="150000"/>
              </a:lnSpc>
              <a:buFont typeface="Arial" panose="020B0604020202020204" pitchFamily="34" charset="0"/>
              <a:buChar char="•"/>
            </a:pPr>
            <a:r>
              <a:rPr lang="zh-CN" altLang="en-US" sz="1600" b="1" dirty="0">
                <a:solidFill>
                  <a:srgbClr val="3333CC"/>
                </a:solidFill>
                <a:latin typeface="Times New Roman" panose="02020603050405020304" charset="0"/>
                <a:ea typeface="宋体" panose="02010600030101010101" pitchFamily="2" charset="-122"/>
                <a:cs typeface="Times New Roman" panose="02020603050405020304" charset="0"/>
              </a:rPr>
              <a:t>产量与需求量：</a:t>
            </a:r>
            <a:r>
              <a:rPr lang="zh-CN" altLang="en-US" sz="1600" b="1" dirty="0">
                <a:solidFill>
                  <a:srgbClr val="FF0000"/>
                </a:solidFill>
                <a:latin typeface="Times New Roman" panose="02020603050405020304" charset="0"/>
                <a:ea typeface="宋体" panose="02010600030101010101" pitchFamily="2" charset="-122"/>
                <a:cs typeface="Times New Roman" panose="02020603050405020304" charset="0"/>
              </a:rPr>
              <a:t>2023 年</a:t>
            </a:r>
            <a:r>
              <a:rPr lang="zh-CN" altLang="en-US" sz="1600" dirty="0">
                <a:latin typeface="Times New Roman" panose="02020603050405020304" charset="0"/>
                <a:ea typeface="宋体" panose="02010600030101010101" pitchFamily="2" charset="-122"/>
                <a:cs typeface="Times New Roman" panose="02020603050405020304" charset="0"/>
              </a:rPr>
              <a:t>，中国阿托伐他汀原料药的总产量为 </a:t>
            </a:r>
            <a:r>
              <a:rPr lang="zh-CN" altLang="en-US" sz="1600" b="1" dirty="0">
                <a:solidFill>
                  <a:srgbClr val="FF0000"/>
                </a:solidFill>
                <a:latin typeface="Times New Roman" panose="02020603050405020304" charset="0"/>
                <a:ea typeface="宋体" panose="02010600030101010101" pitchFamily="2" charset="-122"/>
                <a:cs typeface="Times New Roman" panose="02020603050405020304" charset="0"/>
              </a:rPr>
              <a:t>1200 吨</a:t>
            </a:r>
            <a:r>
              <a:rPr lang="zh-CN" altLang="en-US" sz="1600" dirty="0">
                <a:latin typeface="Times New Roman" panose="02020603050405020304" charset="0"/>
                <a:ea typeface="宋体" panose="02010600030101010101" pitchFamily="2" charset="-122"/>
                <a:cs typeface="Times New Roman" panose="02020603050405020304" charset="0"/>
              </a:rPr>
              <a:t>，同比增长 </a:t>
            </a:r>
            <a:r>
              <a:rPr lang="zh-CN" altLang="en-US" sz="1600" b="1" dirty="0">
                <a:solidFill>
                  <a:srgbClr val="FF0000"/>
                </a:solidFill>
                <a:latin typeface="Times New Roman" panose="02020603050405020304" charset="0"/>
                <a:ea typeface="宋体" panose="02010600030101010101" pitchFamily="2" charset="-122"/>
                <a:cs typeface="Times New Roman" panose="02020603050405020304" charset="0"/>
              </a:rPr>
              <a:t>7%</a:t>
            </a:r>
            <a:r>
              <a:rPr lang="zh-CN" altLang="en-US" sz="1600" dirty="0">
                <a:latin typeface="Times New Roman" panose="02020603050405020304" charset="0"/>
                <a:ea typeface="宋体" panose="02010600030101010101" pitchFamily="2" charset="-122"/>
                <a:cs typeface="Times New Roman" panose="02020603050405020304" charset="0"/>
              </a:rPr>
              <a:t>。主要生产企业如浙江华海药业、江苏恒瑞医药和山东鲁抗医药的产量分别占总产量的 30%、25%和 20%。需求方面，</a:t>
            </a:r>
            <a:r>
              <a:rPr lang="zh-CN" altLang="en-US" sz="1600" b="1" dirty="0">
                <a:solidFill>
                  <a:srgbClr val="FF0000"/>
                </a:solidFill>
                <a:latin typeface="Times New Roman" panose="02020603050405020304" charset="0"/>
                <a:ea typeface="宋体" panose="02010600030101010101" pitchFamily="2" charset="-122"/>
                <a:cs typeface="Times New Roman" panose="02020603050405020304" charset="0"/>
              </a:rPr>
              <a:t>2023 年</a:t>
            </a:r>
            <a:r>
              <a:rPr lang="zh-CN" altLang="en-US" sz="1600" dirty="0">
                <a:latin typeface="Times New Roman" panose="02020603050405020304" charset="0"/>
                <a:ea typeface="宋体" panose="02010600030101010101" pitchFamily="2" charset="-122"/>
                <a:cs typeface="Times New Roman" panose="02020603050405020304" charset="0"/>
              </a:rPr>
              <a:t>国内市场需求量为</a:t>
            </a:r>
            <a:r>
              <a:rPr lang="zh-CN" altLang="en-US" sz="1600" b="1" dirty="0">
                <a:solidFill>
                  <a:srgbClr val="FF0000"/>
                </a:solidFill>
                <a:latin typeface="Times New Roman" panose="02020603050405020304" charset="0"/>
                <a:ea typeface="宋体" panose="02010600030101010101" pitchFamily="2" charset="-122"/>
                <a:cs typeface="Times New Roman" panose="02020603050405020304" charset="0"/>
              </a:rPr>
              <a:t> 1100</a:t>
            </a:r>
            <a:r>
              <a:rPr lang="zh-CN" altLang="en-US" sz="1600" dirty="0">
                <a:latin typeface="Times New Roman" panose="02020603050405020304" charset="0"/>
                <a:ea typeface="宋体" panose="02010600030101010101" pitchFamily="2" charset="-122"/>
                <a:cs typeface="Times New Roman" panose="02020603050405020304" charset="0"/>
              </a:rPr>
              <a:t> </a:t>
            </a:r>
            <a:r>
              <a:rPr lang="zh-CN" altLang="en-US" sz="1600" b="1" dirty="0">
                <a:solidFill>
                  <a:srgbClr val="FF0000"/>
                </a:solidFill>
                <a:latin typeface="Times New Roman" panose="02020603050405020304" charset="0"/>
                <a:ea typeface="宋体" panose="02010600030101010101" pitchFamily="2" charset="-122"/>
                <a:cs typeface="Times New Roman" panose="02020603050405020304" charset="0"/>
              </a:rPr>
              <a:t>吨</a:t>
            </a:r>
            <a:r>
              <a:rPr lang="zh-CN" altLang="en-US" sz="1600" dirty="0">
                <a:latin typeface="Times New Roman" panose="02020603050405020304" charset="0"/>
                <a:ea typeface="宋体" panose="02010600030101010101" pitchFamily="2" charset="-122"/>
                <a:cs typeface="Times New Roman" panose="02020603050405020304" charset="0"/>
              </a:rPr>
              <a:t>，同比增长 </a:t>
            </a:r>
            <a:r>
              <a:rPr lang="zh-CN" altLang="en-US" sz="1600" b="1" dirty="0">
                <a:solidFill>
                  <a:srgbClr val="FF0000"/>
                </a:solidFill>
                <a:latin typeface="Times New Roman" panose="02020603050405020304" charset="0"/>
                <a:ea typeface="宋体" panose="02010600030101010101" pitchFamily="2" charset="-122"/>
                <a:cs typeface="Times New Roman" panose="02020603050405020304" charset="0"/>
              </a:rPr>
              <a:t>6%</a:t>
            </a:r>
            <a:r>
              <a:rPr lang="zh-CN" altLang="en-US" sz="1600" dirty="0">
                <a:latin typeface="Times New Roman" panose="02020603050405020304" charset="0"/>
                <a:ea typeface="宋体" panose="02010600030101010101" pitchFamily="2" charset="-122"/>
                <a:cs typeface="Times New Roman" panose="02020603050405020304" charset="0"/>
              </a:rPr>
              <a:t>，显示出供需基本平衡的状态。预计到 </a:t>
            </a:r>
            <a:r>
              <a:rPr lang="zh-CN" altLang="en-US" sz="1600" b="1" dirty="0">
                <a:solidFill>
                  <a:srgbClr val="FF0000"/>
                </a:solidFill>
                <a:latin typeface="Times New Roman" panose="02020603050405020304" charset="0"/>
                <a:ea typeface="宋体" panose="02010600030101010101" pitchFamily="2" charset="-122"/>
                <a:cs typeface="Times New Roman" panose="02020603050405020304" charset="0"/>
              </a:rPr>
              <a:t>2025 年</a:t>
            </a:r>
            <a:r>
              <a:rPr lang="zh-CN" altLang="en-US" sz="1600" dirty="0">
                <a:latin typeface="Times New Roman" panose="02020603050405020304" charset="0"/>
                <a:ea typeface="宋体" panose="02010600030101010101" pitchFamily="2" charset="-122"/>
                <a:cs typeface="Times New Roman" panose="02020603050405020304" charset="0"/>
              </a:rPr>
              <a:t>，产量将达到 </a:t>
            </a:r>
            <a:r>
              <a:rPr lang="zh-CN" altLang="en-US" sz="1600" b="1" dirty="0">
                <a:solidFill>
                  <a:srgbClr val="FF0000"/>
                </a:solidFill>
                <a:latin typeface="Times New Roman" panose="02020603050405020304" charset="0"/>
                <a:ea typeface="宋体" panose="02010600030101010101" pitchFamily="2" charset="-122"/>
                <a:cs typeface="Times New Roman" panose="02020603050405020304" charset="0"/>
              </a:rPr>
              <a:t>1400 吨</a:t>
            </a:r>
            <a:r>
              <a:rPr lang="zh-CN" altLang="en-US" sz="1600" dirty="0">
                <a:latin typeface="Times New Roman" panose="02020603050405020304" charset="0"/>
                <a:ea typeface="宋体" panose="02010600030101010101" pitchFamily="2" charset="-122"/>
                <a:cs typeface="Times New Roman" panose="02020603050405020304" charset="0"/>
              </a:rPr>
              <a:t>，需求量将达到 </a:t>
            </a:r>
            <a:r>
              <a:rPr lang="zh-CN" altLang="en-US" sz="1600" b="1" dirty="0">
                <a:solidFill>
                  <a:srgbClr val="FF0000"/>
                </a:solidFill>
                <a:latin typeface="Times New Roman" panose="02020603050405020304" charset="0"/>
                <a:ea typeface="宋体" panose="02010600030101010101" pitchFamily="2" charset="-122"/>
                <a:cs typeface="Times New Roman" panose="02020603050405020304" charset="0"/>
              </a:rPr>
              <a:t>1300 吨</a:t>
            </a:r>
            <a:r>
              <a:rPr lang="zh-CN" altLang="en-US" sz="1600" dirty="0">
                <a:latin typeface="Times New Roman" panose="02020603050405020304" charset="0"/>
                <a:ea typeface="宋体" panose="02010600030101010101" pitchFamily="2" charset="-122"/>
                <a:cs typeface="Times New Roman" panose="02020603050405020304" charset="0"/>
              </a:rPr>
              <a:t>，供需关系将进一步优化。</a:t>
            </a:r>
            <a:endParaRPr lang="en-US" altLang="zh-CN" sz="1600" dirty="0">
              <a:latin typeface="Times New Roman" panose="02020603050405020304" charset="0"/>
              <a:ea typeface="宋体" panose="02010600030101010101" pitchFamily="2" charset="-122"/>
              <a:cs typeface="Times New Roman" panose="02020603050405020304" charset="0"/>
            </a:endParaRPr>
          </a:p>
          <a:p>
            <a:pPr marL="285750" indent="-285750">
              <a:lnSpc>
                <a:spcPct val="150000"/>
              </a:lnSpc>
              <a:buFont typeface="Arial" panose="020B0604020202020204" pitchFamily="34" charset="0"/>
              <a:buChar char="•"/>
            </a:pPr>
            <a:endParaRPr lang="en-US" altLang="zh-CN" sz="1600" dirty="0">
              <a:latin typeface="Times New Roman" panose="02020603050405020304" charset="0"/>
              <a:ea typeface="宋体" panose="02010600030101010101" pitchFamily="2" charset="-122"/>
              <a:cs typeface="Times New Roman" panose="02020603050405020304" charset="0"/>
            </a:endParaRPr>
          </a:p>
          <a:p>
            <a:pPr marL="285750" indent="-285750">
              <a:lnSpc>
                <a:spcPct val="150000"/>
              </a:lnSpc>
              <a:buFont typeface="Arial" panose="020B0604020202020204" pitchFamily="34" charset="0"/>
              <a:buChar char="•"/>
            </a:pPr>
            <a:r>
              <a:rPr lang="zh-CN" altLang="en-US" sz="1600" b="1" dirty="0">
                <a:solidFill>
                  <a:srgbClr val="3333CC"/>
                </a:solidFill>
                <a:latin typeface="Times New Roman" panose="02020603050405020304" charset="0"/>
                <a:ea typeface="宋体" panose="02010600030101010101" pitchFamily="2" charset="-122"/>
                <a:cs typeface="Times New Roman" panose="02020603050405020304" charset="0"/>
              </a:rPr>
              <a:t>原料药价格走势：</a:t>
            </a:r>
            <a:r>
              <a:rPr lang="en-US" altLang="zh-CN" sz="1600" b="1" dirty="0">
                <a:solidFill>
                  <a:srgbClr val="FF0000"/>
                </a:solidFill>
                <a:latin typeface="Times New Roman" panose="02020603050405020304" charset="0"/>
                <a:ea typeface="宋体" panose="02010600030101010101" pitchFamily="2" charset="-122"/>
                <a:cs typeface="Times New Roman" panose="02020603050405020304" charset="0"/>
              </a:rPr>
              <a:t>2023 </a:t>
            </a:r>
            <a:r>
              <a:rPr lang="zh-CN" altLang="en-US" sz="1600" b="1" dirty="0">
                <a:solidFill>
                  <a:srgbClr val="FF0000"/>
                </a:solidFill>
                <a:latin typeface="Times New Roman" panose="02020603050405020304" charset="0"/>
                <a:ea typeface="宋体" panose="02010600030101010101" pitchFamily="2" charset="-122"/>
                <a:cs typeface="Times New Roman" panose="02020603050405020304" charset="0"/>
              </a:rPr>
              <a:t>年</a:t>
            </a:r>
            <a:r>
              <a:rPr lang="zh-CN" altLang="en-US" sz="1600" dirty="0">
                <a:latin typeface="Times New Roman" panose="02020603050405020304" charset="0"/>
                <a:ea typeface="宋体" panose="02010600030101010101" pitchFamily="2" charset="-122"/>
                <a:cs typeface="Times New Roman" panose="02020603050405020304" charset="0"/>
              </a:rPr>
              <a:t>，中国阿托伐他汀原料药的平均市场价格为</a:t>
            </a:r>
            <a:r>
              <a:rPr lang="zh-CN" altLang="en-US" sz="1600" b="1" dirty="0">
                <a:solidFill>
                  <a:srgbClr val="FF0000"/>
                </a:solidFill>
                <a:latin typeface="Times New Roman" panose="02020603050405020304" charset="0"/>
                <a:ea typeface="宋体" panose="02010600030101010101" pitchFamily="2" charset="-122"/>
                <a:cs typeface="Times New Roman" panose="02020603050405020304" charset="0"/>
              </a:rPr>
              <a:t>每公斤 </a:t>
            </a:r>
            <a:r>
              <a:rPr lang="en-US" altLang="zh-CN" sz="1600" b="1" dirty="0">
                <a:solidFill>
                  <a:srgbClr val="FF0000"/>
                </a:solidFill>
                <a:latin typeface="Times New Roman" panose="02020603050405020304" charset="0"/>
                <a:ea typeface="宋体" panose="02010600030101010101" pitchFamily="2" charset="-122"/>
                <a:cs typeface="Times New Roman" panose="02020603050405020304" charset="0"/>
              </a:rPr>
              <a:t>350 </a:t>
            </a:r>
            <a:r>
              <a:rPr lang="zh-CN" altLang="en-US" sz="1600" b="1" dirty="0">
                <a:solidFill>
                  <a:srgbClr val="FF0000"/>
                </a:solidFill>
                <a:latin typeface="Times New Roman" panose="02020603050405020304" charset="0"/>
                <a:ea typeface="宋体" panose="02010600030101010101" pitchFamily="2" charset="-122"/>
                <a:cs typeface="Times New Roman" panose="02020603050405020304" charset="0"/>
              </a:rPr>
              <a:t>元人民币</a:t>
            </a:r>
            <a:r>
              <a:rPr lang="zh-CN" altLang="en-US" sz="1600" dirty="0">
                <a:latin typeface="Times New Roman" panose="02020603050405020304" charset="0"/>
                <a:ea typeface="宋体" panose="02010600030101010101" pitchFamily="2" charset="-122"/>
                <a:cs typeface="Times New Roman" panose="02020603050405020304" charset="0"/>
              </a:rPr>
              <a:t>，较 </a:t>
            </a:r>
            <a:r>
              <a:rPr lang="en-US" altLang="zh-CN" sz="1600" dirty="0">
                <a:latin typeface="Times New Roman" panose="02020603050405020304" charset="0"/>
                <a:ea typeface="宋体" panose="02010600030101010101" pitchFamily="2" charset="-122"/>
                <a:cs typeface="Times New Roman" panose="02020603050405020304" charset="0"/>
              </a:rPr>
              <a:t>2022 </a:t>
            </a:r>
            <a:r>
              <a:rPr lang="zh-CN" altLang="en-US" sz="1600" dirty="0">
                <a:latin typeface="Times New Roman" panose="02020603050405020304" charset="0"/>
                <a:ea typeface="宋体" panose="02010600030101010101" pitchFamily="2" charset="-122"/>
                <a:cs typeface="Times New Roman" panose="02020603050405020304" charset="0"/>
              </a:rPr>
              <a:t>年下降了</a:t>
            </a:r>
            <a:r>
              <a:rPr lang="en-US" altLang="zh-CN" sz="1600" dirty="0">
                <a:latin typeface="Times New Roman" panose="02020603050405020304" charset="0"/>
                <a:ea typeface="宋体" panose="02010600030101010101" pitchFamily="2" charset="-122"/>
                <a:cs typeface="Times New Roman" panose="02020603050405020304" charset="0"/>
              </a:rPr>
              <a:t>5%</a:t>
            </a:r>
            <a:r>
              <a:rPr lang="zh-CN" altLang="en-US" sz="1600" dirty="0">
                <a:latin typeface="Times New Roman" panose="02020603050405020304" charset="0"/>
                <a:ea typeface="宋体" panose="02010600030101010101" pitchFamily="2" charset="-122"/>
                <a:cs typeface="Times New Roman" panose="02020603050405020304" charset="0"/>
              </a:rPr>
              <a:t>。预计到 </a:t>
            </a:r>
            <a:r>
              <a:rPr lang="en-US" altLang="zh-CN" sz="1600" b="1" dirty="0">
                <a:solidFill>
                  <a:srgbClr val="FF0000"/>
                </a:solidFill>
                <a:latin typeface="Times New Roman" panose="02020603050405020304" charset="0"/>
                <a:ea typeface="宋体" panose="02010600030101010101" pitchFamily="2" charset="-122"/>
                <a:cs typeface="Times New Roman" panose="02020603050405020304" charset="0"/>
              </a:rPr>
              <a:t>2025 </a:t>
            </a:r>
            <a:r>
              <a:rPr lang="zh-CN" altLang="en-US" sz="1600" b="1" dirty="0">
                <a:solidFill>
                  <a:srgbClr val="FF0000"/>
                </a:solidFill>
                <a:latin typeface="Times New Roman" panose="02020603050405020304" charset="0"/>
                <a:ea typeface="宋体" panose="02010600030101010101" pitchFamily="2" charset="-122"/>
                <a:cs typeface="Times New Roman" panose="02020603050405020304" charset="0"/>
              </a:rPr>
              <a:t>年</a:t>
            </a:r>
            <a:r>
              <a:rPr lang="zh-CN" altLang="en-US" sz="1600" dirty="0">
                <a:latin typeface="Times New Roman" panose="02020603050405020304" charset="0"/>
                <a:ea typeface="宋体" panose="02010600030101010101" pitchFamily="2" charset="-122"/>
                <a:cs typeface="Times New Roman" panose="02020603050405020304" charset="0"/>
              </a:rPr>
              <a:t>，随着技术进步和规模化生产的推进，价格将进一步降至</a:t>
            </a:r>
            <a:r>
              <a:rPr lang="zh-CN" altLang="en-US" sz="1600" b="1" dirty="0">
                <a:solidFill>
                  <a:srgbClr val="FF0000"/>
                </a:solidFill>
                <a:latin typeface="Times New Roman" panose="02020603050405020304" charset="0"/>
                <a:ea typeface="宋体" panose="02010600030101010101" pitchFamily="2" charset="-122"/>
                <a:cs typeface="Times New Roman" panose="02020603050405020304" charset="0"/>
              </a:rPr>
              <a:t>每公斤 </a:t>
            </a:r>
            <a:r>
              <a:rPr lang="en-US" altLang="zh-CN" sz="1600" b="1" dirty="0">
                <a:solidFill>
                  <a:srgbClr val="FF0000"/>
                </a:solidFill>
                <a:latin typeface="Times New Roman" panose="02020603050405020304" charset="0"/>
                <a:ea typeface="宋体" panose="02010600030101010101" pitchFamily="2" charset="-122"/>
                <a:cs typeface="Times New Roman" panose="02020603050405020304" charset="0"/>
              </a:rPr>
              <a:t>330</a:t>
            </a:r>
            <a:r>
              <a:rPr lang="zh-CN" altLang="en-US" sz="1600" b="1" dirty="0">
                <a:solidFill>
                  <a:srgbClr val="FF0000"/>
                </a:solidFill>
                <a:latin typeface="Times New Roman" panose="02020603050405020304" charset="0"/>
                <a:ea typeface="宋体" panose="02010600030101010101" pitchFamily="2" charset="-122"/>
                <a:cs typeface="Times New Roman" panose="02020603050405020304" charset="0"/>
              </a:rPr>
              <a:t>元 人民币</a:t>
            </a:r>
            <a:r>
              <a:rPr lang="zh-CN" altLang="en-US" sz="1600" dirty="0">
                <a:latin typeface="Times New Roman" panose="02020603050405020304" charset="0"/>
                <a:ea typeface="宋体" panose="02010600030101010101" pitchFamily="2" charset="-122"/>
                <a:cs typeface="Times New Roman" panose="02020603050405020304" charset="0"/>
              </a:rPr>
              <a:t>左右。</a:t>
            </a:r>
            <a:endParaRPr lang="en-US" altLang="zh-CN" sz="1600" dirty="0">
              <a:latin typeface="Times New Roman" panose="02020603050405020304" charset="0"/>
              <a:ea typeface="宋体" panose="02010600030101010101" pitchFamily="2" charset="-122"/>
              <a:cs typeface="Times New Roman" panose="02020603050405020304" charset="0"/>
            </a:endParaRPr>
          </a:p>
          <a:p>
            <a:pPr marL="285750" indent="-285750">
              <a:lnSpc>
                <a:spcPct val="150000"/>
              </a:lnSpc>
              <a:buFont typeface="Arial" panose="020B0604020202020204" pitchFamily="34" charset="0"/>
              <a:buChar char="•"/>
            </a:pPr>
            <a:endParaRPr lang="en-US" altLang="zh-CN" sz="1600" dirty="0">
              <a:latin typeface="Times New Roman" panose="02020603050405020304" charset="0"/>
              <a:ea typeface="宋体" panose="02010600030101010101" pitchFamily="2" charset="-122"/>
              <a:cs typeface="Times New Roman" panose="02020603050405020304" charset="0"/>
            </a:endParaRPr>
          </a:p>
          <a:p>
            <a:pPr marL="285750" indent="-285750">
              <a:lnSpc>
                <a:spcPct val="150000"/>
              </a:lnSpc>
              <a:buFont typeface="Arial" panose="020B0604020202020204" pitchFamily="34" charset="0"/>
              <a:buChar char="•"/>
            </a:pPr>
            <a:r>
              <a:rPr lang="zh-CN" altLang="en-US" sz="1600" b="1" dirty="0">
                <a:solidFill>
                  <a:srgbClr val="3333CC"/>
                </a:solidFill>
                <a:latin typeface="Times New Roman" panose="02020603050405020304" charset="0"/>
                <a:ea typeface="宋体" panose="02010600030101010101" pitchFamily="2" charset="-122"/>
                <a:cs typeface="Times New Roman" panose="02020603050405020304" charset="0"/>
              </a:rPr>
              <a:t>原研药和仿制药价格</a:t>
            </a:r>
            <a:r>
              <a:rPr lang="zh-CN" altLang="en-US" sz="1600" b="1" dirty="0">
                <a:solidFill>
                  <a:srgbClr val="002060"/>
                </a:solidFill>
                <a:latin typeface="Times New Roman" panose="02020603050405020304" charset="0"/>
                <a:ea typeface="宋体" panose="02010600030101010101" pitchFamily="2" charset="-122"/>
                <a:cs typeface="Times New Roman" panose="02020603050405020304" charset="0"/>
              </a:rPr>
              <a:t>：</a:t>
            </a:r>
            <a:r>
              <a:rPr lang="zh-CN" altLang="en-US" sz="1600" dirty="0">
                <a:latin typeface="Times New Roman" panose="02020603050405020304" charset="0"/>
                <a:ea typeface="宋体" panose="02010600030101010101" pitchFamily="2" charset="-122"/>
                <a:cs typeface="Times New Roman" panose="02020603050405020304" charset="0"/>
              </a:rPr>
              <a:t>阿托伐他汀原研药（立普妥，</a:t>
            </a:r>
            <a:r>
              <a:rPr lang="en-US" altLang="zh-CN" sz="1600" dirty="0">
                <a:latin typeface="Times New Roman" panose="02020603050405020304" charset="0"/>
                <a:ea typeface="宋体" panose="02010600030101010101" pitchFamily="2" charset="-122"/>
                <a:cs typeface="Times New Roman" panose="02020603050405020304" charset="0"/>
              </a:rPr>
              <a:t>20mg × 7 </a:t>
            </a:r>
            <a:r>
              <a:rPr lang="zh-CN" altLang="en-US" sz="1600" dirty="0">
                <a:latin typeface="Times New Roman" panose="02020603050405020304" charset="0"/>
                <a:ea typeface="宋体" panose="02010600030101010101" pitchFamily="2" charset="-122"/>
                <a:cs typeface="Times New Roman" panose="02020603050405020304" charset="0"/>
              </a:rPr>
              <a:t>片）市场价 </a:t>
            </a:r>
            <a:r>
              <a:rPr lang="en-US" altLang="zh-CN" sz="1600" b="1" dirty="0">
                <a:solidFill>
                  <a:srgbClr val="FF0000"/>
                </a:solidFill>
                <a:latin typeface="Times New Roman" panose="02020603050405020304" charset="0"/>
                <a:ea typeface="宋体" panose="02010600030101010101" pitchFamily="2" charset="-122"/>
                <a:cs typeface="Times New Roman" panose="02020603050405020304" charset="0"/>
              </a:rPr>
              <a:t>59-100 </a:t>
            </a:r>
            <a:r>
              <a:rPr lang="zh-CN" altLang="en-US" sz="1600" b="1" dirty="0">
                <a:solidFill>
                  <a:srgbClr val="FF0000"/>
                </a:solidFill>
                <a:latin typeface="Times New Roman" panose="02020603050405020304" charset="0"/>
                <a:ea typeface="宋体" panose="02010600030101010101" pitchFamily="2" charset="-122"/>
                <a:cs typeface="Times New Roman" panose="02020603050405020304" charset="0"/>
              </a:rPr>
              <a:t>元</a:t>
            </a:r>
            <a:r>
              <a:rPr lang="zh-CN" altLang="en-US" sz="1600" dirty="0">
                <a:latin typeface="Times New Roman" panose="02020603050405020304" charset="0"/>
                <a:ea typeface="宋体" panose="02010600030101010101" pitchFamily="2" charset="-122"/>
                <a:cs typeface="Times New Roman" panose="02020603050405020304" charset="0"/>
              </a:rPr>
              <a:t>，单片约 </a:t>
            </a:r>
            <a:r>
              <a:rPr lang="en-US" altLang="zh-CN" sz="1600" b="1" dirty="0">
                <a:solidFill>
                  <a:srgbClr val="FF0000"/>
                </a:solidFill>
                <a:latin typeface="Times New Roman" panose="02020603050405020304" charset="0"/>
                <a:ea typeface="宋体" panose="02010600030101010101" pitchFamily="2" charset="-122"/>
                <a:cs typeface="Times New Roman" panose="02020603050405020304" charset="0"/>
              </a:rPr>
              <a:t>4.3-6 </a:t>
            </a:r>
            <a:r>
              <a:rPr lang="zh-CN" altLang="en-US" sz="1600" b="1" dirty="0">
                <a:solidFill>
                  <a:srgbClr val="FF0000"/>
                </a:solidFill>
                <a:latin typeface="Times New Roman" panose="02020603050405020304" charset="0"/>
                <a:ea typeface="宋体" panose="02010600030101010101" pitchFamily="2" charset="-122"/>
                <a:cs typeface="Times New Roman" panose="02020603050405020304" charset="0"/>
              </a:rPr>
              <a:t>元</a:t>
            </a:r>
            <a:r>
              <a:rPr lang="zh-CN" altLang="en-US" sz="1600" dirty="0">
                <a:latin typeface="Times New Roman" panose="02020603050405020304" charset="0"/>
                <a:ea typeface="宋体" panose="02010600030101010101" pitchFamily="2" charset="-122"/>
                <a:cs typeface="Times New Roman" panose="02020603050405020304" charset="0"/>
              </a:rPr>
              <a:t>。国产仿制药集采价极低，</a:t>
            </a:r>
            <a:r>
              <a:rPr lang="en-US" altLang="zh-CN" sz="1600" dirty="0">
                <a:latin typeface="Times New Roman" panose="02020603050405020304" charset="0"/>
                <a:ea typeface="宋体" panose="02010600030101010101" pitchFamily="2" charset="-122"/>
                <a:cs typeface="Times New Roman" panose="02020603050405020304" charset="0"/>
              </a:rPr>
              <a:t>20mg × 14 </a:t>
            </a:r>
            <a:r>
              <a:rPr lang="zh-CN" altLang="en-US" sz="1600" dirty="0">
                <a:latin typeface="Times New Roman" panose="02020603050405020304" charset="0"/>
                <a:ea typeface="宋体" panose="02010600030101010101" pitchFamily="2" charset="-122"/>
                <a:cs typeface="Times New Roman" panose="02020603050405020304" charset="0"/>
              </a:rPr>
              <a:t>片约 </a:t>
            </a:r>
            <a:r>
              <a:rPr lang="en-US" altLang="zh-CN" sz="1600" b="1" dirty="0">
                <a:solidFill>
                  <a:srgbClr val="FF0000"/>
                </a:solidFill>
                <a:latin typeface="Times New Roman" panose="02020603050405020304" charset="0"/>
                <a:ea typeface="宋体" panose="02010600030101010101" pitchFamily="2" charset="-122"/>
                <a:cs typeface="Times New Roman" panose="02020603050405020304" charset="0"/>
              </a:rPr>
              <a:t>2.86 </a:t>
            </a:r>
            <a:r>
              <a:rPr lang="zh-CN" altLang="en-US" sz="1600" b="1" dirty="0">
                <a:solidFill>
                  <a:srgbClr val="FF0000"/>
                </a:solidFill>
                <a:latin typeface="Times New Roman" panose="02020603050405020304" charset="0"/>
                <a:ea typeface="宋体" panose="02010600030101010101" pitchFamily="2" charset="-122"/>
                <a:cs typeface="Times New Roman" panose="02020603050405020304" charset="0"/>
              </a:rPr>
              <a:t>元</a:t>
            </a:r>
            <a:r>
              <a:rPr lang="zh-CN" altLang="en-US" sz="1600" dirty="0">
                <a:latin typeface="Times New Roman" panose="02020603050405020304" charset="0"/>
                <a:ea typeface="宋体" panose="02010600030101010101" pitchFamily="2" charset="-122"/>
                <a:cs typeface="Times New Roman" panose="02020603050405020304" charset="0"/>
              </a:rPr>
              <a:t>，单片低</a:t>
            </a:r>
            <a:r>
              <a:rPr lang="zh-CN" altLang="en-US" sz="1600" b="1" dirty="0">
                <a:solidFill>
                  <a:srgbClr val="FF0000"/>
                </a:solidFill>
                <a:latin typeface="Times New Roman" panose="02020603050405020304" charset="0"/>
                <a:ea typeface="宋体" panose="02010600030101010101" pitchFamily="2" charset="-122"/>
                <a:cs typeface="Times New Roman" panose="02020603050405020304" charset="0"/>
              </a:rPr>
              <a:t>至 </a:t>
            </a:r>
            <a:r>
              <a:rPr lang="en-US" altLang="zh-CN" sz="1600" b="1" dirty="0">
                <a:solidFill>
                  <a:srgbClr val="FF0000"/>
                </a:solidFill>
                <a:latin typeface="Times New Roman" panose="02020603050405020304" charset="0"/>
                <a:ea typeface="宋体" panose="02010600030101010101" pitchFamily="2" charset="-122"/>
                <a:cs typeface="Times New Roman" panose="02020603050405020304" charset="0"/>
              </a:rPr>
              <a:t>0.2 </a:t>
            </a:r>
            <a:r>
              <a:rPr lang="zh-CN" altLang="en-US" sz="1600" b="1" dirty="0">
                <a:solidFill>
                  <a:srgbClr val="FF0000"/>
                </a:solidFill>
                <a:latin typeface="Times New Roman" panose="02020603050405020304" charset="0"/>
                <a:ea typeface="宋体" panose="02010600030101010101" pitchFamily="2" charset="-122"/>
                <a:cs typeface="Times New Roman" panose="02020603050405020304" charset="0"/>
              </a:rPr>
              <a:t>元</a:t>
            </a:r>
            <a:r>
              <a:rPr lang="zh-CN" altLang="en-US" sz="1600" dirty="0">
                <a:latin typeface="Times New Roman" panose="02020603050405020304" charset="0"/>
                <a:ea typeface="宋体" panose="02010600030101010101" pitchFamily="2" charset="-122"/>
                <a:cs typeface="Times New Roman" panose="02020603050405020304" charset="0"/>
              </a:rPr>
              <a:t>；药店价 </a:t>
            </a:r>
            <a:r>
              <a:rPr lang="en-US" altLang="zh-CN" sz="1600" dirty="0">
                <a:latin typeface="Times New Roman" panose="02020603050405020304" charset="0"/>
                <a:ea typeface="宋体" panose="02010600030101010101" pitchFamily="2" charset="-122"/>
                <a:cs typeface="Times New Roman" panose="02020603050405020304" charset="0"/>
              </a:rPr>
              <a:t>20-35 </a:t>
            </a:r>
            <a:r>
              <a:rPr lang="zh-CN" altLang="en-US" sz="1600" dirty="0">
                <a:latin typeface="Times New Roman" panose="02020603050405020304" charset="0"/>
                <a:ea typeface="宋体" panose="02010600030101010101" pitchFamily="2" charset="-122"/>
                <a:cs typeface="Times New Roman" panose="02020603050405020304" charset="0"/>
              </a:rPr>
              <a:t>元 </a:t>
            </a:r>
            <a:r>
              <a:rPr lang="en-US" altLang="zh-CN" sz="1600" dirty="0">
                <a:latin typeface="Times New Roman" panose="02020603050405020304" charset="0"/>
                <a:ea typeface="宋体" panose="02010600030101010101" pitchFamily="2" charset="-122"/>
                <a:cs typeface="Times New Roman" panose="02020603050405020304" charset="0"/>
              </a:rPr>
              <a:t>/ </a:t>
            </a:r>
            <a:r>
              <a:rPr lang="zh-CN" altLang="en-US" sz="1600" dirty="0">
                <a:latin typeface="Times New Roman" panose="02020603050405020304" charset="0"/>
                <a:ea typeface="宋体" panose="02010600030101010101" pitchFamily="2" charset="-122"/>
                <a:cs typeface="Times New Roman" panose="02020603050405020304" charset="0"/>
              </a:rPr>
              <a:t>盒。作为核心降脂药，</a:t>
            </a:r>
            <a:r>
              <a:rPr lang="en-US" altLang="zh-CN" sz="1600" b="1" dirty="0">
                <a:solidFill>
                  <a:srgbClr val="FF0000"/>
                </a:solidFill>
                <a:latin typeface="Times New Roman" panose="02020603050405020304" charset="0"/>
                <a:ea typeface="宋体" panose="02010600030101010101" pitchFamily="2" charset="-122"/>
                <a:cs typeface="Times New Roman" panose="02020603050405020304" charset="0"/>
              </a:rPr>
              <a:t>2025 </a:t>
            </a:r>
            <a:r>
              <a:rPr lang="zh-CN" altLang="en-US" sz="1600" b="1" dirty="0">
                <a:solidFill>
                  <a:srgbClr val="FF0000"/>
                </a:solidFill>
                <a:latin typeface="Times New Roman" panose="02020603050405020304" charset="0"/>
                <a:ea typeface="宋体" panose="02010600030101010101" pitchFamily="2" charset="-122"/>
                <a:cs typeface="Times New Roman" panose="02020603050405020304" charset="0"/>
              </a:rPr>
              <a:t>年国内市场规模超 </a:t>
            </a:r>
            <a:r>
              <a:rPr lang="en-US" altLang="zh-CN" sz="1600" b="1" dirty="0">
                <a:solidFill>
                  <a:srgbClr val="FF0000"/>
                </a:solidFill>
                <a:latin typeface="Times New Roman" panose="02020603050405020304" charset="0"/>
                <a:ea typeface="宋体" panose="02010600030101010101" pitchFamily="2" charset="-122"/>
                <a:cs typeface="Times New Roman" panose="02020603050405020304" charset="0"/>
              </a:rPr>
              <a:t>120 </a:t>
            </a:r>
            <a:r>
              <a:rPr lang="zh-CN" altLang="en-US" sz="1600" b="1" dirty="0">
                <a:solidFill>
                  <a:srgbClr val="FF0000"/>
                </a:solidFill>
                <a:latin typeface="Times New Roman" panose="02020603050405020304" charset="0"/>
                <a:ea typeface="宋体" panose="02010600030101010101" pitchFamily="2" charset="-122"/>
                <a:cs typeface="Times New Roman" panose="02020603050405020304" charset="0"/>
              </a:rPr>
              <a:t>亿元，仿制药占比超 </a:t>
            </a:r>
            <a:r>
              <a:rPr lang="en-US" altLang="zh-CN" sz="1600" b="1" dirty="0">
                <a:solidFill>
                  <a:srgbClr val="FF0000"/>
                </a:solidFill>
                <a:latin typeface="Times New Roman" panose="02020603050405020304" charset="0"/>
                <a:ea typeface="宋体" panose="02010600030101010101" pitchFamily="2" charset="-122"/>
                <a:cs typeface="Times New Roman" panose="02020603050405020304" charset="0"/>
              </a:rPr>
              <a:t>85%</a:t>
            </a:r>
            <a:r>
              <a:rPr lang="zh-CN" altLang="en-US" sz="1600" dirty="0">
                <a:latin typeface="Times New Roman" panose="02020603050405020304" charset="0"/>
                <a:ea typeface="宋体" panose="02010600030101010101" pitchFamily="2" charset="-122"/>
                <a:cs typeface="Times New Roman" panose="02020603050405020304" charset="0"/>
              </a:rPr>
              <a:t>。受益于老龄化与慢病管理，</a:t>
            </a:r>
            <a:r>
              <a:rPr lang="en-US" altLang="zh-CN" sz="1600" dirty="0">
                <a:latin typeface="Times New Roman" panose="02020603050405020304" charset="0"/>
                <a:ea typeface="宋体" panose="02010600030101010101" pitchFamily="2" charset="-122"/>
                <a:cs typeface="Times New Roman" panose="02020603050405020304" charset="0"/>
              </a:rPr>
              <a:t>2030 </a:t>
            </a:r>
            <a:r>
              <a:rPr lang="zh-CN" altLang="en-US" sz="1600" dirty="0">
                <a:latin typeface="Times New Roman" panose="02020603050405020304" charset="0"/>
                <a:ea typeface="宋体" panose="02010600030101010101" pitchFamily="2" charset="-122"/>
                <a:cs typeface="Times New Roman" panose="02020603050405020304" charset="0"/>
              </a:rPr>
              <a:t>年市场规模</a:t>
            </a:r>
            <a:r>
              <a:rPr lang="zh-CN" altLang="en-US" sz="1600" b="1" dirty="0">
                <a:solidFill>
                  <a:srgbClr val="FF0000"/>
                </a:solidFill>
                <a:latin typeface="Times New Roman" panose="02020603050405020304" charset="0"/>
                <a:ea typeface="宋体" panose="02010600030101010101" pitchFamily="2" charset="-122"/>
                <a:cs typeface="Times New Roman" panose="02020603050405020304" charset="0"/>
              </a:rPr>
              <a:t>预计达 </a:t>
            </a:r>
            <a:r>
              <a:rPr lang="en-US" altLang="zh-CN" sz="1600" b="1" dirty="0">
                <a:solidFill>
                  <a:srgbClr val="FF0000"/>
                </a:solidFill>
                <a:latin typeface="Times New Roman" panose="02020603050405020304" charset="0"/>
                <a:ea typeface="宋体" panose="02010600030101010101" pitchFamily="2" charset="-122"/>
                <a:cs typeface="Times New Roman" panose="02020603050405020304" charset="0"/>
              </a:rPr>
              <a:t>130-150 </a:t>
            </a:r>
            <a:r>
              <a:rPr lang="zh-CN" altLang="en-US" sz="1600" b="1" dirty="0">
                <a:solidFill>
                  <a:srgbClr val="FF0000"/>
                </a:solidFill>
                <a:latin typeface="Times New Roman" panose="02020603050405020304" charset="0"/>
                <a:ea typeface="宋体" panose="02010600030101010101" pitchFamily="2" charset="-122"/>
                <a:cs typeface="Times New Roman" panose="02020603050405020304" charset="0"/>
              </a:rPr>
              <a:t>亿元</a:t>
            </a:r>
            <a:r>
              <a:rPr lang="zh-CN" altLang="en-US" sz="1600" dirty="0">
                <a:latin typeface="Times New Roman" panose="02020603050405020304" charset="0"/>
                <a:ea typeface="宋体" panose="02010600030101010101" pitchFamily="2" charset="-122"/>
                <a:cs typeface="Times New Roman" panose="02020603050405020304" charset="0"/>
              </a:rPr>
              <a:t>，前景稳健。</a:t>
            </a:r>
            <a:endParaRPr lang="en-US" altLang="zh-CN" sz="1600" dirty="0">
              <a:latin typeface="Times New Roman" panose="02020603050405020304" charset="0"/>
              <a:ea typeface="宋体" panose="02010600030101010101" pitchFamily="2" charset="-122"/>
              <a:cs typeface="Times New Roman" panose="02020603050405020304" charset="0"/>
            </a:endParaRPr>
          </a:p>
          <a:p>
            <a:pPr>
              <a:lnSpc>
                <a:spcPct val="150000"/>
              </a:lnSpc>
            </a:pPr>
            <a:endParaRPr lang="en-US" altLang="zh-CN" sz="1600" dirty="0">
              <a:latin typeface="Times New Roman" panose="02020603050405020304" charset="0"/>
              <a:ea typeface="宋体" panose="02010600030101010101" pitchFamily="2" charset="-122"/>
              <a:cs typeface="Times New Roman" panose="02020603050405020304" charset="0"/>
            </a:endParaRPr>
          </a:p>
        </p:txBody>
      </p:sp>
      <p:cxnSp>
        <p:nvCxnSpPr>
          <p:cNvPr id="7" name="直接连接符 6"/>
          <p:cNvCxnSpPr/>
          <p:nvPr/>
        </p:nvCxnSpPr>
        <p:spPr>
          <a:xfrm>
            <a:off x="467670" y="6489813"/>
            <a:ext cx="11203145" cy="0"/>
          </a:xfrm>
          <a:prstGeom prst="line">
            <a:avLst/>
          </a:prstGeom>
          <a:ln w="12700">
            <a:solidFill>
              <a:schemeClr val="tx1"/>
            </a:solidFill>
            <a:prstDash val="dash"/>
          </a:ln>
        </p:spPr>
        <p:style>
          <a:lnRef idx="1">
            <a:schemeClr val="dk1"/>
          </a:lnRef>
          <a:fillRef idx="0">
            <a:schemeClr val="dk1"/>
          </a:fillRef>
          <a:effectRef idx="0">
            <a:schemeClr val="dk1"/>
          </a:effectRef>
          <a:fontRef idx="minor">
            <a:schemeClr val="tx1"/>
          </a:fontRef>
        </p:style>
      </p:cxnSp>
      <p:sp>
        <p:nvSpPr>
          <p:cNvPr id="8" name="文本框 7"/>
          <p:cNvSpPr txBox="1"/>
          <p:nvPr/>
        </p:nvSpPr>
        <p:spPr>
          <a:xfrm>
            <a:off x="376234" y="6549071"/>
            <a:ext cx="6125084" cy="276999"/>
          </a:xfrm>
          <a:prstGeom prst="rect">
            <a:avLst/>
          </a:prstGeom>
          <a:noFill/>
        </p:spPr>
        <p:txBody>
          <a:bodyPr wrap="square">
            <a:spAutoFit/>
          </a:bodyPr>
          <a:lstStyle/>
          <a:p>
            <a:r>
              <a:rPr lang="zh-CN" altLang="en-US" sz="1200" b="0" i="0" dirty="0">
                <a:solidFill>
                  <a:srgbClr val="3333CC"/>
                </a:solidFill>
                <a:effectLst/>
                <a:latin typeface="Times New Roman" panose="02020603050405020304" charset="0"/>
                <a:ea typeface="宋体" panose="02010600030101010101" pitchFamily="2" charset="-122"/>
                <a:cs typeface="Times New Roman" panose="02020603050405020304" charset="0"/>
              </a:rPr>
              <a:t>数据来源：博研智尚</a:t>
            </a:r>
            <a:r>
              <a:rPr lang="en-US" altLang="zh-CN" sz="1200" b="0" i="0" dirty="0">
                <a:solidFill>
                  <a:srgbClr val="3333CC"/>
                </a:solidFill>
                <a:effectLst/>
                <a:latin typeface="Times New Roman" panose="02020603050405020304" charset="0"/>
                <a:ea typeface="宋体" panose="02010600030101010101" pitchFamily="2" charset="-122"/>
                <a:cs typeface="Times New Roman" panose="02020603050405020304" charset="0"/>
              </a:rPr>
              <a:t>《</a:t>
            </a:r>
            <a:r>
              <a:rPr lang="zh-CN" altLang="en-US" sz="1200" b="0" i="0" dirty="0">
                <a:solidFill>
                  <a:srgbClr val="3333CC"/>
                </a:solidFill>
                <a:effectLst/>
                <a:latin typeface="Times New Roman" panose="02020603050405020304" charset="0"/>
                <a:ea typeface="宋体" panose="02010600030101010101" pitchFamily="2" charset="-122"/>
                <a:cs typeface="Times New Roman" panose="02020603050405020304" charset="0"/>
              </a:rPr>
              <a:t>中国阿托伐他汀原料药行业市场规模及投资前景预测分析报告</a:t>
            </a:r>
            <a:r>
              <a:rPr lang="en-US" altLang="zh-CN" sz="1200" b="0" i="0" dirty="0">
                <a:solidFill>
                  <a:srgbClr val="3333CC"/>
                </a:solidFill>
                <a:effectLst/>
                <a:latin typeface="Times New Roman" panose="02020603050405020304" charset="0"/>
                <a:ea typeface="宋体" panose="02010600030101010101" pitchFamily="2" charset="-122"/>
                <a:cs typeface="Times New Roman" panose="02020603050405020304" charset="0"/>
              </a:rPr>
              <a:t>》</a:t>
            </a:r>
            <a:endParaRPr lang="zh-CN" altLang="en-US" sz="1200" dirty="0">
              <a:solidFill>
                <a:srgbClr val="3333CC"/>
              </a:solidFill>
              <a:latin typeface="Times New Roman" panose="02020603050405020304" charset="0"/>
              <a:ea typeface="宋体" panose="02010600030101010101" pitchFamily="2" charset="-122"/>
              <a:cs typeface="Times New Roman" panose="02020603050405020304"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409389" y="273645"/>
            <a:ext cx="5160773" cy="461665"/>
          </a:xfrm>
          <a:prstGeom prst="rect">
            <a:avLst/>
          </a:prstGeom>
          <a:noFill/>
        </p:spPr>
        <p:txBody>
          <a:bodyPr wrap="square" rtlCol="0">
            <a:spAutoFit/>
          </a:bodyPr>
          <a:lstStyle/>
          <a:p>
            <a:r>
              <a:rPr lang="en-US" altLang="zh-CN" sz="2400" b="1" dirty="0">
                <a:latin typeface="Times New Roman" panose="02020603050405020304" charset="0"/>
                <a:ea typeface="宋体" panose="02010600030101010101" pitchFamily="2" charset="-122"/>
                <a:cs typeface="Times New Roman" panose="02020603050405020304" charset="0"/>
              </a:rPr>
              <a:t>Part 2 </a:t>
            </a:r>
            <a:r>
              <a:rPr lang="zh-CN" altLang="en-US" sz="2400" b="1" dirty="0">
                <a:latin typeface="Times New Roman" panose="02020603050405020304" charset="0"/>
                <a:ea typeface="宋体" panose="02010600030101010101" pitchFamily="2" charset="-122"/>
                <a:cs typeface="Times New Roman" panose="02020603050405020304" charset="0"/>
              </a:rPr>
              <a:t>阿托伐他汀原料药的市场分析</a:t>
            </a:r>
          </a:p>
        </p:txBody>
      </p:sp>
      <p:sp>
        <p:nvSpPr>
          <p:cNvPr id="7" name="文本框 6"/>
          <p:cNvSpPr txBox="1"/>
          <p:nvPr/>
        </p:nvSpPr>
        <p:spPr>
          <a:xfrm>
            <a:off x="129019" y="837789"/>
            <a:ext cx="11667438" cy="414922"/>
          </a:xfrm>
          <a:prstGeom prst="rect">
            <a:avLst/>
          </a:prstGeom>
          <a:noFill/>
        </p:spPr>
        <p:txBody>
          <a:bodyPr wrap="square" rtlCol="0">
            <a:spAutoFit/>
          </a:bodyPr>
          <a:lstStyle/>
          <a:p>
            <a:pPr>
              <a:lnSpc>
                <a:spcPct val="150000"/>
              </a:lnSpc>
            </a:pPr>
            <a:r>
              <a:rPr lang="zh-CN" altLang="en-US" sz="1600" dirty="0">
                <a:latin typeface="Times New Roman" panose="02020603050405020304" charset="0"/>
                <a:ea typeface="宋体" panose="02010600030101010101" pitchFamily="2" charset="-122"/>
                <a:cs typeface="Times New Roman" panose="02020603050405020304" charset="0"/>
              </a:rPr>
              <a:t>        </a:t>
            </a:r>
            <a:r>
              <a:rPr lang="zh-CN" altLang="en-US" sz="1600" b="1" dirty="0">
                <a:solidFill>
                  <a:srgbClr val="FF0000"/>
                </a:solidFill>
                <a:latin typeface="Times New Roman" panose="02020603050405020304" charset="0"/>
                <a:ea typeface="宋体" panose="02010600030101010101" pitchFamily="2" charset="-122"/>
                <a:cs typeface="Times New Roman" panose="02020603050405020304" charset="0"/>
              </a:rPr>
              <a:t>晖致</a:t>
            </a:r>
            <a:r>
              <a:rPr lang="zh-CN" altLang="en-US" sz="1600" dirty="0">
                <a:latin typeface="Times New Roman" panose="02020603050405020304" charset="0"/>
                <a:ea typeface="宋体" panose="02010600030101010101" pitchFamily="2" charset="-122"/>
                <a:cs typeface="Times New Roman" panose="02020603050405020304" charset="0"/>
              </a:rPr>
              <a:t>（</a:t>
            </a:r>
            <a:r>
              <a:rPr lang="en-US" altLang="zh-CN" sz="1600" dirty="0" err="1">
                <a:latin typeface="Times New Roman" panose="02020603050405020304" charset="0"/>
                <a:ea typeface="宋体" panose="02010600030101010101" pitchFamily="2" charset="-122"/>
                <a:cs typeface="Times New Roman" panose="02020603050405020304" charset="0"/>
              </a:rPr>
              <a:t>Viatris</a:t>
            </a:r>
            <a:r>
              <a:rPr lang="zh-CN" altLang="en-US" sz="1600" dirty="0">
                <a:latin typeface="Times New Roman" panose="02020603050405020304" charset="0"/>
                <a:ea typeface="宋体" panose="02010600030101010101" pitchFamily="2" charset="-122"/>
                <a:cs typeface="Times New Roman" panose="02020603050405020304" charset="0"/>
              </a:rPr>
              <a:t>，原研传承方）是阿托伐他汀原研药立普妥（</a:t>
            </a:r>
            <a:r>
              <a:rPr lang="en-US" altLang="zh-CN" sz="1600" dirty="0">
                <a:latin typeface="Times New Roman" panose="02020603050405020304" charset="0"/>
                <a:ea typeface="宋体" panose="02010600030101010101" pitchFamily="2" charset="-122"/>
                <a:cs typeface="Times New Roman" panose="02020603050405020304" charset="0"/>
              </a:rPr>
              <a:t>Lipitor</a:t>
            </a:r>
            <a:r>
              <a:rPr lang="zh-CN" altLang="en-US" sz="1600" dirty="0">
                <a:latin typeface="Times New Roman" panose="02020603050405020304" charset="0"/>
                <a:ea typeface="宋体" panose="02010600030101010101" pitchFamily="2" charset="-122"/>
                <a:cs typeface="Times New Roman" panose="02020603050405020304" charset="0"/>
              </a:rPr>
              <a:t>）的当前龙头企业。以其为例分析阿托伐他汀的市场价值。</a:t>
            </a:r>
          </a:p>
        </p:txBody>
      </p:sp>
      <p:pic>
        <p:nvPicPr>
          <p:cNvPr id="8" name="图片 7"/>
          <p:cNvPicPr/>
          <p:nvPr/>
        </p:nvPicPr>
        <p:blipFill>
          <a:blip r:embed="rId2" cstate="print">
            <a:extLst>
              <a:ext uri="{28A0092B-C50C-407E-A947-70E740481C1C}">
                <a14:useLocalDpi xmlns:a14="http://schemas.microsoft.com/office/drawing/2010/main" val="0"/>
              </a:ext>
            </a:extLst>
          </a:blip>
          <a:srcRect l="5392" r="6635"/>
          <a:stretch>
            <a:fillRect/>
          </a:stretch>
        </p:blipFill>
        <p:spPr>
          <a:xfrm>
            <a:off x="202425" y="1696177"/>
            <a:ext cx="3331935" cy="2188545"/>
          </a:xfrm>
          <a:prstGeom prst="rect">
            <a:avLst/>
          </a:prstGeom>
        </p:spPr>
      </p:pic>
      <p:sp>
        <p:nvSpPr>
          <p:cNvPr id="9" name="Rectangle 1"/>
          <p:cNvSpPr>
            <a:spLocks noChangeArrowheads="1"/>
          </p:cNvSpPr>
          <p:nvPr/>
        </p:nvSpPr>
        <p:spPr bwMode="auto">
          <a:xfrm>
            <a:off x="346567" y="4097126"/>
            <a:ext cx="3229271" cy="1832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ctr" defTabSz="914400" rtl="0" eaLnBrk="0" fontAlgn="base" latinLnBrk="0" hangingPunct="0">
              <a:spcBef>
                <a:spcPct val="0"/>
              </a:spcBef>
              <a:spcAft>
                <a:spcPct val="0"/>
              </a:spcAft>
              <a:buClrTx/>
              <a:buSzTx/>
              <a:buFontTx/>
              <a:buNone/>
            </a:pPr>
            <a:r>
              <a:rPr kumimoji="0" lang="zh-CN" altLang="en-US" sz="1200" b="1" i="0" u="none" strike="noStrike" cap="none" normalizeH="0" baseline="0" dirty="0">
                <a:ln>
                  <a:noFill/>
                </a:ln>
                <a:solidFill>
                  <a:srgbClr val="3333CC"/>
                </a:solidFill>
                <a:effectLst/>
                <a:latin typeface="Times New Roman" panose="02020603050405020304" charset="0"/>
                <a:ea typeface="宋体" panose="02010600030101010101" pitchFamily="2" charset="-122"/>
                <a:cs typeface="Times New Roman" panose="02020603050405020304" charset="0"/>
              </a:rPr>
              <a:t>图</a:t>
            </a:r>
            <a:r>
              <a:rPr kumimoji="0" lang="en-US" altLang="zh-CN" sz="1200" b="1" i="0" u="none" strike="noStrike" cap="none" normalizeH="0" baseline="0" dirty="0">
                <a:ln>
                  <a:noFill/>
                </a:ln>
                <a:solidFill>
                  <a:srgbClr val="3333CC"/>
                </a:solidFill>
                <a:effectLst/>
                <a:latin typeface="Times New Roman" panose="02020603050405020304" charset="0"/>
                <a:ea typeface="宋体" panose="02010600030101010101" pitchFamily="2" charset="-122"/>
                <a:cs typeface="Times New Roman" panose="02020603050405020304" charset="0"/>
              </a:rPr>
              <a:t>1 </a:t>
            </a:r>
            <a:r>
              <a:rPr kumimoji="0" lang="zh-CN" altLang="zh-CN" sz="1200" b="1" i="0" u="none" strike="noStrike" cap="none" normalizeH="0" baseline="0" dirty="0">
                <a:ln>
                  <a:noFill/>
                </a:ln>
                <a:solidFill>
                  <a:srgbClr val="3333CC"/>
                </a:solidFill>
                <a:effectLst/>
                <a:latin typeface="Times New Roman" panose="02020603050405020304" charset="0"/>
                <a:ea typeface="宋体" panose="02010600030101010101" pitchFamily="2" charset="-122"/>
                <a:cs typeface="Times New Roman" panose="02020603050405020304" charset="0"/>
              </a:rPr>
              <a:t>阿托伐他汀国内零售药店销售额TOP5企业</a:t>
            </a:r>
            <a:r>
              <a:rPr kumimoji="0" lang="zh-CN" altLang="zh-CN" sz="1200" b="1" i="0" u="none" strike="noStrike" cap="none" normalizeH="0" baseline="0" dirty="0">
                <a:ln>
                  <a:noFill/>
                </a:ln>
                <a:solidFill>
                  <a:srgbClr val="FF0000"/>
                </a:solidFill>
                <a:effectLst/>
                <a:latin typeface="Times New Roman" panose="02020603050405020304" charset="0"/>
                <a:ea typeface="宋体" panose="02010600030101010101" pitchFamily="2" charset="-122"/>
                <a:cs typeface="Times New Roman" panose="02020603050405020304" charset="0"/>
              </a:rPr>
              <a:t>市场份额</a:t>
            </a:r>
            <a:r>
              <a:rPr kumimoji="0" lang="zh-CN" altLang="zh-CN" sz="1200" b="1" i="0" u="none" strike="noStrike" cap="none" normalizeH="0" baseline="0" dirty="0">
                <a:ln>
                  <a:noFill/>
                </a:ln>
                <a:solidFill>
                  <a:srgbClr val="3333CC"/>
                </a:solidFill>
                <a:effectLst/>
                <a:latin typeface="Times New Roman" panose="02020603050405020304" charset="0"/>
                <a:ea typeface="宋体" panose="02010600030101010101" pitchFamily="2" charset="-122"/>
                <a:cs typeface="Times New Roman" panose="02020603050405020304" charset="0"/>
              </a:rPr>
              <a:t>（</a:t>
            </a:r>
            <a:r>
              <a:rPr kumimoji="0" lang="en-US" altLang="zh-CN" sz="1200" b="1" i="0" u="none" strike="noStrike" cap="none" normalizeH="0" baseline="0" dirty="0">
                <a:ln>
                  <a:noFill/>
                </a:ln>
                <a:solidFill>
                  <a:srgbClr val="3333CC"/>
                </a:solidFill>
                <a:effectLst/>
                <a:latin typeface="Times New Roman" panose="02020603050405020304" charset="0"/>
                <a:ea typeface="宋体" panose="02010600030101010101" pitchFamily="2" charset="-122"/>
                <a:cs typeface="Times New Roman" panose="02020603050405020304" charset="0"/>
              </a:rPr>
              <a:t> </a:t>
            </a:r>
            <a:r>
              <a:rPr kumimoji="0" lang="zh-CN" altLang="zh-CN" sz="1200" b="1" i="0" u="none" strike="noStrike" cap="none" normalizeH="0" baseline="0" dirty="0">
                <a:ln>
                  <a:noFill/>
                </a:ln>
                <a:solidFill>
                  <a:srgbClr val="3333CC"/>
                </a:solidFill>
                <a:effectLst/>
                <a:latin typeface="Times New Roman" panose="02020603050405020304" charset="0"/>
                <a:ea typeface="宋体" panose="02010600030101010101" pitchFamily="2" charset="-122"/>
                <a:cs typeface="Times New Roman" panose="02020603050405020304" charset="0"/>
              </a:rPr>
              <a:t>2025</a:t>
            </a:r>
            <a:r>
              <a:rPr kumimoji="0" lang="en-US" altLang="zh-CN" sz="1200" b="1" i="0" u="none" strike="noStrike" cap="none" normalizeH="0" baseline="0" dirty="0">
                <a:ln>
                  <a:noFill/>
                </a:ln>
                <a:solidFill>
                  <a:srgbClr val="3333CC"/>
                </a:solidFill>
                <a:effectLst/>
                <a:latin typeface="Times New Roman" panose="02020603050405020304" charset="0"/>
                <a:ea typeface="宋体" panose="02010600030101010101" pitchFamily="2" charset="-122"/>
                <a:cs typeface="Times New Roman" panose="02020603050405020304" charset="0"/>
              </a:rPr>
              <a:t> </a:t>
            </a:r>
            <a:r>
              <a:rPr kumimoji="0" lang="zh-CN" altLang="zh-CN" sz="1200" b="1" i="0" u="none" strike="noStrike" cap="none" normalizeH="0" baseline="0" dirty="0">
                <a:ln>
                  <a:noFill/>
                </a:ln>
                <a:solidFill>
                  <a:srgbClr val="3333CC"/>
                </a:solidFill>
                <a:effectLst/>
                <a:latin typeface="Times New Roman" panose="02020603050405020304" charset="0"/>
                <a:ea typeface="宋体" panose="02010600030101010101" pitchFamily="2" charset="-122"/>
                <a:cs typeface="Times New Roman" panose="02020603050405020304" charset="0"/>
              </a:rPr>
              <a:t>Q2</a:t>
            </a:r>
            <a:r>
              <a:rPr kumimoji="0" lang="en-US" altLang="zh-CN" sz="1200" b="1" i="0" u="none" strike="noStrike" cap="none" normalizeH="0" baseline="0" dirty="0">
                <a:ln>
                  <a:noFill/>
                </a:ln>
                <a:solidFill>
                  <a:srgbClr val="3333CC"/>
                </a:solidFill>
                <a:effectLst/>
                <a:latin typeface="Times New Roman" panose="02020603050405020304" charset="0"/>
                <a:ea typeface="宋体" panose="02010600030101010101" pitchFamily="2" charset="-122"/>
                <a:cs typeface="Times New Roman" panose="02020603050405020304" charset="0"/>
              </a:rPr>
              <a:t> </a:t>
            </a:r>
            <a:r>
              <a:rPr kumimoji="0" lang="zh-CN" altLang="zh-CN" sz="1200" b="1" i="0" u="none" strike="noStrike" cap="none" normalizeH="0" baseline="0" dirty="0">
                <a:ln>
                  <a:noFill/>
                </a:ln>
                <a:solidFill>
                  <a:srgbClr val="3333CC"/>
                </a:solidFill>
                <a:effectLst/>
                <a:latin typeface="Times New Roman" panose="02020603050405020304" charset="0"/>
                <a:ea typeface="宋体" panose="02010600030101010101" pitchFamily="2" charset="-122"/>
                <a:cs typeface="Times New Roman" panose="02020603050405020304" charset="0"/>
              </a:rPr>
              <a:t>）</a:t>
            </a:r>
            <a:endParaRPr kumimoji="0" lang="en-US" altLang="zh-CN" sz="1200" b="1" i="0" u="none" strike="noStrike" cap="none" normalizeH="0" baseline="0" dirty="0">
              <a:ln>
                <a:noFill/>
              </a:ln>
              <a:solidFill>
                <a:srgbClr val="3333CC"/>
              </a:solidFill>
              <a:effectLst/>
              <a:latin typeface="Times New Roman" panose="02020603050405020304" charset="0"/>
              <a:ea typeface="宋体" panose="02010600030101010101" pitchFamily="2" charset="-122"/>
              <a:cs typeface="Times New Roman" panose="02020603050405020304" charset="0"/>
            </a:endParaRPr>
          </a:p>
          <a:p>
            <a:pPr marL="0" marR="0" lvl="0" indent="0" algn="ctr" defTabSz="914400" rtl="0" eaLnBrk="0" fontAlgn="base" latinLnBrk="0" hangingPunct="0">
              <a:lnSpc>
                <a:spcPts val="2500"/>
              </a:lnSpc>
              <a:spcBef>
                <a:spcPct val="0"/>
              </a:spcBef>
              <a:spcAft>
                <a:spcPct val="0"/>
              </a:spcAft>
              <a:buClrTx/>
              <a:buSzTx/>
              <a:buFontTx/>
              <a:buNone/>
            </a:pPr>
            <a:endParaRPr kumimoji="0" lang="en-US" altLang="zh-CN" sz="1200" b="0" i="0" u="none" strike="noStrike" cap="none" normalizeH="0" baseline="0" dirty="0">
              <a:ln>
                <a:noFill/>
              </a:ln>
              <a:solidFill>
                <a:schemeClr val="tx1"/>
              </a:solidFill>
              <a:effectLst/>
              <a:latin typeface="Times New Roman" panose="02020603050405020304" charset="0"/>
              <a:ea typeface="宋体" panose="02010600030101010101" pitchFamily="2" charset="-122"/>
              <a:cs typeface="Times New Roman" panose="02020603050405020304" charset="0"/>
            </a:endParaRPr>
          </a:p>
          <a:p>
            <a:pPr marL="0" marR="0" lvl="0" indent="0" defTabSz="914400" rtl="0" eaLnBrk="0" fontAlgn="base" latinLnBrk="0" hangingPunct="0">
              <a:lnSpc>
                <a:spcPct val="125000"/>
              </a:lnSpc>
              <a:spcBef>
                <a:spcPct val="0"/>
              </a:spcBef>
              <a:spcAft>
                <a:spcPct val="0"/>
              </a:spcAft>
              <a:buClrTx/>
              <a:buSzTx/>
              <a:buFontTx/>
              <a:buNone/>
            </a:pPr>
            <a:r>
              <a:rPr kumimoji="0" lang="zh-CN" altLang="en-US" sz="1400" b="0" i="0" u="none" strike="noStrike" cap="none" normalizeH="0" baseline="0" dirty="0">
                <a:ln>
                  <a:noFill/>
                </a:ln>
                <a:solidFill>
                  <a:schemeClr val="tx1"/>
                </a:solidFill>
                <a:effectLst/>
                <a:latin typeface="Times New Roman" panose="02020603050405020304" charset="0"/>
                <a:ea typeface="宋体" panose="02010600030101010101" pitchFamily="2" charset="-122"/>
                <a:cs typeface="Times New Roman" panose="02020603050405020304" charset="0"/>
              </a:rPr>
              <a:t>        显示的阿托伐他汀国内零售药店销售额 </a:t>
            </a:r>
            <a:r>
              <a:rPr kumimoji="0" lang="en-US" altLang="zh-CN" sz="1400" b="0" i="0" u="none" strike="noStrike" cap="none" normalizeH="0" baseline="0" dirty="0">
                <a:ln>
                  <a:noFill/>
                </a:ln>
                <a:solidFill>
                  <a:schemeClr val="tx1"/>
                </a:solidFill>
                <a:effectLst/>
                <a:latin typeface="Times New Roman" panose="02020603050405020304" charset="0"/>
                <a:ea typeface="宋体" panose="02010600030101010101" pitchFamily="2" charset="-122"/>
                <a:cs typeface="Times New Roman" panose="02020603050405020304" charset="0"/>
              </a:rPr>
              <a:t>TOP 5 </a:t>
            </a:r>
            <a:r>
              <a:rPr kumimoji="0" lang="zh-CN" altLang="en-US" sz="1400" b="0" i="0" u="none" strike="noStrike" cap="none" normalizeH="0" baseline="0" dirty="0">
                <a:ln>
                  <a:noFill/>
                </a:ln>
                <a:solidFill>
                  <a:schemeClr val="tx1"/>
                </a:solidFill>
                <a:effectLst/>
                <a:latin typeface="Times New Roman" panose="02020603050405020304" charset="0"/>
                <a:ea typeface="宋体" panose="02010600030101010101" pitchFamily="2" charset="-122"/>
                <a:cs typeface="Times New Roman" panose="02020603050405020304" charset="0"/>
              </a:rPr>
              <a:t>企业排名，晖致在 </a:t>
            </a:r>
            <a:r>
              <a:rPr kumimoji="0" lang="en-US" altLang="zh-CN" sz="1400" b="0" i="0" u="none" strike="noStrike" cap="none" normalizeH="0" baseline="0" dirty="0">
                <a:ln>
                  <a:noFill/>
                </a:ln>
                <a:solidFill>
                  <a:schemeClr val="tx1"/>
                </a:solidFill>
                <a:effectLst/>
                <a:latin typeface="Times New Roman" panose="02020603050405020304" charset="0"/>
                <a:ea typeface="宋体" panose="02010600030101010101" pitchFamily="2" charset="-122"/>
                <a:cs typeface="Times New Roman" panose="02020603050405020304" charset="0"/>
              </a:rPr>
              <a:t>2025</a:t>
            </a:r>
            <a:r>
              <a:rPr kumimoji="0" lang="zh-CN" altLang="en-US" sz="1400" b="0" i="0" u="none" strike="noStrike" cap="none" normalizeH="0" baseline="0" dirty="0">
                <a:ln>
                  <a:noFill/>
                </a:ln>
                <a:solidFill>
                  <a:schemeClr val="tx1"/>
                </a:solidFill>
                <a:effectLst/>
                <a:latin typeface="Times New Roman" panose="02020603050405020304" charset="0"/>
                <a:ea typeface="宋体" panose="02010600030101010101" pitchFamily="2" charset="-122"/>
                <a:cs typeface="Times New Roman" panose="02020603050405020304" charset="0"/>
              </a:rPr>
              <a:t>年第二季度表现出强劲的市场竞争力，以 </a:t>
            </a:r>
            <a:r>
              <a:rPr kumimoji="0" lang="en-US" altLang="zh-CN" sz="1400" b="1" i="0" u="none" strike="noStrike" cap="none" normalizeH="0" baseline="0" dirty="0">
                <a:ln>
                  <a:noFill/>
                </a:ln>
                <a:solidFill>
                  <a:srgbClr val="FF0000"/>
                </a:solidFill>
                <a:effectLst/>
                <a:latin typeface="Times New Roman" panose="02020603050405020304" charset="0"/>
                <a:ea typeface="宋体" panose="02010600030101010101" pitchFamily="2" charset="-122"/>
                <a:cs typeface="Times New Roman" panose="02020603050405020304" charset="0"/>
              </a:rPr>
              <a:t>67%</a:t>
            </a:r>
            <a:r>
              <a:rPr kumimoji="0" lang="zh-CN" altLang="en-US" sz="1400" b="0" i="0" u="none" strike="noStrike" cap="none" normalizeH="0" baseline="0" dirty="0">
                <a:ln>
                  <a:noFill/>
                </a:ln>
                <a:solidFill>
                  <a:schemeClr val="tx1"/>
                </a:solidFill>
                <a:effectLst/>
                <a:latin typeface="Times New Roman" panose="02020603050405020304" charset="0"/>
                <a:ea typeface="宋体" panose="02010600030101010101" pitchFamily="2" charset="-122"/>
                <a:cs typeface="Times New Roman" panose="02020603050405020304" charset="0"/>
              </a:rPr>
              <a:t>的市场份额位居行业第一。</a:t>
            </a:r>
            <a:endParaRPr kumimoji="0" lang="zh-CN" altLang="zh-CN" sz="1400" b="0" i="0" u="none" strike="noStrike" cap="none" normalizeH="0" baseline="0" dirty="0">
              <a:ln>
                <a:noFill/>
              </a:ln>
              <a:solidFill>
                <a:schemeClr val="tx1"/>
              </a:solidFill>
              <a:effectLst/>
              <a:latin typeface="Times New Roman" panose="02020603050405020304" charset="0"/>
              <a:ea typeface="宋体" panose="02010600030101010101" pitchFamily="2" charset="-122"/>
              <a:cs typeface="Times New Roman" panose="02020603050405020304" charset="0"/>
            </a:endParaRPr>
          </a:p>
        </p:txBody>
      </p:sp>
      <p:pic>
        <p:nvPicPr>
          <p:cNvPr id="10" name="图片 9"/>
          <p:cNvPicPr>
            <a:picLocks noChangeAspect="1"/>
          </p:cNvPicPr>
          <p:nvPr/>
        </p:nvPicPr>
        <p:blipFill>
          <a:blip r:embed="rId3"/>
          <a:stretch>
            <a:fillRect/>
          </a:stretch>
        </p:blipFill>
        <p:spPr>
          <a:xfrm>
            <a:off x="3787867" y="2114519"/>
            <a:ext cx="3858815" cy="1721541"/>
          </a:xfrm>
          <a:prstGeom prst="rect">
            <a:avLst/>
          </a:prstGeom>
        </p:spPr>
      </p:pic>
      <p:sp>
        <p:nvSpPr>
          <p:cNvPr id="12" name="文本框 11"/>
          <p:cNvSpPr txBox="1"/>
          <p:nvPr/>
        </p:nvSpPr>
        <p:spPr>
          <a:xfrm>
            <a:off x="3847227" y="4165094"/>
            <a:ext cx="3920965" cy="1696170"/>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200" b="1" i="0" u="none" strike="noStrike" cap="none" normalizeH="0" baseline="0" dirty="0">
                <a:ln>
                  <a:noFill/>
                </a:ln>
                <a:solidFill>
                  <a:srgbClr val="3333CC"/>
                </a:solidFill>
                <a:effectLst/>
                <a:latin typeface="Times New Roman" panose="02020603050405020304" charset="0"/>
                <a:ea typeface="宋体" panose="02010600030101010101" pitchFamily="2" charset="-122"/>
                <a:cs typeface="Times New Roman" panose="02020603050405020304" charset="0"/>
              </a:rPr>
              <a:t>图 </a:t>
            </a:r>
            <a:r>
              <a:rPr kumimoji="0" lang="en-US" altLang="zh-CN" sz="1200" b="1" i="0" u="none" strike="noStrike" cap="none" normalizeH="0" baseline="0" dirty="0">
                <a:ln>
                  <a:noFill/>
                </a:ln>
                <a:solidFill>
                  <a:srgbClr val="3333CC"/>
                </a:solidFill>
                <a:effectLst/>
                <a:latin typeface="Times New Roman" panose="02020603050405020304" charset="0"/>
                <a:ea typeface="宋体" panose="02010600030101010101" pitchFamily="2" charset="-122"/>
                <a:cs typeface="Times New Roman" panose="02020603050405020304" charset="0"/>
              </a:rPr>
              <a:t>2 </a:t>
            </a:r>
            <a:r>
              <a:rPr kumimoji="0" lang="zh-CN" altLang="zh-CN" sz="1200" b="1" i="0" u="none" strike="noStrike" cap="none" normalizeH="0" baseline="0" dirty="0">
                <a:ln>
                  <a:noFill/>
                </a:ln>
                <a:solidFill>
                  <a:srgbClr val="3333CC"/>
                </a:solidFill>
                <a:effectLst/>
                <a:latin typeface="Times New Roman" panose="02020603050405020304" charset="0"/>
                <a:ea typeface="宋体" panose="02010600030101010101" pitchFamily="2" charset="-122"/>
                <a:cs typeface="Times New Roman" panose="02020603050405020304" charset="0"/>
              </a:rPr>
              <a:t>阿托伐他汀（晖致）</a:t>
            </a:r>
            <a:r>
              <a:rPr kumimoji="0" lang="zh-CN" altLang="zh-CN" sz="1200" b="1" i="0" u="none" strike="noStrike" cap="none" normalizeH="0" baseline="0" dirty="0">
                <a:ln>
                  <a:noFill/>
                </a:ln>
                <a:solidFill>
                  <a:srgbClr val="FF0000"/>
                </a:solidFill>
                <a:effectLst/>
                <a:latin typeface="Times New Roman" panose="02020603050405020304" charset="0"/>
                <a:ea typeface="宋体" panose="02010600030101010101" pitchFamily="2" charset="-122"/>
                <a:cs typeface="Times New Roman" panose="02020603050405020304" charset="0"/>
              </a:rPr>
              <a:t>总体销售金额</a:t>
            </a:r>
            <a:endParaRPr kumimoji="0" lang="en-US" altLang="zh-CN" sz="1200" b="1" i="0" u="none" strike="noStrike" cap="none" normalizeH="0" baseline="0" dirty="0">
              <a:ln>
                <a:noFill/>
              </a:ln>
              <a:solidFill>
                <a:srgbClr val="FF0000"/>
              </a:solidFill>
              <a:effectLst/>
              <a:latin typeface="Times New Roman" panose="02020603050405020304" charset="0"/>
              <a:ea typeface="宋体" panose="02010600030101010101" pitchFamily="2" charset="-122"/>
              <a:cs typeface="Times New Roman" panose="02020603050405020304"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zh-CN" altLang="zh-CN" sz="1200" b="1" i="0" u="none" strike="noStrike" cap="none" normalizeH="0" baseline="0" dirty="0">
                <a:ln>
                  <a:noFill/>
                </a:ln>
                <a:solidFill>
                  <a:srgbClr val="3333CC"/>
                </a:solidFill>
                <a:effectLst/>
                <a:latin typeface="Times New Roman" panose="02020603050405020304" charset="0"/>
                <a:ea typeface="宋体" panose="02010600030101010101" pitchFamily="2" charset="-122"/>
                <a:cs typeface="Times New Roman" panose="02020603050405020304" charset="0"/>
              </a:rPr>
              <a:t>（</a:t>
            </a:r>
            <a:r>
              <a:rPr kumimoji="0" lang="en-US" altLang="zh-CN" sz="1200" b="1" i="0" u="none" strike="noStrike" cap="none" normalizeH="0" baseline="0" dirty="0">
                <a:ln>
                  <a:noFill/>
                </a:ln>
                <a:solidFill>
                  <a:srgbClr val="3333CC"/>
                </a:solidFill>
                <a:effectLst/>
                <a:latin typeface="Times New Roman" panose="02020603050405020304" charset="0"/>
                <a:ea typeface="宋体" panose="02010600030101010101" pitchFamily="2" charset="-122"/>
                <a:cs typeface="Times New Roman" panose="02020603050405020304" charset="0"/>
              </a:rPr>
              <a:t> </a:t>
            </a:r>
            <a:r>
              <a:rPr kumimoji="0" lang="zh-CN" altLang="zh-CN" sz="1200" b="1" i="0" u="none" strike="noStrike" cap="none" normalizeH="0" baseline="0" dirty="0">
                <a:ln>
                  <a:noFill/>
                </a:ln>
                <a:solidFill>
                  <a:srgbClr val="3333CC"/>
                </a:solidFill>
                <a:effectLst/>
                <a:latin typeface="Times New Roman" panose="02020603050405020304" charset="0"/>
                <a:ea typeface="宋体" panose="02010600030101010101" pitchFamily="2" charset="-122"/>
                <a:cs typeface="Times New Roman" panose="02020603050405020304" charset="0"/>
              </a:rPr>
              <a:t>2024</a:t>
            </a:r>
            <a:r>
              <a:rPr kumimoji="0" lang="en-US" altLang="zh-CN" sz="1200" b="1" i="0" u="none" strike="noStrike" cap="none" normalizeH="0" baseline="0" dirty="0">
                <a:ln>
                  <a:noFill/>
                </a:ln>
                <a:solidFill>
                  <a:srgbClr val="3333CC"/>
                </a:solidFill>
                <a:effectLst/>
                <a:latin typeface="Times New Roman" panose="02020603050405020304" charset="0"/>
                <a:ea typeface="宋体" panose="02010600030101010101" pitchFamily="2" charset="-122"/>
                <a:cs typeface="Times New Roman" panose="02020603050405020304" charset="0"/>
              </a:rPr>
              <a:t> </a:t>
            </a:r>
            <a:r>
              <a:rPr kumimoji="0" lang="zh-CN" altLang="zh-CN" sz="1200" b="1" i="0" u="none" strike="noStrike" cap="none" normalizeH="0" baseline="0" dirty="0">
                <a:ln>
                  <a:noFill/>
                </a:ln>
                <a:solidFill>
                  <a:srgbClr val="3333CC"/>
                </a:solidFill>
                <a:effectLst/>
                <a:latin typeface="Times New Roman" panose="02020603050405020304" charset="0"/>
                <a:ea typeface="宋体" panose="02010600030101010101" pitchFamily="2" charset="-122"/>
                <a:cs typeface="Times New Roman" panose="02020603050405020304" charset="0"/>
              </a:rPr>
              <a:t>Q2</a:t>
            </a:r>
            <a:r>
              <a:rPr kumimoji="0" lang="en-US" altLang="zh-CN" sz="1200" b="1" i="0" u="none" strike="noStrike" cap="none" normalizeH="0" baseline="0" dirty="0">
                <a:ln>
                  <a:noFill/>
                </a:ln>
                <a:solidFill>
                  <a:srgbClr val="3333CC"/>
                </a:solidFill>
                <a:effectLst/>
                <a:latin typeface="Times New Roman" panose="02020603050405020304" charset="0"/>
                <a:ea typeface="宋体" panose="02010600030101010101" pitchFamily="2" charset="-122"/>
                <a:cs typeface="Times New Roman" panose="02020603050405020304" charset="0"/>
              </a:rPr>
              <a:t> – </a:t>
            </a:r>
            <a:r>
              <a:rPr kumimoji="0" lang="zh-CN" altLang="zh-CN" sz="1200" b="1" i="0" u="none" strike="noStrike" cap="none" normalizeH="0" baseline="0" dirty="0">
                <a:ln>
                  <a:noFill/>
                </a:ln>
                <a:solidFill>
                  <a:srgbClr val="3333CC"/>
                </a:solidFill>
                <a:effectLst/>
                <a:latin typeface="Times New Roman" panose="02020603050405020304" charset="0"/>
                <a:ea typeface="宋体" panose="02010600030101010101" pitchFamily="2" charset="-122"/>
                <a:cs typeface="Times New Roman" panose="02020603050405020304" charset="0"/>
              </a:rPr>
              <a:t>2025</a:t>
            </a:r>
            <a:r>
              <a:rPr kumimoji="0" lang="en-US" altLang="zh-CN" sz="1200" b="1" i="0" u="none" strike="noStrike" cap="none" normalizeH="0" baseline="0" dirty="0">
                <a:ln>
                  <a:noFill/>
                </a:ln>
                <a:solidFill>
                  <a:srgbClr val="3333CC"/>
                </a:solidFill>
                <a:effectLst/>
                <a:latin typeface="Times New Roman" panose="02020603050405020304" charset="0"/>
                <a:ea typeface="宋体" panose="02010600030101010101" pitchFamily="2" charset="-122"/>
                <a:cs typeface="Times New Roman" panose="02020603050405020304" charset="0"/>
              </a:rPr>
              <a:t> </a:t>
            </a:r>
            <a:r>
              <a:rPr kumimoji="0" lang="zh-CN" altLang="zh-CN" sz="1200" b="1" i="0" u="none" strike="noStrike" cap="none" normalizeH="0" baseline="0" dirty="0">
                <a:ln>
                  <a:noFill/>
                </a:ln>
                <a:solidFill>
                  <a:srgbClr val="3333CC"/>
                </a:solidFill>
                <a:effectLst/>
                <a:latin typeface="Times New Roman" panose="02020603050405020304" charset="0"/>
                <a:ea typeface="宋体" panose="02010600030101010101" pitchFamily="2" charset="-122"/>
                <a:cs typeface="Times New Roman" panose="02020603050405020304" charset="0"/>
              </a:rPr>
              <a:t>Q2</a:t>
            </a:r>
            <a:r>
              <a:rPr kumimoji="0" lang="en-US" altLang="zh-CN" sz="1200" b="1" i="0" u="none" strike="noStrike" cap="none" normalizeH="0" baseline="0" dirty="0">
                <a:ln>
                  <a:noFill/>
                </a:ln>
                <a:solidFill>
                  <a:srgbClr val="3333CC"/>
                </a:solidFill>
                <a:effectLst/>
                <a:latin typeface="Times New Roman" panose="02020603050405020304" charset="0"/>
                <a:ea typeface="宋体" panose="02010600030101010101" pitchFamily="2" charset="-122"/>
                <a:cs typeface="Times New Roman" panose="02020603050405020304" charset="0"/>
              </a:rPr>
              <a:t> </a:t>
            </a:r>
            <a:r>
              <a:rPr kumimoji="0" lang="zh-CN" altLang="zh-CN" sz="1200" b="1" i="0" u="none" strike="noStrike" cap="none" normalizeH="0" baseline="0" dirty="0">
                <a:ln>
                  <a:noFill/>
                </a:ln>
                <a:solidFill>
                  <a:srgbClr val="3333CC"/>
                </a:solidFill>
                <a:effectLst/>
                <a:latin typeface="Times New Roman" panose="02020603050405020304" charset="0"/>
                <a:ea typeface="宋体" panose="02010600030101010101" pitchFamily="2" charset="-122"/>
                <a:cs typeface="Times New Roman" panose="02020603050405020304" charset="0"/>
              </a:rPr>
              <a:t>）</a:t>
            </a:r>
            <a:endParaRPr kumimoji="0" lang="en-US" altLang="zh-CN" sz="1200" b="1" i="0" u="none" strike="noStrike" cap="none" normalizeH="0" baseline="0" dirty="0">
              <a:ln>
                <a:noFill/>
              </a:ln>
              <a:solidFill>
                <a:srgbClr val="3333CC"/>
              </a:solidFill>
              <a:effectLst/>
              <a:latin typeface="Times New Roman" panose="02020603050405020304" charset="0"/>
              <a:ea typeface="宋体" panose="02010600030101010101" pitchFamily="2" charset="-122"/>
              <a:cs typeface="Times New Roman" panose="02020603050405020304" charset="0"/>
            </a:endParaRPr>
          </a:p>
          <a:p>
            <a:pPr lvl="0" eaLnBrk="0" fontAlgn="base" hangingPunct="0">
              <a:spcBef>
                <a:spcPct val="0"/>
              </a:spcBef>
              <a:spcAft>
                <a:spcPct val="0"/>
              </a:spcAft>
            </a:pPr>
            <a:endParaRPr lang="en-US" altLang="zh-CN" sz="1200" dirty="0">
              <a:latin typeface="Times New Roman" panose="02020603050405020304" charset="0"/>
              <a:ea typeface="宋体" panose="02010600030101010101" pitchFamily="2" charset="-122"/>
              <a:cs typeface="Times New Roman" panose="02020603050405020304" charset="0"/>
            </a:endParaRPr>
          </a:p>
          <a:p>
            <a:pPr lvl="0" eaLnBrk="0" fontAlgn="base" hangingPunct="0">
              <a:lnSpc>
                <a:spcPct val="125000"/>
              </a:lnSpc>
              <a:spcBef>
                <a:spcPct val="0"/>
              </a:spcBef>
              <a:spcAft>
                <a:spcPct val="0"/>
              </a:spcAft>
            </a:pPr>
            <a:r>
              <a:rPr lang="en-US" altLang="zh-CN" sz="1200" dirty="0">
                <a:latin typeface="Times New Roman" panose="02020603050405020304" charset="0"/>
                <a:ea typeface="宋体" panose="02010600030101010101" pitchFamily="2" charset="-122"/>
                <a:cs typeface="Times New Roman" panose="02020603050405020304" charset="0"/>
              </a:rPr>
              <a:t>        </a:t>
            </a:r>
            <a:r>
              <a:rPr lang="zh-CN" altLang="en-US" sz="1400" dirty="0">
                <a:latin typeface="Times New Roman" panose="02020603050405020304" charset="0"/>
                <a:ea typeface="宋体" panose="02010600030101010101" pitchFamily="2" charset="-122"/>
                <a:cs typeface="Times New Roman" panose="02020603050405020304" charset="0"/>
              </a:rPr>
              <a:t>展示了晖致阿托伐他汀从 </a:t>
            </a:r>
            <a:r>
              <a:rPr lang="en-US" altLang="zh-CN" sz="1400" dirty="0">
                <a:latin typeface="Times New Roman" panose="02020603050405020304" charset="0"/>
                <a:ea typeface="宋体" panose="02010600030101010101" pitchFamily="2" charset="-122"/>
                <a:cs typeface="Times New Roman" panose="02020603050405020304" charset="0"/>
              </a:rPr>
              <a:t>2024 </a:t>
            </a:r>
            <a:r>
              <a:rPr lang="zh-CN" altLang="en-US" sz="1400" dirty="0">
                <a:latin typeface="Times New Roman" panose="02020603050405020304" charset="0"/>
                <a:ea typeface="宋体" panose="02010600030101010101" pitchFamily="2" charset="-122"/>
                <a:cs typeface="Times New Roman" panose="02020603050405020304" charset="0"/>
              </a:rPr>
              <a:t>年第二季度到 </a:t>
            </a:r>
            <a:r>
              <a:rPr lang="en-US" altLang="zh-CN" sz="1400" dirty="0">
                <a:latin typeface="Times New Roman" panose="02020603050405020304" charset="0"/>
                <a:ea typeface="宋体" panose="02010600030101010101" pitchFamily="2" charset="-122"/>
                <a:cs typeface="Times New Roman" panose="02020603050405020304" charset="0"/>
              </a:rPr>
              <a:t>2025 </a:t>
            </a:r>
            <a:r>
              <a:rPr lang="zh-CN" altLang="en-US" sz="1400" dirty="0">
                <a:latin typeface="Times New Roman" panose="02020603050405020304" charset="0"/>
                <a:ea typeface="宋体" panose="02010600030101010101" pitchFamily="2" charset="-122"/>
                <a:cs typeface="Times New Roman" panose="02020603050405020304" charset="0"/>
              </a:rPr>
              <a:t>年第二季度的销售金额变化趋势。数据显示，在此期间晖致的阿托伐他汀销售额较为稳定，维持在 </a:t>
            </a:r>
            <a:r>
              <a:rPr lang="en-US" altLang="zh-CN" sz="1400" b="1" dirty="0">
                <a:solidFill>
                  <a:srgbClr val="FF0000"/>
                </a:solidFill>
                <a:latin typeface="Times New Roman" panose="02020603050405020304" charset="0"/>
                <a:ea typeface="宋体" panose="02010600030101010101" pitchFamily="2" charset="-122"/>
                <a:cs typeface="Times New Roman" panose="02020603050405020304" charset="0"/>
              </a:rPr>
              <a:t>1.7 </a:t>
            </a:r>
            <a:r>
              <a:rPr lang="zh-CN" altLang="en-US" sz="1400" b="1" dirty="0">
                <a:solidFill>
                  <a:srgbClr val="FF0000"/>
                </a:solidFill>
                <a:latin typeface="Times New Roman" panose="02020603050405020304" charset="0"/>
                <a:ea typeface="宋体" panose="02010600030101010101" pitchFamily="2" charset="-122"/>
                <a:cs typeface="Times New Roman" panose="02020603050405020304" charset="0"/>
              </a:rPr>
              <a:t>亿元</a:t>
            </a:r>
            <a:r>
              <a:rPr lang="zh-CN" altLang="en-US" sz="1400" dirty="0">
                <a:latin typeface="Times New Roman" panose="02020603050405020304" charset="0"/>
                <a:ea typeface="宋体" panose="02010600030101010101" pitchFamily="2" charset="-122"/>
                <a:cs typeface="Times New Roman" panose="02020603050405020304" charset="0"/>
              </a:rPr>
              <a:t>上下。</a:t>
            </a:r>
            <a:endParaRPr kumimoji="0" lang="zh-CN" altLang="zh-CN" sz="1400" b="0" i="0" u="none" strike="noStrike" cap="none" normalizeH="0" baseline="0" dirty="0">
              <a:ln>
                <a:noFill/>
              </a:ln>
              <a:solidFill>
                <a:schemeClr val="tx1"/>
              </a:solidFill>
              <a:effectLst/>
              <a:latin typeface="Times New Roman" panose="02020603050405020304" charset="0"/>
              <a:ea typeface="宋体" panose="02010600030101010101" pitchFamily="2" charset="-122"/>
              <a:cs typeface="Times New Roman" panose="02020603050405020304" charset="0"/>
            </a:endParaRPr>
          </a:p>
        </p:txBody>
      </p:sp>
      <p:pic>
        <p:nvPicPr>
          <p:cNvPr id="13" name="图片 12"/>
          <p:cNvPicPr>
            <a:picLocks noChangeAspect="1"/>
          </p:cNvPicPr>
          <p:nvPr/>
        </p:nvPicPr>
        <p:blipFill>
          <a:blip r:embed="rId4"/>
          <a:stretch>
            <a:fillRect/>
          </a:stretch>
        </p:blipFill>
        <p:spPr>
          <a:xfrm>
            <a:off x="7579433" y="1745176"/>
            <a:ext cx="2434832" cy="2078857"/>
          </a:xfrm>
          <a:prstGeom prst="rect">
            <a:avLst/>
          </a:prstGeom>
        </p:spPr>
      </p:pic>
      <p:pic>
        <p:nvPicPr>
          <p:cNvPr id="14" name="图片 13"/>
          <p:cNvPicPr/>
          <p:nvPr/>
        </p:nvPicPr>
        <p:blipFill>
          <a:blip r:embed="rId5"/>
          <a:stretch>
            <a:fillRect/>
          </a:stretch>
        </p:blipFill>
        <p:spPr>
          <a:xfrm>
            <a:off x="9900709" y="1882983"/>
            <a:ext cx="2133860" cy="1953077"/>
          </a:xfrm>
          <a:prstGeom prst="rect">
            <a:avLst/>
          </a:prstGeom>
        </p:spPr>
      </p:pic>
      <p:cxnSp>
        <p:nvCxnSpPr>
          <p:cNvPr id="16" name="直接连接符 15"/>
          <p:cNvCxnSpPr/>
          <p:nvPr/>
        </p:nvCxnSpPr>
        <p:spPr>
          <a:xfrm>
            <a:off x="3629680" y="1633356"/>
            <a:ext cx="0" cy="2861862"/>
          </a:xfrm>
          <a:prstGeom prst="line">
            <a:avLst/>
          </a:prstGeom>
          <a:ln w="12700">
            <a:solidFill>
              <a:schemeClr val="tx1"/>
            </a:solidFill>
            <a:prstDash val="dash"/>
          </a:ln>
        </p:spPr>
        <p:style>
          <a:lnRef idx="1">
            <a:schemeClr val="dk1"/>
          </a:lnRef>
          <a:fillRef idx="0">
            <a:schemeClr val="dk1"/>
          </a:fillRef>
          <a:effectRef idx="0">
            <a:schemeClr val="dk1"/>
          </a:effectRef>
          <a:fontRef idx="minor">
            <a:schemeClr val="tx1"/>
          </a:fontRef>
        </p:style>
      </p:cxnSp>
      <p:cxnSp>
        <p:nvCxnSpPr>
          <p:cNvPr id="17" name="直接连接符 16"/>
          <p:cNvCxnSpPr/>
          <p:nvPr/>
        </p:nvCxnSpPr>
        <p:spPr>
          <a:xfrm>
            <a:off x="7649085" y="1633356"/>
            <a:ext cx="0" cy="2861862"/>
          </a:xfrm>
          <a:prstGeom prst="line">
            <a:avLst/>
          </a:prstGeom>
          <a:ln w="12700">
            <a:solidFill>
              <a:schemeClr val="tx1"/>
            </a:solidFill>
            <a:prstDash val="dash"/>
          </a:ln>
        </p:spPr>
        <p:style>
          <a:lnRef idx="1">
            <a:schemeClr val="dk1"/>
          </a:lnRef>
          <a:fillRef idx="0">
            <a:schemeClr val="dk1"/>
          </a:fillRef>
          <a:effectRef idx="0">
            <a:schemeClr val="dk1"/>
          </a:effectRef>
          <a:fontRef idx="minor">
            <a:schemeClr val="tx1"/>
          </a:fontRef>
        </p:style>
      </p:cxnSp>
      <p:sp>
        <p:nvSpPr>
          <p:cNvPr id="19" name="文本框 18"/>
          <p:cNvSpPr txBox="1"/>
          <p:nvPr/>
        </p:nvSpPr>
        <p:spPr>
          <a:xfrm>
            <a:off x="7763860" y="4165094"/>
            <a:ext cx="4311804" cy="2050113"/>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200" b="1" i="0" u="none" strike="noStrike" cap="none" normalizeH="0" baseline="0" dirty="0">
                <a:ln>
                  <a:noFill/>
                </a:ln>
                <a:solidFill>
                  <a:srgbClr val="3333CC"/>
                </a:solidFill>
                <a:effectLst/>
                <a:latin typeface="Times New Roman" panose="02020603050405020304" charset="0"/>
                <a:ea typeface="宋体" panose="02010600030101010101" pitchFamily="2" charset="-122"/>
                <a:cs typeface="Times New Roman" panose="02020603050405020304" charset="0"/>
              </a:rPr>
              <a:t>图 </a:t>
            </a:r>
            <a:r>
              <a:rPr kumimoji="0" lang="en-US" altLang="zh-CN" sz="1200" b="1" i="0" u="none" strike="noStrike" cap="none" normalizeH="0" baseline="0" dirty="0">
                <a:ln>
                  <a:noFill/>
                </a:ln>
                <a:solidFill>
                  <a:srgbClr val="3333CC"/>
                </a:solidFill>
                <a:effectLst/>
                <a:latin typeface="Times New Roman" panose="02020603050405020304" charset="0"/>
                <a:ea typeface="宋体" panose="02010600030101010101" pitchFamily="2" charset="-122"/>
                <a:cs typeface="Times New Roman" panose="02020603050405020304" charset="0"/>
              </a:rPr>
              <a:t>3 </a:t>
            </a:r>
            <a:r>
              <a:rPr kumimoji="0" lang="zh-CN" altLang="zh-CN" sz="1200" b="1" i="0" u="none" strike="noStrike" cap="none" normalizeH="0" baseline="0" dirty="0">
                <a:ln>
                  <a:noFill/>
                </a:ln>
                <a:solidFill>
                  <a:srgbClr val="3333CC"/>
                </a:solidFill>
                <a:effectLst/>
                <a:latin typeface="Times New Roman" panose="02020603050405020304" charset="0"/>
                <a:ea typeface="宋体" panose="02010600030101010101" pitchFamily="2" charset="-122"/>
                <a:cs typeface="Times New Roman" panose="02020603050405020304" charset="0"/>
              </a:rPr>
              <a:t>阿托伐他汀（晖致）会员</a:t>
            </a:r>
            <a:r>
              <a:rPr kumimoji="0" lang="zh-CN" altLang="zh-CN" sz="1200" b="1" i="0" u="none" strike="noStrike" cap="none" normalizeH="0" baseline="0" dirty="0">
                <a:ln>
                  <a:noFill/>
                </a:ln>
                <a:solidFill>
                  <a:srgbClr val="FF0000"/>
                </a:solidFill>
                <a:effectLst/>
                <a:latin typeface="Times New Roman" panose="02020603050405020304" charset="0"/>
                <a:ea typeface="宋体" panose="02010600030101010101" pitchFamily="2" charset="-122"/>
                <a:cs typeface="Times New Roman" panose="02020603050405020304" charset="0"/>
              </a:rPr>
              <a:t>年龄</a:t>
            </a:r>
            <a:r>
              <a:rPr lang="zh-CN" altLang="en-US" sz="1200" b="1" dirty="0">
                <a:solidFill>
                  <a:srgbClr val="FF0000"/>
                </a:solidFill>
                <a:latin typeface="Times New Roman" panose="02020603050405020304" charset="0"/>
                <a:ea typeface="宋体" panose="02010600030101010101" pitchFamily="2" charset="-122"/>
                <a:cs typeface="Times New Roman" panose="02020603050405020304" charset="0"/>
              </a:rPr>
              <a:t>及性</a:t>
            </a:r>
            <a:r>
              <a:rPr kumimoji="0" lang="zh-CN" altLang="en-US" sz="1200" b="1" i="0" u="none" strike="noStrike" cap="none" normalizeH="0" baseline="0" dirty="0">
                <a:ln>
                  <a:noFill/>
                </a:ln>
                <a:solidFill>
                  <a:srgbClr val="FF0000"/>
                </a:solidFill>
                <a:effectLst/>
                <a:latin typeface="Times New Roman" panose="02020603050405020304" charset="0"/>
                <a:ea typeface="宋体" panose="02010600030101010101" pitchFamily="2" charset="-122"/>
                <a:cs typeface="Times New Roman" panose="02020603050405020304" charset="0"/>
              </a:rPr>
              <a:t>别</a:t>
            </a:r>
            <a:r>
              <a:rPr kumimoji="0" lang="zh-CN" altLang="zh-CN" sz="1200" b="1" i="0" u="none" strike="noStrike" cap="none" normalizeH="0" baseline="0" dirty="0">
                <a:ln>
                  <a:noFill/>
                </a:ln>
                <a:solidFill>
                  <a:srgbClr val="FF0000"/>
                </a:solidFill>
                <a:effectLst/>
                <a:latin typeface="Times New Roman" panose="02020603050405020304" charset="0"/>
                <a:ea typeface="宋体" panose="02010600030101010101" pitchFamily="2" charset="-122"/>
                <a:cs typeface="Times New Roman" panose="02020603050405020304" charset="0"/>
              </a:rPr>
              <a:t>分布</a:t>
            </a:r>
            <a:r>
              <a:rPr kumimoji="0" lang="zh-CN" altLang="zh-CN" sz="1200" b="1" i="0" u="none" strike="noStrike" cap="none" normalizeH="0" baseline="0" dirty="0">
                <a:ln>
                  <a:noFill/>
                </a:ln>
                <a:solidFill>
                  <a:srgbClr val="3333CC"/>
                </a:solidFill>
                <a:effectLst/>
                <a:latin typeface="Times New Roman" panose="02020603050405020304" charset="0"/>
                <a:ea typeface="宋体" panose="02010600030101010101" pitchFamily="2" charset="-122"/>
                <a:cs typeface="Times New Roman" panose="02020603050405020304" charset="0"/>
              </a:rPr>
              <a:t>（</a:t>
            </a:r>
            <a:r>
              <a:rPr kumimoji="0" lang="en-US" altLang="zh-CN" sz="1200" b="1" i="0" u="none" strike="noStrike" cap="none" normalizeH="0" baseline="0" dirty="0">
                <a:ln>
                  <a:noFill/>
                </a:ln>
                <a:solidFill>
                  <a:srgbClr val="3333CC"/>
                </a:solidFill>
                <a:effectLst/>
                <a:latin typeface="Times New Roman" panose="02020603050405020304" charset="0"/>
                <a:ea typeface="宋体" panose="02010600030101010101" pitchFamily="2" charset="-122"/>
                <a:cs typeface="Times New Roman" panose="02020603050405020304" charset="0"/>
              </a:rPr>
              <a:t> </a:t>
            </a:r>
            <a:r>
              <a:rPr kumimoji="0" lang="zh-CN" altLang="zh-CN" sz="1200" b="1" i="0" u="none" strike="noStrike" cap="none" normalizeH="0" baseline="0" dirty="0">
                <a:ln>
                  <a:noFill/>
                </a:ln>
                <a:solidFill>
                  <a:srgbClr val="3333CC"/>
                </a:solidFill>
                <a:effectLst/>
                <a:latin typeface="Times New Roman" panose="02020603050405020304" charset="0"/>
                <a:ea typeface="宋体" panose="02010600030101010101" pitchFamily="2" charset="-122"/>
                <a:cs typeface="Times New Roman" panose="02020603050405020304" charset="0"/>
              </a:rPr>
              <a:t>2025</a:t>
            </a:r>
            <a:r>
              <a:rPr kumimoji="0" lang="en-US" altLang="zh-CN" sz="1200" b="1" i="0" u="none" strike="noStrike" cap="none" normalizeH="0" baseline="0" dirty="0">
                <a:ln>
                  <a:noFill/>
                </a:ln>
                <a:solidFill>
                  <a:srgbClr val="3333CC"/>
                </a:solidFill>
                <a:effectLst/>
                <a:latin typeface="Times New Roman" panose="02020603050405020304" charset="0"/>
                <a:ea typeface="宋体" panose="02010600030101010101" pitchFamily="2" charset="-122"/>
                <a:cs typeface="Times New Roman" panose="02020603050405020304" charset="0"/>
              </a:rPr>
              <a:t> </a:t>
            </a:r>
            <a:r>
              <a:rPr kumimoji="0" lang="zh-CN" altLang="zh-CN" sz="1200" b="1" i="0" u="none" strike="noStrike" cap="none" normalizeH="0" baseline="0" dirty="0">
                <a:ln>
                  <a:noFill/>
                </a:ln>
                <a:solidFill>
                  <a:srgbClr val="3333CC"/>
                </a:solidFill>
                <a:effectLst/>
                <a:latin typeface="Times New Roman" panose="02020603050405020304" charset="0"/>
                <a:ea typeface="宋体" panose="02010600030101010101" pitchFamily="2" charset="-122"/>
                <a:cs typeface="Times New Roman" panose="02020603050405020304" charset="0"/>
              </a:rPr>
              <a:t>Q2</a:t>
            </a:r>
            <a:r>
              <a:rPr kumimoji="0" lang="en-US" altLang="zh-CN" sz="1200" b="1" i="0" u="none" strike="noStrike" cap="none" normalizeH="0" baseline="0" dirty="0">
                <a:ln>
                  <a:noFill/>
                </a:ln>
                <a:solidFill>
                  <a:srgbClr val="3333CC"/>
                </a:solidFill>
                <a:effectLst/>
                <a:latin typeface="Times New Roman" panose="02020603050405020304" charset="0"/>
                <a:ea typeface="宋体" panose="02010600030101010101" pitchFamily="2" charset="-122"/>
                <a:cs typeface="Times New Roman" panose="02020603050405020304" charset="0"/>
              </a:rPr>
              <a:t> </a:t>
            </a:r>
            <a:r>
              <a:rPr kumimoji="0" lang="zh-CN" altLang="zh-CN" sz="1200" b="1" i="0" u="none" strike="noStrike" cap="none" normalizeH="0" baseline="0" dirty="0">
                <a:ln>
                  <a:noFill/>
                </a:ln>
                <a:solidFill>
                  <a:srgbClr val="3333CC"/>
                </a:solidFill>
                <a:effectLst/>
                <a:latin typeface="Times New Roman" panose="02020603050405020304" charset="0"/>
                <a:ea typeface="宋体" panose="02010600030101010101" pitchFamily="2" charset="-122"/>
                <a:cs typeface="Times New Roman" panose="02020603050405020304" charset="0"/>
              </a:rPr>
              <a:t>）</a:t>
            </a:r>
            <a:endParaRPr kumimoji="0" lang="en-US" altLang="zh-CN" sz="1200" b="1" i="0" u="none" strike="noStrike" cap="none" normalizeH="0" baseline="0" dirty="0">
              <a:ln>
                <a:noFill/>
              </a:ln>
              <a:solidFill>
                <a:srgbClr val="3333CC"/>
              </a:solidFill>
              <a:effectLst/>
              <a:latin typeface="Times New Roman" panose="02020603050405020304" charset="0"/>
              <a:ea typeface="宋体" panose="02010600030101010101" pitchFamily="2" charset="-122"/>
              <a:cs typeface="Times New Roman" panose="02020603050405020304" charset="0"/>
            </a:endParaRPr>
          </a:p>
          <a:p>
            <a:pPr marL="0" marR="0" lvl="0" indent="0" algn="ctr" defTabSz="914400" rtl="0" eaLnBrk="0" fontAlgn="base" latinLnBrk="0" hangingPunct="0">
              <a:lnSpc>
                <a:spcPct val="100000"/>
              </a:lnSpc>
              <a:spcBef>
                <a:spcPct val="0"/>
              </a:spcBef>
              <a:spcAft>
                <a:spcPct val="0"/>
              </a:spcAft>
              <a:buClrTx/>
              <a:buSzTx/>
              <a:buFontTx/>
              <a:buNone/>
            </a:pPr>
            <a:endParaRPr kumimoji="0" lang="en-US" altLang="zh-CN" sz="1200" b="0" i="0" u="none" strike="noStrike" cap="none" normalizeH="0" baseline="0" dirty="0">
              <a:ln>
                <a:noFill/>
              </a:ln>
              <a:solidFill>
                <a:schemeClr val="tx1"/>
              </a:solidFill>
              <a:effectLst/>
              <a:latin typeface="Times New Roman" panose="02020603050405020304" charset="0"/>
              <a:ea typeface="宋体" panose="02010600030101010101" pitchFamily="2" charset="-122"/>
              <a:cs typeface="Times New Roman" panose="02020603050405020304" charset="0"/>
            </a:endParaRPr>
          </a:p>
          <a:p>
            <a:pPr marL="0" marR="0" lvl="0" indent="0" defTabSz="914400" rtl="0" eaLnBrk="0" fontAlgn="base" latinLnBrk="0" hangingPunct="0">
              <a:lnSpc>
                <a:spcPct val="125000"/>
              </a:lnSpc>
              <a:spcBef>
                <a:spcPct val="0"/>
              </a:spcBef>
              <a:spcAft>
                <a:spcPct val="0"/>
              </a:spcAft>
              <a:buClrTx/>
              <a:buSzTx/>
              <a:buFontTx/>
              <a:buNone/>
            </a:pPr>
            <a:r>
              <a:rPr kumimoji="0" lang="zh-CN" altLang="en-US" sz="1400" b="0" i="0" u="none" strike="noStrike" cap="none" normalizeH="0" baseline="0" dirty="0">
                <a:ln>
                  <a:noFill/>
                </a:ln>
                <a:solidFill>
                  <a:schemeClr val="tx1"/>
                </a:solidFill>
                <a:effectLst/>
                <a:latin typeface="Times New Roman" panose="02020603050405020304" charset="0"/>
                <a:ea typeface="宋体" panose="02010600030101010101" pitchFamily="2" charset="-122"/>
                <a:cs typeface="Times New Roman" panose="02020603050405020304" charset="0"/>
              </a:rPr>
              <a:t>        数据显示，</a:t>
            </a:r>
            <a:r>
              <a:rPr kumimoji="0" lang="en-US" altLang="zh-CN" sz="1400" b="1" i="0" u="none" strike="noStrike" cap="none" normalizeH="0" baseline="0" dirty="0">
                <a:ln>
                  <a:noFill/>
                </a:ln>
                <a:solidFill>
                  <a:srgbClr val="FF0000"/>
                </a:solidFill>
                <a:effectLst/>
                <a:latin typeface="Times New Roman" panose="02020603050405020304" charset="0"/>
                <a:ea typeface="宋体" panose="02010600030101010101" pitchFamily="2" charset="-122"/>
                <a:cs typeface="Times New Roman" panose="02020603050405020304" charset="0"/>
              </a:rPr>
              <a:t>66 </a:t>
            </a:r>
            <a:r>
              <a:rPr kumimoji="0" lang="zh-CN" altLang="en-US" sz="1400" b="1" i="0" u="none" strike="noStrike" cap="none" normalizeH="0" baseline="0" dirty="0">
                <a:ln>
                  <a:noFill/>
                </a:ln>
                <a:solidFill>
                  <a:srgbClr val="FF0000"/>
                </a:solidFill>
                <a:effectLst/>
                <a:latin typeface="Times New Roman" panose="02020603050405020304" charset="0"/>
                <a:ea typeface="宋体" panose="02010600030101010101" pitchFamily="2" charset="-122"/>
                <a:cs typeface="Times New Roman" panose="02020603050405020304" charset="0"/>
              </a:rPr>
              <a:t>岁以上</a:t>
            </a:r>
            <a:r>
              <a:rPr kumimoji="0" lang="zh-CN" altLang="en-US" sz="1400" b="0" i="0" u="none" strike="noStrike" cap="none" normalizeH="0" baseline="0" dirty="0">
                <a:ln>
                  <a:noFill/>
                </a:ln>
                <a:solidFill>
                  <a:schemeClr val="tx1"/>
                </a:solidFill>
                <a:effectLst/>
                <a:latin typeface="Times New Roman" panose="02020603050405020304" charset="0"/>
                <a:ea typeface="宋体" panose="02010600030101010101" pitchFamily="2" charset="-122"/>
                <a:cs typeface="Times New Roman" panose="02020603050405020304" charset="0"/>
              </a:rPr>
              <a:t>的中老年群体构成了晖致阿托伐他汀的核心消费人群，比例</a:t>
            </a:r>
            <a:r>
              <a:rPr kumimoji="0" lang="zh-CN" altLang="en-US" sz="1400" b="1" i="0" u="none" strike="noStrike" cap="none" normalizeH="0" baseline="0" dirty="0">
                <a:ln>
                  <a:noFill/>
                </a:ln>
                <a:solidFill>
                  <a:srgbClr val="FF0000"/>
                </a:solidFill>
                <a:effectLst/>
                <a:latin typeface="Times New Roman" panose="02020603050405020304" charset="0"/>
                <a:ea typeface="宋体" panose="02010600030101010101" pitchFamily="2" charset="-122"/>
                <a:cs typeface="Times New Roman" panose="02020603050405020304" charset="0"/>
              </a:rPr>
              <a:t>高达 </a:t>
            </a:r>
            <a:r>
              <a:rPr kumimoji="0" lang="en-US" altLang="zh-CN" sz="1400" b="1" i="0" u="none" strike="noStrike" cap="none" normalizeH="0" baseline="0" dirty="0">
                <a:ln>
                  <a:noFill/>
                </a:ln>
                <a:solidFill>
                  <a:srgbClr val="FF0000"/>
                </a:solidFill>
                <a:effectLst/>
                <a:latin typeface="Times New Roman" panose="02020603050405020304" charset="0"/>
                <a:ea typeface="宋体" panose="02010600030101010101" pitchFamily="2" charset="-122"/>
                <a:cs typeface="Times New Roman" panose="02020603050405020304" charset="0"/>
              </a:rPr>
              <a:t>20%</a:t>
            </a:r>
            <a:r>
              <a:rPr kumimoji="0" lang="zh-CN" altLang="en-US" sz="1400" b="0" i="0" u="none" strike="noStrike" cap="none" normalizeH="0" baseline="0" dirty="0">
                <a:ln>
                  <a:noFill/>
                </a:ln>
                <a:solidFill>
                  <a:schemeClr val="tx1"/>
                </a:solidFill>
                <a:effectLst/>
                <a:latin typeface="Times New Roman" panose="02020603050405020304" charset="0"/>
                <a:ea typeface="宋体" panose="02010600030101010101" pitchFamily="2" charset="-122"/>
                <a:cs typeface="Times New Roman" panose="02020603050405020304" charset="0"/>
              </a:rPr>
              <a:t>，其次是 </a:t>
            </a:r>
            <a:r>
              <a:rPr kumimoji="0" lang="en-US" altLang="zh-CN" sz="1400" b="1" i="0" u="none" strike="noStrike" cap="none" normalizeH="0" baseline="0" dirty="0">
                <a:ln>
                  <a:noFill/>
                </a:ln>
                <a:solidFill>
                  <a:srgbClr val="FF0000"/>
                </a:solidFill>
                <a:effectLst/>
                <a:latin typeface="Times New Roman" panose="02020603050405020304" charset="0"/>
                <a:ea typeface="宋体" panose="02010600030101010101" pitchFamily="2" charset="-122"/>
                <a:cs typeface="Times New Roman" panose="02020603050405020304" charset="0"/>
              </a:rPr>
              <a:t>55 - 65 </a:t>
            </a:r>
            <a:r>
              <a:rPr kumimoji="0" lang="zh-CN" altLang="en-US" sz="1400" b="1" i="0" u="none" strike="noStrike" cap="none" normalizeH="0" baseline="0" dirty="0">
                <a:ln>
                  <a:noFill/>
                </a:ln>
                <a:solidFill>
                  <a:srgbClr val="FF0000"/>
                </a:solidFill>
                <a:effectLst/>
                <a:latin typeface="Times New Roman" panose="02020603050405020304" charset="0"/>
                <a:ea typeface="宋体" panose="02010600030101010101" pitchFamily="2" charset="-122"/>
                <a:cs typeface="Times New Roman" panose="02020603050405020304" charset="0"/>
              </a:rPr>
              <a:t>岁</a:t>
            </a:r>
            <a:r>
              <a:rPr kumimoji="0" lang="zh-CN" altLang="en-US" sz="1400" b="0" i="0" u="none" strike="noStrike" cap="none" normalizeH="0" baseline="0" dirty="0">
                <a:ln>
                  <a:noFill/>
                </a:ln>
                <a:solidFill>
                  <a:schemeClr val="tx1"/>
                </a:solidFill>
                <a:effectLst/>
                <a:latin typeface="Times New Roman" panose="02020603050405020304" charset="0"/>
                <a:ea typeface="宋体" panose="02010600030101010101" pitchFamily="2" charset="-122"/>
                <a:cs typeface="Times New Roman" panose="02020603050405020304" charset="0"/>
              </a:rPr>
              <a:t>年龄段的会员，占比 </a:t>
            </a:r>
            <a:r>
              <a:rPr kumimoji="0" lang="en-US" altLang="zh-CN" sz="1400" b="1" i="0" u="none" strike="noStrike" cap="none" normalizeH="0" baseline="0" dirty="0">
                <a:ln>
                  <a:noFill/>
                </a:ln>
                <a:solidFill>
                  <a:srgbClr val="FF0000"/>
                </a:solidFill>
                <a:effectLst/>
                <a:latin typeface="Times New Roman" panose="02020603050405020304" charset="0"/>
                <a:ea typeface="宋体" panose="02010600030101010101" pitchFamily="2" charset="-122"/>
                <a:cs typeface="Times New Roman" panose="02020603050405020304" charset="0"/>
              </a:rPr>
              <a:t>19%</a:t>
            </a:r>
            <a:r>
              <a:rPr kumimoji="0" lang="zh-CN" altLang="en-US" sz="1400" b="0" i="0" u="none" strike="noStrike" cap="none" normalizeH="0" baseline="0" dirty="0">
                <a:ln>
                  <a:noFill/>
                </a:ln>
                <a:solidFill>
                  <a:schemeClr val="tx1"/>
                </a:solidFill>
                <a:effectLst/>
                <a:latin typeface="Times New Roman" panose="02020603050405020304" charset="0"/>
                <a:ea typeface="宋体" panose="02010600030101010101" pitchFamily="2" charset="-122"/>
                <a:cs typeface="Times New Roman" panose="02020603050405020304" charset="0"/>
              </a:rPr>
              <a:t>。这一分布也反映出心脑血管疾病发病偏高龄的特点。</a:t>
            </a:r>
            <a:r>
              <a:rPr kumimoji="0" lang="zh-CN" altLang="en-US" sz="1400" b="1" i="0" u="none" strike="noStrike" cap="none" normalizeH="0" baseline="0" dirty="0">
                <a:ln>
                  <a:noFill/>
                </a:ln>
                <a:solidFill>
                  <a:srgbClr val="FF0000"/>
                </a:solidFill>
                <a:effectLst/>
                <a:latin typeface="Times New Roman" panose="02020603050405020304" charset="0"/>
                <a:ea typeface="宋体" panose="02010600030101010101" pitchFamily="2" charset="-122"/>
                <a:cs typeface="Times New Roman" panose="02020603050405020304" charset="0"/>
              </a:rPr>
              <a:t>男性会员比例略高于女性 </a:t>
            </a:r>
            <a:r>
              <a:rPr kumimoji="0" lang="en-US" altLang="zh-CN" sz="1400" b="1" i="0" u="none" strike="noStrike" cap="none" normalizeH="0" baseline="0" dirty="0">
                <a:ln>
                  <a:noFill/>
                </a:ln>
                <a:solidFill>
                  <a:srgbClr val="FF0000"/>
                </a:solidFill>
                <a:effectLst/>
                <a:latin typeface="Times New Roman" panose="02020603050405020304" charset="0"/>
                <a:ea typeface="宋体" panose="02010600030101010101" pitchFamily="2" charset="-122"/>
                <a:cs typeface="Times New Roman" panose="02020603050405020304" charset="0"/>
              </a:rPr>
              <a:t>4 </a:t>
            </a:r>
            <a:r>
              <a:rPr kumimoji="0" lang="zh-CN" altLang="en-US" sz="1400" b="1" i="0" u="none" strike="noStrike" cap="none" normalizeH="0" baseline="0" dirty="0">
                <a:ln>
                  <a:noFill/>
                </a:ln>
                <a:solidFill>
                  <a:srgbClr val="FF0000"/>
                </a:solidFill>
                <a:effectLst/>
                <a:latin typeface="Times New Roman" panose="02020603050405020304" charset="0"/>
                <a:ea typeface="宋体" panose="02010600030101010101" pitchFamily="2" charset="-122"/>
                <a:cs typeface="Times New Roman" panose="02020603050405020304" charset="0"/>
              </a:rPr>
              <a:t>个百分点</a:t>
            </a:r>
            <a:r>
              <a:rPr kumimoji="0" lang="zh-CN" altLang="en-US" sz="1400" b="0" i="0" u="none" strike="noStrike" cap="none" normalizeH="0" baseline="0" dirty="0">
                <a:ln>
                  <a:noFill/>
                </a:ln>
                <a:solidFill>
                  <a:schemeClr val="tx1"/>
                </a:solidFill>
                <a:effectLst/>
                <a:latin typeface="Times New Roman" panose="02020603050405020304" charset="0"/>
                <a:ea typeface="宋体" panose="02010600030101010101" pitchFamily="2" charset="-122"/>
                <a:cs typeface="Times New Roman" panose="02020603050405020304" charset="0"/>
              </a:rPr>
              <a:t>，这一差异与心脑血管疾病在男性群体中发病率更高的流行病学特征相符。</a:t>
            </a:r>
            <a:endParaRPr kumimoji="0" lang="zh-CN" altLang="zh-CN" sz="1400" b="0" i="0" u="none" strike="noStrike" cap="none" normalizeH="0" baseline="0" dirty="0">
              <a:ln>
                <a:noFill/>
              </a:ln>
              <a:solidFill>
                <a:schemeClr val="tx1"/>
              </a:solidFill>
              <a:effectLst/>
              <a:latin typeface="Times New Roman" panose="02020603050405020304" charset="0"/>
              <a:ea typeface="宋体" panose="02010600030101010101" pitchFamily="2" charset="-122"/>
              <a:cs typeface="Times New Roman" panose="02020603050405020304" charset="0"/>
            </a:endParaRPr>
          </a:p>
        </p:txBody>
      </p:sp>
      <p:cxnSp>
        <p:nvCxnSpPr>
          <p:cNvPr id="22" name="直接连接符 21"/>
          <p:cNvCxnSpPr/>
          <p:nvPr/>
        </p:nvCxnSpPr>
        <p:spPr>
          <a:xfrm>
            <a:off x="390744" y="6437146"/>
            <a:ext cx="6794246" cy="0"/>
          </a:xfrm>
          <a:prstGeom prst="line">
            <a:avLst/>
          </a:prstGeom>
          <a:ln w="12700">
            <a:solidFill>
              <a:schemeClr val="tx1"/>
            </a:solidFill>
            <a:prstDash val="dash"/>
          </a:ln>
        </p:spPr>
        <p:style>
          <a:lnRef idx="1">
            <a:schemeClr val="dk1"/>
          </a:lnRef>
          <a:fillRef idx="0">
            <a:schemeClr val="dk1"/>
          </a:fillRef>
          <a:effectRef idx="0">
            <a:schemeClr val="dk1"/>
          </a:effectRef>
          <a:fontRef idx="minor">
            <a:schemeClr val="tx1"/>
          </a:fontRef>
        </p:style>
      </p:cxnSp>
      <p:sp>
        <p:nvSpPr>
          <p:cNvPr id="27" name="文本框 26"/>
          <p:cNvSpPr txBox="1"/>
          <p:nvPr/>
        </p:nvSpPr>
        <p:spPr>
          <a:xfrm>
            <a:off x="346567" y="6485808"/>
            <a:ext cx="6242880" cy="276999"/>
          </a:xfrm>
          <a:prstGeom prst="rect">
            <a:avLst/>
          </a:prstGeom>
          <a:noFill/>
        </p:spPr>
        <p:txBody>
          <a:bodyPr wrap="square">
            <a:spAutoFit/>
          </a:bodyPr>
          <a:lstStyle/>
          <a:p>
            <a:r>
              <a:rPr lang="zh-CN" altLang="en-US" sz="1200" b="0" i="0" dirty="0">
                <a:solidFill>
                  <a:srgbClr val="3333CC"/>
                </a:solidFill>
                <a:effectLst/>
                <a:latin typeface="Times New Roman" panose="02020603050405020304" charset="0"/>
                <a:ea typeface="宋体" panose="02010600030101010101" pitchFamily="2" charset="-122"/>
                <a:cs typeface="Times New Roman" panose="02020603050405020304" charset="0"/>
              </a:rPr>
              <a:t>图 </a:t>
            </a:r>
            <a:r>
              <a:rPr lang="en-US" altLang="zh-CN" sz="1200" b="0" i="0" dirty="0">
                <a:solidFill>
                  <a:srgbClr val="3333CC"/>
                </a:solidFill>
                <a:effectLst/>
                <a:latin typeface="Times New Roman" panose="02020603050405020304" charset="0"/>
                <a:ea typeface="宋体" panose="02010600030101010101" pitchFamily="2" charset="-122"/>
                <a:cs typeface="Times New Roman" panose="02020603050405020304" charset="0"/>
              </a:rPr>
              <a:t>1</a:t>
            </a:r>
            <a:r>
              <a:rPr lang="en-US" altLang="zh-CN" sz="1200" dirty="0">
                <a:solidFill>
                  <a:srgbClr val="3333CC"/>
                </a:solidFill>
                <a:latin typeface="Times New Roman" panose="02020603050405020304" charset="0"/>
                <a:ea typeface="宋体" panose="02010600030101010101" pitchFamily="2" charset="-122"/>
                <a:cs typeface="Times New Roman" panose="02020603050405020304" charset="0"/>
              </a:rPr>
              <a:t>~3 </a:t>
            </a:r>
            <a:r>
              <a:rPr lang="zh-CN" altLang="en-US" sz="1200" b="0" i="0" dirty="0">
                <a:solidFill>
                  <a:srgbClr val="3333CC"/>
                </a:solidFill>
                <a:effectLst/>
                <a:latin typeface="Times New Roman" panose="02020603050405020304" charset="0"/>
                <a:ea typeface="宋体" panose="02010600030101010101" pitchFamily="2" charset="-122"/>
                <a:cs typeface="Times New Roman" panose="02020603050405020304" charset="0"/>
              </a:rPr>
              <a:t>数据来源：</a:t>
            </a:r>
            <a:r>
              <a:rPr lang="en-US" altLang="zh-CN" sz="1200" b="0" i="0" dirty="0">
                <a:solidFill>
                  <a:srgbClr val="3333CC"/>
                </a:solidFill>
                <a:effectLst/>
                <a:latin typeface="Times New Roman" panose="02020603050405020304" charset="0"/>
                <a:ea typeface="宋体" panose="02010600030101010101" pitchFamily="2" charset="-122"/>
                <a:cs typeface="Times New Roman" panose="02020603050405020304" charset="0"/>
              </a:rPr>
              <a:t>RPDB </a:t>
            </a:r>
            <a:r>
              <a:rPr lang="zh-CN" altLang="en-US" sz="1200" b="0" i="0" dirty="0">
                <a:solidFill>
                  <a:srgbClr val="3333CC"/>
                </a:solidFill>
                <a:effectLst/>
                <a:latin typeface="Times New Roman" panose="02020603050405020304" charset="0"/>
                <a:ea typeface="宋体" panose="02010600030101010101" pitchFamily="2" charset="-122"/>
                <a:cs typeface="Times New Roman" panose="02020603050405020304" charset="0"/>
              </a:rPr>
              <a:t>药品零售数据库，中国医药工业信息中心</a:t>
            </a:r>
            <a:endParaRPr lang="zh-CN" altLang="en-US" sz="1200" dirty="0">
              <a:solidFill>
                <a:srgbClr val="3333CC"/>
              </a:solidFill>
              <a:latin typeface="Times New Roman" panose="02020603050405020304" charset="0"/>
              <a:ea typeface="宋体" panose="02010600030101010101" pitchFamily="2" charset="-122"/>
              <a:cs typeface="Times New Roman" panose="02020603050405020304"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09389" y="273645"/>
            <a:ext cx="5160773" cy="461665"/>
          </a:xfrm>
          <a:prstGeom prst="rect">
            <a:avLst/>
          </a:prstGeom>
          <a:noFill/>
        </p:spPr>
        <p:txBody>
          <a:bodyPr wrap="square" rtlCol="0">
            <a:spAutoFit/>
          </a:bodyPr>
          <a:lstStyle/>
          <a:p>
            <a:r>
              <a:rPr lang="en-US" altLang="zh-CN" sz="2400" b="1" dirty="0">
                <a:latin typeface="Times New Roman" panose="02020603050405020304" charset="0"/>
                <a:ea typeface="宋体" panose="02010600030101010101" pitchFamily="2" charset="-122"/>
                <a:cs typeface="Times New Roman" panose="02020603050405020304" charset="0"/>
              </a:rPr>
              <a:t>Part 3 </a:t>
            </a:r>
            <a:r>
              <a:rPr lang="zh-CN" altLang="en-US" sz="2400" b="1" dirty="0">
                <a:latin typeface="Times New Roman" panose="02020603050405020304" charset="0"/>
                <a:ea typeface="宋体" panose="02010600030101010101" pitchFamily="2" charset="-122"/>
                <a:cs typeface="Times New Roman" panose="02020603050405020304" charset="0"/>
              </a:rPr>
              <a:t>阿托伐他汀合成路线</a:t>
            </a:r>
          </a:p>
        </p:txBody>
      </p:sp>
      <p:cxnSp>
        <p:nvCxnSpPr>
          <p:cNvPr id="3" name="直接连接符 2"/>
          <p:cNvCxnSpPr/>
          <p:nvPr/>
        </p:nvCxnSpPr>
        <p:spPr>
          <a:xfrm>
            <a:off x="467670" y="6489813"/>
            <a:ext cx="7622327" cy="0"/>
          </a:xfrm>
          <a:prstGeom prst="line">
            <a:avLst/>
          </a:prstGeom>
          <a:ln w="12700">
            <a:solidFill>
              <a:schemeClr val="tx1"/>
            </a:solidFill>
            <a:prstDash val="dash"/>
          </a:ln>
        </p:spPr>
        <p:style>
          <a:lnRef idx="1">
            <a:schemeClr val="dk1"/>
          </a:lnRef>
          <a:fillRef idx="0">
            <a:schemeClr val="dk1"/>
          </a:fillRef>
          <a:effectRef idx="0">
            <a:schemeClr val="dk1"/>
          </a:effectRef>
          <a:fontRef idx="minor">
            <a:schemeClr val="tx1"/>
          </a:fontRef>
        </p:style>
      </p:cxnSp>
      <p:sp>
        <p:nvSpPr>
          <p:cNvPr id="4" name="文本框 3"/>
          <p:cNvSpPr txBox="1"/>
          <p:nvPr/>
        </p:nvSpPr>
        <p:spPr>
          <a:xfrm>
            <a:off x="376234" y="6549071"/>
            <a:ext cx="6125084" cy="276999"/>
          </a:xfrm>
          <a:prstGeom prst="rect">
            <a:avLst/>
          </a:prstGeom>
          <a:noFill/>
        </p:spPr>
        <p:txBody>
          <a:bodyPr wrap="square">
            <a:spAutoFit/>
          </a:bodyPr>
          <a:lstStyle/>
          <a:p>
            <a:r>
              <a:rPr lang="zh-CN" altLang="en-US" sz="1200" dirty="0">
                <a:solidFill>
                  <a:srgbClr val="3333CC"/>
                </a:solidFill>
                <a:latin typeface="Times New Roman" panose="02020603050405020304" charset="0"/>
                <a:ea typeface="宋体" panose="02010600030101010101" pitchFamily="2" charset="-122"/>
                <a:cs typeface="Times New Roman" panose="02020603050405020304" charset="0"/>
              </a:rPr>
              <a:t>参考文献：</a:t>
            </a:r>
            <a:r>
              <a:rPr lang="fr-FR" altLang="zh-CN" sz="1200" b="0" i="0" dirty="0">
                <a:solidFill>
                  <a:srgbClr val="3333CC"/>
                </a:solidFill>
                <a:effectLst/>
                <a:latin typeface="Times New Roman" panose="02020603050405020304" charset="0"/>
                <a:ea typeface="宋体" panose="02010600030101010101" pitchFamily="2" charset="-122"/>
                <a:cs typeface="Times New Roman" panose="02020603050405020304" charset="0"/>
              </a:rPr>
              <a:t>Eur. J. Org. Chem. 10.1002/ejoc.201700387</a:t>
            </a:r>
            <a:endParaRPr lang="zh-CN" altLang="en-US" sz="1200" dirty="0">
              <a:solidFill>
                <a:srgbClr val="3333CC"/>
              </a:solidFill>
              <a:latin typeface="Times New Roman" panose="02020603050405020304" charset="0"/>
              <a:ea typeface="宋体" panose="02010600030101010101" pitchFamily="2" charset="-122"/>
              <a:cs typeface="Times New Roman" panose="02020603050405020304" charset="0"/>
            </a:endParaRPr>
          </a:p>
        </p:txBody>
      </p:sp>
      <p:graphicFrame>
        <p:nvGraphicFramePr>
          <p:cNvPr id="7" name="对象 6"/>
          <p:cNvGraphicFramePr>
            <a:graphicFrameLocks noChangeAspect="1"/>
          </p:cNvGraphicFramePr>
          <p:nvPr/>
        </p:nvGraphicFramePr>
        <p:xfrm>
          <a:off x="1846105" y="933122"/>
          <a:ext cx="8037513" cy="5418137"/>
        </p:xfrm>
        <a:graphic>
          <a:graphicData uri="http://schemas.openxmlformats.org/presentationml/2006/ole">
            <mc:AlternateContent xmlns:mc="http://schemas.openxmlformats.org/markup-compatibility/2006">
              <mc:Choice xmlns:v="urn:schemas-microsoft-com:vml" Requires="v">
                <p:oleObj spid="_x0000_s50180" name="CS ChemDraw Drawing" r:id="rId3" imgW="8985885" imgH="6059805" progId="ChemDraw.Document.6.0">
                  <p:embed/>
                </p:oleObj>
              </mc:Choice>
              <mc:Fallback>
                <p:oleObj name="CS ChemDraw Drawing" r:id="rId3" imgW="8985885" imgH="6059805" progId="ChemDraw.Document.6.0">
                  <p:embed/>
                  <p:pic>
                    <p:nvPicPr>
                      <p:cNvPr id="7" name="对象 6"/>
                      <p:cNvPicPr/>
                      <p:nvPr/>
                    </p:nvPicPr>
                    <p:blipFill>
                      <a:blip r:embed="rId4"/>
                      <a:stretch>
                        <a:fillRect/>
                      </a:stretch>
                    </p:blipFill>
                    <p:spPr>
                      <a:xfrm>
                        <a:off x="1846105" y="933122"/>
                        <a:ext cx="8037513" cy="5418137"/>
                      </a:xfrm>
                      <a:prstGeom prst="rect">
                        <a:avLst/>
                      </a:prstGeom>
                    </p:spPr>
                  </p:pic>
                </p:oleObj>
              </mc:Fallback>
            </mc:AlternateContent>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409389" y="273645"/>
            <a:ext cx="5160773" cy="461665"/>
          </a:xfrm>
          <a:prstGeom prst="rect">
            <a:avLst/>
          </a:prstGeom>
          <a:noFill/>
        </p:spPr>
        <p:txBody>
          <a:bodyPr wrap="square" rtlCol="0">
            <a:spAutoFit/>
          </a:bodyPr>
          <a:lstStyle/>
          <a:p>
            <a:r>
              <a:rPr lang="en-US" altLang="zh-CN" sz="2400" b="1" dirty="0">
                <a:latin typeface="Times New Roman" panose="02020603050405020304" charset="0"/>
                <a:ea typeface="宋体" panose="02010600030101010101" pitchFamily="2" charset="-122"/>
                <a:cs typeface="Times New Roman" panose="02020603050405020304" charset="0"/>
              </a:rPr>
              <a:t>Part 4 </a:t>
            </a:r>
            <a:r>
              <a:rPr lang="zh-CN" altLang="en-US" sz="2400" b="1" dirty="0">
                <a:latin typeface="Times New Roman" panose="02020603050405020304" charset="0"/>
                <a:ea typeface="宋体" panose="02010600030101010101" pitchFamily="2" charset="-122"/>
                <a:cs typeface="Times New Roman" panose="02020603050405020304" charset="0"/>
              </a:rPr>
              <a:t>路线优缺点</a:t>
            </a:r>
          </a:p>
        </p:txBody>
      </p:sp>
      <p:sp>
        <p:nvSpPr>
          <p:cNvPr id="8" name="文本框 7"/>
          <p:cNvSpPr txBox="1"/>
          <p:nvPr/>
        </p:nvSpPr>
        <p:spPr>
          <a:xfrm>
            <a:off x="258265" y="821642"/>
            <a:ext cx="11775517" cy="2405980"/>
          </a:xfrm>
          <a:prstGeom prst="rect">
            <a:avLst/>
          </a:prstGeom>
          <a:noFill/>
        </p:spPr>
        <p:txBody>
          <a:bodyPr wrap="square">
            <a:spAutoFit/>
          </a:bodyPr>
          <a:lstStyle/>
          <a:p>
            <a:pPr algn="l">
              <a:lnSpc>
                <a:spcPct val="150000"/>
              </a:lnSpc>
              <a:buNone/>
            </a:pPr>
            <a:r>
              <a:rPr lang="zh-CN" altLang="en-US" b="1" dirty="0">
                <a:solidFill>
                  <a:srgbClr val="FF0000"/>
                </a:solidFill>
                <a:effectLst/>
                <a:latin typeface="Times New Roman" panose="02020603050405020304" charset="0"/>
                <a:ea typeface="宋体" panose="02010600030101010101" pitchFamily="2" charset="-122"/>
                <a:cs typeface="Times New Roman" panose="02020603050405020304" charset="0"/>
              </a:rPr>
              <a:t>优点：</a:t>
            </a:r>
          </a:p>
          <a:p>
            <a:pPr algn="l">
              <a:lnSpc>
                <a:spcPct val="150000"/>
              </a:lnSpc>
              <a:buFont typeface="+mj-lt"/>
              <a:buAutoNum type="arabicPeriod"/>
            </a:pPr>
            <a:r>
              <a:rPr lang="zh-CN" altLang="en-US" sz="1400" b="1" dirty="0">
                <a:solidFill>
                  <a:srgbClr val="3333CC"/>
                </a:solidFill>
                <a:effectLst/>
                <a:latin typeface="Times New Roman" panose="02020603050405020304" charset="0"/>
                <a:ea typeface="宋体" panose="02010600030101010101" pitchFamily="2" charset="-122"/>
                <a:cs typeface="Times New Roman" panose="02020603050405020304" charset="0"/>
              </a:rPr>
              <a:t>手性源经济，起始物料廉价易得：</a:t>
            </a:r>
            <a:r>
              <a:rPr lang="zh-CN" altLang="en-US" sz="1400" b="0" dirty="0">
                <a:solidFill>
                  <a:srgbClr val="1F2329"/>
                </a:solidFill>
                <a:effectLst/>
                <a:latin typeface="Times New Roman" panose="02020603050405020304" charset="0"/>
                <a:ea typeface="宋体" panose="02010600030101010101" pitchFamily="2" charset="-122"/>
                <a:cs typeface="Times New Roman" panose="02020603050405020304" charset="0"/>
              </a:rPr>
              <a:t>以商业化</a:t>
            </a:r>
            <a:r>
              <a:rPr lang="en-US" altLang="zh-CN" sz="1400" b="1" dirty="0">
                <a:solidFill>
                  <a:srgbClr val="1F2329"/>
                </a:solidFill>
                <a:effectLst/>
                <a:latin typeface="Times New Roman" panose="02020603050405020304" charset="0"/>
                <a:ea typeface="宋体" panose="02010600030101010101" pitchFamily="2" charset="-122"/>
                <a:cs typeface="Times New Roman" panose="02020603050405020304" charset="0"/>
              </a:rPr>
              <a:t>D - </a:t>
            </a:r>
            <a:r>
              <a:rPr lang="zh-CN" altLang="en-US" sz="1400" b="1" dirty="0">
                <a:solidFill>
                  <a:srgbClr val="1F2329"/>
                </a:solidFill>
                <a:effectLst/>
                <a:latin typeface="Times New Roman" panose="02020603050405020304" charset="0"/>
                <a:ea typeface="宋体" panose="02010600030101010101" pitchFamily="2" charset="-122"/>
                <a:cs typeface="Times New Roman" panose="02020603050405020304" charset="0"/>
              </a:rPr>
              <a:t>天冬氨酸</a:t>
            </a:r>
            <a:r>
              <a:rPr lang="zh-CN" altLang="en-US" sz="1400" b="0" dirty="0">
                <a:solidFill>
                  <a:srgbClr val="1F2329"/>
                </a:solidFill>
                <a:effectLst/>
                <a:latin typeface="Times New Roman" panose="02020603050405020304" charset="0"/>
                <a:ea typeface="宋体" panose="02010600030101010101" pitchFamily="2" charset="-122"/>
                <a:cs typeface="Times New Roman" panose="02020603050405020304" charset="0"/>
              </a:rPr>
              <a:t>为起点，手性中心直接来自天然手性池，无需昂贵手性配体 </a:t>
            </a:r>
            <a:r>
              <a:rPr lang="en-US" altLang="zh-CN" sz="1400" b="0" dirty="0">
                <a:solidFill>
                  <a:srgbClr val="1F2329"/>
                </a:solidFill>
                <a:effectLst/>
                <a:latin typeface="Times New Roman" panose="02020603050405020304" charset="0"/>
                <a:ea typeface="宋体" panose="02010600030101010101" pitchFamily="2" charset="-122"/>
                <a:cs typeface="Times New Roman" panose="02020603050405020304" charset="0"/>
              </a:rPr>
              <a:t>/ </a:t>
            </a:r>
            <a:r>
              <a:rPr lang="zh-CN" altLang="en-US" sz="1400" b="0" dirty="0">
                <a:solidFill>
                  <a:srgbClr val="1F2329"/>
                </a:solidFill>
                <a:effectLst/>
                <a:latin typeface="Times New Roman" panose="02020603050405020304" charset="0"/>
                <a:ea typeface="宋体" panose="02010600030101010101" pitchFamily="2" charset="-122"/>
                <a:cs typeface="Times New Roman" panose="02020603050405020304" charset="0"/>
              </a:rPr>
              <a:t>催化剂，成本低、易放大。</a:t>
            </a:r>
          </a:p>
          <a:p>
            <a:pPr algn="l">
              <a:lnSpc>
                <a:spcPct val="150000"/>
              </a:lnSpc>
              <a:buFont typeface="+mj-lt"/>
              <a:buAutoNum type="arabicPeriod"/>
            </a:pPr>
            <a:r>
              <a:rPr lang="zh-CN" altLang="en-US" sz="1400" b="1" dirty="0">
                <a:solidFill>
                  <a:srgbClr val="3333CC"/>
                </a:solidFill>
                <a:effectLst/>
                <a:latin typeface="Times New Roman" panose="02020603050405020304" charset="0"/>
                <a:ea typeface="宋体" panose="02010600030101010101" pitchFamily="2" charset="-122"/>
                <a:cs typeface="Times New Roman" panose="02020603050405020304" charset="0"/>
              </a:rPr>
              <a:t>关键步立体选择性极高</a:t>
            </a:r>
            <a:r>
              <a:rPr lang="zh-CN" altLang="en-US" sz="1400" dirty="0">
                <a:solidFill>
                  <a:srgbClr val="3333CC"/>
                </a:solidFill>
                <a:latin typeface="Times New Roman" panose="02020603050405020304" charset="0"/>
                <a:ea typeface="宋体" panose="02010600030101010101" pitchFamily="2" charset="-122"/>
                <a:cs typeface="Times New Roman" panose="02020603050405020304" charset="0"/>
              </a:rPr>
              <a:t>：</a:t>
            </a:r>
            <a:r>
              <a:rPr lang="zh-CN" altLang="en-US" sz="1400" b="0" dirty="0">
                <a:solidFill>
                  <a:srgbClr val="1F2329"/>
                </a:solidFill>
                <a:effectLst/>
                <a:latin typeface="Times New Roman" panose="02020603050405020304" charset="0"/>
                <a:ea typeface="宋体" panose="02010600030101010101" pitchFamily="2" charset="-122"/>
                <a:cs typeface="Times New Roman" panose="02020603050405020304" charset="0"/>
              </a:rPr>
              <a:t>氧化溴环化一步构建 </a:t>
            </a:r>
            <a:r>
              <a:rPr lang="en-US" altLang="zh-CN" sz="1400" b="1" dirty="0">
                <a:solidFill>
                  <a:srgbClr val="1F2329"/>
                </a:solidFill>
                <a:effectLst/>
                <a:latin typeface="Times New Roman" panose="02020603050405020304" charset="0"/>
                <a:ea typeface="宋体" panose="02010600030101010101" pitchFamily="2" charset="-122"/>
                <a:cs typeface="Times New Roman" panose="02020603050405020304" charset="0"/>
              </a:rPr>
              <a:t>syn-1</a:t>
            </a:r>
            <a:r>
              <a:rPr lang="en-US" altLang="zh-CN" sz="1400" b="1" dirty="0">
                <a:solidFill>
                  <a:srgbClr val="1F2329"/>
                </a:solidFill>
                <a:latin typeface="Times New Roman" panose="02020603050405020304" charset="0"/>
                <a:ea typeface="宋体" panose="02010600030101010101" pitchFamily="2" charset="-122"/>
                <a:cs typeface="Times New Roman" panose="02020603050405020304" charset="0"/>
              </a:rPr>
              <a:t>,</a:t>
            </a:r>
            <a:r>
              <a:rPr lang="zh-CN" altLang="en-US" sz="1400" b="1" dirty="0">
                <a:solidFill>
                  <a:srgbClr val="1F2329"/>
                </a:solidFill>
                <a:latin typeface="Times New Roman" panose="02020603050405020304" charset="0"/>
                <a:ea typeface="宋体" panose="02010600030101010101" pitchFamily="2" charset="-122"/>
                <a:cs typeface="Times New Roman" panose="02020603050405020304" charset="0"/>
              </a:rPr>
              <a:t> </a:t>
            </a:r>
            <a:r>
              <a:rPr lang="en-US" altLang="zh-CN" sz="1400" b="1" dirty="0">
                <a:solidFill>
                  <a:srgbClr val="1F2329"/>
                </a:solidFill>
                <a:effectLst/>
                <a:latin typeface="Times New Roman" panose="02020603050405020304" charset="0"/>
                <a:ea typeface="宋体" panose="02010600030101010101" pitchFamily="2" charset="-122"/>
                <a:cs typeface="Times New Roman" panose="02020603050405020304" charset="0"/>
              </a:rPr>
              <a:t>3 - </a:t>
            </a:r>
            <a:r>
              <a:rPr lang="zh-CN" altLang="en-US" sz="1400" b="1" dirty="0">
                <a:solidFill>
                  <a:srgbClr val="1F2329"/>
                </a:solidFill>
                <a:effectLst/>
                <a:latin typeface="Times New Roman" panose="02020603050405020304" charset="0"/>
                <a:ea typeface="宋体" panose="02010600030101010101" pitchFamily="2" charset="-122"/>
                <a:cs typeface="Times New Roman" panose="02020603050405020304" charset="0"/>
              </a:rPr>
              <a:t>二醇</a:t>
            </a:r>
            <a:r>
              <a:rPr lang="zh-CN" altLang="en-US" sz="1400" b="0" dirty="0">
                <a:solidFill>
                  <a:srgbClr val="1F2329"/>
                </a:solidFill>
                <a:effectLst/>
                <a:latin typeface="Times New Roman" panose="02020603050405020304" charset="0"/>
                <a:ea typeface="宋体" panose="02010600030101010101" pitchFamily="2" charset="-122"/>
                <a:cs typeface="Times New Roman" panose="02020603050405020304" charset="0"/>
              </a:rPr>
              <a:t>，最优条件 </a:t>
            </a:r>
            <a:r>
              <a:rPr lang="en-US" altLang="zh-CN" sz="1400" b="1" dirty="0">
                <a:solidFill>
                  <a:srgbClr val="1F2329"/>
                </a:solidFill>
                <a:effectLst/>
                <a:latin typeface="Times New Roman" panose="02020603050405020304" charset="0"/>
                <a:ea typeface="宋体" panose="02010600030101010101" pitchFamily="2" charset="-122"/>
                <a:cs typeface="Times New Roman" panose="02020603050405020304" charset="0"/>
              </a:rPr>
              <a:t>dr &gt; 99:1</a:t>
            </a:r>
            <a:r>
              <a:rPr lang="zh-CN" altLang="en-US" sz="1400" b="0" dirty="0">
                <a:solidFill>
                  <a:srgbClr val="1F2329"/>
                </a:solidFill>
                <a:effectLst/>
                <a:latin typeface="Times New Roman" panose="02020603050405020304" charset="0"/>
                <a:ea typeface="宋体" panose="02010600030101010101" pitchFamily="2" charset="-122"/>
                <a:cs typeface="Times New Roman" panose="02020603050405020304" charset="0"/>
              </a:rPr>
              <a:t>，几乎无差向异构体，产物纯度高，简化后续纯化。</a:t>
            </a:r>
          </a:p>
          <a:p>
            <a:pPr algn="l">
              <a:lnSpc>
                <a:spcPct val="150000"/>
              </a:lnSpc>
              <a:buFont typeface="+mj-lt"/>
              <a:buAutoNum type="arabicPeriod"/>
            </a:pPr>
            <a:r>
              <a:rPr lang="zh-CN" altLang="en-US" sz="1400" b="1" dirty="0">
                <a:solidFill>
                  <a:srgbClr val="3333CC"/>
                </a:solidFill>
                <a:effectLst/>
                <a:latin typeface="Times New Roman" panose="02020603050405020304" charset="0"/>
                <a:ea typeface="宋体" panose="02010600030101010101" pitchFamily="2" charset="-122"/>
                <a:cs typeface="Times New Roman" panose="02020603050405020304" charset="0"/>
              </a:rPr>
              <a:t>规避传统路线的高危 </a:t>
            </a:r>
            <a:r>
              <a:rPr lang="en-US" altLang="zh-CN" sz="1400" b="1" dirty="0">
                <a:solidFill>
                  <a:srgbClr val="3333CC"/>
                </a:solidFill>
                <a:effectLst/>
                <a:latin typeface="Times New Roman" panose="02020603050405020304" charset="0"/>
                <a:ea typeface="宋体" panose="02010600030101010101" pitchFamily="2" charset="-122"/>
                <a:cs typeface="Times New Roman" panose="02020603050405020304" charset="0"/>
              </a:rPr>
              <a:t>/ </a:t>
            </a:r>
            <a:r>
              <a:rPr lang="zh-CN" altLang="en-US" sz="1400" b="1" dirty="0">
                <a:solidFill>
                  <a:srgbClr val="3333CC"/>
                </a:solidFill>
                <a:effectLst/>
                <a:latin typeface="Times New Roman" panose="02020603050405020304" charset="0"/>
                <a:ea typeface="宋体" panose="02010600030101010101" pitchFamily="2" charset="-122"/>
                <a:cs typeface="Times New Roman" panose="02020603050405020304" charset="0"/>
              </a:rPr>
              <a:t>低温条件：</a:t>
            </a:r>
            <a:r>
              <a:rPr lang="zh-CN" altLang="en-US" sz="1400" b="0" dirty="0">
                <a:solidFill>
                  <a:srgbClr val="1F2329"/>
                </a:solidFill>
                <a:effectLst/>
                <a:latin typeface="Times New Roman" panose="02020603050405020304" charset="0"/>
                <a:ea typeface="宋体" panose="02010600030101010101" pitchFamily="2" charset="-122"/>
                <a:cs typeface="Times New Roman" panose="02020603050405020304" charset="0"/>
              </a:rPr>
              <a:t>不使用 </a:t>
            </a:r>
            <a:r>
              <a:rPr lang="en-US" altLang="zh-CN" sz="1400" b="1" dirty="0" err="1">
                <a:solidFill>
                  <a:srgbClr val="1F2329"/>
                </a:solidFill>
                <a:effectLst/>
                <a:latin typeface="Times New Roman" panose="02020603050405020304" charset="0"/>
                <a:ea typeface="宋体" panose="02010600030101010101" pitchFamily="2" charset="-122"/>
                <a:cs typeface="Times New Roman" panose="02020603050405020304" charset="0"/>
              </a:rPr>
              <a:t>Narasaka</a:t>
            </a:r>
            <a:r>
              <a:rPr lang="en-US" altLang="zh-CN" sz="1400" b="1" dirty="0">
                <a:solidFill>
                  <a:srgbClr val="1F2329"/>
                </a:solidFill>
                <a:effectLst/>
                <a:latin typeface="Times New Roman" panose="02020603050405020304" charset="0"/>
                <a:ea typeface="宋体" panose="02010600030101010101" pitchFamily="2" charset="-122"/>
                <a:cs typeface="Times New Roman" panose="02020603050405020304" charset="0"/>
              </a:rPr>
              <a:t> - Prasad </a:t>
            </a:r>
            <a:r>
              <a:rPr lang="zh-CN" altLang="en-US" sz="1400" b="1" dirty="0">
                <a:solidFill>
                  <a:srgbClr val="1F2329"/>
                </a:solidFill>
                <a:effectLst/>
                <a:latin typeface="Times New Roman" panose="02020603050405020304" charset="0"/>
                <a:ea typeface="宋体" panose="02010600030101010101" pitchFamily="2" charset="-122"/>
                <a:cs typeface="Times New Roman" panose="02020603050405020304" charset="0"/>
              </a:rPr>
              <a:t>还原</a:t>
            </a:r>
            <a:r>
              <a:rPr lang="zh-CN" altLang="en-US" sz="1400" b="0" dirty="0">
                <a:solidFill>
                  <a:srgbClr val="1F2329"/>
                </a:solidFill>
                <a:effectLst/>
                <a:latin typeface="Times New Roman" panose="02020603050405020304" charset="0"/>
                <a:ea typeface="宋体" panose="02010600030101010101" pitchFamily="2" charset="-122"/>
                <a:cs typeface="Times New Roman" panose="02020603050405020304" charset="0"/>
              </a:rPr>
              <a:t>所需的</a:t>
            </a:r>
            <a:r>
              <a:rPr lang="zh-CN" altLang="en-US" sz="1400" b="1" dirty="0">
                <a:solidFill>
                  <a:srgbClr val="1F2329"/>
                </a:solidFill>
                <a:effectLst/>
                <a:latin typeface="Times New Roman" panose="02020603050405020304" charset="0"/>
                <a:ea typeface="宋体" panose="02010600030101010101" pitchFamily="2" charset="-122"/>
                <a:cs typeface="Times New Roman" panose="02020603050405020304" charset="0"/>
              </a:rPr>
              <a:t>二乙基甲硼烷</a:t>
            </a:r>
            <a:r>
              <a:rPr lang="zh-CN" altLang="en-US" sz="1400" b="0" dirty="0">
                <a:solidFill>
                  <a:srgbClr val="1F2329"/>
                </a:solidFill>
                <a:effectLst/>
                <a:latin typeface="Times New Roman" panose="02020603050405020304" charset="0"/>
                <a:ea typeface="宋体" panose="02010600030101010101" pitchFamily="2" charset="-122"/>
                <a:cs typeface="Times New Roman" panose="02020603050405020304" charset="0"/>
              </a:rPr>
              <a:t>、</a:t>
            </a:r>
            <a:r>
              <a:rPr lang="zh-CN" altLang="en-US" sz="1400" b="1" dirty="0">
                <a:solidFill>
                  <a:srgbClr val="1F2329"/>
                </a:solidFill>
                <a:effectLst/>
                <a:latin typeface="Times New Roman" panose="02020603050405020304" charset="0"/>
                <a:ea typeface="宋体" panose="02010600030101010101" pitchFamily="2" charset="-122"/>
                <a:cs typeface="Times New Roman" panose="02020603050405020304" charset="0"/>
              </a:rPr>
              <a:t>超低温 </a:t>
            </a:r>
            <a:r>
              <a:rPr lang="en-US" altLang="zh-CN" sz="1400" b="1" dirty="0">
                <a:solidFill>
                  <a:srgbClr val="1F2329"/>
                </a:solidFill>
                <a:effectLst/>
                <a:latin typeface="Times New Roman" panose="02020603050405020304" charset="0"/>
                <a:ea typeface="宋体" panose="02010600030101010101" pitchFamily="2" charset="-122"/>
                <a:cs typeface="Times New Roman" panose="02020603050405020304" charset="0"/>
              </a:rPr>
              <a:t>(-78℃) </a:t>
            </a:r>
            <a:r>
              <a:rPr lang="zh-CN" altLang="en-US" sz="1400" b="0" dirty="0">
                <a:solidFill>
                  <a:srgbClr val="1F2329"/>
                </a:solidFill>
                <a:effectLst/>
                <a:latin typeface="Times New Roman" panose="02020603050405020304" charset="0"/>
                <a:ea typeface="宋体" panose="02010600030101010101" pitchFamily="2" charset="-122"/>
                <a:cs typeface="Times New Roman" panose="02020603050405020304" charset="0"/>
              </a:rPr>
              <a:t>，反应条件更温和、安全，适合工业化。</a:t>
            </a:r>
          </a:p>
          <a:p>
            <a:pPr algn="l">
              <a:lnSpc>
                <a:spcPct val="150000"/>
              </a:lnSpc>
              <a:buFont typeface="+mj-lt"/>
              <a:buAutoNum type="arabicPeriod"/>
            </a:pPr>
            <a:r>
              <a:rPr lang="zh-CN" altLang="en-US" sz="1400" b="1" dirty="0">
                <a:solidFill>
                  <a:srgbClr val="3333CC"/>
                </a:solidFill>
                <a:effectLst/>
                <a:latin typeface="Times New Roman" panose="02020603050405020304" charset="0"/>
                <a:ea typeface="宋体" panose="02010600030101010101" pitchFamily="2" charset="-122"/>
                <a:cs typeface="Times New Roman" panose="02020603050405020304" charset="0"/>
              </a:rPr>
              <a:t>避免高毒分子溴与高成本卤化试剂</a:t>
            </a:r>
            <a:r>
              <a:rPr lang="zh-CN" altLang="en-US" sz="1400" dirty="0">
                <a:solidFill>
                  <a:srgbClr val="3333CC"/>
                </a:solidFill>
                <a:latin typeface="Times New Roman" panose="02020603050405020304" charset="0"/>
                <a:ea typeface="宋体" panose="02010600030101010101" pitchFamily="2" charset="-122"/>
                <a:cs typeface="Times New Roman" panose="02020603050405020304" charset="0"/>
              </a:rPr>
              <a:t>：</a:t>
            </a:r>
            <a:r>
              <a:rPr lang="zh-CN" altLang="en-US" sz="1400" b="0" dirty="0">
                <a:solidFill>
                  <a:srgbClr val="1F2329"/>
                </a:solidFill>
                <a:effectLst/>
                <a:latin typeface="Times New Roman" panose="02020603050405020304" charset="0"/>
                <a:ea typeface="宋体" panose="02010600030101010101" pitchFamily="2" charset="-122"/>
                <a:cs typeface="Times New Roman" panose="02020603050405020304" charset="0"/>
              </a:rPr>
              <a:t>采用</a:t>
            </a:r>
            <a:r>
              <a:rPr lang="en-US" altLang="zh-CN" sz="1400" b="1" dirty="0">
                <a:solidFill>
                  <a:srgbClr val="1F2329"/>
                </a:solidFill>
                <a:effectLst/>
                <a:latin typeface="Times New Roman" panose="02020603050405020304" charset="0"/>
                <a:ea typeface="宋体" panose="02010600030101010101" pitchFamily="2" charset="-122"/>
                <a:cs typeface="Times New Roman" panose="02020603050405020304" charset="0"/>
              </a:rPr>
              <a:t>KBr + Oxone</a:t>
            </a:r>
            <a:r>
              <a:rPr lang="zh-CN" altLang="en-US" sz="1400" b="0" dirty="0">
                <a:solidFill>
                  <a:srgbClr val="1F2329"/>
                </a:solidFill>
                <a:effectLst/>
                <a:latin typeface="Times New Roman" panose="02020603050405020304" charset="0"/>
                <a:ea typeface="宋体" panose="02010600030101010101" pitchFamily="2" charset="-122"/>
                <a:cs typeface="Times New Roman" panose="02020603050405020304" charset="0"/>
              </a:rPr>
              <a:t>原位生成活性溴，替代 </a:t>
            </a:r>
            <a:r>
              <a:rPr lang="en-US" altLang="zh-CN" sz="1400" b="1" dirty="0">
                <a:solidFill>
                  <a:srgbClr val="1F2329"/>
                </a:solidFill>
                <a:effectLst/>
                <a:latin typeface="Times New Roman" panose="02020603050405020304" charset="0"/>
                <a:ea typeface="宋体" panose="02010600030101010101" pitchFamily="2" charset="-122"/>
                <a:cs typeface="Times New Roman" panose="02020603050405020304" charset="0"/>
              </a:rPr>
              <a:t>Br₂</a:t>
            </a:r>
            <a:r>
              <a:rPr lang="zh-CN" altLang="en-US" sz="1400" b="1" dirty="0">
                <a:solidFill>
                  <a:srgbClr val="1F2329"/>
                </a:solidFill>
                <a:effectLst/>
                <a:latin typeface="Times New Roman" panose="02020603050405020304" charset="0"/>
                <a:ea typeface="宋体" panose="02010600030101010101" pitchFamily="2" charset="-122"/>
                <a:cs typeface="Times New Roman" panose="02020603050405020304" charset="0"/>
              </a:rPr>
              <a:t>、</a:t>
            </a:r>
            <a:r>
              <a:rPr lang="en-US" altLang="zh-CN" sz="1400" b="1" dirty="0" err="1">
                <a:solidFill>
                  <a:srgbClr val="1F2329"/>
                </a:solidFill>
                <a:effectLst/>
                <a:latin typeface="Times New Roman" panose="02020603050405020304" charset="0"/>
                <a:ea typeface="宋体" panose="02010600030101010101" pitchFamily="2" charset="-122"/>
                <a:cs typeface="Times New Roman" panose="02020603050405020304" charset="0"/>
              </a:rPr>
              <a:t>IBr</a:t>
            </a:r>
            <a:r>
              <a:rPr lang="zh-CN" altLang="en-US" sz="1400" b="1" dirty="0">
                <a:solidFill>
                  <a:srgbClr val="1F2329"/>
                </a:solidFill>
                <a:effectLst/>
                <a:latin typeface="Times New Roman" panose="02020603050405020304" charset="0"/>
                <a:ea typeface="宋体" panose="02010600030101010101" pitchFamily="2" charset="-122"/>
                <a:cs typeface="Times New Roman" panose="02020603050405020304" charset="0"/>
              </a:rPr>
              <a:t>、</a:t>
            </a:r>
            <a:r>
              <a:rPr lang="en-US" altLang="zh-CN" sz="1400" b="1" dirty="0" err="1">
                <a:solidFill>
                  <a:srgbClr val="1F2329"/>
                </a:solidFill>
                <a:effectLst/>
                <a:latin typeface="Times New Roman" panose="02020603050405020304" charset="0"/>
                <a:ea typeface="宋体" panose="02010600030101010101" pitchFamily="2" charset="-122"/>
                <a:cs typeface="Times New Roman" panose="02020603050405020304" charset="0"/>
              </a:rPr>
              <a:t>ICl</a:t>
            </a:r>
            <a:r>
              <a:rPr lang="zh-CN" altLang="en-US" sz="1400" b="0" dirty="0">
                <a:solidFill>
                  <a:srgbClr val="1F2329"/>
                </a:solidFill>
                <a:effectLst/>
                <a:latin typeface="Times New Roman" panose="02020603050405020304" charset="0"/>
                <a:ea typeface="宋体" panose="02010600030101010101" pitchFamily="2" charset="-122"/>
                <a:cs typeface="Times New Roman" panose="02020603050405020304" charset="0"/>
              </a:rPr>
              <a:t>，毒性与腐蚀性显著降低，三废更少。</a:t>
            </a:r>
          </a:p>
          <a:p>
            <a:pPr algn="l">
              <a:lnSpc>
                <a:spcPct val="150000"/>
              </a:lnSpc>
              <a:buFont typeface="+mj-lt"/>
              <a:buAutoNum type="arabicPeriod"/>
            </a:pPr>
            <a:r>
              <a:rPr lang="zh-CN" altLang="en-US" sz="1400" b="1" dirty="0">
                <a:solidFill>
                  <a:srgbClr val="3333CC"/>
                </a:solidFill>
                <a:effectLst/>
                <a:latin typeface="Times New Roman" panose="02020603050405020304" charset="0"/>
                <a:ea typeface="宋体" panose="02010600030101010101" pitchFamily="2" charset="-122"/>
                <a:cs typeface="Times New Roman" panose="02020603050405020304" charset="0"/>
              </a:rPr>
              <a:t>原子经济性与步骤效率提升</a:t>
            </a:r>
            <a:r>
              <a:rPr lang="zh-CN" altLang="en-US" sz="1400" dirty="0">
                <a:solidFill>
                  <a:srgbClr val="1F2329"/>
                </a:solidFill>
                <a:latin typeface="Times New Roman" panose="02020603050405020304" charset="0"/>
                <a:ea typeface="宋体" panose="02010600030101010101" pitchFamily="2" charset="-122"/>
                <a:cs typeface="Times New Roman" panose="02020603050405020304" charset="0"/>
              </a:rPr>
              <a:t>：</a:t>
            </a:r>
            <a:r>
              <a:rPr lang="zh-CN" altLang="en-US" sz="1400" b="0" dirty="0">
                <a:solidFill>
                  <a:srgbClr val="1F2329"/>
                </a:solidFill>
                <a:effectLst/>
                <a:latin typeface="Times New Roman" panose="02020603050405020304" charset="0"/>
                <a:ea typeface="宋体" panose="02010600030101010101" pitchFamily="2" charset="-122"/>
                <a:cs typeface="Times New Roman" panose="02020603050405020304" charset="0"/>
              </a:rPr>
              <a:t>溴环化同步引入</a:t>
            </a:r>
            <a:r>
              <a:rPr lang="zh-CN" altLang="en-US" sz="1400" b="1" dirty="0">
                <a:solidFill>
                  <a:srgbClr val="1F2329"/>
                </a:solidFill>
                <a:effectLst/>
                <a:latin typeface="Times New Roman" panose="02020603050405020304" charset="0"/>
                <a:ea typeface="宋体" panose="02010600030101010101" pitchFamily="2" charset="-122"/>
                <a:cs typeface="Times New Roman" panose="02020603050405020304" charset="0"/>
              </a:rPr>
              <a:t>溴甲基</a:t>
            </a:r>
            <a:r>
              <a:rPr lang="zh-CN" altLang="en-US" sz="1400" b="0" dirty="0">
                <a:solidFill>
                  <a:srgbClr val="1F2329"/>
                </a:solidFill>
                <a:effectLst/>
                <a:latin typeface="Times New Roman" panose="02020603050405020304" charset="0"/>
                <a:ea typeface="宋体" panose="02010600030101010101" pitchFamily="2" charset="-122"/>
                <a:cs typeface="Times New Roman" panose="02020603050405020304" charset="0"/>
              </a:rPr>
              <a:t>，可直接用于侧链延伸，无需额外官能团转化；整体路线线性合理，后期 </a:t>
            </a:r>
            <a:r>
              <a:rPr lang="en-US" altLang="zh-CN" sz="1400" b="0" dirty="0">
                <a:solidFill>
                  <a:srgbClr val="1F2329"/>
                </a:solidFill>
                <a:effectLst/>
                <a:latin typeface="Times New Roman" panose="02020603050405020304" charset="0"/>
                <a:ea typeface="宋体" panose="02010600030101010101" pitchFamily="2" charset="-122"/>
                <a:cs typeface="Times New Roman" panose="02020603050405020304" charset="0"/>
              </a:rPr>
              <a:t>Paal-Knorr </a:t>
            </a:r>
            <a:r>
              <a:rPr lang="zh-CN" altLang="en-US" sz="1400" b="0" dirty="0">
                <a:solidFill>
                  <a:srgbClr val="1F2329"/>
                </a:solidFill>
                <a:effectLst/>
                <a:latin typeface="Times New Roman" panose="02020603050405020304" charset="0"/>
                <a:ea typeface="宋体" panose="02010600030101010101" pitchFamily="2" charset="-122"/>
                <a:cs typeface="Times New Roman" panose="02020603050405020304" charset="0"/>
              </a:rPr>
              <a:t>缩合高效。</a:t>
            </a:r>
          </a:p>
          <a:p>
            <a:pPr algn="l">
              <a:lnSpc>
                <a:spcPct val="150000"/>
              </a:lnSpc>
              <a:buFont typeface="+mj-lt"/>
              <a:buAutoNum type="arabicPeriod"/>
            </a:pPr>
            <a:r>
              <a:rPr lang="zh-CN" altLang="en-US" sz="1400" b="1" dirty="0">
                <a:solidFill>
                  <a:srgbClr val="3333CC"/>
                </a:solidFill>
                <a:effectLst/>
                <a:latin typeface="Times New Roman" panose="02020603050405020304" charset="0"/>
                <a:ea typeface="宋体" panose="02010600030101010101" pitchFamily="2" charset="-122"/>
                <a:cs typeface="Times New Roman" panose="02020603050405020304" charset="0"/>
              </a:rPr>
              <a:t>普适性强：</a:t>
            </a:r>
            <a:r>
              <a:rPr lang="zh-CN" altLang="en-US" sz="1400" b="0" dirty="0">
                <a:solidFill>
                  <a:srgbClr val="1F2329"/>
                </a:solidFill>
                <a:effectLst/>
                <a:latin typeface="Times New Roman" panose="02020603050405020304" charset="0"/>
                <a:ea typeface="宋体" panose="02010600030101010101" pitchFamily="2" charset="-122"/>
                <a:cs typeface="Times New Roman" panose="02020603050405020304" charset="0"/>
              </a:rPr>
              <a:t>该溴环化策略可拓展至</a:t>
            </a:r>
            <a:r>
              <a:rPr lang="zh-CN" altLang="en-US" sz="1400" b="1" dirty="0">
                <a:solidFill>
                  <a:srgbClr val="1F2329"/>
                </a:solidFill>
                <a:effectLst/>
                <a:latin typeface="Times New Roman" panose="02020603050405020304" charset="0"/>
                <a:ea typeface="宋体" panose="02010600030101010101" pitchFamily="2" charset="-122"/>
                <a:cs typeface="Times New Roman" panose="02020603050405020304" charset="0"/>
              </a:rPr>
              <a:t>瑞舒伐他汀、匹伐他汀</a:t>
            </a:r>
            <a:r>
              <a:rPr lang="zh-CN" altLang="en-US" sz="1400" b="0" dirty="0">
                <a:solidFill>
                  <a:srgbClr val="1F2329"/>
                </a:solidFill>
                <a:effectLst/>
                <a:latin typeface="Times New Roman" panose="02020603050405020304" charset="0"/>
                <a:ea typeface="宋体" panose="02010600030101010101" pitchFamily="2" charset="-122"/>
                <a:cs typeface="Times New Roman" panose="02020603050405020304" charset="0"/>
              </a:rPr>
              <a:t>等含 </a:t>
            </a:r>
            <a:r>
              <a:rPr lang="en-US" altLang="zh-CN" sz="1400" b="0" dirty="0">
                <a:solidFill>
                  <a:srgbClr val="1F2329"/>
                </a:solidFill>
                <a:effectLst/>
                <a:latin typeface="Times New Roman" panose="02020603050405020304" charset="0"/>
                <a:ea typeface="宋体" panose="02010600030101010101" pitchFamily="2" charset="-122"/>
                <a:cs typeface="Times New Roman" panose="02020603050405020304" charset="0"/>
              </a:rPr>
              <a:t>syn-1,3 - </a:t>
            </a:r>
            <a:r>
              <a:rPr lang="zh-CN" altLang="en-US" sz="1400" b="0" dirty="0">
                <a:solidFill>
                  <a:srgbClr val="1F2329"/>
                </a:solidFill>
                <a:effectLst/>
                <a:latin typeface="Times New Roman" panose="02020603050405020304" charset="0"/>
                <a:ea typeface="宋体" panose="02010600030101010101" pitchFamily="2" charset="-122"/>
                <a:cs typeface="Times New Roman" panose="02020603050405020304" charset="0"/>
              </a:rPr>
              <a:t>二醇的他汀类药物，应用面广。</a:t>
            </a:r>
            <a:endParaRPr lang="en-US" altLang="zh-CN" sz="1400" b="0" dirty="0">
              <a:solidFill>
                <a:srgbClr val="1F2329"/>
              </a:solidFill>
              <a:effectLst/>
              <a:latin typeface="Times New Roman" panose="02020603050405020304" charset="0"/>
              <a:ea typeface="宋体" panose="02010600030101010101" pitchFamily="2" charset="-122"/>
              <a:cs typeface="Times New Roman" panose="02020603050405020304" charset="0"/>
            </a:endParaRPr>
          </a:p>
        </p:txBody>
      </p:sp>
      <p:sp>
        <p:nvSpPr>
          <p:cNvPr id="12" name="文本框 11"/>
          <p:cNvSpPr txBox="1"/>
          <p:nvPr/>
        </p:nvSpPr>
        <p:spPr>
          <a:xfrm>
            <a:off x="258265" y="3764965"/>
            <a:ext cx="11775517" cy="2959977"/>
          </a:xfrm>
          <a:prstGeom prst="rect">
            <a:avLst/>
          </a:prstGeom>
          <a:noFill/>
        </p:spPr>
        <p:txBody>
          <a:bodyPr wrap="square">
            <a:spAutoFit/>
          </a:bodyPr>
          <a:lstStyle>
            <a:defPPr>
              <a:defRPr lang="zh-CN"/>
            </a:defPPr>
            <a:lvl1pPr>
              <a:lnSpc>
                <a:spcPct val="125000"/>
              </a:lnSpc>
              <a:buNone/>
              <a:defRPr sz="1400" b="0">
                <a:solidFill>
                  <a:srgbClr val="1F2329"/>
                </a:solidFill>
                <a:effectLst/>
                <a:latin typeface="Times New Roman" panose="02020603050405020304" charset="0"/>
                <a:ea typeface="宋体" panose="02010600030101010101" pitchFamily="2" charset="-122"/>
                <a:cs typeface="Times New Roman" panose="02020603050405020304" charset="0"/>
              </a:defRPr>
            </a:lvl1pPr>
          </a:lstStyle>
          <a:p>
            <a:pPr>
              <a:lnSpc>
                <a:spcPct val="150000"/>
              </a:lnSpc>
            </a:pPr>
            <a:r>
              <a:rPr lang="en-US" altLang="zh-CN" b="1" dirty="0">
                <a:solidFill>
                  <a:srgbClr val="3333CC"/>
                </a:solidFill>
              </a:rPr>
              <a:t>1. </a:t>
            </a:r>
            <a:r>
              <a:rPr lang="zh-CN" altLang="en-US" b="1" dirty="0">
                <a:solidFill>
                  <a:srgbClr val="3333CC"/>
                </a:solidFill>
              </a:rPr>
              <a:t>步骤更长、保护基太多，工业成本极高：</a:t>
            </a:r>
            <a:r>
              <a:rPr lang="zh-CN" altLang="en-US" dirty="0"/>
              <a:t>保护 </a:t>
            </a:r>
            <a:r>
              <a:rPr lang="en-US" altLang="zh-CN" dirty="0"/>
              <a:t>/ </a:t>
            </a:r>
            <a:r>
              <a:rPr lang="zh-CN" altLang="en-US" dirty="0"/>
              <a:t>脱保护多达 </a:t>
            </a:r>
            <a:r>
              <a:rPr lang="en-US" altLang="zh-CN" dirty="0"/>
              <a:t>4 </a:t>
            </a:r>
            <a:r>
              <a:rPr lang="zh-CN" altLang="en-US" dirty="0"/>
              <a:t>轮（苄基、丙酮叉、碳酸酯、磺酰酯），原子经济性差。</a:t>
            </a:r>
          </a:p>
          <a:p>
            <a:pPr>
              <a:lnSpc>
                <a:spcPct val="150000"/>
              </a:lnSpc>
            </a:pPr>
            <a:r>
              <a:rPr lang="en-US" altLang="zh-CN" b="1" dirty="0">
                <a:solidFill>
                  <a:srgbClr val="3333CC"/>
                </a:solidFill>
              </a:rPr>
              <a:t>2. </a:t>
            </a:r>
            <a:r>
              <a:rPr lang="zh-CN" altLang="en-US" b="1" dirty="0">
                <a:solidFill>
                  <a:srgbClr val="3333CC"/>
                </a:solidFill>
              </a:rPr>
              <a:t>关键溴环化仍有副产物，纯化难度大：</a:t>
            </a:r>
            <a:r>
              <a:rPr lang="zh-CN" altLang="en-US" dirty="0"/>
              <a:t>副产物结构相似，工业结晶难分离，影响 </a:t>
            </a:r>
            <a:r>
              <a:rPr lang="en-US" altLang="zh-CN" dirty="0"/>
              <a:t>API </a:t>
            </a:r>
            <a:r>
              <a:rPr lang="zh-CN" altLang="en-US" dirty="0"/>
              <a:t>纯度。</a:t>
            </a:r>
          </a:p>
          <a:p>
            <a:pPr>
              <a:lnSpc>
                <a:spcPct val="150000"/>
              </a:lnSpc>
            </a:pPr>
            <a:r>
              <a:rPr lang="en-US" altLang="zh-CN" b="1" dirty="0">
                <a:solidFill>
                  <a:srgbClr val="3333CC"/>
                </a:solidFill>
              </a:rPr>
              <a:t>3. </a:t>
            </a:r>
            <a:r>
              <a:rPr lang="zh-CN" altLang="en-US" b="1" dirty="0">
                <a:solidFill>
                  <a:srgbClr val="3333CC"/>
                </a:solidFill>
              </a:rPr>
              <a:t>氰基化步骤效率低、条件苛刻：</a:t>
            </a:r>
            <a:r>
              <a:rPr lang="zh-CN" altLang="en-US" dirty="0"/>
              <a:t>路线冗余、放大风险高、收率损失大。</a:t>
            </a:r>
          </a:p>
          <a:p>
            <a:pPr>
              <a:lnSpc>
                <a:spcPct val="150000"/>
              </a:lnSpc>
            </a:pPr>
            <a:r>
              <a:rPr lang="en-US" altLang="zh-CN" b="1" dirty="0">
                <a:solidFill>
                  <a:srgbClr val="3333CC"/>
                </a:solidFill>
              </a:rPr>
              <a:t>4. </a:t>
            </a:r>
            <a:r>
              <a:rPr lang="zh-CN" altLang="en-US" b="1" dirty="0">
                <a:solidFill>
                  <a:srgbClr val="3333CC"/>
                </a:solidFill>
              </a:rPr>
              <a:t>氰基还原用 </a:t>
            </a:r>
            <a:r>
              <a:rPr lang="en-US" altLang="zh-CN" b="1" dirty="0">
                <a:solidFill>
                  <a:srgbClr val="3333CC"/>
                </a:solidFill>
              </a:rPr>
              <a:t>Raney Ni + KBH₄</a:t>
            </a:r>
            <a:r>
              <a:rPr lang="zh-CN" altLang="en-US" b="1" dirty="0">
                <a:solidFill>
                  <a:srgbClr val="3333CC"/>
                </a:solidFill>
              </a:rPr>
              <a:t>，工业极不安全：</a:t>
            </a:r>
            <a:r>
              <a:rPr lang="en-US" altLang="zh-CN" dirty="0"/>
              <a:t>Raney Ni </a:t>
            </a:r>
            <a:r>
              <a:rPr lang="zh-CN" altLang="en-US" dirty="0"/>
              <a:t>易燃易爆；</a:t>
            </a:r>
            <a:r>
              <a:rPr lang="en-US" altLang="zh-CN" dirty="0"/>
              <a:t>KBH₄ </a:t>
            </a:r>
            <a:r>
              <a:rPr lang="zh-CN" altLang="en-US" dirty="0"/>
              <a:t>遇水放热、强腐蚀，工业严禁大规模使用。</a:t>
            </a:r>
          </a:p>
          <a:p>
            <a:pPr>
              <a:lnSpc>
                <a:spcPct val="150000"/>
              </a:lnSpc>
            </a:pPr>
            <a:r>
              <a:rPr lang="en-US" altLang="zh-CN" b="1" dirty="0">
                <a:solidFill>
                  <a:srgbClr val="3333CC"/>
                </a:solidFill>
              </a:rPr>
              <a:t>5. </a:t>
            </a:r>
            <a:r>
              <a:rPr lang="zh-CN" altLang="en-US" b="1" dirty="0">
                <a:solidFill>
                  <a:srgbClr val="3333CC"/>
                </a:solidFill>
              </a:rPr>
              <a:t>反应时间过长，不适合工业化生产</a:t>
            </a:r>
            <a:r>
              <a:rPr lang="zh-CN" altLang="en-US" dirty="0"/>
              <a:t>，设备周转率极低、产能上不去、成本爆炸。</a:t>
            </a:r>
          </a:p>
          <a:p>
            <a:pPr>
              <a:lnSpc>
                <a:spcPct val="150000"/>
              </a:lnSpc>
            </a:pPr>
            <a:r>
              <a:rPr lang="en-US" altLang="zh-CN" b="1" dirty="0">
                <a:solidFill>
                  <a:srgbClr val="3333CC"/>
                </a:solidFill>
              </a:rPr>
              <a:t>6. </a:t>
            </a:r>
            <a:r>
              <a:rPr lang="zh-CN" altLang="en-US" b="1" dirty="0">
                <a:solidFill>
                  <a:srgbClr val="3333CC"/>
                </a:solidFill>
              </a:rPr>
              <a:t>试剂昂贵，</a:t>
            </a:r>
            <a:r>
              <a:rPr lang="zh-CN" altLang="en-US" dirty="0"/>
              <a:t>不适合大宗生产。</a:t>
            </a:r>
            <a:endParaRPr lang="en-US" altLang="zh-CN" dirty="0"/>
          </a:p>
          <a:p>
            <a:pPr>
              <a:lnSpc>
                <a:spcPct val="150000"/>
              </a:lnSpc>
            </a:pPr>
            <a:r>
              <a:rPr lang="en-US" altLang="zh-CN" b="1" dirty="0">
                <a:solidFill>
                  <a:srgbClr val="3333CC"/>
                </a:solidFill>
              </a:rPr>
              <a:t>7. </a:t>
            </a:r>
            <a:r>
              <a:rPr lang="zh-CN" altLang="en-US" b="1" dirty="0">
                <a:solidFill>
                  <a:srgbClr val="3333CC"/>
                </a:solidFill>
              </a:rPr>
              <a:t>手性来源不占优势：</a:t>
            </a:r>
            <a:r>
              <a:rPr lang="en-US" altLang="zh-CN" dirty="0"/>
              <a:t>D - </a:t>
            </a:r>
            <a:r>
              <a:rPr lang="zh-CN" altLang="en-US" dirty="0"/>
              <a:t>天冬氨酸起步，手性传递长，容易消旋 </a:t>
            </a:r>
            <a:r>
              <a:rPr lang="en-US" altLang="zh-CN" dirty="0"/>
              <a:t>/ </a:t>
            </a:r>
            <a:r>
              <a:rPr lang="zh-CN" altLang="en-US" dirty="0"/>
              <a:t>差向异构；工业上采用酶法、不对称还原一步定型，</a:t>
            </a:r>
            <a:r>
              <a:rPr lang="en-US" altLang="zh-CN" dirty="0"/>
              <a:t>ee &gt; 99.5%</a:t>
            </a:r>
          </a:p>
          <a:p>
            <a:pPr>
              <a:lnSpc>
                <a:spcPct val="150000"/>
              </a:lnSpc>
            </a:pPr>
            <a:r>
              <a:rPr lang="en-US" altLang="zh-CN" b="1" dirty="0">
                <a:solidFill>
                  <a:srgbClr val="3333CC"/>
                </a:solidFill>
              </a:rPr>
              <a:t>8. </a:t>
            </a:r>
            <a:r>
              <a:rPr lang="zh-CN" altLang="en-US" b="1" dirty="0">
                <a:solidFill>
                  <a:srgbClr val="3333CC"/>
                </a:solidFill>
              </a:rPr>
              <a:t>纯化复杂：</a:t>
            </a:r>
            <a:r>
              <a:rPr lang="zh-CN" altLang="en-US" dirty="0"/>
              <a:t>后处理高度依赖柱层析，工业不可能用。</a:t>
            </a:r>
          </a:p>
          <a:p>
            <a:pPr>
              <a:lnSpc>
                <a:spcPct val="150000"/>
              </a:lnSpc>
            </a:pPr>
            <a:r>
              <a:rPr lang="en-US" altLang="zh-CN" b="1" dirty="0">
                <a:solidFill>
                  <a:srgbClr val="3333CC"/>
                </a:solidFill>
              </a:rPr>
              <a:t>9. </a:t>
            </a:r>
            <a:r>
              <a:rPr lang="zh-CN" altLang="en-US" b="1" dirty="0">
                <a:solidFill>
                  <a:srgbClr val="3333CC"/>
                </a:solidFill>
              </a:rPr>
              <a:t>整体总收率低</a:t>
            </a:r>
            <a:r>
              <a:rPr lang="zh-CN" altLang="en-US" dirty="0"/>
              <a:t>，工业无经济性。</a:t>
            </a:r>
          </a:p>
        </p:txBody>
      </p:sp>
      <p:sp>
        <p:nvSpPr>
          <p:cNvPr id="14" name="文本框 13"/>
          <p:cNvSpPr txBox="1"/>
          <p:nvPr/>
        </p:nvSpPr>
        <p:spPr>
          <a:xfrm>
            <a:off x="258265" y="3429000"/>
            <a:ext cx="6097162" cy="369332"/>
          </a:xfrm>
          <a:prstGeom prst="rect">
            <a:avLst/>
          </a:prstGeom>
          <a:noFill/>
        </p:spPr>
        <p:txBody>
          <a:bodyPr wrap="square">
            <a:spAutoFit/>
          </a:bodyPr>
          <a:lstStyle/>
          <a:p>
            <a:r>
              <a:rPr lang="zh-CN" altLang="en-US" b="1" dirty="0">
                <a:solidFill>
                  <a:srgbClr val="FF0000"/>
                </a:solidFill>
                <a:latin typeface="宋体" panose="02010600030101010101" pitchFamily="2" charset="-122"/>
                <a:ea typeface="宋体" panose="02010600030101010101" pitchFamily="2" charset="-122"/>
              </a:rPr>
              <a:t>和当前工业化主流路线相比，该路线缺点非常突出：</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4"/>
          <a:stretch>
            <a:fillRect/>
          </a:stretch>
        </p:blipFill>
        <p:spPr>
          <a:xfrm>
            <a:off x="4805680" y="4023995"/>
            <a:ext cx="1841500" cy="880745"/>
          </a:xfrm>
          <a:prstGeom prst="rect">
            <a:avLst/>
          </a:prstGeom>
        </p:spPr>
      </p:pic>
      <p:graphicFrame>
        <p:nvGraphicFramePr>
          <p:cNvPr id="2" name="对象 1"/>
          <p:cNvGraphicFramePr/>
          <p:nvPr/>
        </p:nvGraphicFramePr>
        <p:xfrm>
          <a:off x="4253230" y="1234440"/>
          <a:ext cx="3113405" cy="2593975"/>
        </p:xfrm>
        <a:graphic>
          <a:graphicData uri="http://schemas.openxmlformats.org/presentationml/2006/ole">
            <mc:AlternateContent xmlns:mc="http://schemas.openxmlformats.org/markup-compatibility/2006">
              <mc:Choice xmlns:v="urn:schemas-microsoft-com:vml" Requires="v">
                <p:oleObj spid="_x0000_s51204" r:id="rId5" imgW="1558290" imgH="1294130" progId="ChemDraw.Document.6.0">
                  <p:embed/>
                </p:oleObj>
              </mc:Choice>
              <mc:Fallback>
                <p:oleObj r:id="rId5" imgW="1558290" imgH="1294130" progId="ChemDraw.Document.6.0">
                  <p:embed/>
                  <p:pic>
                    <p:nvPicPr>
                      <p:cNvPr id="2" name="对象 1"/>
                      <p:cNvPicPr/>
                      <p:nvPr/>
                    </p:nvPicPr>
                    <p:blipFill>
                      <a:blip r:embed="rId6"/>
                      <a:stretch>
                        <a:fillRect/>
                      </a:stretch>
                    </p:blipFill>
                    <p:spPr>
                      <a:xfrm>
                        <a:off x="4253230" y="1234440"/>
                        <a:ext cx="3113405" cy="2593975"/>
                      </a:xfrm>
                      <a:prstGeom prst="rect">
                        <a:avLst/>
                      </a:prstGeom>
                    </p:spPr>
                  </p:pic>
                </p:oleObj>
              </mc:Fallback>
            </mc:AlternateContent>
          </a:graphicData>
        </a:graphic>
      </p:graphicFrame>
    </p:spTree>
    <p:custDataLst>
      <p:tags r:id="rId2"/>
    </p:custData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029970" y="438785"/>
            <a:ext cx="10316845" cy="3111500"/>
          </a:xfrm>
          <a:prstGeom prst="rect">
            <a:avLst/>
          </a:prstGeom>
          <a:noFill/>
        </p:spPr>
        <p:txBody>
          <a:bodyPr wrap="square" rtlCol="0">
            <a:noAutofit/>
          </a:bodyPr>
          <a:lstStyle/>
          <a:p>
            <a:r>
              <a:rPr lang="zh-CN" altLang="en-US" sz="2400">
                <a:latin typeface="微软雅黑" panose="020B0503020204020204" charset="-122"/>
                <a:ea typeface="微软雅黑" panose="020B0503020204020204" charset="-122"/>
              </a:rPr>
              <a:t>市场价值：</a:t>
            </a:r>
          </a:p>
          <a:p>
            <a:pPr indent="457200" fontAlgn="auto">
              <a:lnSpc>
                <a:spcPct val="150000"/>
              </a:lnSpc>
            </a:pPr>
            <a:r>
              <a:rPr lang="zh-CN" altLang="en-US"/>
              <a:t>阿托伐他汀作为经典他汀类降脂药，曾是全球医药史上标志性药王，专利期内为原研企业创造千亿美元级营收，即便专利过期后仍是全球降脂领域的主流品种。在国内，依托老龄化加剧、血脂异常患者基数庞大的基本面，它长期稳居公立医疗机构慢病用药大单品行列，集采后价格大幅下降反而带动基层和整体用药量放量，虽然单价走低，但公立、零售、线上全渠道叠加后整体市场规模常年维持百亿级别，临床不可替代性强、患者需长期终身服药，需求刚性极强，同时国内仿制药企和原料药企业也依托它形成了成熟产业链，整体具备极强的商业稳定性和长期市场价值。</a:t>
            </a:r>
          </a:p>
          <a:p>
            <a:pPr fontAlgn="auto">
              <a:lnSpc>
                <a:spcPct val="150000"/>
              </a:lnSpc>
            </a:pPr>
            <a:endParaRPr lang="zh-CN" altLang="en-US"/>
          </a:p>
          <a:p>
            <a:endParaRPr lang="zh-CN" altLang="en-US"/>
          </a:p>
        </p:txBody>
      </p:sp>
      <p:sp>
        <p:nvSpPr>
          <p:cNvPr id="3" name="文本框 2"/>
          <p:cNvSpPr txBox="1"/>
          <p:nvPr/>
        </p:nvSpPr>
        <p:spPr>
          <a:xfrm>
            <a:off x="1030605" y="3620770"/>
            <a:ext cx="4151630" cy="479425"/>
          </a:xfrm>
          <a:prstGeom prst="rect">
            <a:avLst/>
          </a:prstGeom>
          <a:noFill/>
        </p:spPr>
        <p:txBody>
          <a:bodyPr wrap="square" rtlCol="0">
            <a:noAutofit/>
          </a:bodyPr>
          <a:lstStyle/>
          <a:p>
            <a:r>
              <a:rPr lang="zh-CN" altLang="en-US" sz="2400"/>
              <a:t>原料药价格</a:t>
            </a:r>
          </a:p>
        </p:txBody>
      </p:sp>
      <p:sp>
        <p:nvSpPr>
          <p:cNvPr id="7" name="文本框 6"/>
          <p:cNvSpPr txBox="1"/>
          <p:nvPr/>
        </p:nvSpPr>
        <p:spPr>
          <a:xfrm>
            <a:off x="3559810" y="5439410"/>
            <a:ext cx="1129665" cy="382270"/>
          </a:xfrm>
          <a:prstGeom prst="rect">
            <a:avLst/>
          </a:prstGeom>
          <a:noFill/>
        </p:spPr>
        <p:txBody>
          <a:bodyPr wrap="square" rtlCol="0">
            <a:noAutofit/>
          </a:bodyPr>
          <a:lstStyle/>
          <a:p>
            <a:r>
              <a:rPr lang="en-US" altLang="zh-CN"/>
              <a:t>Benzene</a:t>
            </a:r>
            <a:endParaRPr lang="zh-CN" altLang="en-US"/>
          </a:p>
        </p:txBody>
      </p:sp>
      <p:sp>
        <p:nvSpPr>
          <p:cNvPr id="8" name="文本框 7"/>
          <p:cNvSpPr txBox="1"/>
          <p:nvPr/>
        </p:nvSpPr>
        <p:spPr>
          <a:xfrm>
            <a:off x="2915285" y="5760720"/>
            <a:ext cx="2435225" cy="367665"/>
          </a:xfrm>
          <a:prstGeom prst="rect">
            <a:avLst/>
          </a:prstGeom>
          <a:noFill/>
        </p:spPr>
        <p:txBody>
          <a:bodyPr wrap="square" rtlCol="0">
            <a:noAutofit/>
          </a:bodyPr>
          <a:lstStyle/>
          <a:p>
            <a:r>
              <a:rPr lang="en-US" altLang="zh-CN"/>
              <a:t>500 mL / ¥39 (</a:t>
            </a:r>
            <a:r>
              <a:rPr lang="zh-CN" altLang="en-US"/>
              <a:t>安耐吉）</a:t>
            </a:r>
          </a:p>
        </p:txBody>
      </p:sp>
      <p:sp>
        <p:nvSpPr>
          <p:cNvPr id="9" name="文本框 8"/>
          <p:cNvSpPr txBox="1"/>
          <p:nvPr/>
        </p:nvSpPr>
        <p:spPr>
          <a:xfrm>
            <a:off x="6096000" y="5439410"/>
            <a:ext cx="3357245" cy="382270"/>
          </a:xfrm>
          <a:prstGeom prst="rect">
            <a:avLst/>
          </a:prstGeom>
          <a:noFill/>
        </p:spPr>
        <p:txBody>
          <a:bodyPr wrap="square" rtlCol="0">
            <a:noAutofit/>
          </a:bodyPr>
          <a:lstStyle/>
          <a:p>
            <a:r>
              <a:rPr lang="en-US" altLang="zh-CN"/>
              <a:t>4-Fluorophenylacetyl chloride</a:t>
            </a:r>
            <a:endParaRPr lang="zh-CN" altLang="en-US"/>
          </a:p>
        </p:txBody>
      </p:sp>
      <p:sp>
        <p:nvSpPr>
          <p:cNvPr id="10" name="文本框 9"/>
          <p:cNvSpPr txBox="1"/>
          <p:nvPr/>
        </p:nvSpPr>
        <p:spPr>
          <a:xfrm>
            <a:off x="6614795" y="5760720"/>
            <a:ext cx="2151380" cy="367665"/>
          </a:xfrm>
          <a:prstGeom prst="rect">
            <a:avLst/>
          </a:prstGeom>
          <a:noFill/>
        </p:spPr>
        <p:txBody>
          <a:bodyPr wrap="square" rtlCol="0">
            <a:noAutofit/>
          </a:bodyPr>
          <a:lstStyle/>
          <a:p>
            <a:r>
              <a:rPr lang="en-US" altLang="zh-CN"/>
              <a:t>100 g / </a:t>
            </a:r>
            <a:r>
              <a:rPr lang="en-US" altLang="zh-CN">
                <a:sym typeface="+mn-ea"/>
              </a:rPr>
              <a:t>¥409 (</a:t>
            </a:r>
            <a:r>
              <a:rPr lang="zh-CN" altLang="en-US">
                <a:sym typeface="+mn-ea"/>
              </a:rPr>
              <a:t>乐研）</a:t>
            </a:r>
          </a:p>
        </p:txBody>
      </p:sp>
      <p:graphicFrame>
        <p:nvGraphicFramePr>
          <p:cNvPr id="11" name="对象 10"/>
          <p:cNvGraphicFramePr/>
          <p:nvPr/>
        </p:nvGraphicFramePr>
        <p:xfrm>
          <a:off x="3559810" y="4272915"/>
          <a:ext cx="1049655" cy="1189990"/>
        </p:xfrm>
        <a:graphic>
          <a:graphicData uri="http://schemas.openxmlformats.org/presentationml/2006/ole">
            <mc:AlternateContent xmlns:mc="http://schemas.openxmlformats.org/markup-compatibility/2006">
              <mc:Choice xmlns:v="urn:schemas-microsoft-com:vml" Requires="v">
                <p:oleObj spid="_x0000_s52230" r:id="rId4" imgW="406400" imgH="457200" progId="ChemDraw.Document.6.0">
                  <p:embed/>
                </p:oleObj>
              </mc:Choice>
              <mc:Fallback>
                <p:oleObj r:id="rId4" imgW="406400" imgH="457200" progId="ChemDraw.Document.6.0">
                  <p:embed/>
                  <p:pic>
                    <p:nvPicPr>
                      <p:cNvPr id="11" name="对象 10"/>
                      <p:cNvPicPr/>
                      <p:nvPr/>
                    </p:nvPicPr>
                    <p:blipFill>
                      <a:blip r:embed="rId5"/>
                      <a:stretch>
                        <a:fillRect/>
                      </a:stretch>
                    </p:blipFill>
                    <p:spPr>
                      <a:xfrm>
                        <a:off x="3559810" y="4272915"/>
                        <a:ext cx="1049655" cy="1189990"/>
                      </a:xfrm>
                      <a:prstGeom prst="rect">
                        <a:avLst/>
                      </a:prstGeom>
                    </p:spPr>
                  </p:pic>
                </p:oleObj>
              </mc:Fallback>
            </mc:AlternateContent>
          </a:graphicData>
        </a:graphic>
      </p:graphicFrame>
      <p:graphicFrame>
        <p:nvGraphicFramePr>
          <p:cNvPr id="13" name="对象 12"/>
          <p:cNvGraphicFramePr/>
          <p:nvPr/>
        </p:nvGraphicFramePr>
        <p:xfrm>
          <a:off x="6454775" y="4232275"/>
          <a:ext cx="2472055" cy="1163320"/>
        </p:xfrm>
        <a:graphic>
          <a:graphicData uri="http://schemas.openxmlformats.org/presentationml/2006/ole">
            <mc:AlternateContent xmlns:mc="http://schemas.openxmlformats.org/markup-compatibility/2006">
              <mc:Choice xmlns:v="urn:schemas-microsoft-com:vml" Requires="v">
                <p:oleObj spid="_x0000_s52231" r:id="rId6" imgW="1188720" imgH="558800" progId="ChemDraw.Document.6.0">
                  <p:embed/>
                </p:oleObj>
              </mc:Choice>
              <mc:Fallback>
                <p:oleObj r:id="rId6" imgW="1188720" imgH="558800" progId="ChemDraw.Document.6.0">
                  <p:embed/>
                  <p:pic>
                    <p:nvPicPr>
                      <p:cNvPr id="13" name="对象 12"/>
                      <p:cNvPicPr/>
                      <p:nvPr/>
                    </p:nvPicPr>
                    <p:blipFill>
                      <a:blip r:embed="rId7"/>
                      <a:stretch>
                        <a:fillRect/>
                      </a:stretch>
                    </p:blipFill>
                    <p:spPr>
                      <a:xfrm>
                        <a:off x="6454775" y="4232275"/>
                        <a:ext cx="2472055" cy="1163320"/>
                      </a:xfrm>
                      <a:prstGeom prst="rect">
                        <a:avLst/>
                      </a:prstGeom>
                    </p:spPr>
                  </p:pic>
                </p:oleObj>
              </mc:Fallback>
            </mc:AlternateContent>
          </a:graphicData>
        </a:graphic>
      </p:graphicFrame>
    </p:spTree>
    <p:custDataLst>
      <p:tags r:id="rId2"/>
    </p:custData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对象 3"/>
          <p:cNvGraphicFramePr/>
          <p:nvPr/>
        </p:nvGraphicFramePr>
        <p:xfrm>
          <a:off x="1083945" y="135890"/>
          <a:ext cx="10024745" cy="6722110"/>
        </p:xfrm>
        <a:graphic>
          <a:graphicData uri="http://schemas.openxmlformats.org/presentationml/2006/ole">
            <mc:AlternateContent xmlns:mc="http://schemas.openxmlformats.org/markup-compatibility/2006">
              <mc:Choice xmlns:v="urn:schemas-microsoft-com:vml" Requires="v">
                <p:oleObj spid="_x0000_s53252" r:id="rId4" imgW="7469505" imgH="5010150" progId="ChemDraw.Document.6.0">
                  <p:embed/>
                </p:oleObj>
              </mc:Choice>
              <mc:Fallback>
                <p:oleObj r:id="rId4" imgW="7469505" imgH="5010150" progId="ChemDraw.Document.6.0">
                  <p:embed/>
                  <p:pic>
                    <p:nvPicPr>
                      <p:cNvPr id="4" name="对象 3"/>
                      <p:cNvPicPr/>
                      <p:nvPr/>
                    </p:nvPicPr>
                    <p:blipFill>
                      <a:blip r:embed="rId5"/>
                      <a:stretch>
                        <a:fillRect/>
                      </a:stretch>
                    </p:blipFill>
                    <p:spPr>
                      <a:xfrm>
                        <a:off x="1083945" y="135890"/>
                        <a:ext cx="10024745" cy="6722110"/>
                      </a:xfrm>
                      <a:prstGeom prst="rect">
                        <a:avLst/>
                      </a:prstGeom>
                    </p:spPr>
                  </p:pic>
                </p:oleObj>
              </mc:Fallback>
            </mc:AlternateContent>
          </a:graphicData>
        </a:graphic>
      </p:graphicFrame>
      <p:sp>
        <p:nvSpPr>
          <p:cNvPr id="2" name="文本框 1"/>
          <p:cNvSpPr txBox="1"/>
          <p:nvPr/>
        </p:nvSpPr>
        <p:spPr>
          <a:xfrm>
            <a:off x="4779010" y="6073775"/>
            <a:ext cx="7554595" cy="655955"/>
          </a:xfrm>
          <a:prstGeom prst="rect">
            <a:avLst/>
          </a:prstGeom>
          <a:noFill/>
        </p:spPr>
        <p:txBody>
          <a:bodyPr wrap="square" rtlCol="0">
            <a:noAutofit/>
          </a:bodyPr>
          <a:lstStyle/>
          <a:p>
            <a:r>
              <a:rPr lang="zh-CN" altLang="en-US" sz="1600">
                <a:latin typeface="Times New Roman" panose="02020603050405020304" charset="0"/>
                <a:cs typeface="Times New Roman" panose="02020603050405020304" charset="0"/>
              </a:rPr>
              <a:t>文献：</a:t>
            </a:r>
            <a:r>
              <a:rPr lang="en-US" altLang="zh-CN" sz="1600">
                <a:latin typeface="Times New Roman" panose="02020603050405020304" charset="0"/>
                <a:cs typeface="Times New Roman" panose="02020603050405020304" charset="0"/>
              </a:rPr>
              <a:t>Hunan Ouya Biological Co., Ltd. </a:t>
            </a:r>
            <a:r>
              <a:rPr lang="en-US" altLang="zh-CN" sz="1600">
                <a:latin typeface="Times New Roman" panose="02020603050405020304" charset="0"/>
                <a:cs typeface="Times New Roman" panose="02020603050405020304" charset="0"/>
                <a:sym typeface="+mn-ea"/>
              </a:rPr>
              <a:t>Process for preparation of atorvastatin calcium: </a:t>
            </a:r>
            <a:r>
              <a:rPr lang="en-US" altLang="zh-CN" sz="1600">
                <a:latin typeface="Times New Roman" panose="02020603050405020304" charset="0"/>
                <a:cs typeface="Times New Roman" panose="02020603050405020304" charset="0"/>
              </a:rPr>
              <a:t>201210058223. 4[P]. 2012. 08. 0 </a:t>
            </a:r>
          </a:p>
          <a:p>
            <a:endParaRPr lang="en-US" altLang="zh-CN" sz="1600">
              <a:latin typeface="Times New Roman" panose="02020603050405020304" charset="0"/>
              <a:cs typeface="Times New Roman" panose="02020603050405020304" charset="0"/>
            </a:endParaRPr>
          </a:p>
        </p:txBody>
      </p:sp>
    </p:spTree>
    <p:custDataLst>
      <p:tags r:id="rId2"/>
    </p:custData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1255395" y="537845"/>
            <a:ext cx="9234805" cy="2306955"/>
          </a:xfrm>
          <a:prstGeom prst="rect">
            <a:avLst/>
          </a:prstGeom>
          <a:noFill/>
        </p:spPr>
        <p:txBody>
          <a:bodyPr wrap="square" rtlCol="0">
            <a:spAutoFit/>
          </a:bodyPr>
          <a:lstStyle/>
          <a:p>
            <a:pPr indent="0" fontAlgn="auto">
              <a:lnSpc>
                <a:spcPct val="150000"/>
              </a:lnSpc>
            </a:pPr>
            <a:r>
              <a:rPr lang="zh-CN" altLang="en-US" sz="2400"/>
              <a:t>合成路线优点：</a:t>
            </a:r>
            <a:endParaRPr lang="zh-CN" altLang="en-US"/>
          </a:p>
          <a:p>
            <a:pPr indent="457200" fontAlgn="auto">
              <a:lnSpc>
                <a:spcPct val="150000"/>
              </a:lnSpc>
            </a:pPr>
            <a:r>
              <a:rPr lang="zh-CN" altLang="en-US"/>
              <a:t>（</a:t>
            </a:r>
            <a:r>
              <a:rPr lang="en-US" altLang="zh-CN"/>
              <a:t>1</a:t>
            </a:r>
            <a:r>
              <a:rPr lang="zh-CN" altLang="en-US"/>
              <a:t>）用化合物</a:t>
            </a:r>
            <a:r>
              <a:rPr lang="en-US" altLang="zh-CN"/>
              <a:t>R</a:t>
            </a:r>
            <a:r>
              <a:rPr lang="en-US" altLang="zh-CN" baseline="-25000">
                <a:solidFill>
                  <a:schemeClr val="tx1"/>
                </a:solidFill>
                <a:uFillTx/>
              </a:rPr>
              <a:t>2</a:t>
            </a:r>
            <a:r>
              <a:rPr lang="zh-CN" altLang="en-US"/>
              <a:t>与异丁酰乙酸乙酯发生</a:t>
            </a:r>
            <a:r>
              <a:rPr lang="en-US" altLang="zh-CN"/>
              <a:t>Hantzsch</a:t>
            </a:r>
            <a:r>
              <a:rPr lang="zh-CN" altLang="en-US"/>
              <a:t>反应，合成吡咯环，收率较高，而且采用的原料便宜；</a:t>
            </a:r>
          </a:p>
          <a:p>
            <a:pPr indent="457200" algn="l" fontAlgn="auto">
              <a:lnSpc>
                <a:spcPct val="150000"/>
              </a:lnSpc>
              <a:buClrTx/>
              <a:buSzTx/>
              <a:buFontTx/>
            </a:pPr>
            <a:r>
              <a:rPr lang="zh-CN" altLang="en-US"/>
              <a:t>（2）合成化合物R</a:t>
            </a:r>
            <a:r>
              <a:rPr lang="zh-CN" altLang="en-US" baseline="-25000">
                <a:solidFill>
                  <a:schemeClr val="tx1"/>
                </a:solidFill>
                <a:uFillTx/>
              </a:rPr>
              <a:t>6</a:t>
            </a:r>
            <a:r>
              <a:rPr lang="zh-CN" altLang="en-US">
                <a:solidFill>
                  <a:schemeClr val="tx1"/>
                </a:solidFill>
              </a:rPr>
              <a:t>的反应条件温和，安全系数高，耗能少，收率高；</a:t>
            </a:r>
          </a:p>
          <a:p>
            <a:pPr indent="457200" algn="l" fontAlgn="auto">
              <a:lnSpc>
                <a:spcPct val="150000"/>
              </a:lnSpc>
              <a:buClrTx/>
              <a:buSzTx/>
              <a:buFontTx/>
            </a:pPr>
            <a:r>
              <a:rPr lang="zh-CN" altLang="en-US">
                <a:solidFill>
                  <a:schemeClr val="tx1"/>
                </a:solidFill>
              </a:rPr>
              <a:t>（</a:t>
            </a:r>
            <a:r>
              <a:rPr lang="en-US" altLang="zh-CN">
                <a:solidFill>
                  <a:schemeClr val="tx1"/>
                </a:solidFill>
              </a:rPr>
              <a:t>3</a:t>
            </a:r>
            <a:r>
              <a:rPr lang="zh-CN" altLang="en-US">
                <a:solidFill>
                  <a:schemeClr val="tx1"/>
                </a:solidFill>
              </a:rPr>
              <a:t>）总体反应路径较短，反应条件相对比较温和，分离简单。</a:t>
            </a:r>
          </a:p>
        </p:txBody>
      </p:sp>
      <p:sp>
        <p:nvSpPr>
          <p:cNvPr id="6" name="文本框 5"/>
          <p:cNvSpPr txBox="1"/>
          <p:nvPr/>
        </p:nvSpPr>
        <p:spPr>
          <a:xfrm>
            <a:off x="1255395" y="3728085"/>
            <a:ext cx="9235440" cy="2469515"/>
          </a:xfrm>
          <a:prstGeom prst="rect">
            <a:avLst/>
          </a:prstGeom>
          <a:noFill/>
        </p:spPr>
        <p:txBody>
          <a:bodyPr wrap="square" rtlCol="0">
            <a:noAutofit/>
          </a:bodyPr>
          <a:lstStyle/>
          <a:p>
            <a:pPr indent="0" fontAlgn="auto">
              <a:lnSpc>
                <a:spcPct val="150000"/>
              </a:lnSpc>
            </a:pPr>
            <a:r>
              <a:rPr lang="zh-CN" altLang="en-US" sz="2400" dirty="0">
                <a:sym typeface="+mn-ea"/>
              </a:rPr>
              <a:t>合成路线缺点：</a:t>
            </a:r>
            <a:endParaRPr lang="zh-CN" altLang="en-US" sz="2400" dirty="0"/>
          </a:p>
          <a:p>
            <a:pPr indent="457200" fontAlgn="auto">
              <a:lnSpc>
                <a:spcPct val="150000"/>
              </a:lnSpc>
            </a:pPr>
            <a:r>
              <a:rPr lang="zh-CN" altLang="en-US" sz="1800" dirty="0"/>
              <a:t>（1）初始原料对氟苯乙酰氯价格较高，成本不好控制。</a:t>
            </a:r>
          </a:p>
          <a:p>
            <a:pPr indent="457200" fontAlgn="auto">
              <a:lnSpc>
                <a:spcPct val="150000"/>
              </a:lnSpc>
            </a:pPr>
            <a:r>
              <a:rPr lang="zh-CN" altLang="en-US" sz="1800" dirty="0"/>
              <a:t>（2）前两步反应中苯和溴素毒性强且用量较大，存在安全隐患，对环境危害也较大。</a:t>
            </a:r>
          </a:p>
        </p:txBody>
      </p:sp>
    </p:spTree>
    <p:custDataLst>
      <p:tags r:id="rId1"/>
    </p:custData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330200" y="635"/>
            <a:ext cx="11209655" cy="1370965"/>
          </a:xfrm>
          <a:prstGeom prst="rect">
            <a:avLst/>
          </a:prstGeom>
          <a:noFill/>
        </p:spPr>
        <p:txBody>
          <a:bodyPr wrap="square" rtlCol="0" anchor="t">
            <a:noAutofit/>
          </a:bodyPr>
          <a:lstStyle/>
          <a:p>
            <a:pPr indent="457200" fontAlgn="auto">
              <a:lnSpc>
                <a:spcPct val="150000"/>
              </a:lnSpc>
            </a:pPr>
            <a:r>
              <a:rPr lang="zh-CN" altLang="en-US" sz="2000" b="1" dirty="0">
                <a:latin typeface="宋体" panose="02010600030101010101" pitchFamily="2" charset="-122"/>
                <a:ea typeface="宋体" panose="02010600030101010101" pitchFamily="2" charset="-122"/>
                <a:sym typeface="+mn-ea"/>
              </a:rPr>
              <a:t>理想合成路线</a:t>
            </a:r>
            <a:r>
              <a:rPr lang="en-US" altLang="zh-CN" sz="2000" b="1" dirty="0">
                <a:latin typeface="宋体" panose="02010600030101010101" pitchFamily="2" charset="-122"/>
                <a:ea typeface="宋体" panose="02010600030101010101" pitchFamily="2" charset="-122"/>
                <a:sym typeface="+mn-ea"/>
              </a:rPr>
              <a:t>:</a:t>
            </a:r>
            <a:r>
              <a:rPr lang="zh-CN" altLang="en-US" sz="2000" dirty="0">
                <a:latin typeface="宋体" panose="02010600030101010101" pitchFamily="2" charset="-122"/>
                <a:ea typeface="宋体" panose="02010600030101010101" pitchFamily="2" charset="-122"/>
                <a:sym typeface="+mn-ea"/>
              </a:rPr>
              <a:t>使用成本更低且更安全的原料合成化合物</a:t>
            </a:r>
            <a:r>
              <a:rPr lang="en-US" altLang="zh-CN" sz="2000" dirty="0">
                <a:latin typeface="宋体" panose="02010600030101010101" pitchFamily="2" charset="-122"/>
                <a:ea typeface="宋体" panose="02010600030101010101" pitchFamily="2" charset="-122"/>
                <a:sym typeface="+mn-ea"/>
              </a:rPr>
              <a:t>R</a:t>
            </a:r>
            <a:r>
              <a:rPr lang="en-US" altLang="zh-CN" sz="2000" baseline="-25000" dirty="0">
                <a:solidFill>
                  <a:schemeClr val="tx1"/>
                </a:solidFill>
                <a:uFillTx/>
                <a:latin typeface="宋体" panose="02010600030101010101" pitchFamily="2" charset="-122"/>
                <a:ea typeface="宋体" panose="02010600030101010101" pitchFamily="2" charset="-122"/>
                <a:sym typeface="+mn-ea"/>
              </a:rPr>
              <a:t>2</a:t>
            </a:r>
            <a:r>
              <a:rPr lang="en-US" altLang="zh-CN" sz="2000" dirty="0">
                <a:solidFill>
                  <a:schemeClr val="tx1"/>
                </a:solidFill>
                <a:uFillTx/>
                <a:latin typeface="宋体" panose="02010600030101010101" pitchFamily="2" charset="-122"/>
                <a:ea typeface="宋体" panose="02010600030101010101" pitchFamily="2" charset="-122"/>
                <a:sym typeface="+mn-ea"/>
              </a:rPr>
              <a:t>,</a:t>
            </a:r>
            <a:r>
              <a:rPr lang="zh-CN" altLang="en-US" sz="2000" dirty="0">
                <a:solidFill>
                  <a:schemeClr val="tx1"/>
                </a:solidFill>
                <a:uFillTx/>
                <a:latin typeface="宋体" panose="02010600030101010101" pitchFamily="2" charset="-122"/>
                <a:ea typeface="宋体" panose="02010600030101010101" pitchFamily="2" charset="-122"/>
                <a:sym typeface="+mn-ea"/>
              </a:rPr>
              <a:t>然后再进行成环反应和上侧链的反</a:t>
            </a:r>
          </a:p>
          <a:p>
            <a:pPr indent="457200" fontAlgn="auto">
              <a:lnSpc>
                <a:spcPct val="150000"/>
              </a:lnSpc>
            </a:pPr>
            <a:r>
              <a:rPr lang="en-US" altLang="zh-CN" sz="2000" dirty="0">
                <a:solidFill>
                  <a:schemeClr val="tx1"/>
                </a:solidFill>
                <a:uFillTx/>
                <a:latin typeface="宋体" panose="02010600030101010101" pitchFamily="2" charset="-122"/>
                <a:ea typeface="宋体" panose="02010600030101010101" pitchFamily="2" charset="-122"/>
                <a:sym typeface="+mn-ea"/>
              </a:rPr>
              <a:t>             </a:t>
            </a:r>
            <a:r>
              <a:rPr lang="zh-CN" altLang="en-US" sz="2000" dirty="0">
                <a:solidFill>
                  <a:schemeClr val="tx1"/>
                </a:solidFill>
                <a:uFillTx/>
                <a:latin typeface="宋体" panose="02010600030101010101" pitchFamily="2" charset="-122"/>
                <a:ea typeface="宋体" panose="02010600030101010101" pitchFamily="2" charset="-122"/>
                <a:sym typeface="+mn-ea"/>
              </a:rPr>
              <a:t>应，更安全且对环境污染更小。</a:t>
            </a:r>
          </a:p>
        </p:txBody>
      </p:sp>
      <p:sp>
        <p:nvSpPr>
          <p:cNvPr id="6" name="文本框 5"/>
          <p:cNvSpPr txBox="1"/>
          <p:nvPr/>
        </p:nvSpPr>
        <p:spPr>
          <a:xfrm>
            <a:off x="330200" y="5361305"/>
            <a:ext cx="11210290" cy="1421130"/>
          </a:xfrm>
          <a:prstGeom prst="rect">
            <a:avLst/>
          </a:prstGeom>
          <a:noFill/>
        </p:spPr>
        <p:txBody>
          <a:bodyPr wrap="square" rtlCol="0">
            <a:noAutofit/>
          </a:bodyPr>
          <a:lstStyle/>
          <a:p>
            <a:pPr indent="457200" algn="l" fontAlgn="auto">
              <a:lnSpc>
                <a:spcPct val="150000"/>
              </a:lnSpc>
              <a:buClrTx/>
              <a:buSzTx/>
              <a:buNone/>
            </a:pPr>
            <a:r>
              <a:rPr lang="zh-CN" altLang="en-US"/>
              <a:t>难点问题与解决方案：</a:t>
            </a:r>
            <a:r>
              <a:rPr lang="zh-CN" altLang="en-US" sz="2000" dirty="0">
                <a:latin typeface="宋体" panose="02010600030101010101" pitchFamily="2" charset="-122"/>
                <a:ea typeface="宋体" panose="02010600030101010101" pitchFamily="2" charset="-122"/>
              </a:rPr>
              <a:t>1）该方案使用的催化剂价格较高，后续可寻找低价平替催化剂</a:t>
            </a:r>
            <a:r>
              <a:rPr lang="zh-CN" altLang="en-US" sz="2000" dirty="0">
                <a:latin typeface="宋体" panose="02010600030101010101" pitchFamily="2" charset="-122"/>
                <a:ea typeface="宋体" panose="02010600030101010101" pitchFamily="2" charset="-122"/>
                <a:sym typeface="+mn-ea"/>
              </a:rPr>
              <a:t>。</a:t>
            </a:r>
          </a:p>
          <a:p>
            <a:pPr indent="457200" algn="l" fontAlgn="auto">
              <a:lnSpc>
                <a:spcPct val="150000"/>
              </a:lnSpc>
              <a:buClrTx/>
              <a:buSzTx/>
              <a:buNone/>
            </a:pPr>
            <a:r>
              <a:rPr lang="zh-CN" altLang="en-US" sz="2000" dirty="0">
                <a:latin typeface="宋体" panose="02010600030101010101" pitchFamily="2" charset="-122"/>
                <a:ea typeface="宋体" panose="02010600030101010101" pitchFamily="2" charset="-122"/>
                <a:sym typeface="+mn-ea"/>
              </a:rPr>
              <a:t>                  2）部分步骤后处理繁琐，可以通过优化反应条件与路线，简化后处理过程。</a:t>
            </a:r>
          </a:p>
        </p:txBody>
      </p:sp>
      <p:graphicFrame>
        <p:nvGraphicFramePr>
          <p:cNvPr id="2" name="对象 1"/>
          <p:cNvGraphicFramePr/>
          <p:nvPr/>
        </p:nvGraphicFramePr>
        <p:xfrm>
          <a:off x="874395" y="1801495"/>
          <a:ext cx="10579100" cy="3491865"/>
        </p:xfrm>
        <a:graphic>
          <a:graphicData uri="http://schemas.openxmlformats.org/presentationml/2006/ole">
            <mc:AlternateContent xmlns:mc="http://schemas.openxmlformats.org/markup-compatibility/2006">
              <mc:Choice xmlns:v="urn:schemas-microsoft-com:vml" Requires="v">
                <p:oleObj spid="_x0000_s54278" r:id="rId4" imgW="9330690" imgH="3077845" progId="ChemDraw.Document.6.0">
                  <p:embed/>
                </p:oleObj>
              </mc:Choice>
              <mc:Fallback>
                <p:oleObj r:id="rId4" imgW="9330690" imgH="3077845" progId="ChemDraw.Document.6.0">
                  <p:embed/>
                  <p:pic>
                    <p:nvPicPr>
                      <p:cNvPr id="2" name="对象 1"/>
                      <p:cNvPicPr/>
                      <p:nvPr/>
                    </p:nvPicPr>
                    <p:blipFill>
                      <a:blip r:embed="rId5"/>
                      <a:stretch>
                        <a:fillRect/>
                      </a:stretch>
                    </p:blipFill>
                    <p:spPr>
                      <a:xfrm>
                        <a:off x="874395" y="1801495"/>
                        <a:ext cx="10579100" cy="3491865"/>
                      </a:xfrm>
                      <a:prstGeom prst="rect">
                        <a:avLst/>
                      </a:prstGeom>
                    </p:spPr>
                  </p:pic>
                </p:oleObj>
              </mc:Fallback>
            </mc:AlternateContent>
          </a:graphicData>
        </a:graphic>
      </p:graphicFrame>
      <p:graphicFrame>
        <p:nvGraphicFramePr>
          <p:cNvPr id="5" name="对象 4"/>
          <p:cNvGraphicFramePr/>
          <p:nvPr/>
        </p:nvGraphicFramePr>
        <p:xfrm>
          <a:off x="3159760" y="921385"/>
          <a:ext cx="1212850" cy="1003300"/>
        </p:xfrm>
        <a:graphic>
          <a:graphicData uri="http://schemas.openxmlformats.org/presentationml/2006/ole">
            <mc:AlternateContent xmlns:mc="http://schemas.openxmlformats.org/markup-compatibility/2006">
              <mc:Choice xmlns:v="urn:schemas-microsoft-com:vml" Requires="v">
                <p:oleObj spid="_x0000_s54279" r:id="rId6" imgW="1094740" imgH="908050" progId="ChemDraw.Document.6.0">
                  <p:embed/>
                </p:oleObj>
              </mc:Choice>
              <mc:Fallback>
                <p:oleObj r:id="rId6" imgW="1094740" imgH="908050" progId="ChemDraw.Document.6.0">
                  <p:embed/>
                  <p:pic>
                    <p:nvPicPr>
                      <p:cNvPr id="5" name="对象 4"/>
                      <p:cNvPicPr/>
                      <p:nvPr/>
                    </p:nvPicPr>
                    <p:blipFill>
                      <a:blip r:embed="rId7"/>
                      <a:stretch>
                        <a:fillRect/>
                      </a:stretch>
                    </p:blipFill>
                    <p:spPr>
                      <a:xfrm>
                        <a:off x="3159760" y="921385"/>
                        <a:ext cx="1212850" cy="1003300"/>
                      </a:xfrm>
                      <a:prstGeom prst="rect">
                        <a:avLst/>
                      </a:prstGeom>
                    </p:spPr>
                  </p:pic>
                </p:oleObj>
              </mc:Fallback>
            </mc:AlternateContent>
          </a:graphicData>
        </a:graphic>
      </p:graphicFrame>
      <p:sp>
        <p:nvSpPr>
          <p:cNvPr id="8" name="矩形 7"/>
          <p:cNvSpPr/>
          <p:nvPr/>
        </p:nvSpPr>
        <p:spPr>
          <a:xfrm>
            <a:off x="2962275" y="920750"/>
            <a:ext cx="1608455" cy="1062990"/>
          </a:xfrm>
          <a:prstGeom prst="rect">
            <a:avLst/>
          </a:prstGeom>
          <a:noFill/>
          <a:ln>
            <a:solidFill>
              <a:srgbClr val="C0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1" name="文本框 10"/>
          <p:cNvSpPr txBox="1"/>
          <p:nvPr/>
        </p:nvSpPr>
        <p:spPr>
          <a:xfrm>
            <a:off x="2962275" y="1801495"/>
            <a:ext cx="1607820" cy="248920"/>
          </a:xfrm>
          <a:prstGeom prst="rect">
            <a:avLst/>
          </a:prstGeom>
          <a:noFill/>
        </p:spPr>
        <p:txBody>
          <a:bodyPr wrap="square" rtlCol="0">
            <a:noAutofit/>
          </a:bodyPr>
          <a:lstStyle/>
          <a:p>
            <a:pPr algn="ctr"/>
            <a:r>
              <a:rPr lang="en-US" altLang="zh-CN" sz="1000">
                <a:latin typeface="Times New Roman" panose="02020603050405020304" charset="0"/>
                <a:cs typeface="Times New Roman" panose="02020603050405020304" charset="0"/>
              </a:rPr>
              <a:t>cat.</a:t>
            </a:r>
          </a:p>
        </p:txBody>
      </p:sp>
    </p:spTree>
    <p:custDataLst>
      <p:tags r:id="rId2"/>
    </p:custData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3"/>
          <a:stretch>
            <a:fillRect/>
          </a:stretch>
        </p:blipFill>
        <p:spPr>
          <a:xfrm>
            <a:off x="8384875" y="137299"/>
            <a:ext cx="2082638" cy="665001"/>
          </a:xfrm>
          <a:prstGeom prst="rect">
            <a:avLst/>
          </a:prstGeom>
        </p:spPr>
      </p:pic>
      <p:cxnSp>
        <p:nvCxnSpPr>
          <p:cNvPr id="9" name="直接连接符 8"/>
          <p:cNvCxnSpPr/>
          <p:nvPr/>
        </p:nvCxnSpPr>
        <p:spPr>
          <a:xfrm>
            <a:off x="1899249" y="846872"/>
            <a:ext cx="8289985" cy="0"/>
          </a:xfrm>
          <a:prstGeom prst="line">
            <a:avLst/>
          </a:prstGeom>
          <a:ln w="57150">
            <a:solidFill>
              <a:srgbClr val="004B9E"/>
            </a:solidFill>
          </a:ln>
        </p:spPr>
        <p:style>
          <a:lnRef idx="1">
            <a:schemeClr val="accent1"/>
          </a:lnRef>
          <a:fillRef idx="0">
            <a:schemeClr val="accent1"/>
          </a:fillRef>
          <a:effectRef idx="0">
            <a:schemeClr val="accent1"/>
          </a:effectRef>
          <a:fontRef idx="minor">
            <a:schemeClr val="tx1"/>
          </a:fontRef>
        </p:style>
      </p:cxnSp>
      <p:graphicFrame>
        <p:nvGraphicFramePr>
          <p:cNvPr id="4" name="对象 3"/>
          <p:cNvGraphicFramePr>
            <a:graphicFrameLocks noChangeAspect="1"/>
          </p:cNvGraphicFramePr>
          <p:nvPr/>
        </p:nvGraphicFramePr>
        <p:xfrm>
          <a:off x="4735830" y="1659255"/>
          <a:ext cx="3182620" cy="2503170"/>
        </p:xfrm>
        <a:graphic>
          <a:graphicData uri="http://schemas.openxmlformats.org/presentationml/2006/ole">
            <mc:AlternateContent xmlns:mc="http://schemas.openxmlformats.org/markup-compatibility/2006">
              <mc:Choice xmlns:v="urn:schemas-microsoft-com:vml" Requires="v">
                <p:oleObj spid="_x0000_s55300" r:id="rId4" imgW="1935480" imgH="1524000" progId="ChemDraw.Document.6.0">
                  <p:embed/>
                </p:oleObj>
              </mc:Choice>
              <mc:Fallback>
                <p:oleObj r:id="rId4" imgW="1935480" imgH="1524000" progId="ChemDraw.Document.6.0">
                  <p:embed/>
                  <p:pic>
                    <p:nvPicPr>
                      <p:cNvPr id="4" name="对象 3"/>
                      <p:cNvPicPr/>
                      <p:nvPr/>
                    </p:nvPicPr>
                    <p:blipFill>
                      <a:blip r:embed="rId5"/>
                      <a:stretch>
                        <a:fillRect/>
                      </a:stretch>
                    </p:blipFill>
                    <p:spPr>
                      <a:xfrm>
                        <a:off x="4735830" y="1659255"/>
                        <a:ext cx="3182620" cy="2503170"/>
                      </a:xfrm>
                      <a:prstGeom prst="rect">
                        <a:avLst/>
                      </a:prstGeom>
                    </p:spPr>
                  </p:pic>
                </p:oleObj>
              </mc:Fallback>
            </mc:AlternateContent>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8384875" y="137299"/>
            <a:ext cx="2082638" cy="665001"/>
          </a:xfrm>
          <a:prstGeom prst="rect">
            <a:avLst/>
          </a:prstGeom>
        </p:spPr>
      </p:pic>
      <p:cxnSp>
        <p:nvCxnSpPr>
          <p:cNvPr id="3" name="直接连接符 2"/>
          <p:cNvCxnSpPr/>
          <p:nvPr/>
        </p:nvCxnSpPr>
        <p:spPr>
          <a:xfrm>
            <a:off x="1899249" y="846872"/>
            <a:ext cx="8289985" cy="0"/>
          </a:xfrm>
          <a:prstGeom prst="line">
            <a:avLst/>
          </a:prstGeom>
          <a:ln w="57150">
            <a:solidFill>
              <a:srgbClr val="004B9E"/>
            </a:solidFill>
          </a:ln>
        </p:spPr>
        <p:style>
          <a:lnRef idx="1">
            <a:schemeClr val="accent1"/>
          </a:lnRef>
          <a:fillRef idx="0">
            <a:schemeClr val="accent1"/>
          </a:fillRef>
          <a:effectRef idx="0">
            <a:schemeClr val="accent1"/>
          </a:effectRef>
          <a:fontRef idx="minor">
            <a:schemeClr val="tx1"/>
          </a:fontRef>
        </p:style>
      </p:cxnSp>
      <p:graphicFrame>
        <p:nvGraphicFramePr>
          <p:cNvPr id="5" name="对象 4"/>
          <p:cNvGraphicFramePr/>
          <p:nvPr/>
        </p:nvGraphicFramePr>
        <p:xfrm>
          <a:off x="4106228" y="4569460"/>
          <a:ext cx="1826260" cy="1962150"/>
        </p:xfrm>
        <a:graphic>
          <a:graphicData uri="http://schemas.openxmlformats.org/presentationml/2006/ole">
            <mc:AlternateContent xmlns:mc="http://schemas.openxmlformats.org/markup-compatibility/2006">
              <mc:Choice xmlns:v="urn:schemas-microsoft-com:vml" Requires="v">
                <p:oleObj spid="_x0000_s56326" r:id="rId4" imgW="1388745" imgH="1494790" progId="ChemDraw.Document.6.0">
                  <p:embed/>
                </p:oleObj>
              </mc:Choice>
              <mc:Fallback>
                <p:oleObj r:id="rId4" imgW="1388745" imgH="1494790" progId="ChemDraw.Document.6.0">
                  <p:embed/>
                  <p:pic>
                    <p:nvPicPr>
                      <p:cNvPr id="5" name="对象 4"/>
                      <p:cNvPicPr/>
                      <p:nvPr/>
                    </p:nvPicPr>
                    <p:blipFill>
                      <a:blip r:embed="rId5"/>
                      <a:stretch>
                        <a:fillRect/>
                      </a:stretch>
                    </p:blipFill>
                    <p:spPr>
                      <a:xfrm>
                        <a:off x="4106228" y="4569460"/>
                        <a:ext cx="1826260" cy="1962150"/>
                      </a:xfrm>
                      <a:prstGeom prst="rect">
                        <a:avLst/>
                      </a:prstGeom>
                    </p:spPr>
                  </p:pic>
                </p:oleObj>
              </mc:Fallback>
            </mc:AlternateContent>
          </a:graphicData>
        </a:graphic>
      </p:graphicFrame>
      <p:graphicFrame>
        <p:nvGraphicFramePr>
          <p:cNvPr id="7" name="对象 6"/>
          <p:cNvGraphicFramePr/>
          <p:nvPr/>
        </p:nvGraphicFramePr>
        <p:xfrm>
          <a:off x="7061835" y="5295900"/>
          <a:ext cx="1852295" cy="1235710"/>
        </p:xfrm>
        <a:graphic>
          <a:graphicData uri="http://schemas.openxmlformats.org/presentationml/2006/ole">
            <mc:AlternateContent xmlns:mc="http://schemas.openxmlformats.org/markup-compatibility/2006">
              <mc:Choice xmlns:v="urn:schemas-microsoft-com:vml" Requires="v">
                <p:oleObj spid="_x0000_s56327" r:id="rId6" imgW="1412875" imgH="938530" progId="ChemDraw.Document.6.0">
                  <p:embed/>
                </p:oleObj>
              </mc:Choice>
              <mc:Fallback>
                <p:oleObj r:id="rId6" imgW="1412875" imgH="938530" progId="ChemDraw.Document.6.0">
                  <p:embed/>
                  <p:pic>
                    <p:nvPicPr>
                      <p:cNvPr id="7" name="对象 6"/>
                      <p:cNvPicPr/>
                      <p:nvPr/>
                    </p:nvPicPr>
                    <p:blipFill>
                      <a:blip r:embed="rId7"/>
                      <a:stretch>
                        <a:fillRect/>
                      </a:stretch>
                    </p:blipFill>
                    <p:spPr>
                      <a:xfrm>
                        <a:off x="7061835" y="5295900"/>
                        <a:ext cx="1852295" cy="1235710"/>
                      </a:xfrm>
                      <a:prstGeom prst="rect">
                        <a:avLst/>
                      </a:prstGeom>
                    </p:spPr>
                  </p:pic>
                </p:oleObj>
              </mc:Fallback>
            </mc:AlternateContent>
          </a:graphicData>
        </a:graphic>
      </p:graphicFrame>
      <p:sp>
        <p:nvSpPr>
          <p:cNvPr id="9" name="文本框 8"/>
          <p:cNvSpPr txBox="1"/>
          <p:nvPr/>
        </p:nvSpPr>
        <p:spPr>
          <a:xfrm>
            <a:off x="1945005" y="4510405"/>
            <a:ext cx="3048000" cy="368300"/>
          </a:xfrm>
          <a:prstGeom prst="rect">
            <a:avLst/>
          </a:prstGeom>
          <a:noFill/>
        </p:spPr>
        <p:txBody>
          <a:bodyPr wrap="square" rtlCol="0">
            <a:spAutoFit/>
          </a:bodyPr>
          <a:lstStyle/>
          <a:p>
            <a:r>
              <a:rPr lang="zh-CN" altLang="en-US" b="1">
                <a:latin typeface="微软雅黑" panose="020B0503020204020204" charset="-122"/>
                <a:ea typeface="微软雅黑" panose="020B0503020204020204" charset="-122"/>
              </a:rPr>
              <a:t>原料药价格</a:t>
            </a:r>
            <a:r>
              <a:rPr lang="zh-CN" altLang="en-US">
                <a:latin typeface="微软雅黑" panose="020B0503020204020204" charset="-122"/>
                <a:ea typeface="微软雅黑" panose="020B0503020204020204" charset="-122"/>
              </a:rPr>
              <a:t>：</a:t>
            </a:r>
          </a:p>
        </p:txBody>
      </p:sp>
      <p:sp>
        <p:nvSpPr>
          <p:cNvPr id="10" name="文本框 9"/>
          <p:cNvSpPr txBox="1"/>
          <p:nvPr/>
        </p:nvSpPr>
        <p:spPr>
          <a:xfrm>
            <a:off x="1899285" y="892175"/>
            <a:ext cx="8289925" cy="3207385"/>
          </a:xfrm>
          <a:prstGeom prst="rect">
            <a:avLst/>
          </a:prstGeom>
          <a:noFill/>
        </p:spPr>
        <p:txBody>
          <a:bodyPr wrap="square" rtlCol="0">
            <a:spAutoFit/>
          </a:bodyPr>
          <a:lstStyle/>
          <a:p>
            <a:pPr indent="0" fontAlgn="auto">
              <a:lnSpc>
                <a:spcPct val="125000"/>
              </a:lnSpc>
            </a:pPr>
            <a:r>
              <a:rPr lang="zh-CN" altLang="en-US" b="1">
                <a:latin typeface="微软雅黑" panose="020B0503020204020204" charset="-122"/>
                <a:ea typeface="微软雅黑" panose="020B0503020204020204" charset="-122"/>
              </a:rPr>
              <a:t>市场价值</a:t>
            </a:r>
            <a:r>
              <a:rPr lang="zh-CN" altLang="en-US">
                <a:latin typeface="微软雅黑" panose="020B0503020204020204" charset="-122"/>
                <a:ea typeface="微软雅黑" panose="020B0503020204020204" charset="-122"/>
              </a:rPr>
              <a:t>：</a:t>
            </a:r>
          </a:p>
          <a:p>
            <a:pPr indent="0" fontAlgn="auto">
              <a:lnSpc>
                <a:spcPct val="125000"/>
              </a:lnSpc>
            </a:pPr>
            <a:r>
              <a:rPr lang="zh-CN" altLang="en-US">
                <a:latin typeface="微软雅黑" panose="020B0503020204020204" charset="-122"/>
                <a:ea typeface="微软雅黑" panose="020B0503020204020204" charset="-122"/>
              </a:rPr>
              <a:t> </a:t>
            </a:r>
            <a:r>
              <a:rPr lang="en-US" altLang="zh-CN">
                <a:latin typeface="微软雅黑" panose="020B0503020204020204" charset="-122"/>
                <a:ea typeface="微软雅黑" panose="020B0503020204020204" charset="-122"/>
              </a:rPr>
              <a:t>    </a:t>
            </a:r>
            <a:r>
              <a:rPr lang="en-US" altLang="zh-CN">
                <a:latin typeface="Times New Roman" panose="02020603050405020304" charset="0"/>
                <a:ea typeface="微软雅黑" panose="020B0503020204020204" charset="-122"/>
                <a:cs typeface="Times New Roman" panose="02020603050405020304" charset="0"/>
              </a:rPr>
              <a:t>  </a:t>
            </a:r>
            <a:r>
              <a:rPr lang="zh-CN" altLang="en-US">
                <a:latin typeface="Times New Roman" panose="02020603050405020304" charset="0"/>
                <a:ea typeface="微软雅黑" panose="020B0503020204020204" charset="-122"/>
                <a:cs typeface="Times New Roman" panose="02020603050405020304" charset="0"/>
              </a:rPr>
              <a:t>阿托伐他汀是一种</a:t>
            </a:r>
            <a:r>
              <a:rPr lang="en-US" altLang="zh-CN">
                <a:latin typeface="Times New Roman" panose="02020603050405020304" charset="0"/>
                <a:ea typeface="微软雅黑" panose="020B0503020204020204" charset="-122"/>
                <a:cs typeface="Times New Roman" panose="02020603050405020304" charset="0"/>
              </a:rPr>
              <a:t>3-</a:t>
            </a:r>
            <a:r>
              <a:rPr lang="zh-CN" altLang="en-US">
                <a:latin typeface="Times New Roman" panose="02020603050405020304" charset="0"/>
                <a:ea typeface="微软雅黑" panose="020B0503020204020204" charset="-122"/>
                <a:cs typeface="Times New Roman" panose="02020603050405020304" charset="0"/>
              </a:rPr>
              <a:t>羟基</a:t>
            </a:r>
            <a:r>
              <a:rPr lang="en-US" altLang="zh-CN">
                <a:latin typeface="Times New Roman" panose="02020603050405020304" charset="0"/>
                <a:ea typeface="微软雅黑" panose="020B0503020204020204" charset="-122"/>
                <a:cs typeface="Times New Roman" panose="02020603050405020304" charset="0"/>
              </a:rPr>
              <a:t>-3-</a:t>
            </a:r>
            <a:r>
              <a:rPr lang="zh-CN" altLang="en-US">
                <a:latin typeface="Times New Roman" panose="02020603050405020304" charset="0"/>
                <a:ea typeface="微软雅黑" panose="020B0503020204020204" charset="-122"/>
                <a:cs typeface="Times New Roman" panose="02020603050405020304" charset="0"/>
              </a:rPr>
              <a:t>甲基戊二酰辅酶</a:t>
            </a:r>
            <a:r>
              <a:rPr lang="en-US" altLang="zh-CN">
                <a:latin typeface="Times New Roman" panose="02020603050405020304" charset="0"/>
                <a:ea typeface="微软雅黑" panose="020B0503020204020204" charset="-122"/>
                <a:cs typeface="Times New Roman" panose="02020603050405020304" charset="0"/>
              </a:rPr>
              <a:t>A</a:t>
            </a:r>
            <a:r>
              <a:rPr lang="zh-CN" altLang="en-US">
                <a:latin typeface="Times New Roman" panose="02020603050405020304" charset="0"/>
                <a:ea typeface="微软雅黑" panose="020B0503020204020204" charset="-122"/>
                <a:cs typeface="Times New Roman" panose="02020603050405020304" charset="0"/>
              </a:rPr>
              <a:t>（</a:t>
            </a:r>
            <a:r>
              <a:rPr lang="en-US" altLang="zh-CN">
                <a:latin typeface="Times New Roman" panose="02020603050405020304" charset="0"/>
                <a:ea typeface="微软雅黑" panose="020B0503020204020204" charset="-122"/>
                <a:cs typeface="Times New Roman" panose="02020603050405020304" charset="0"/>
              </a:rPr>
              <a:t>HMG-CoA</a:t>
            </a:r>
            <a:r>
              <a:rPr lang="zh-CN" altLang="en-US">
                <a:latin typeface="Times New Roman" panose="02020603050405020304" charset="0"/>
                <a:ea typeface="微软雅黑" panose="020B0503020204020204" charset="-122"/>
                <a:cs typeface="Times New Roman" panose="02020603050405020304" charset="0"/>
              </a:rPr>
              <a:t>）还原酶抑制剂，也是立普妥（</a:t>
            </a:r>
            <a:r>
              <a:rPr lang="en-US" altLang="zh-CN">
                <a:latin typeface="Times New Roman" panose="02020603050405020304" charset="0"/>
                <a:ea typeface="微软雅黑" panose="020B0503020204020204" charset="-122"/>
                <a:cs typeface="Times New Roman" panose="02020603050405020304" charset="0"/>
              </a:rPr>
              <a:t>Lipitor</a:t>
            </a:r>
            <a:r>
              <a:rPr lang="zh-CN" altLang="en-US">
                <a:latin typeface="Times New Roman" panose="02020603050405020304" charset="0"/>
                <a:ea typeface="微软雅黑" panose="020B0503020204020204" charset="-122"/>
                <a:cs typeface="Times New Roman" panose="02020603050405020304" charset="0"/>
              </a:rPr>
              <a:t>）的活性成分。其属于他汀类降脂药，通过抑制肝脏胆固醇合成限速酶，减少内源性胆固醇生成，同时上调肝细胞表面</a:t>
            </a:r>
            <a:r>
              <a:rPr lang="en-US" altLang="zh-CN">
                <a:latin typeface="Times New Roman" panose="02020603050405020304" charset="0"/>
                <a:ea typeface="微软雅黑" panose="020B0503020204020204" charset="-122"/>
                <a:cs typeface="Times New Roman" panose="02020603050405020304" charset="0"/>
              </a:rPr>
              <a:t> LDL </a:t>
            </a:r>
            <a:r>
              <a:rPr lang="zh-CN" altLang="en-US">
                <a:latin typeface="Times New Roman" panose="02020603050405020304" charset="0"/>
                <a:ea typeface="微软雅黑" panose="020B0503020204020204" charset="-122"/>
                <a:cs typeface="Times New Roman" panose="02020603050405020304" charset="0"/>
              </a:rPr>
              <a:t>受体，加速清除血液中的</a:t>
            </a:r>
            <a:r>
              <a:rPr lang="en-US" altLang="zh-CN">
                <a:latin typeface="Times New Roman" panose="02020603050405020304" charset="0"/>
                <a:ea typeface="微软雅黑" panose="020B0503020204020204" charset="-122"/>
                <a:cs typeface="Times New Roman" panose="02020603050405020304" charset="0"/>
              </a:rPr>
              <a:t>LDL-C</a:t>
            </a:r>
            <a:r>
              <a:rPr lang="zh-CN" altLang="en-US">
                <a:latin typeface="Times New Roman" panose="02020603050405020304" charset="0"/>
                <a:ea typeface="微软雅黑" panose="020B0503020204020204" charset="-122"/>
                <a:cs typeface="Times New Roman" panose="02020603050405020304" charset="0"/>
              </a:rPr>
              <a:t>。</a:t>
            </a:r>
          </a:p>
          <a:p>
            <a:pPr indent="0" fontAlgn="auto">
              <a:lnSpc>
                <a:spcPct val="125000"/>
              </a:lnSpc>
            </a:pPr>
            <a:r>
              <a:rPr lang="en-US" altLang="zh-CN">
                <a:latin typeface="Times New Roman" panose="02020603050405020304" charset="0"/>
                <a:ea typeface="微软雅黑" panose="020B0503020204020204" charset="-122"/>
                <a:cs typeface="Times New Roman" panose="02020603050405020304" charset="0"/>
              </a:rPr>
              <a:t>       </a:t>
            </a:r>
            <a:r>
              <a:rPr lang="zh-CN" altLang="en-US">
                <a:latin typeface="Times New Roman" panose="02020603050405020304" charset="0"/>
                <a:ea typeface="微软雅黑" panose="020B0503020204020204" charset="-122"/>
                <a:cs typeface="Times New Roman" panose="02020603050405020304" charset="0"/>
              </a:rPr>
              <a:t>阿托伐他汀是全球应用最广的降脂药之一，目前为史上最畅销的药物，现已成为心血管疾病防治的基础用药。原研药（辉瑞</a:t>
            </a:r>
            <a:r>
              <a:rPr lang="en-US" altLang="zh-CN">
                <a:latin typeface="Times New Roman" panose="02020603050405020304" charset="0"/>
                <a:ea typeface="微软雅黑" panose="020B0503020204020204" charset="-122"/>
                <a:cs typeface="Times New Roman" panose="02020603050405020304" charset="0"/>
              </a:rPr>
              <a:t> Lipitor</a:t>
            </a:r>
            <a:r>
              <a:rPr lang="zh-CN" altLang="en-US">
                <a:latin typeface="Times New Roman" panose="02020603050405020304" charset="0"/>
                <a:ea typeface="微软雅黑" panose="020B0503020204020204" charset="-122"/>
                <a:cs typeface="Times New Roman" panose="02020603050405020304" charset="0"/>
              </a:rPr>
              <a:t>）上市后累计销售额超千亿美元，是医药史上最成功的药物之一。受专利过期影响，其市场呈现出销量极大，单价极低的特征，市场规模</a:t>
            </a:r>
            <a:r>
              <a:rPr lang="en-US" altLang="zh-CN">
                <a:latin typeface="Times New Roman" panose="02020603050405020304" charset="0"/>
                <a:ea typeface="微软雅黑" panose="020B0503020204020204" charset="-122"/>
                <a:cs typeface="Times New Roman" panose="02020603050405020304" charset="0"/>
              </a:rPr>
              <a:t>12</a:t>
            </a:r>
            <a:r>
              <a:rPr lang="zh-CN" altLang="en-US">
                <a:latin typeface="Times New Roman" panose="02020603050405020304" charset="0"/>
                <a:ea typeface="微软雅黑" panose="020B0503020204020204" charset="-122"/>
                <a:cs typeface="Times New Roman" panose="02020603050405020304" charset="0"/>
              </a:rPr>
              <a:t>亿美元左右。</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8384875" y="137299"/>
            <a:ext cx="2082638" cy="665001"/>
          </a:xfrm>
          <a:prstGeom prst="rect">
            <a:avLst/>
          </a:prstGeom>
        </p:spPr>
      </p:pic>
      <p:cxnSp>
        <p:nvCxnSpPr>
          <p:cNvPr id="3" name="直接连接符 2"/>
          <p:cNvCxnSpPr/>
          <p:nvPr/>
        </p:nvCxnSpPr>
        <p:spPr>
          <a:xfrm>
            <a:off x="1899249" y="846872"/>
            <a:ext cx="8289985" cy="0"/>
          </a:xfrm>
          <a:prstGeom prst="line">
            <a:avLst/>
          </a:prstGeom>
          <a:ln w="57150">
            <a:solidFill>
              <a:srgbClr val="004B9E"/>
            </a:solidFill>
          </a:ln>
        </p:spPr>
        <p:style>
          <a:lnRef idx="1">
            <a:schemeClr val="accent1"/>
          </a:lnRef>
          <a:fillRef idx="0">
            <a:schemeClr val="accent1"/>
          </a:fillRef>
          <a:effectRef idx="0">
            <a:schemeClr val="accent1"/>
          </a:effectRef>
          <a:fontRef idx="minor">
            <a:schemeClr val="tx1"/>
          </a:fontRef>
        </p:style>
      </p:cxnSp>
      <p:graphicFrame>
        <p:nvGraphicFramePr>
          <p:cNvPr id="8" name="对象 7"/>
          <p:cNvGraphicFramePr>
            <a:graphicFrameLocks noChangeAspect="1"/>
          </p:cNvGraphicFramePr>
          <p:nvPr/>
        </p:nvGraphicFramePr>
        <p:xfrm>
          <a:off x="1579245" y="1203325"/>
          <a:ext cx="9088755" cy="4443730"/>
        </p:xfrm>
        <a:graphic>
          <a:graphicData uri="http://schemas.openxmlformats.org/presentationml/2006/ole">
            <mc:AlternateContent xmlns:mc="http://schemas.openxmlformats.org/markup-compatibility/2006">
              <mc:Choice xmlns:v="urn:schemas-microsoft-com:vml" Requires="v">
                <p:oleObj spid="_x0000_s57348" r:id="rId4" imgW="10252075" imgH="5012055" progId="ChemDraw.Document.6.0">
                  <p:embed/>
                </p:oleObj>
              </mc:Choice>
              <mc:Fallback>
                <p:oleObj r:id="rId4" imgW="10252075" imgH="5012055" progId="ChemDraw.Document.6.0">
                  <p:embed/>
                  <p:pic>
                    <p:nvPicPr>
                      <p:cNvPr id="8" name="对象 7"/>
                      <p:cNvPicPr/>
                      <p:nvPr/>
                    </p:nvPicPr>
                    <p:blipFill>
                      <a:blip r:embed="rId5"/>
                      <a:stretch>
                        <a:fillRect/>
                      </a:stretch>
                    </p:blipFill>
                    <p:spPr>
                      <a:xfrm>
                        <a:off x="1579245" y="1203325"/>
                        <a:ext cx="9088755" cy="4443730"/>
                      </a:xfrm>
                      <a:prstGeom prst="rect">
                        <a:avLst/>
                      </a:prstGeom>
                    </p:spPr>
                  </p:pic>
                </p:oleObj>
              </mc:Fallback>
            </mc:AlternateContent>
          </a:graphicData>
        </a:graphic>
      </p:graphicFrame>
      <p:sp>
        <p:nvSpPr>
          <p:cNvPr id="4" name="文本框 3"/>
          <p:cNvSpPr txBox="1"/>
          <p:nvPr/>
        </p:nvSpPr>
        <p:spPr>
          <a:xfrm>
            <a:off x="2563495" y="6327140"/>
            <a:ext cx="8104505" cy="530860"/>
          </a:xfrm>
          <a:prstGeom prst="rect">
            <a:avLst/>
          </a:prstGeom>
          <a:noFill/>
        </p:spPr>
        <p:txBody>
          <a:bodyPr wrap="square" rtlCol="0">
            <a:noAutofit/>
          </a:bodyPr>
          <a:lstStyle/>
          <a:p>
            <a:r>
              <a:rPr lang="en-US" altLang="zh-CN" sz="1200">
                <a:latin typeface="Times New Roman" panose="02020603050405020304" charset="0"/>
                <a:cs typeface="Times New Roman" panose="02020603050405020304" charset="0"/>
              </a:rPr>
              <a:t>LUO Y, ROY I D, MADEC A G E, </a:t>
            </a:r>
            <a:r>
              <a:rPr lang="en-US" altLang="zh-CN" sz="1200" i="1">
                <a:latin typeface="Times New Roman" panose="02020603050405020304" charset="0"/>
                <a:cs typeface="Times New Roman" panose="02020603050405020304" charset="0"/>
              </a:rPr>
              <a:t>et al</a:t>
            </a:r>
            <a:r>
              <a:rPr lang="en-US" altLang="zh-CN" sz="1200">
                <a:latin typeface="Times New Roman" panose="02020603050405020304" charset="0"/>
                <a:cs typeface="Times New Roman" panose="02020603050405020304" charset="0"/>
              </a:rPr>
              <a:t>. Enantioselective Synthesis of Allylboronates and Allylic Alcohols by Copper‐Catalyzed 1,6‐Boration[J/OL]. Angewandte Chemie International Edition, 2014, 53(16): 4186-4190.</a:t>
            </a:r>
            <a:endParaRPr lang="zh-CN" altLang="en-US" sz="1200">
              <a:latin typeface="Times New Roman" panose="02020603050405020304" charset="0"/>
              <a:cs typeface="Times New Roman" panose="02020603050405020304"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8384875" y="137299"/>
            <a:ext cx="2082638" cy="665001"/>
          </a:xfrm>
          <a:prstGeom prst="rect">
            <a:avLst/>
          </a:prstGeom>
        </p:spPr>
      </p:pic>
      <p:cxnSp>
        <p:nvCxnSpPr>
          <p:cNvPr id="3" name="直接连接符 2"/>
          <p:cNvCxnSpPr/>
          <p:nvPr/>
        </p:nvCxnSpPr>
        <p:spPr>
          <a:xfrm>
            <a:off x="1899249" y="846872"/>
            <a:ext cx="8289985" cy="0"/>
          </a:xfrm>
          <a:prstGeom prst="line">
            <a:avLst/>
          </a:prstGeom>
          <a:ln w="57150">
            <a:solidFill>
              <a:srgbClr val="004B9E"/>
            </a:solidFill>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1899285" y="1193165"/>
            <a:ext cx="8289925" cy="5393055"/>
          </a:xfrm>
          <a:prstGeom prst="rect">
            <a:avLst/>
          </a:prstGeom>
          <a:noFill/>
        </p:spPr>
        <p:txBody>
          <a:bodyPr wrap="square" rtlCol="0">
            <a:noAutofit/>
          </a:bodyPr>
          <a:lstStyle/>
          <a:p>
            <a:pPr indent="0" fontAlgn="auto">
              <a:lnSpc>
                <a:spcPct val="125000"/>
              </a:lnSpc>
            </a:pPr>
            <a:r>
              <a:rPr lang="zh-CN" altLang="en-US" b="1">
                <a:latin typeface="Times New Roman" panose="02020603050405020304" charset="0"/>
                <a:ea typeface="微软雅黑" panose="020B0503020204020204" charset="-122"/>
                <a:cs typeface="Times New Roman" panose="02020603050405020304" charset="0"/>
              </a:rPr>
              <a:t>反应路线优点</a:t>
            </a:r>
            <a:r>
              <a:rPr lang="zh-CN" altLang="en-US">
                <a:latin typeface="Times New Roman" panose="02020603050405020304" charset="0"/>
                <a:ea typeface="微软雅黑" panose="020B0503020204020204" charset="-122"/>
                <a:cs typeface="Times New Roman" panose="02020603050405020304" charset="0"/>
              </a:rPr>
              <a:t>：</a:t>
            </a:r>
          </a:p>
          <a:p>
            <a:pPr indent="0" fontAlgn="auto">
              <a:lnSpc>
                <a:spcPct val="125000"/>
              </a:lnSpc>
            </a:pPr>
            <a:r>
              <a:rPr lang="zh-CN" altLang="en-US">
                <a:latin typeface="Times New Roman" panose="02020603050405020304" charset="0"/>
                <a:ea typeface="微软雅黑" panose="020B0503020204020204" charset="-122"/>
                <a:cs typeface="Times New Roman" panose="02020603050405020304" charset="0"/>
              </a:rPr>
              <a:t> </a:t>
            </a:r>
            <a:r>
              <a:rPr lang="en-US" altLang="zh-CN">
                <a:latin typeface="Times New Roman" panose="02020603050405020304" charset="0"/>
                <a:ea typeface="微软雅黑" panose="020B0503020204020204" charset="-122"/>
                <a:cs typeface="Times New Roman" panose="02020603050405020304" charset="0"/>
              </a:rPr>
              <a:t>     1.</a:t>
            </a:r>
            <a:r>
              <a:rPr lang="zh-CN" altLang="en-US">
                <a:latin typeface="Times New Roman" panose="02020603050405020304" charset="0"/>
                <a:ea typeface="微软雅黑" panose="020B0503020204020204" charset="-122"/>
                <a:cs typeface="Times New Roman" panose="02020603050405020304" charset="0"/>
              </a:rPr>
              <a:t>文献所使用的铜催化</a:t>
            </a:r>
            <a:r>
              <a:rPr lang="en-US" altLang="zh-CN">
                <a:latin typeface="Times New Roman" panose="02020603050405020304" charset="0"/>
                <a:ea typeface="微软雅黑" panose="020B0503020204020204" charset="-122"/>
                <a:cs typeface="Times New Roman" panose="02020603050405020304" charset="0"/>
              </a:rPr>
              <a:t>1,6-</a:t>
            </a:r>
            <a:r>
              <a:rPr lang="zh-CN" altLang="en-US">
                <a:latin typeface="Times New Roman" panose="02020603050405020304" charset="0"/>
                <a:ea typeface="微软雅黑" panose="020B0503020204020204" charset="-122"/>
                <a:cs typeface="Times New Roman" panose="02020603050405020304" charset="0"/>
              </a:rPr>
              <a:t>硼烷化反应：铜催化剂原子经济性高、催化剂载量低（</a:t>
            </a:r>
            <a:r>
              <a:rPr lang="en-US" altLang="zh-CN">
                <a:latin typeface="Times New Roman" panose="02020603050405020304" charset="0"/>
                <a:ea typeface="微软雅黑" panose="020B0503020204020204" charset="-122"/>
                <a:cs typeface="Times New Roman" panose="02020603050405020304" charset="0"/>
              </a:rPr>
              <a:t>0.02 mol%</a:t>
            </a:r>
            <a:r>
              <a:rPr lang="zh-CN" altLang="en-US">
                <a:latin typeface="Times New Roman" panose="02020603050405020304" charset="0"/>
                <a:ea typeface="微软雅黑" panose="020B0503020204020204" charset="-122"/>
                <a:cs typeface="Times New Roman" panose="02020603050405020304" charset="0"/>
              </a:rPr>
              <a:t>），同时降低了手性配体（</a:t>
            </a:r>
            <a:r>
              <a:rPr lang="en-US" altLang="zh-CN">
                <a:latin typeface="Times New Roman" panose="02020603050405020304" charset="0"/>
                <a:ea typeface="微软雅黑" panose="020B0503020204020204" charset="-122"/>
                <a:cs typeface="Times New Roman" panose="02020603050405020304" charset="0"/>
              </a:rPr>
              <a:t>0.024 mol%</a:t>
            </a:r>
            <a:r>
              <a:rPr lang="zh-CN" altLang="en-US">
                <a:latin typeface="Times New Roman" panose="02020603050405020304" charset="0"/>
                <a:ea typeface="微软雅黑" panose="020B0503020204020204" charset="-122"/>
                <a:cs typeface="Times New Roman" panose="02020603050405020304" charset="0"/>
              </a:rPr>
              <a:t>）的成本。</a:t>
            </a:r>
          </a:p>
          <a:p>
            <a:pPr indent="0" fontAlgn="auto">
              <a:lnSpc>
                <a:spcPct val="125000"/>
              </a:lnSpc>
            </a:pPr>
            <a:r>
              <a:rPr lang="en-US" altLang="zh-CN">
                <a:latin typeface="Times New Roman" panose="02020603050405020304" charset="0"/>
                <a:ea typeface="微软雅黑" panose="020B0503020204020204" charset="-122"/>
                <a:cs typeface="Times New Roman" panose="02020603050405020304" charset="0"/>
              </a:rPr>
              <a:t>      2.</a:t>
            </a:r>
            <a:r>
              <a:rPr lang="zh-CN" altLang="en-US">
                <a:latin typeface="Times New Roman" panose="02020603050405020304" charset="0"/>
                <a:ea typeface="微软雅黑" panose="020B0503020204020204" charset="-122"/>
                <a:cs typeface="Times New Roman" panose="02020603050405020304" charset="0"/>
              </a:rPr>
              <a:t>关键中间体</a:t>
            </a:r>
            <a:r>
              <a:rPr lang="en-US" altLang="zh-CN" b="1">
                <a:latin typeface="Times New Roman" panose="02020603050405020304" charset="0"/>
                <a:ea typeface="微软雅黑" panose="020B0503020204020204" charset="-122"/>
                <a:cs typeface="Times New Roman" panose="02020603050405020304" charset="0"/>
              </a:rPr>
              <a:t>11</a:t>
            </a:r>
            <a:r>
              <a:rPr lang="zh-CN" altLang="en-US">
                <a:latin typeface="Times New Roman" panose="02020603050405020304" charset="0"/>
                <a:ea typeface="微软雅黑" panose="020B0503020204020204" charset="-122"/>
                <a:cs typeface="Times New Roman" panose="02020603050405020304" charset="0"/>
              </a:rPr>
              <a:t>的手性控制佳，手性富集样品＞</a:t>
            </a:r>
            <a:r>
              <a:rPr lang="en-US" altLang="zh-CN">
                <a:latin typeface="Times New Roman" panose="02020603050405020304" charset="0"/>
                <a:ea typeface="微软雅黑" panose="020B0503020204020204" charset="-122"/>
                <a:cs typeface="Times New Roman" panose="02020603050405020304" charset="0"/>
              </a:rPr>
              <a:t>99% ee</a:t>
            </a:r>
            <a:r>
              <a:rPr lang="zh-CN" altLang="en-US">
                <a:latin typeface="Times New Roman" panose="02020603050405020304" charset="0"/>
                <a:ea typeface="微软雅黑" panose="020B0503020204020204" charset="-122"/>
                <a:cs typeface="Times New Roman" panose="02020603050405020304" charset="0"/>
              </a:rPr>
              <a:t>。</a:t>
            </a:r>
          </a:p>
          <a:p>
            <a:pPr indent="0" fontAlgn="auto">
              <a:lnSpc>
                <a:spcPct val="125000"/>
              </a:lnSpc>
            </a:pPr>
            <a:r>
              <a:rPr lang="en-US" altLang="zh-CN">
                <a:latin typeface="Times New Roman" panose="02020603050405020304" charset="0"/>
                <a:ea typeface="微软雅黑" panose="020B0503020204020204" charset="-122"/>
                <a:cs typeface="Times New Roman" panose="02020603050405020304" charset="0"/>
                <a:sym typeface="+mn-ea"/>
              </a:rPr>
              <a:t>      3.</a:t>
            </a:r>
            <a:r>
              <a:rPr lang="zh-CN" altLang="en-US">
                <a:latin typeface="Times New Roman" panose="02020603050405020304" charset="0"/>
                <a:ea typeface="微软雅黑" panose="020B0503020204020204" charset="-122"/>
                <a:cs typeface="Times New Roman" panose="02020603050405020304" charset="0"/>
                <a:sym typeface="+mn-ea"/>
              </a:rPr>
              <a:t>铜催化</a:t>
            </a:r>
            <a:r>
              <a:rPr lang="en-US" altLang="zh-CN">
                <a:latin typeface="Times New Roman" panose="02020603050405020304" charset="0"/>
                <a:ea typeface="微软雅黑" panose="020B0503020204020204" charset="-122"/>
                <a:cs typeface="Times New Roman" panose="02020603050405020304" charset="0"/>
                <a:sym typeface="+mn-ea"/>
              </a:rPr>
              <a:t>1,6-</a:t>
            </a:r>
            <a:r>
              <a:rPr lang="zh-CN" altLang="en-US">
                <a:latin typeface="Times New Roman" panose="02020603050405020304" charset="0"/>
                <a:ea typeface="微软雅黑" panose="020B0503020204020204" charset="-122"/>
                <a:cs typeface="Times New Roman" panose="02020603050405020304" charset="0"/>
                <a:sym typeface="+mn-ea"/>
              </a:rPr>
              <a:t>硼烷化反应具有后期官能化潜力，具有良好官能团耐受性，为阿托伐他汀的侧链修饰提供灵活的模块化的后期修饰平台。</a:t>
            </a:r>
          </a:p>
          <a:p>
            <a:pPr indent="0" fontAlgn="auto">
              <a:lnSpc>
                <a:spcPct val="125000"/>
              </a:lnSpc>
            </a:pPr>
            <a:endParaRPr lang="zh-CN" altLang="en-US">
              <a:latin typeface="Times New Roman" panose="02020603050405020304" charset="0"/>
              <a:ea typeface="微软雅黑" panose="020B0503020204020204" charset="-122"/>
              <a:cs typeface="Times New Roman" panose="02020603050405020304" charset="0"/>
            </a:endParaRPr>
          </a:p>
          <a:p>
            <a:pPr indent="0" fontAlgn="auto">
              <a:lnSpc>
                <a:spcPct val="125000"/>
              </a:lnSpc>
            </a:pPr>
            <a:endParaRPr lang="zh-CN" altLang="en-US" b="1">
              <a:latin typeface="Times New Roman" panose="02020603050405020304" charset="0"/>
              <a:ea typeface="微软雅黑" panose="020B0503020204020204" charset="-122"/>
              <a:cs typeface="Times New Roman" panose="02020603050405020304" charset="0"/>
            </a:endParaRPr>
          </a:p>
          <a:p>
            <a:pPr indent="0" fontAlgn="auto">
              <a:lnSpc>
                <a:spcPct val="125000"/>
              </a:lnSpc>
            </a:pPr>
            <a:r>
              <a:rPr lang="zh-CN" altLang="en-US" b="1">
                <a:latin typeface="Times New Roman" panose="02020603050405020304" charset="0"/>
                <a:ea typeface="微软雅黑" panose="020B0503020204020204" charset="-122"/>
                <a:cs typeface="Times New Roman" panose="02020603050405020304" charset="0"/>
              </a:rPr>
              <a:t>反应路线缺点</a:t>
            </a:r>
            <a:r>
              <a:rPr lang="zh-CN" altLang="en-US">
                <a:latin typeface="Times New Roman" panose="02020603050405020304" charset="0"/>
                <a:ea typeface="微软雅黑" panose="020B0503020204020204" charset="-122"/>
                <a:cs typeface="Times New Roman" panose="02020603050405020304" charset="0"/>
              </a:rPr>
              <a:t>：</a:t>
            </a:r>
          </a:p>
          <a:p>
            <a:pPr indent="0" fontAlgn="auto">
              <a:lnSpc>
                <a:spcPct val="125000"/>
              </a:lnSpc>
            </a:pPr>
            <a:r>
              <a:rPr lang="zh-CN" altLang="en-US">
                <a:latin typeface="Times New Roman" panose="02020603050405020304" charset="0"/>
                <a:ea typeface="微软雅黑" panose="020B0503020204020204" charset="-122"/>
                <a:cs typeface="Times New Roman" panose="02020603050405020304" charset="0"/>
              </a:rPr>
              <a:t> </a:t>
            </a:r>
            <a:r>
              <a:rPr lang="en-US" altLang="zh-CN">
                <a:latin typeface="Times New Roman" panose="02020603050405020304" charset="0"/>
                <a:ea typeface="微软雅黑" panose="020B0503020204020204" charset="-122"/>
                <a:cs typeface="Times New Roman" panose="02020603050405020304" charset="0"/>
              </a:rPr>
              <a:t>     1.</a:t>
            </a:r>
            <a:r>
              <a:rPr lang="zh-CN" altLang="en-US">
                <a:latin typeface="Times New Roman" panose="02020603050405020304" charset="0"/>
                <a:ea typeface="微软雅黑" panose="020B0503020204020204" charset="-122"/>
                <a:cs typeface="Times New Roman" panose="02020603050405020304" charset="0"/>
              </a:rPr>
              <a:t>试剂二硼酸频哪醇酯（</a:t>
            </a:r>
            <a:r>
              <a:rPr lang="en-US" altLang="zh-CN">
                <a:latin typeface="Times New Roman" panose="02020603050405020304" charset="0"/>
                <a:ea typeface="微软雅黑" panose="020B0503020204020204" charset="-122"/>
                <a:cs typeface="Times New Roman" panose="02020603050405020304" charset="0"/>
              </a:rPr>
              <a:t>B</a:t>
            </a:r>
            <a:r>
              <a:rPr lang="en-US" altLang="zh-CN" baseline="-25000">
                <a:latin typeface="Times New Roman" panose="02020603050405020304" charset="0"/>
                <a:ea typeface="微软雅黑" panose="020B0503020204020204" charset="-122"/>
                <a:cs typeface="Times New Roman" panose="02020603050405020304" charset="0"/>
              </a:rPr>
              <a:t>2</a:t>
            </a:r>
            <a:r>
              <a:rPr lang="en-US" altLang="zh-CN">
                <a:latin typeface="Times New Roman" panose="02020603050405020304" charset="0"/>
                <a:ea typeface="微软雅黑" panose="020B0503020204020204" charset="-122"/>
                <a:cs typeface="Times New Roman" panose="02020603050405020304" charset="0"/>
              </a:rPr>
              <a:t>pin</a:t>
            </a:r>
            <a:r>
              <a:rPr lang="en-US" altLang="zh-CN" baseline="-25000">
                <a:latin typeface="Times New Roman" panose="02020603050405020304" charset="0"/>
                <a:ea typeface="微软雅黑" panose="020B0503020204020204" charset="-122"/>
                <a:cs typeface="Times New Roman" panose="02020603050405020304" charset="0"/>
              </a:rPr>
              <a:t>2</a:t>
            </a:r>
            <a:r>
              <a:rPr lang="zh-CN" altLang="en-US">
                <a:latin typeface="Times New Roman" panose="02020603050405020304" charset="0"/>
                <a:ea typeface="微软雅黑" panose="020B0503020204020204" charset="-122"/>
                <a:cs typeface="Times New Roman" panose="02020603050405020304" charset="0"/>
              </a:rPr>
              <a:t>）对空气和水分十分敏感，工业上忌讳使用，且操作苛刻。</a:t>
            </a:r>
          </a:p>
          <a:p>
            <a:pPr indent="0" fontAlgn="auto">
              <a:lnSpc>
                <a:spcPct val="125000"/>
              </a:lnSpc>
            </a:pPr>
            <a:r>
              <a:rPr lang="en-US" altLang="zh-CN">
                <a:latin typeface="Times New Roman" panose="02020603050405020304" charset="0"/>
                <a:ea typeface="微软雅黑" panose="020B0503020204020204" charset="-122"/>
                <a:cs typeface="Times New Roman" panose="02020603050405020304" charset="0"/>
              </a:rPr>
              <a:t>      2.</a:t>
            </a:r>
            <a:r>
              <a:rPr lang="zh-CN" altLang="en-US">
                <a:latin typeface="Times New Roman" panose="02020603050405020304" charset="0"/>
                <a:ea typeface="微软雅黑" panose="020B0503020204020204" charset="-122"/>
                <a:cs typeface="Times New Roman" panose="02020603050405020304" charset="0"/>
              </a:rPr>
              <a:t>相比于工业合成路线，</a:t>
            </a:r>
            <a:r>
              <a:rPr lang="en-US" altLang="zh-CN">
                <a:latin typeface="Times New Roman" panose="02020603050405020304" charset="0"/>
                <a:ea typeface="微软雅黑" panose="020B0503020204020204" charset="-122"/>
                <a:cs typeface="Times New Roman" panose="02020603050405020304" charset="0"/>
              </a:rPr>
              <a:t>Josiphos</a:t>
            </a:r>
            <a:r>
              <a:rPr lang="zh-CN" altLang="en-US">
                <a:latin typeface="Times New Roman" panose="02020603050405020304" charset="0"/>
                <a:ea typeface="微软雅黑" panose="020B0503020204020204" charset="-122"/>
                <a:cs typeface="Times New Roman" panose="02020603050405020304" charset="0"/>
              </a:rPr>
              <a:t>类配体价格较高，铜源制备复杂，且后处理复杂。</a:t>
            </a:r>
          </a:p>
          <a:p>
            <a:pPr indent="0" fontAlgn="auto">
              <a:lnSpc>
                <a:spcPct val="125000"/>
              </a:lnSpc>
            </a:pPr>
            <a:r>
              <a:rPr lang="en-US" altLang="zh-CN">
                <a:latin typeface="Times New Roman" panose="02020603050405020304" charset="0"/>
                <a:ea typeface="微软雅黑" panose="020B0503020204020204" charset="-122"/>
                <a:cs typeface="Times New Roman" panose="02020603050405020304" charset="0"/>
              </a:rPr>
              <a:t>      3.</a:t>
            </a:r>
            <a:r>
              <a:rPr lang="zh-CN" altLang="en-US">
                <a:latin typeface="Times New Roman" panose="02020603050405020304" charset="0"/>
                <a:ea typeface="微软雅黑" panose="020B0503020204020204" charset="-122"/>
                <a:cs typeface="Times New Roman" panose="02020603050405020304" charset="0"/>
              </a:rPr>
              <a:t>相比于工业合成路线，本研究路线冗余，主要为了展示</a:t>
            </a:r>
            <a:r>
              <a:rPr lang="en-US" altLang="zh-CN">
                <a:latin typeface="Times New Roman" panose="02020603050405020304" charset="0"/>
                <a:ea typeface="微软雅黑" panose="020B0503020204020204" charset="-122"/>
                <a:cs typeface="Times New Roman" panose="02020603050405020304" charset="0"/>
                <a:sym typeface="+mn-ea"/>
              </a:rPr>
              <a:t>1,6-</a:t>
            </a:r>
            <a:r>
              <a:rPr lang="zh-CN" altLang="en-US">
                <a:latin typeface="Times New Roman" panose="02020603050405020304" charset="0"/>
                <a:ea typeface="微软雅黑" panose="020B0503020204020204" charset="-122"/>
                <a:cs typeface="Times New Roman" panose="02020603050405020304" charset="0"/>
                <a:sym typeface="+mn-ea"/>
              </a:rPr>
              <a:t>硼烷化反应。</a:t>
            </a:r>
            <a:endParaRPr lang="zh-CN" altLang="en-US">
              <a:latin typeface="Times New Roman" panose="02020603050405020304" charset="0"/>
              <a:ea typeface="微软雅黑" panose="020B0503020204020204" charset="-122"/>
              <a:cs typeface="Times New Roman" panose="02020603050405020304"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8384875" y="137299"/>
            <a:ext cx="2082638" cy="665001"/>
          </a:xfrm>
          <a:prstGeom prst="rect">
            <a:avLst/>
          </a:prstGeom>
        </p:spPr>
      </p:pic>
      <p:cxnSp>
        <p:nvCxnSpPr>
          <p:cNvPr id="3" name="直接连接符 2"/>
          <p:cNvCxnSpPr/>
          <p:nvPr/>
        </p:nvCxnSpPr>
        <p:spPr>
          <a:xfrm>
            <a:off x="1899249" y="846872"/>
            <a:ext cx="8289985" cy="0"/>
          </a:xfrm>
          <a:prstGeom prst="line">
            <a:avLst/>
          </a:prstGeom>
          <a:ln w="57150">
            <a:solidFill>
              <a:srgbClr val="004B9E"/>
            </a:solidFill>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1579245" y="5019675"/>
            <a:ext cx="8782685" cy="1838325"/>
          </a:xfrm>
          <a:prstGeom prst="rect">
            <a:avLst/>
          </a:prstGeom>
          <a:noFill/>
        </p:spPr>
        <p:txBody>
          <a:bodyPr wrap="square" rtlCol="0">
            <a:noAutofit/>
          </a:bodyPr>
          <a:lstStyle/>
          <a:p>
            <a:pPr indent="0" fontAlgn="auto">
              <a:lnSpc>
                <a:spcPct val="125000"/>
              </a:lnSpc>
            </a:pPr>
            <a:r>
              <a:rPr lang="zh-CN" altLang="en-US" b="1">
                <a:latin typeface="Times New Roman" panose="02020603050405020304" charset="0"/>
                <a:ea typeface="微软雅黑" panose="020B0503020204020204" charset="-122"/>
                <a:cs typeface="Times New Roman" panose="02020603050405020304" charset="0"/>
              </a:rPr>
              <a:t>难点问题及解决方案</a:t>
            </a:r>
            <a:r>
              <a:rPr lang="zh-CN" altLang="en-US">
                <a:latin typeface="Times New Roman" panose="02020603050405020304" charset="0"/>
                <a:ea typeface="微软雅黑" panose="020B0503020204020204" charset="-122"/>
                <a:cs typeface="Times New Roman" panose="02020603050405020304" charset="0"/>
              </a:rPr>
              <a:t>：</a:t>
            </a:r>
          </a:p>
          <a:p>
            <a:pPr indent="0" fontAlgn="auto">
              <a:lnSpc>
                <a:spcPct val="125000"/>
              </a:lnSpc>
            </a:pPr>
            <a:r>
              <a:rPr lang="en-US" altLang="zh-CN">
                <a:latin typeface="Times New Roman" panose="02020603050405020304" charset="0"/>
                <a:ea typeface="微软雅黑" panose="020B0503020204020204" charset="-122"/>
                <a:cs typeface="Times New Roman" panose="02020603050405020304" charset="0"/>
              </a:rPr>
              <a:t>1.</a:t>
            </a:r>
            <a:r>
              <a:rPr lang="zh-CN" altLang="en-US">
                <a:latin typeface="Times New Roman" panose="02020603050405020304" charset="0"/>
                <a:ea typeface="微软雅黑" panose="020B0503020204020204" charset="-122"/>
                <a:cs typeface="Times New Roman" panose="02020603050405020304" charset="0"/>
              </a:rPr>
              <a:t>危险试剂与苛刻操作：</a:t>
            </a:r>
            <a:r>
              <a:rPr lang="en-US" altLang="zh-CN">
                <a:latin typeface="Times New Roman" panose="02020603050405020304" charset="0"/>
                <a:ea typeface="微软雅黑" panose="020B0503020204020204" charset="-122"/>
                <a:cs typeface="Times New Roman" panose="02020603050405020304" charset="0"/>
                <a:sym typeface="+mn-ea"/>
              </a:rPr>
              <a:t>B</a:t>
            </a:r>
            <a:r>
              <a:rPr lang="en-US" altLang="zh-CN" baseline="-25000">
                <a:latin typeface="Times New Roman" panose="02020603050405020304" charset="0"/>
                <a:ea typeface="微软雅黑" panose="020B0503020204020204" charset="-122"/>
                <a:cs typeface="Times New Roman" panose="02020603050405020304" charset="0"/>
                <a:sym typeface="+mn-ea"/>
              </a:rPr>
              <a:t>2</a:t>
            </a:r>
            <a:r>
              <a:rPr lang="en-US" altLang="zh-CN">
                <a:latin typeface="Times New Roman" panose="02020603050405020304" charset="0"/>
                <a:ea typeface="微软雅黑" panose="020B0503020204020204" charset="-122"/>
                <a:cs typeface="Times New Roman" panose="02020603050405020304" charset="0"/>
                <a:sym typeface="+mn-ea"/>
              </a:rPr>
              <a:t>pin</a:t>
            </a:r>
            <a:r>
              <a:rPr lang="en-US" altLang="zh-CN" baseline="-25000">
                <a:latin typeface="Times New Roman" panose="02020603050405020304" charset="0"/>
                <a:ea typeface="微软雅黑" panose="020B0503020204020204" charset="-122"/>
                <a:cs typeface="Times New Roman" panose="02020603050405020304" charset="0"/>
                <a:sym typeface="+mn-ea"/>
              </a:rPr>
              <a:t>2</a:t>
            </a:r>
            <a:r>
              <a:rPr lang="zh-CN" altLang="en-US">
                <a:latin typeface="Times New Roman" panose="02020603050405020304" charset="0"/>
                <a:ea typeface="微软雅黑" panose="020B0503020204020204" charset="-122"/>
                <a:cs typeface="Times New Roman" panose="02020603050405020304" charset="0"/>
                <a:sym typeface="+mn-ea"/>
              </a:rPr>
              <a:t>对水和空气敏感，需严格无水无氧环境；可以通过开发稳定固态硼酸酯络合物替代来解决。</a:t>
            </a:r>
          </a:p>
          <a:p>
            <a:pPr indent="0" fontAlgn="auto">
              <a:lnSpc>
                <a:spcPct val="125000"/>
              </a:lnSpc>
            </a:pPr>
            <a:r>
              <a:rPr lang="en-US" altLang="zh-CN">
                <a:latin typeface="Times New Roman" panose="02020603050405020304" charset="0"/>
                <a:ea typeface="微软雅黑" panose="020B0503020204020204" charset="-122"/>
                <a:cs typeface="Times New Roman" panose="02020603050405020304" charset="0"/>
                <a:sym typeface="+mn-ea"/>
              </a:rPr>
              <a:t>2.Josiphos</a:t>
            </a:r>
            <a:r>
              <a:rPr lang="zh-CN" altLang="en-US">
                <a:latin typeface="Times New Roman" panose="02020603050405020304" charset="0"/>
                <a:ea typeface="微软雅黑" panose="020B0503020204020204" charset="-122"/>
                <a:cs typeface="Times New Roman" panose="02020603050405020304" charset="0"/>
                <a:sym typeface="+mn-ea"/>
              </a:rPr>
              <a:t>类配体价格昂贵；可以通过配体筛选进行平替或降级来解决。</a:t>
            </a:r>
          </a:p>
          <a:p>
            <a:pPr indent="0" fontAlgn="auto">
              <a:lnSpc>
                <a:spcPct val="125000"/>
              </a:lnSpc>
            </a:pPr>
            <a:r>
              <a:rPr lang="en-US" altLang="zh-CN">
                <a:latin typeface="Times New Roman" panose="02020603050405020304" charset="0"/>
                <a:ea typeface="微软雅黑" panose="020B0503020204020204" charset="-122"/>
                <a:cs typeface="Times New Roman" panose="02020603050405020304" charset="0"/>
                <a:sym typeface="+mn-ea"/>
              </a:rPr>
              <a:t>3.</a:t>
            </a:r>
            <a:r>
              <a:rPr lang="zh-CN" altLang="en-US">
                <a:latin typeface="Times New Roman" panose="02020603050405020304" charset="0"/>
                <a:ea typeface="微软雅黑" panose="020B0503020204020204" charset="-122"/>
                <a:cs typeface="Times New Roman" panose="02020603050405020304" charset="0"/>
                <a:sym typeface="+mn-ea"/>
              </a:rPr>
              <a:t>低效后处理；可以通过优化反应条件：一锅法反应升级或结晶纯化来解决。</a:t>
            </a:r>
          </a:p>
          <a:p>
            <a:endParaRPr lang="zh-CN" altLang="en-US">
              <a:latin typeface="Times New Roman" panose="02020603050405020304" charset="0"/>
              <a:ea typeface="微软雅黑" panose="020B0503020204020204" charset="-122"/>
              <a:cs typeface="Times New Roman" panose="02020603050405020304" charset="0"/>
              <a:sym typeface="+mn-ea"/>
            </a:endParaRPr>
          </a:p>
        </p:txBody>
      </p:sp>
      <p:graphicFrame>
        <p:nvGraphicFramePr>
          <p:cNvPr id="9" name="对象 8"/>
          <p:cNvGraphicFramePr>
            <a:graphicFrameLocks noChangeAspect="1"/>
          </p:cNvGraphicFramePr>
          <p:nvPr/>
        </p:nvGraphicFramePr>
        <p:xfrm>
          <a:off x="3152140" y="1620520"/>
          <a:ext cx="6252845" cy="3569335"/>
        </p:xfrm>
        <a:graphic>
          <a:graphicData uri="http://schemas.openxmlformats.org/presentationml/2006/ole">
            <mc:AlternateContent xmlns:mc="http://schemas.openxmlformats.org/markup-compatibility/2006">
              <mc:Choice xmlns:v="urn:schemas-microsoft-com:vml" Requires="v">
                <p:oleObj spid="_x0000_s58372" r:id="rId4" imgW="9391015" imgH="5355590" progId="ChemDraw.Document.6.0">
                  <p:embed/>
                </p:oleObj>
              </mc:Choice>
              <mc:Fallback>
                <p:oleObj r:id="rId4" imgW="9391015" imgH="5355590" progId="ChemDraw.Document.6.0">
                  <p:embed/>
                  <p:pic>
                    <p:nvPicPr>
                      <p:cNvPr id="9" name="对象 8"/>
                      <p:cNvPicPr/>
                      <p:nvPr/>
                    </p:nvPicPr>
                    <p:blipFill>
                      <a:blip r:embed="rId5"/>
                      <a:stretch>
                        <a:fillRect/>
                      </a:stretch>
                    </p:blipFill>
                    <p:spPr>
                      <a:xfrm>
                        <a:off x="3152140" y="1620520"/>
                        <a:ext cx="6252845" cy="3569335"/>
                      </a:xfrm>
                      <a:prstGeom prst="rect">
                        <a:avLst/>
                      </a:prstGeom>
                    </p:spPr>
                  </p:pic>
                </p:oleObj>
              </mc:Fallback>
            </mc:AlternateContent>
          </a:graphicData>
        </a:graphic>
      </p:graphicFrame>
      <p:sp>
        <p:nvSpPr>
          <p:cNvPr id="4" name="文本框 3"/>
          <p:cNvSpPr txBox="1"/>
          <p:nvPr/>
        </p:nvSpPr>
        <p:spPr>
          <a:xfrm>
            <a:off x="1579245" y="892175"/>
            <a:ext cx="8973820" cy="783590"/>
          </a:xfrm>
          <a:prstGeom prst="rect">
            <a:avLst/>
          </a:prstGeom>
          <a:noFill/>
        </p:spPr>
        <p:txBody>
          <a:bodyPr wrap="square" rtlCol="0" anchor="t">
            <a:spAutoFit/>
          </a:bodyPr>
          <a:lstStyle/>
          <a:p>
            <a:pPr indent="0" fontAlgn="auto">
              <a:lnSpc>
                <a:spcPct val="125000"/>
              </a:lnSpc>
            </a:pPr>
            <a:r>
              <a:rPr lang="zh-CN" altLang="en-US" b="1">
                <a:latin typeface="Times New Roman" panose="02020603050405020304" charset="0"/>
                <a:ea typeface="微软雅黑" panose="020B0503020204020204" charset="-122"/>
                <a:cs typeface="Times New Roman" panose="02020603050405020304" charset="0"/>
                <a:sym typeface="+mn-ea"/>
              </a:rPr>
              <a:t>理想化合成路线</a:t>
            </a:r>
            <a:r>
              <a:rPr lang="zh-CN" altLang="en-US">
                <a:latin typeface="Times New Roman" panose="02020603050405020304" charset="0"/>
                <a:ea typeface="微软雅黑" panose="020B0503020204020204" charset="-122"/>
                <a:cs typeface="Times New Roman" panose="02020603050405020304" charset="0"/>
                <a:sym typeface="+mn-ea"/>
              </a:rPr>
              <a:t>：根据工业化合成的</a:t>
            </a:r>
            <a:r>
              <a:rPr lang="zh-CN" altLang="en-US" b="1">
                <a:latin typeface="Times New Roman" panose="02020603050405020304" charset="0"/>
                <a:ea typeface="微软雅黑" panose="020B0503020204020204" charset="-122"/>
                <a:cs typeface="Times New Roman" panose="02020603050405020304" charset="0"/>
                <a:sym typeface="+mn-ea"/>
              </a:rPr>
              <a:t>汇聚式策略</a:t>
            </a:r>
            <a:r>
              <a:rPr lang="zh-CN" altLang="en-US">
                <a:latin typeface="Times New Roman" panose="02020603050405020304" charset="0"/>
                <a:ea typeface="微软雅黑" panose="020B0503020204020204" charset="-122"/>
                <a:cs typeface="Times New Roman" panose="02020603050405020304" charset="0"/>
                <a:sym typeface="+mn-ea"/>
              </a:rPr>
              <a:t>，先构建出侧链，再通过</a:t>
            </a:r>
            <a:r>
              <a:rPr lang="en-US" altLang="zh-CN">
                <a:latin typeface="Times New Roman" panose="02020603050405020304" charset="0"/>
                <a:ea typeface="微软雅黑" panose="020B0503020204020204" charset="-122"/>
                <a:cs typeface="Times New Roman" panose="02020603050405020304" charset="0"/>
                <a:sym typeface="+mn-ea"/>
              </a:rPr>
              <a:t>Paal-Knorr</a:t>
            </a:r>
            <a:r>
              <a:rPr lang="zh-CN" altLang="en-US">
                <a:latin typeface="Times New Roman" panose="02020603050405020304" charset="0"/>
                <a:ea typeface="微软雅黑" panose="020B0503020204020204" charset="-122"/>
                <a:cs typeface="Times New Roman" panose="02020603050405020304" charset="0"/>
                <a:sym typeface="+mn-ea"/>
              </a:rPr>
              <a:t>反应将侧链与</a:t>
            </a:r>
            <a:r>
              <a:rPr lang="en-US" altLang="zh-CN" b="1">
                <a:latin typeface="Times New Roman" panose="02020603050405020304" charset="0"/>
                <a:ea typeface="微软雅黑" panose="020B0503020204020204" charset="-122"/>
                <a:cs typeface="Times New Roman" panose="02020603050405020304" charset="0"/>
                <a:sym typeface="+mn-ea"/>
              </a:rPr>
              <a:t>S13</a:t>
            </a:r>
            <a:r>
              <a:rPr lang="zh-CN" altLang="en-US">
                <a:latin typeface="Times New Roman" panose="02020603050405020304" charset="0"/>
                <a:ea typeface="微软雅黑" panose="020B0503020204020204" charset="-122"/>
                <a:cs typeface="Times New Roman" panose="02020603050405020304" charset="0"/>
                <a:sym typeface="+mn-ea"/>
              </a:rPr>
              <a:t>环化拼接，再经过水解成盐酸化得到</a:t>
            </a:r>
            <a:r>
              <a:rPr lang="zh-CN" altLang="en-US" b="1">
                <a:latin typeface="Times New Roman" panose="02020603050405020304" charset="0"/>
                <a:ea typeface="微软雅黑" panose="020B0503020204020204" charset="-122"/>
                <a:cs typeface="Times New Roman" panose="02020603050405020304" charset="0"/>
                <a:sym typeface="+mn-ea"/>
              </a:rPr>
              <a:t>阿托伐他汀</a:t>
            </a:r>
            <a:r>
              <a:rPr lang="zh-CN" altLang="en-US">
                <a:latin typeface="Times New Roman" panose="02020603050405020304" charset="0"/>
                <a:ea typeface="微软雅黑" panose="020B0503020204020204" charset="-122"/>
                <a:cs typeface="Times New Roman" panose="02020603050405020304" charset="0"/>
                <a:sym typeface="+mn-ea"/>
              </a:rPr>
              <a:t>。</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p:nvPr/>
        </p:nvGraphicFramePr>
        <p:xfrm>
          <a:off x="4784725" y="2303780"/>
          <a:ext cx="2033905" cy="1933575"/>
        </p:xfrm>
        <a:graphic>
          <a:graphicData uri="http://schemas.openxmlformats.org/presentationml/2006/ole">
            <mc:AlternateContent xmlns:mc="http://schemas.openxmlformats.org/markup-compatibility/2006">
              <mc:Choice xmlns:v="urn:schemas-microsoft-com:vml" Requires="v">
                <p:oleObj spid="_x0000_s59396" r:id="rId4" imgW="1556385" imgH="1478915" progId="MDLDraw.Document.1">
                  <p:embed/>
                </p:oleObj>
              </mc:Choice>
              <mc:Fallback>
                <p:oleObj r:id="rId4" imgW="1556385" imgH="1478915" progId="MDLDraw.Document.1">
                  <p:embed/>
                  <p:pic>
                    <p:nvPicPr>
                      <p:cNvPr id="2" name="对象 1"/>
                      <p:cNvPicPr/>
                      <p:nvPr/>
                    </p:nvPicPr>
                    <p:blipFill>
                      <a:blip r:embed="rId5"/>
                      <a:stretch>
                        <a:fillRect/>
                      </a:stretch>
                    </p:blipFill>
                    <p:spPr>
                      <a:xfrm>
                        <a:off x="4784725" y="2303780"/>
                        <a:ext cx="2033905" cy="1933575"/>
                      </a:xfrm>
                      <a:prstGeom prst="rect">
                        <a:avLst/>
                      </a:prstGeom>
                    </p:spPr>
                  </p:pic>
                </p:oleObj>
              </mc:Fallback>
            </mc:AlternateContent>
          </a:graphicData>
        </a:graphic>
      </p:graphicFrame>
    </p:spTree>
    <p:custDataLst>
      <p:tags r:id="rId2"/>
    </p:custData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289560" y="359410"/>
            <a:ext cx="3962400" cy="705485"/>
          </a:xfrm>
        </p:spPr>
        <p:txBody>
          <a:bodyPr/>
          <a:lstStyle/>
          <a:p>
            <a:r>
              <a:rPr lang="zh-CN" altLang="en-US" sz="2400" b="1">
                <a:solidFill>
                  <a:schemeClr val="accent1">
                    <a:lumMod val="50000"/>
                  </a:schemeClr>
                </a:solidFill>
                <a:sym typeface="+mn-ea"/>
              </a:rPr>
              <a:t>氟伐他汀的市场价值</a:t>
            </a:r>
            <a:endParaRPr lang="zh-CN" altLang="en-US" sz="2400" b="1" dirty="0">
              <a:solidFill>
                <a:schemeClr val="accent1">
                  <a:lumMod val="50000"/>
                </a:schemeClr>
              </a:solidFill>
              <a:latin typeface="宋体" panose="02010600030101010101" pitchFamily="2" charset="-122"/>
              <a:ea typeface="宋体" panose="02010600030101010101" pitchFamily="2" charset="-122"/>
              <a:sym typeface="+mn-ea"/>
            </a:endParaRPr>
          </a:p>
        </p:txBody>
      </p:sp>
      <p:sp>
        <p:nvSpPr>
          <p:cNvPr id="3" name="内容占位符 2"/>
          <p:cNvSpPr>
            <a:spLocks noGrp="1"/>
          </p:cNvSpPr>
          <p:nvPr>
            <p:ph idx="1"/>
            <p:custDataLst>
              <p:tags r:id="rId3"/>
            </p:custDataLst>
          </p:nvPr>
        </p:nvSpPr>
        <p:spPr>
          <a:xfrm>
            <a:off x="664210" y="3429000"/>
            <a:ext cx="6944360" cy="840105"/>
          </a:xfrm>
        </p:spPr>
        <p:txBody>
          <a:bodyPr>
            <a:normAutofit/>
          </a:bodyPr>
          <a:lstStyle/>
          <a:p>
            <a:pPr marL="0" algn="l">
              <a:lnSpc>
                <a:spcPct val="100000"/>
              </a:lnSpc>
              <a:buClrTx/>
              <a:buSzTx/>
              <a:buFontTx/>
              <a:buNone/>
            </a:pPr>
            <a:r>
              <a:rPr lang="en-US" altLang="zh-CN" sz="1600">
                <a:latin typeface="微软雅黑" panose="020B0503020204020204" charset="-122"/>
                <a:ea typeface="微软雅黑" panose="020B0503020204020204" charset="-122"/>
                <a:cs typeface="微软雅黑" panose="020B0503020204020204" charset="-122"/>
                <a:sym typeface="+mn-ea"/>
              </a:rPr>
              <a:t>1. </a:t>
            </a:r>
            <a:r>
              <a:rPr lang="en-US" altLang="zh-CN" sz="1600">
                <a:latin typeface="微软雅黑" panose="020B0503020204020204" charset="-122"/>
                <a:ea typeface="微软雅黑" panose="020B0503020204020204" charset="-122"/>
                <a:cs typeface="微软雅黑" panose="020B0503020204020204" charset="-122"/>
              </a:rPr>
              <a:t>工业级价格 (≥99.5%)：约 1,000 元/kg</a:t>
            </a:r>
          </a:p>
          <a:p>
            <a:pPr marL="0" algn="l">
              <a:lnSpc>
                <a:spcPct val="100000"/>
              </a:lnSpc>
              <a:buClrTx/>
              <a:buSzTx/>
              <a:buFontTx/>
              <a:buNone/>
            </a:pPr>
            <a:r>
              <a:rPr lang="en-US" altLang="zh-CN" sz="1600">
                <a:latin typeface="微软雅黑" panose="020B0503020204020204" charset="-122"/>
                <a:ea typeface="微软雅黑" panose="020B0503020204020204" charset="-122"/>
                <a:cs typeface="微软雅黑" panose="020B0503020204020204" charset="-122"/>
              </a:rPr>
              <a:t>2. 科研级价格：100mg (≥98%) ：790.42元（阿拉丁）</a:t>
            </a:r>
          </a:p>
          <a:p>
            <a:pPr marL="0" algn="l">
              <a:lnSpc>
                <a:spcPct val="150000"/>
              </a:lnSpc>
              <a:buClrTx/>
              <a:buSzTx/>
              <a:buFontTx/>
              <a:buNone/>
            </a:pPr>
            <a:endParaRPr lang="en-US" altLang="zh-CN" sz="1600">
              <a:latin typeface="微软雅黑" panose="020B0503020204020204" charset="-122"/>
              <a:ea typeface="微软雅黑" panose="020B0503020204020204" charset="-122"/>
              <a:cs typeface="微软雅黑" panose="020B0503020204020204" charset="-122"/>
            </a:endParaRPr>
          </a:p>
        </p:txBody>
      </p:sp>
      <p:sp>
        <p:nvSpPr>
          <p:cNvPr id="4" name="文本框 3"/>
          <p:cNvSpPr txBox="1"/>
          <p:nvPr/>
        </p:nvSpPr>
        <p:spPr>
          <a:xfrm>
            <a:off x="343535" y="2583180"/>
            <a:ext cx="2679700" cy="460375"/>
          </a:xfrm>
          <a:prstGeom prst="rect">
            <a:avLst/>
          </a:prstGeom>
          <a:noFill/>
        </p:spPr>
        <p:txBody>
          <a:bodyPr wrap="square" rtlCol="0" anchor="t">
            <a:spAutoFit/>
          </a:bodyPr>
          <a:lstStyle/>
          <a:p>
            <a:pPr algn="l">
              <a:buClrTx/>
              <a:buSzTx/>
              <a:buFontTx/>
            </a:pPr>
            <a:r>
              <a:rPr lang="zh-CN" altLang="en-US" sz="2400" b="1" spc="300">
                <a:solidFill>
                  <a:schemeClr val="accent1">
                    <a:lumMod val="50000"/>
                  </a:schemeClr>
                </a:solidFill>
                <a:uFillTx/>
                <a:latin typeface="+mj-lt"/>
                <a:ea typeface="+mj-ea"/>
                <a:cs typeface="+mj-cs"/>
                <a:sym typeface="+mn-ea"/>
              </a:rPr>
              <a:t>原料药的价格</a:t>
            </a:r>
          </a:p>
        </p:txBody>
      </p:sp>
      <p:sp>
        <p:nvSpPr>
          <p:cNvPr id="5" name="文本框 4"/>
          <p:cNvSpPr txBox="1"/>
          <p:nvPr/>
        </p:nvSpPr>
        <p:spPr>
          <a:xfrm>
            <a:off x="436245" y="1211580"/>
            <a:ext cx="11489055" cy="798195"/>
          </a:xfrm>
          <a:prstGeom prst="rect">
            <a:avLst/>
          </a:prstGeom>
          <a:noFill/>
        </p:spPr>
        <p:txBody>
          <a:bodyPr wrap="square" rtlCol="0">
            <a:noAutofit/>
          </a:bodyPr>
          <a:lstStyle/>
          <a:p>
            <a:pPr algn="l">
              <a:lnSpc>
                <a:spcPct val="150000"/>
              </a:lnSpc>
              <a:spcBef>
                <a:spcPts val="0"/>
              </a:spcBef>
              <a:spcAft>
                <a:spcPts val="1000"/>
              </a:spcAft>
              <a:buClrTx/>
              <a:buSzTx/>
              <a:buNone/>
            </a:pPr>
            <a:r>
              <a:rPr lang="en-US" altLang="zh-CN" sz="1600" spc="15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rPr>
              <a:t>    氟伐他汀钠药物市场规模在2024年估值为7亿美元。氟伐他汀钠药物市场预计将从2025年的8亿美元增长到2035年的12亿美元。氟伐他汀钠药市场复合年增长率（CAGR）预计在预测期（2026-2035年）内约为4.4%。</a:t>
            </a:r>
          </a:p>
        </p:txBody>
      </p:sp>
    </p:spTree>
    <p:custDataLst>
      <p:tags r:id="rId1"/>
    </p:custData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3"/>
            </p:custDataLst>
          </p:nvPr>
        </p:nvSpPr>
        <p:spPr>
          <a:xfrm>
            <a:off x="555695" y="307410"/>
            <a:ext cx="10969200" cy="705600"/>
          </a:xfrm>
        </p:spPr>
        <p:txBody>
          <a:bodyPr/>
          <a:lstStyle/>
          <a:p>
            <a:r>
              <a:rPr lang="zh-CN" altLang="en-US" sz="2400" b="1">
                <a:solidFill>
                  <a:schemeClr val="accent1">
                    <a:lumMod val="50000"/>
                  </a:schemeClr>
                </a:solidFill>
                <a:sym typeface="+mn-ea"/>
              </a:rPr>
              <a:t>氟伐他汀</a:t>
            </a:r>
            <a:r>
              <a:rPr lang="zh-CN" altLang="en-US" sz="2400" b="1">
                <a:solidFill>
                  <a:schemeClr val="accent1">
                    <a:lumMod val="50000"/>
                  </a:schemeClr>
                </a:solidFill>
              </a:rPr>
              <a:t>药物合成路线</a:t>
            </a:r>
          </a:p>
        </p:txBody>
      </p:sp>
      <p:graphicFrame>
        <p:nvGraphicFramePr>
          <p:cNvPr id="4" name="对象 3"/>
          <p:cNvGraphicFramePr/>
          <p:nvPr/>
        </p:nvGraphicFramePr>
        <p:xfrm>
          <a:off x="1560830" y="600393"/>
          <a:ext cx="8676005" cy="5656580"/>
        </p:xfrm>
        <a:graphic>
          <a:graphicData uri="http://schemas.openxmlformats.org/presentationml/2006/ole">
            <mc:AlternateContent xmlns:mc="http://schemas.openxmlformats.org/markup-compatibility/2006">
              <mc:Choice xmlns:v="urn:schemas-microsoft-com:vml" Requires="v">
                <p:oleObj spid="_x0000_s60420" r:id="rId6" imgW="6634480" imgH="4323715" progId="MDLDraw.Document.1">
                  <p:embed/>
                </p:oleObj>
              </mc:Choice>
              <mc:Fallback>
                <p:oleObj r:id="rId6" imgW="6634480" imgH="4323715" progId="MDLDraw.Document.1">
                  <p:embed/>
                  <p:pic>
                    <p:nvPicPr>
                      <p:cNvPr id="4" name="对象 3"/>
                      <p:cNvPicPr/>
                      <p:nvPr/>
                    </p:nvPicPr>
                    <p:blipFill>
                      <a:blip r:embed="rId7"/>
                      <a:stretch>
                        <a:fillRect/>
                      </a:stretch>
                    </p:blipFill>
                    <p:spPr>
                      <a:xfrm>
                        <a:off x="1560830" y="600393"/>
                        <a:ext cx="8676005" cy="5656580"/>
                      </a:xfrm>
                      <a:prstGeom prst="rect">
                        <a:avLst/>
                      </a:prstGeom>
                    </p:spPr>
                  </p:pic>
                </p:oleObj>
              </mc:Fallback>
            </mc:AlternateContent>
          </a:graphicData>
        </a:graphic>
      </p:graphicFrame>
      <p:sp>
        <p:nvSpPr>
          <p:cNvPr id="6" name="文本框 5"/>
          <p:cNvSpPr txBox="1"/>
          <p:nvPr/>
        </p:nvSpPr>
        <p:spPr>
          <a:xfrm>
            <a:off x="7128510" y="6489700"/>
            <a:ext cx="5018405" cy="368300"/>
          </a:xfrm>
          <a:prstGeom prst="rect">
            <a:avLst/>
          </a:prstGeom>
          <a:noFill/>
        </p:spPr>
        <p:txBody>
          <a:bodyPr wrap="square" rtlCol="0">
            <a:spAutoFit/>
          </a:bodyPr>
          <a:lstStyle/>
          <a:p>
            <a:r>
              <a:rPr lang="en-US" altLang="zh-CN">
                <a:latin typeface="Times New Roman" panose="02020603050405020304" charset="0"/>
                <a:cs typeface="Times New Roman" panose="02020603050405020304" charset="0"/>
              </a:rPr>
              <a:t>CAI ZY, et al., </a:t>
            </a:r>
            <a:r>
              <a:rPr lang="en-US" altLang="zh-CN" i="1">
                <a:latin typeface="Times New Roman" panose="02020603050405020304" charset="0"/>
                <a:cs typeface="Times New Roman" panose="02020603050405020304" charset="0"/>
              </a:rPr>
              <a:t>Chin. J. Pharm</a:t>
            </a:r>
            <a:r>
              <a:rPr lang="en-US" altLang="zh-CN">
                <a:latin typeface="Times New Roman" panose="02020603050405020304" charset="0"/>
                <a:cs typeface="Times New Roman" panose="02020603050405020304" charset="0"/>
              </a:rPr>
              <a:t>., </a:t>
            </a:r>
            <a:r>
              <a:rPr lang="en-US" altLang="zh-CN" b="1">
                <a:latin typeface="Times New Roman" panose="02020603050405020304" charset="0"/>
                <a:cs typeface="Times New Roman" panose="02020603050405020304" charset="0"/>
              </a:rPr>
              <a:t>2007</a:t>
            </a:r>
            <a:r>
              <a:rPr lang="en-US" altLang="zh-CN">
                <a:latin typeface="Times New Roman" panose="02020603050405020304" charset="0"/>
                <a:cs typeface="Times New Roman" panose="02020603050405020304" charset="0"/>
              </a:rPr>
              <a:t>,</a:t>
            </a:r>
            <a:r>
              <a:rPr lang="en-US" altLang="zh-CN" i="1">
                <a:latin typeface="Times New Roman" panose="02020603050405020304" charset="0"/>
                <a:cs typeface="Times New Roman" panose="02020603050405020304" charset="0"/>
              </a:rPr>
              <a:t> 38(2)</a:t>
            </a:r>
            <a:r>
              <a:rPr lang="en-US" altLang="zh-CN">
                <a:latin typeface="Times New Roman" panose="02020603050405020304" charset="0"/>
                <a:cs typeface="Times New Roman" panose="02020603050405020304" charset="0"/>
              </a:rPr>
              <a:t>, 73-75.</a:t>
            </a:r>
          </a:p>
        </p:txBody>
      </p:sp>
    </p:spTree>
    <p:custDataLst>
      <p:tags r:id="rId2"/>
    </p:custData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411550" y="313760"/>
            <a:ext cx="10969200" cy="705600"/>
          </a:xfrm>
        </p:spPr>
        <p:txBody>
          <a:bodyPr/>
          <a:lstStyle/>
          <a:p>
            <a:pPr algn="l">
              <a:buClrTx/>
              <a:buSzTx/>
              <a:buFontTx/>
            </a:pPr>
            <a:r>
              <a:rPr lang="zh-CN" altLang="en-US" sz="2400" b="1">
                <a:solidFill>
                  <a:schemeClr val="accent1">
                    <a:lumMod val="50000"/>
                  </a:schemeClr>
                </a:solidFill>
                <a:sym typeface="+mn-ea"/>
              </a:rPr>
              <a:t>氟伐他汀药物</a:t>
            </a:r>
            <a:r>
              <a:rPr lang="zh-CN" altLang="en-US" sz="2400" b="1">
                <a:solidFill>
                  <a:schemeClr val="accent1">
                    <a:lumMod val="50000"/>
                  </a:schemeClr>
                </a:solidFill>
              </a:rPr>
              <a:t>合成路线路线优点、缺点</a:t>
            </a:r>
          </a:p>
        </p:txBody>
      </p:sp>
      <p:graphicFrame>
        <p:nvGraphicFramePr>
          <p:cNvPr id="16" name="表格 15"/>
          <p:cNvGraphicFramePr/>
          <p:nvPr/>
        </p:nvGraphicFramePr>
        <p:xfrm>
          <a:off x="1132205" y="1517650"/>
          <a:ext cx="9982200" cy="3841115"/>
        </p:xfrm>
        <a:graphic>
          <a:graphicData uri="http://schemas.openxmlformats.org/drawingml/2006/table">
            <a:tbl>
              <a:tblPr firstRow="1">
                <a:tableStyleId>{B7BD4722-F1F9-43DE-912B-BC3AB9E171DB}</a:tableStyleId>
              </a:tblPr>
              <a:tblGrid>
                <a:gridCol w="716280">
                  <a:extLst>
                    <a:ext uri="{9D8B030D-6E8A-4147-A177-3AD203B41FA5}">
                      <a16:colId xmlns:a16="http://schemas.microsoft.com/office/drawing/2014/main" val="20000"/>
                    </a:ext>
                  </a:extLst>
                </a:gridCol>
                <a:gridCol w="4889500">
                  <a:extLst>
                    <a:ext uri="{9D8B030D-6E8A-4147-A177-3AD203B41FA5}">
                      <a16:colId xmlns:a16="http://schemas.microsoft.com/office/drawing/2014/main" val="20001"/>
                    </a:ext>
                  </a:extLst>
                </a:gridCol>
                <a:gridCol w="4376420">
                  <a:extLst>
                    <a:ext uri="{9D8B030D-6E8A-4147-A177-3AD203B41FA5}">
                      <a16:colId xmlns:a16="http://schemas.microsoft.com/office/drawing/2014/main" val="20002"/>
                    </a:ext>
                  </a:extLst>
                </a:gridCol>
              </a:tblGrid>
              <a:tr h="477520">
                <a:tc>
                  <a:txBody>
                    <a:bodyPr/>
                    <a:lstStyle/>
                    <a:p>
                      <a:pPr algn="ctr">
                        <a:buNone/>
                      </a:pPr>
                      <a:r>
                        <a:rPr lang="zh-CN" altLang="en-US"/>
                        <a:t>序号</a:t>
                      </a:r>
                    </a:p>
                  </a:txBody>
                  <a:tcPr/>
                </a:tc>
                <a:tc>
                  <a:txBody>
                    <a:bodyPr/>
                    <a:lstStyle/>
                    <a:p>
                      <a:pPr algn="ctr">
                        <a:buNone/>
                      </a:pPr>
                      <a:r>
                        <a:rPr lang="zh-CN" altLang="en-US"/>
                        <a:t>优点</a:t>
                      </a:r>
                    </a:p>
                  </a:txBody>
                  <a:tcPr/>
                </a:tc>
                <a:tc>
                  <a:txBody>
                    <a:bodyPr/>
                    <a:lstStyle/>
                    <a:p>
                      <a:pPr algn="ctr">
                        <a:buClrTx/>
                        <a:buSzTx/>
                        <a:buFontTx/>
                        <a:buNone/>
                      </a:pPr>
                      <a:r>
                        <a:rPr lang="zh-CN" altLang="en-US" sz="1800">
                          <a:sym typeface="+mn-ea"/>
                        </a:rPr>
                        <a:t>缺点</a:t>
                      </a:r>
                      <a:endParaRPr lang="zh-CN" altLang="en-US"/>
                    </a:p>
                  </a:txBody>
                  <a:tcPr/>
                </a:tc>
                <a:extLst>
                  <a:ext uri="{0D108BD9-81ED-4DB2-BD59-A6C34878D82A}">
                    <a16:rowId xmlns:a16="http://schemas.microsoft.com/office/drawing/2014/main" val="10000"/>
                  </a:ext>
                </a:extLst>
              </a:tr>
              <a:tr h="1135380">
                <a:tc>
                  <a:txBody>
                    <a:bodyPr/>
                    <a:lstStyle/>
                    <a:p>
                      <a:pPr algn="ctr">
                        <a:buClrTx/>
                        <a:buSzTx/>
                        <a:buFontTx/>
                        <a:buNone/>
                      </a:pPr>
                      <a:endParaRPr lang="en-US" altLang="zh-CN" sz="1600">
                        <a:latin typeface="Times New Roman" panose="02020603050405020304" charset="0"/>
                        <a:ea typeface="宋体" panose="02010600030101010101" pitchFamily="2" charset="-122"/>
                      </a:endParaRPr>
                    </a:p>
                    <a:p>
                      <a:pPr algn="ctr">
                        <a:buClrTx/>
                        <a:buSzTx/>
                        <a:buFontTx/>
                        <a:buNone/>
                      </a:pPr>
                      <a:r>
                        <a:rPr lang="en-US" altLang="zh-CN" sz="1600">
                          <a:latin typeface="Times New Roman" panose="02020603050405020304" charset="0"/>
                          <a:ea typeface="宋体" panose="02010600030101010101" pitchFamily="2" charset="-122"/>
                        </a:rPr>
                        <a:t>1</a:t>
                      </a:r>
                    </a:p>
                  </a:txBody>
                  <a:tcPr/>
                </a:tc>
                <a:tc>
                  <a:txBody>
                    <a:bodyPr/>
                    <a:lstStyle/>
                    <a:p>
                      <a:pPr>
                        <a:lnSpc>
                          <a:spcPct val="150000"/>
                        </a:lnSpc>
                        <a:buNone/>
                      </a:pPr>
                      <a:r>
                        <a:rPr lang="zh-CN" altLang="en-US" sz="1600" dirty="0">
                          <a:ln>
                            <a:noFill/>
                          </a:ln>
                          <a:solidFill>
                            <a:prstClr val="black"/>
                          </a:solidFill>
                          <a:latin typeface="Times New Roman" panose="02020603050405020304" charset="0"/>
                          <a:ea typeface="宋体" panose="02010600030101010101" pitchFamily="2" charset="-122"/>
                          <a:sym typeface="+mn-ea"/>
                        </a:rPr>
                        <a:t>原料易得、成本低，</a:t>
                      </a:r>
                      <a:r>
                        <a:rPr lang="zh-CN" altLang="en-US" sz="1600" dirty="0">
                          <a:ln>
                            <a:noFill/>
                          </a:ln>
                          <a:solidFill>
                            <a:prstClr val="black"/>
                          </a:solidFill>
                          <a:latin typeface="Times New Roman" panose="02020603050405020304" charset="0"/>
                          <a:ea typeface="宋体" panose="02010600030101010101" pitchFamily="2" charset="-122"/>
                        </a:rPr>
                        <a:t>路线短、流程简洁</a:t>
                      </a:r>
                      <a:r>
                        <a:rPr lang="zh-CN" altLang="en-US" sz="1600" dirty="0">
                          <a:ln>
                            <a:noFill/>
                          </a:ln>
                          <a:solidFill>
                            <a:prstClr val="black"/>
                          </a:solidFill>
                          <a:latin typeface="Times New Roman" panose="02020603050405020304" charset="0"/>
                          <a:ea typeface="宋体" panose="02010600030101010101" pitchFamily="2" charset="-122"/>
                          <a:sym typeface="+mn-ea"/>
                        </a:rPr>
                        <a:t>反应条件温和，三废少</a:t>
                      </a:r>
                      <a:r>
                        <a:rPr lang="zh-CN" altLang="en-US" sz="1600" dirty="0">
                          <a:ln>
                            <a:noFill/>
                          </a:ln>
                          <a:solidFill>
                            <a:prstClr val="black"/>
                          </a:solidFill>
                          <a:latin typeface="Times New Roman" panose="02020603050405020304" charset="0"/>
                          <a:ea typeface="宋体" panose="02010600030101010101" pitchFamily="2" charset="-122"/>
                        </a:rPr>
                        <a:t>，适合工业化</a:t>
                      </a:r>
                    </a:p>
                  </a:txBody>
                  <a:tcPr/>
                </a:tc>
                <a:tc>
                  <a:txBody>
                    <a:bodyPr/>
                    <a:lstStyle/>
                    <a:p>
                      <a:pPr algn="l">
                        <a:lnSpc>
                          <a:spcPct val="150000"/>
                        </a:lnSpc>
                        <a:buClrTx/>
                        <a:buSzTx/>
                        <a:buFontTx/>
                        <a:buNone/>
                      </a:pPr>
                      <a:r>
                        <a:rPr lang="zh-CN" altLang="en-US" sz="1600">
                          <a:ln>
                            <a:noFill/>
                          </a:ln>
                          <a:solidFill>
                            <a:prstClr val="black"/>
                          </a:solidFill>
                          <a:latin typeface="Times New Roman" panose="02020603050405020304" charset="0"/>
                          <a:ea typeface="宋体" panose="02010600030101010101" pitchFamily="2" charset="-122"/>
                        </a:rPr>
                        <a:t>还原步骤需要−78℃超低温，低温条件苛刻，工业放大能耗高、设备要求高</a:t>
                      </a:r>
                    </a:p>
                  </a:txBody>
                  <a:tcPr/>
                </a:tc>
                <a:extLst>
                  <a:ext uri="{0D108BD9-81ED-4DB2-BD59-A6C34878D82A}">
                    <a16:rowId xmlns:a16="http://schemas.microsoft.com/office/drawing/2014/main" val="10001"/>
                  </a:ext>
                </a:extLst>
              </a:tr>
              <a:tr h="887095">
                <a:tc>
                  <a:txBody>
                    <a:bodyPr/>
                    <a:lstStyle/>
                    <a:p>
                      <a:pPr algn="ctr">
                        <a:buClrTx/>
                        <a:buSzTx/>
                        <a:buFontTx/>
                        <a:buNone/>
                      </a:pPr>
                      <a:endParaRPr lang="en-US" altLang="zh-CN" sz="1600">
                        <a:latin typeface="Times New Roman" panose="02020603050405020304" charset="0"/>
                        <a:ea typeface="宋体" panose="02010600030101010101" pitchFamily="2" charset="-122"/>
                      </a:endParaRPr>
                    </a:p>
                    <a:p>
                      <a:pPr algn="ctr">
                        <a:buClrTx/>
                        <a:buSzTx/>
                        <a:buFontTx/>
                        <a:buNone/>
                      </a:pPr>
                      <a:r>
                        <a:rPr lang="en-US" altLang="zh-CN" sz="1600">
                          <a:latin typeface="Times New Roman" panose="02020603050405020304" charset="0"/>
                          <a:ea typeface="宋体" panose="02010600030101010101" pitchFamily="2" charset="-122"/>
                        </a:rPr>
                        <a:t>2</a:t>
                      </a:r>
                    </a:p>
                  </a:txBody>
                  <a:tcPr/>
                </a:tc>
                <a:tc>
                  <a:txBody>
                    <a:bodyPr/>
                    <a:lstStyle/>
                    <a:p>
                      <a:pPr>
                        <a:lnSpc>
                          <a:spcPct val="150000"/>
                        </a:lnSpc>
                        <a:buNone/>
                      </a:pPr>
                      <a:r>
                        <a:rPr lang="zh-CN" altLang="en-US" sz="1600" dirty="0">
                          <a:ln>
                            <a:noFill/>
                          </a:ln>
                          <a:solidFill>
                            <a:prstClr val="black"/>
                          </a:solidFill>
                          <a:latin typeface="Times New Roman" panose="02020603050405020304" charset="0"/>
                          <a:ea typeface="宋体" panose="02010600030101010101" pitchFamily="2" charset="-122"/>
                        </a:rPr>
                        <a:t>还原步骤大幅优化：溶剂改为甲醇</a:t>
                      </a:r>
                      <a:r>
                        <a:rPr lang="en-US" altLang="zh-CN" sz="1600" dirty="0">
                          <a:ln>
                            <a:noFill/>
                          </a:ln>
                          <a:solidFill>
                            <a:prstClr val="black"/>
                          </a:solidFill>
                          <a:latin typeface="Times New Roman" panose="02020603050405020304" charset="0"/>
                          <a:ea typeface="宋体" panose="02010600030101010101" pitchFamily="2" charset="-122"/>
                        </a:rPr>
                        <a:t> - THF</a:t>
                      </a:r>
                      <a:r>
                        <a:rPr lang="zh-CN" altLang="en-US" sz="1600" dirty="0">
                          <a:ln>
                            <a:noFill/>
                          </a:ln>
                          <a:solidFill>
                            <a:prstClr val="black"/>
                          </a:solidFill>
                          <a:latin typeface="Times New Roman" panose="02020603050405020304" charset="0"/>
                          <a:ea typeface="宋体" panose="02010600030101010101" pitchFamily="2" charset="-122"/>
                        </a:rPr>
                        <a:t>（</a:t>
                      </a:r>
                      <a:r>
                        <a:rPr lang="en-US" altLang="zh-CN" sz="1600" dirty="0">
                          <a:ln>
                            <a:noFill/>
                          </a:ln>
                          <a:solidFill>
                            <a:prstClr val="black"/>
                          </a:solidFill>
                          <a:latin typeface="Times New Roman" panose="02020603050405020304" charset="0"/>
                          <a:ea typeface="宋体" panose="02010600030101010101" pitchFamily="2" charset="-122"/>
                        </a:rPr>
                        <a:t>1:4</a:t>
                      </a:r>
                      <a:r>
                        <a:rPr lang="zh-CN" altLang="en-US" sz="1600" dirty="0">
                          <a:ln>
                            <a:noFill/>
                          </a:ln>
                          <a:solidFill>
                            <a:prstClr val="black"/>
                          </a:solidFill>
                          <a:latin typeface="Times New Roman" panose="02020603050405020304" charset="0"/>
                          <a:ea typeface="宋体" panose="02010600030101010101" pitchFamily="2" charset="-122"/>
                        </a:rPr>
                        <a:t>），反应时间缩短至</a:t>
                      </a:r>
                      <a:r>
                        <a:rPr lang="en-US" altLang="zh-CN" sz="1600" dirty="0">
                          <a:ln>
                            <a:noFill/>
                          </a:ln>
                          <a:solidFill>
                            <a:prstClr val="black"/>
                          </a:solidFill>
                          <a:latin typeface="Times New Roman" panose="02020603050405020304" charset="0"/>
                          <a:ea typeface="宋体" panose="02010600030101010101" pitchFamily="2" charset="-122"/>
                        </a:rPr>
                        <a:t> 2.5h</a:t>
                      </a:r>
                      <a:r>
                        <a:rPr lang="zh-CN" altLang="en-US" sz="1600" dirty="0">
                          <a:ln>
                            <a:noFill/>
                          </a:ln>
                          <a:solidFill>
                            <a:prstClr val="black"/>
                          </a:solidFill>
                          <a:latin typeface="Times New Roman" panose="02020603050405020304" charset="0"/>
                          <a:ea typeface="宋体" panose="02010600030101010101" pitchFamily="2" charset="-122"/>
                        </a:rPr>
                        <a:t>；</a:t>
                      </a:r>
                      <a:endParaRPr lang="en-US" altLang="zh-CN" sz="1600" dirty="0">
                        <a:ln>
                          <a:noFill/>
                        </a:ln>
                        <a:solidFill>
                          <a:prstClr val="black"/>
                        </a:solidFill>
                        <a:latin typeface="Times New Roman" panose="02020603050405020304" charset="0"/>
                        <a:ea typeface="宋体" panose="02010600030101010101" pitchFamily="2" charset="-122"/>
                      </a:endParaRPr>
                    </a:p>
                  </a:txBody>
                  <a:tcPr/>
                </a:tc>
                <a:tc>
                  <a:txBody>
                    <a:bodyPr/>
                    <a:lstStyle/>
                    <a:p>
                      <a:pPr algn="ctr">
                        <a:lnSpc>
                          <a:spcPct val="150000"/>
                        </a:lnSpc>
                        <a:buClrTx/>
                        <a:buSzTx/>
                        <a:buFontTx/>
                      </a:pPr>
                      <a:r>
                        <a:rPr lang="zh-CN" altLang="en-US" sz="1600" dirty="0">
                          <a:uFillTx/>
                          <a:latin typeface="Times New Roman" panose="02020603050405020304" charset="0"/>
                          <a:ea typeface="宋体" panose="02010600030101010101" pitchFamily="2" charset="-122"/>
                          <a:cs typeface="宋体" panose="02010600030101010101" pitchFamily="2" charset="-122"/>
                          <a:sym typeface="+mn-ea"/>
                        </a:rPr>
                        <a:t>使用Et₃B/NaBH₄试剂反应需无水无氧</a:t>
                      </a:r>
                      <a:endParaRPr lang="zh-CN" altLang="en-US" sz="1600" dirty="0">
                        <a:ln>
                          <a:noFill/>
                        </a:ln>
                        <a:solidFill>
                          <a:prstClr val="black"/>
                        </a:solidFill>
                        <a:uFillTx/>
                        <a:latin typeface="Times New Roman" panose="02020603050405020304" charset="0"/>
                        <a:ea typeface="宋体" panose="02010600030101010101" pitchFamily="2" charset="-122"/>
                        <a:cs typeface="宋体" panose="02010600030101010101" pitchFamily="2" charset="-122"/>
                        <a:sym typeface="+mn-ea"/>
                      </a:endParaRPr>
                    </a:p>
                  </a:txBody>
                  <a:tcPr/>
                </a:tc>
                <a:extLst>
                  <a:ext uri="{0D108BD9-81ED-4DB2-BD59-A6C34878D82A}">
                    <a16:rowId xmlns:a16="http://schemas.microsoft.com/office/drawing/2014/main" val="10002"/>
                  </a:ext>
                </a:extLst>
              </a:tr>
              <a:tr h="1341120">
                <a:tc>
                  <a:txBody>
                    <a:bodyPr/>
                    <a:lstStyle/>
                    <a:p>
                      <a:pPr algn="ctr">
                        <a:buClrTx/>
                        <a:buSzTx/>
                        <a:buFontTx/>
                        <a:buNone/>
                      </a:pPr>
                      <a:endParaRPr lang="en-US" altLang="zh-CN" sz="1600">
                        <a:latin typeface="Times New Roman" panose="02020603050405020304" charset="0"/>
                        <a:ea typeface="宋体" panose="02010600030101010101" pitchFamily="2" charset="-122"/>
                      </a:endParaRPr>
                    </a:p>
                    <a:p>
                      <a:pPr algn="ctr">
                        <a:buClrTx/>
                        <a:buSzTx/>
                        <a:buFontTx/>
                        <a:buNone/>
                      </a:pPr>
                      <a:r>
                        <a:rPr lang="en-US" altLang="zh-CN" sz="1600">
                          <a:latin typeface="Times New Roman" panose="02020603050405020304" charset="0"/>
                          <a:ea typeface="宋体" panose="02010600030101010101" pitchFamily="2" charset="-122"/>
                        </a:rPr>
                        <a:t>3</a:t>
                      </a:r>
                    </a:p>
                  </a:txBody>
                  <a:tcPr/>
                </a:tc>
                <a:tc>
                  <a:txBody>
                    <a:bodyPr/>
                    <a:lstStyle/>
                    <a:p>
                      <a:pPr>
                        <a:lnSpc>
                          <a:spcPct val="150000"/>
                        </a:lnSpc>
                        <a:buNone/>
                      </a:pPr>
                      <a:r>
                        <a:rPr lang="zh-CN" altLang="en-US" sz="1600">
                          <a:ln>
                            <a:noFill/>
                          </a:ln>
                          <a:solidFill>
                            <a:prstClr val="black"/>
                          </a:solidFill>
                          <a:latin typeface="Times New Roman" panose="02020603050405020304" charset="0"/>
                          <a:ea typeface="宋体" panose="02010600030101010101" pitchFamily="2" charset="-122"/>
                        </a:rPr>
                        <a:t>用</a:t>
                      </a:r>
                      <a:r>
                        <a:rPr lang="en-US" altLang="zh-CN" sz="1600">
                          <a:ln>
                            <a:noFill/>
                          </a:ln>
                          <a:solidFill>
                            <a:prstClr val="black"/>
                          </a:solidFill>
                          <a:latin typeface="Times New Roman" panose="02020603050405020304" charset="0"/>
                          <a:ea typeface="宋体" panose="02010600030101010101" pitchFamily="2" charset="-122"/>
                        </a:rPr>
                        <a:t>H</a:t>
                      </a:r>
                      <a:r>
                        <a:rPr lang="en-US" altLang="zh-CN" sz="1600" baseline="-25000">
                          <a:ln>
                            <a:noFill/>
                          </a:ln>
                          <a:solidFill>
                            <a:prstClr val="black"/>
                          </a:solidFill>
                          <a:latin typeface="Times New Roman" panose="02020603050405020304" charset="0"/>
                          <a:ea typeface="宋体" panose="02010600030101010101" pitchFamily="2" charset="-122"/>
                        </a:rPr>
                        <a:t>2</a:t>
                      </a:r>
                      <a:r>
                        <a:rPr lang="en-US" altLang="zh-CN" sz="1600">
                          <a:ln>
                            <a:noFill/>
                          </a:ln>
                          <a:solidFill>
                            <a:prstClr val="black"/>
                          </a:solidFill>
                          <a:latin typeface="Times New Roman" panose="02020603050405020304" charset="0"/>
                          <a:ea typeface="宋体" panose="02010600030101010101" pitchFamily="2" charset="-122"/>
                        </a:rPr>
                        <a:t>O</a:t>
                      </a:r>
                      <a:r>
                        <a:rPr lang="en-US" altLang="zh-CN" sz="1600" baseline="-25000">
                          <a:ln>
                            <a:noFill/>
                          </a:ln>
                          <a:solidFill>
                            <a:prstClr val="black"/>
                          </a:solidFill>
                          <a:latin typeface="Times New Roman" panose="02020603050405020304" charset="0"/>
                          <a:ea typeface="宋体" panose="02010600030101010101" pitchFamily="2" charset="-122"/>
                        </a:rPr>
                        <a:t>2</a:t>
                      </a:r>
                      <a:r>
                        <a:rPr lang="zh-CN" altLang="en-US" sz="1600">
                          <a:ln>
                            <a:noFill/>
                          </a:ln>
                          <a:solidFill>
                            <a:prstClr val="black"/>
                          </a:solidFill>
                          <a:latin typeface="Times New Roman" panose="02020603050405020304" charset="0"/>
                          <a:ea typeface="宋体" panose="02010600030101010101" pitchFamily="2" charset="-122"/>
                        </a:rPr>
                        <a:t>代替甲醇分解硼络合物，所得粗品无需柱色谱分离</a:t>
                      </a:r>
                      <a:r>
                        <a:rPr lang="en-US" altLang="zh-CN" sz="1600">
                          <a:ln>
                            <a:noFill/>
                          </a:ln>
                          <a:solidFill>
                            <a:prstClr val="black"/>
                          </a:solidFill>
                          <a:latin typeface="Times New Roman" panose="02020603050405020304" charset="0"/>
                          <a:ea typeface="宋体" panose="02010600030101010101" pitchFamily="2" charset="-122"/>
                        </a:rPr>
                        <a:t> </a:t>
                      </a:r>
                      <a:r>
                        <a:rPr lang="zh-CN" altLang="en-US" sz="1600">
                          <a:ln>
                            <a:noFill/>
                          </a:ln>
                          <a:solidFill>
                            <a:prstClr val="black"/>
                          </a:solidFill>
                          <a:latin typeface="Times New Roman" panose="02020603050405020304" charset="0"/>
                          <a:ea typeface="宋体" panose="02010600030101010101" pitchFamily="2" charset="-122"/>
                        </a:rPr>
                        <a:t>，直接用</a:t>
                      </a:r>
                      <a:r>
                        <a:rPr lang="en-US" altLang="zh-CN" sz="1600">
                          <a:ln>
                            <a:noFill/>
                          </a:ln>
                          <a:solidFill>
                            <a:prstClr val="black"/>
                          </a:solidFill>
                          <a:latin typeface="Times New Roman" panose="02020603050405020304" charset="0"/>
                          <a:ea typeface="宋体" panose="02010600030101010101" pitchFamily="2" charset="-122"/>
                        </a:rPr>
                        <a:t> </a:t>
                      </a:r>
                      <a:r>
                        <a:rPr lang="zh-CN" altLang="en-US" sz="1600">
                          <a:ln>
                            <a:noFill/>
                          </a:ln>
                          <a:solidFill>
                            <a:prstClr val="black"/>
                          </a:solidFill>
                          <a:latin typeface="Times New Roman" panose="02020603050405020304" charset="0"/>
                          <a:ea typeface="宋体" panose="02010600030101010101" pitchFamily="2" charset="-122"/>
                        </a:rPr>
                        <a:t>乙酸乙酯重结晶即可得产物，收率提升至</a:t>
                      </a:r>
                      <a:r>
                        <a:rPr lang="en-US" altLang="zh-CN" sz="1600">
                          <a:ln>
                            <a:noFill/>
                          </a:ln>
                          <a:solidFill>
                            <a:prstClr val="black"/>
                          </a:solidFill>
                          <a:latin typeface="Times New Roman" panose="02020603050405020304" charset="0"/>
                          <a:ea typeface="宋体" panose="02010600030101010101" pitchFamily="2" charset="-122"/>
                        </a:rPr>
                        <a:t>75%</a:t>
                      </a:r>
                      <a:endParaRPr lang="zh-CN" altLang="en-US" sz="1600">
                        <a:ln>
                          <a:noFill/>
                        </a:ln>
                        <a:solidFill>
                          <a:prstClr val="black"/>
                        </a:solidFill>
                        <a:latin typeface="Times New Roman" panose="02020603050405020304" charset="0"/>
                        <a:ea typeface="宋体" panose="02010600030101010101" pitchFamily="2" charset="-122"/>
                      </a:endParaRPr>
                    </a:p>
                  </a:txBody>
                  <a:tcPr/>
                </a:tc>
                <a:tc>
                  <a:txBody>
                    <a:bodyPr/>
                    <a:lstStyle/>
                    <a:p>
                      <a:pPr algn="l">
                        <a:lnSpc>
                          <a:spcPct val="150000"/>
                        </a:lnSpc>
                        <a:buClrTx/>
                        <a:buSzTx/>
                        <a:buFontTx/>
                        <a:buNone/>
                      </a:pPr>
                      <a:r>
                        <a:rPr lang="en-US" altLang="zh-CN" sz="1600" dirty="0" err="1">
                          <a:ln>
                            <a:noFill/>
                          </a:ln>
                          <a:solidFill>
                            <a:prstClr val="black"/>
                          </a:solidFill>
                          <a:latin typeface="Times New Roman" panose="02020603050405020304" charset="0"/>
                          <a:ea typeface="宋体" panose="02010600030101010101" pitchFamily="2" charset="-122"/>
                        </a:rPr>
                        <a:t>Vilsmeier</a:t>
                      </a:r>
                      <a:r>
                        <a:rPr lang="en-US" altLang="zh-CN" sz="1600" dirty="0">
                          <a:ln>
                            <a:noFill/>
                          </a:ln>
                          <a:solidFill>
                            <a:prstClr val="black"/>
                          </a:solidFill>
                          <a:latin typeface="Times New Roman" panose="02020603050405020304" charset="0"/>
                          <a:ea typeface="宋体" panose="02010600030101010101" pitchFamily="2" charset="-122"/>
                        </a:rPr>
                        <a:t>-Haack</a:t>
                      </a:r>
                      <a:r>
                        <a:rPr lang="zh-CN" altLang="en-US" sz="1600" dirty="0">
                          <a:ln>
                            <a:noFill/>
                          </a:ln>
                          <a:solidFill>
                            <a:prstClr val="black"/>
                          </a:solidFill>
                          <a:latin typeface="Times New Roman" panose="02020603050405020304" charset="0"/>
                          <a:ea typeface="宋体" panose="02010600030101010101" pitchFamily="2" charset="-122"/>
                        </a:rPr>
                        <a:t>反应需使用</a:t>
                      </a:r>
                      <a:r>
                        <a:rPr lang="en-US" altLang="zh-CN" sz="1600" dirty="0" err="1">
                          <a:ln>
                            <a:noFill/>
                          </a:ln>
                          <a:solidFill>
                            <a:prstClr val="black"/>
                          </a:solidFill>
                          <a:latin typeface="Times New Roman" panose="02020603050405020304" charset="0"/>
                          <a:ea typeface="宋体" panose="02010600030101010101" pitchFamily="2" charset="-122"/>
                        </a:rPr>
                        <a:t>POCl</a:t>
                      </a:r>
                      <a:r>
                        <a:rPr lang="en-US" altLang="en-US" sz="1600" dirty="0">
                          <a:ln>
                            <a:noFill/>
                          </a:ln>
                          <a:solidFill>
                            <a:prstClr val="black"/>
                          </a:solidFill>
                          <a:latin typeface="Times New Roman" panose="02020603050405020304" charset="0"/>
                          <a:ea typeface="宋体" panose="02010600030101010101" pitchFamily="2" charset="-122"/>
                        </a:rPr>
                        <a:t>₃</a:t>
                      </a:r>
                      <a:r>
                        <a:rPr lang="zh-CN" altLang="en-US" sz="1600" dirty="0">
                          <a:ln>
                            <a:noFill/>
                          </a:ln>
                          <a:solidFill>
                            <a:prstClr val="black"/>
                          </a:solidFill>
                          <a:latin typeface="Times New Roman" panose="02020603050405020304" charset="0"/>
                          <a:ea typeface="宋体" panose="02010600030101010101" pitchFamily="2" charset="-122"/>
                        </a:rPr>
                        <a:t>和乙腈，反应后产生大量酸性含磷废水，处理困难</a:t>
                      </a:r>
                    </a:p>
                  </a:txBody>
                  <a:tcPr/>
                </a:tc>
                <a:extLst>
                  <a:ext uri="{0D108BD9-81ED-4DB2-BD59-A6C34878D82A}">
                    <a16:rowId xmlns:a16="http://schemas.microsoft.com/office/drawing/2014/main" val="10003"/>
                  </a:ext>
                </a:extLst>
              </a:tr>
            </a:tbl>
          </a:graphicData>
        </a:graphic>
      </p:graphicFrame>
    </p:spTree>
    <p:custDataLst>
      <p:tags r:id="rId1"/>
    </p:custData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245180" y="290900"/>
            <a:ext cx="10969200" cy="705600"/>
          </a:xfrm>
        </p:spPr>
        <p:txBody>
          <a:bodyPr>
            <a:normAutofit/>
          </a:bodyPr>
          <a:lstStyle/>
          <a:p>
            <a:r>
              <a:rPr lang="zh-CN" altLang="en-US" sz="2665" b="1">
                <a:solidFill>
                  <a:schemeClr val="accent1">
                    <a:lumMod val="50000"/>
                  </a:schemeClr>
                </a:solidFill>
                <a:sym typeface="+mn-ea"/>
              </a:rPr>
              <a:t>氟伐他汀药物理想合成路线中的难点问题和解决方案</a:t>
            </a:r>
          </a:p>
        </p:txBody>
      </p:sp>
      <p:graphicFrame>
        <p:nvGraphicFramePr>
          <p:cNvPr id="6" name="表格 5"/>
          <p:cNvGraphicFramePr/>
          <p:nvPr/>
        </p:nvGraphicFramePr>
        <p:xfrm>
          <a:off x="850265" y="1549400"/>
          <a:ext cx="10492105" cy="3759200"/>
        </p:xfrm>
        <a:graphic>
          <a:graphicData uri="http://schemas.openxmlformats.org/drawingml/2006/table">
            <a:tbl>
              <a:tblPr firstRow="1">
                <a:tableStyleId>{B7BD4722-F1F9-43DE-912B-BC3AB9E171DB}</a:tableStyleId>
              </a:tblPr>
              <a:tblGrid>
                <a:gridCol w="718185">
                  <a:extLst>
                    <a:ext uri="{9D8B030D-6E8A-4147-A177-3AD203B41FA5}">
                      <a16:colId xmlns:a16="http://schemas.microsoft.com/office/drawing/2014/main" val="20000"/>
                    </a:ext>
                  </a:extLst>
                </a:gridCol>
                <a:gridCol w="2334260">
                  <a:extLst>
                    <a:ext uri="{9D8B030D-6E8A-4147-A177-3AD203B41FA5}">
                      <a16:colId xmlns:a16="http://schemas.microsoft.com/office/drawing/2014/main" val="20001"/>
                    </a:ext>
                  </a:extLst>
                </a:gridCol>
                <a:gridCol w="7439660">
                  <a:extLst>
                    <a:ext uri="{9D8B030D-6E8A-4147-A177-3AD203B41FA5}">
                      <a16:colId xmlns:a16="http://schemas.microsoft.com/office/drawing/2014/main" val="20002"/>
                    </a:ext>
                  </a:extLst>
                </a:gridCol>
              </a:tblGrid>
              <a:tr h="562610">
                <a:tc>
                  <a:txBody>
                    <a:bodyPr/>
                    <a:lstStyle/>
                    <a:p>
                      <a:pPr algn="ctr">
                        <a:lnSpc>
                          <a:spcPct val="150000"/>
                        </a:lnSpc>
                        <a:buNone/>
                      </a:pPr>
                      <a:r>
                        <a:rPr lang="zh-CN" altLang="en-US"/>
                        <a:t>序号</a:t>
                      </a:r>
                    </a:p>
                  </a:txBody>
                  <a:tcPr/>
                </a:tc>
                <a:tc>
                  <a:txBody>
                    <a:bodyPr/>
                    <a:lstStyle/>
                    <a:p>
                      <a:pPr algn="ctr">
                        <a:lnSpc>
                          <a:spcPct val="150000"/>
                        </a:lnSpc>
                      </a:pPr>
                      <a:r>
                        <a:rPr lang="zh-CN" altLang="en-US" sz="1800">
                          <a:sym typeface="+mn-ea"/>
                        </a:rPr>
                        <a:t>缺点 </a:t>
                      </a:r>
                      <a:r>
                        <a:rPr lang="en-US" altLang="zh-CN" sz="1800">
                          <a:sym typeface="+mn-ea"/>
                        </a:rPr>
                        <a:t>/ </a:t>
                      </a:r>
                      <a:r>
                        <a:rPr lang="zh-CN" altLang="en-US" sz="1800">
                          <a:sym typeface="+mn-ea"/>
                        </a:rPr>
                        <a:t>难点</a:t>
                      </a:r>
                      <a:endParaRPr lang="zh-CN" altLang="en-US"/>
                    </a:p>
                  </a:txBody>
                  <a:tcPr/>
                </a:tc>
                <a:tc>
                  <a:txBody>
                    <a:bodyPr/>
                    <a:lstStyle/>
                    <a:p>
                      <a:pPr algn="ctr">
                        <a:lnSpc>
                          <a:spcPct val="150000"/>
                        </a:lnSpc>
                      </a:pPr>
                      <a:r>
                        <a:rPr lang="zh-CN" altLang="en-US" sz="1800">
                          <a:sym typeface="+mn-ea"/>
                        </a:rPr>
                        <a:t>解决方案</a:t>
                      </a:r>
                      <a:endParaRPr lang="zh-CN" altLang="en-US"/>
                    </a:p>
                  </a:txBody>
                  <a:tcPr/>
                </a:tc>
                <a:extLst>
                  <a:ext uri="{0D108BD9-81ED-4DB2-BD59-A6C34878D82A}">
                    <a16:rowId xmlns:a16="http://schemas.microsoft.com/office/drawing/2014/main" val="10000"/>
                  </a:ext>
                </a:extLst>
              </a:tr>
              <a:tr h="843915">
                <a:tc>
                  <a:txBody>
                    <a:bodyPr/>
                    <a:lstStyle/>
                    <a:p>
                      <a:pPr algn="ctr">
                        <a:buClrTx/>
                        <a:buSzTx/>
                        <a:buFontTx/>
                        <a:buNone/>
                      </a:pPr>
                      <a:endParaRPr lang="zh-CN" altLang="en-US" sz="1600">
                        <a:solidFill>
                          <a:srgbClr val="08090C"/>
                        </a:solidFill>
                        <a:uFillTx/>
                        <a:latin typeface="Times New Roman" panose="02020603050405020304" charset="0"/>
                        <a:ea typeface="宋体" panose="02010600030101010101" pitchFamily="2" charset="-122"/>
                      </a:endParaRPr>
                    </a:p>
                    <a:p>
                      <a:pPr algn="ctr">
                        <a:buClrTx/>
                        <a:buSzTx/>
                        <a:buFontTx/>
                        <a:buNone/>
                      </a:pPr>
                      <a:r>
                        <a:rPr lang="zh-CN" altLang="en-US" sz="1600">
                          <a:solidFill>
                            <a:srgbClr val="08090C"/>
                          </a:solidFill>
                          <a:uFillTx/>
                          <a:latin typeface="Times New Roman" panose="02020603050405020304" charset="0"/>
                          <a:ea typeface="宋体" panose="02010600030101010101" pitchFamily="2" charset="-122"/>
                        </a:rPr>
                        <a:t>1</a:t>
                      </a:r>
                    </a:p>
                  </a:txBody>
                  <a:tcPr/>
                </a:tc>
                <a:tc>
                  <a:txBody>
                    <a:bodyPr/>
                    <a:lstStyle/>
                    <a:p>
                      <a:pPr algn="ctr">
                        <a:buClrTx/>
                        <a:buSzTx/>
                        <a:buFontTx/>
                      </a:pPr>
                      <a:r>
                        <a:rPr lang="zh-CN" altLang="en-US" sz="1600">
                          <a:solidFill>
                            <a:srgbClr val="08090C"/>
                          </a:solidFill>
                          <a:uFillTx/>
                          <a:latin typeface="Times New Roman" panose="02020603050405020304" charset="0"/>
                          <a:ea typeface="宋体" panose="02010600030101010101" pitchFamily="2" charset="-122"/>
                          <a:cs typeface="宋体" panose="02010600030101010101" pitchFamily="2" charset="-122"/>
                        </a:rPr>
                        <a:t>-78℃超低温还原，设备要求高</a:t>
                      </a:r>
                    </a:p>
                  </a:txBody>
                  <a:tcPr marL="51117" marR="51117" marT="51117" marB="51117" anchor="ctr"/>
                </a:tc>
                <a:tc>
                  <a:txBody>
                    <a:bodyPr/>
                    <a:lstStyle/>
                    <a:p>
                      <a:pPr algn="ctr">
                        <a:buClrTx/>
                        <a:buSzTx/>
                        <a:buFontTx/>
                      </a:pPr>
                      <a:r>
                        <a:rPr lang="zh-CN" altLang="en-US" sz="1600" dirty="0">
                          <a:solidFill>
                            <a:srgbClr val="08090C"/>
                          </a:solidFill>
                          <a:uFillTx/>
                          <a:latin typeface="Times New Roman" panose="02020603050405020304" charset="0"/>
                          <a:ea typeface="宋体" panose="02010600030101010101" pitchFamily="2" charset="-122"/>
                          <a:cs typeface="宋体" panose="02010600030101010101" pitchFamily="2" charset="-122"/>
                        </a:rPr>
                        <a:t> 使用手性催化剂 / 酶催化替代低温化学还原或可采用连续流工艺。</a:t>
                      </a:r>
                    </a:p>
                  </a:txBody>
                  <a:tcPr marL="51117" marR="51117" marT="51117" marB="51117" anchor="ctr"/>
                </a:tc>
                <a:extLst>
                  <a:ext uri="{0D108BD9-81ED-4DB2-BD59-A6C34878D82A}">
                    <a16:rowId xmlns:a16="http://schemas.microsoft.com/office/drawing/2014/main" val="10001"/>
                  </a:ext>
                </a:extLst>
              </a:tr>
              <a:tr h="1014095">
                <a:tc>
                  <a:txBody>
                    <a:bodyPr/>
                    <a:lstStyle/>
                    <a:p>
                      <a:pPr algn="ctr">
                        <a:buClrTx/>
                        <a:buSzTx/>
                        <a:buFontTx/>
                        <a:buNone/>
                      </a:pPr>
                      <a:endParaRPr lang="zh-CN" altLang="en-US" sz="1600">
                        <a:solidFill>
                          <a:srgbClr val="08090C"/>
                        </a:solidFill>
                        <a:uFillTx/>
                        <a:latin typeface="Times New Roman" panose="02020603050405020304" charset="0"/>
                        <a:ea typeface="宋体" panose="02010600030101010101" pitchFamily="2" charset="-122"/>
                      </a:endParaRPr>
                    </a:p>
                    <a:p>
                      <a:pPr algn="ctr">
                        <a:buClrTx/>
                        <a:buSzTx/>
                        <a:buFontTx/>
                        <a:buNone/>
                      </a:pPr>
                      <a:r>
                        <a:rPr lang="zh-CN" altLang="en-US" sz="1600">
                          <a:solidFill>
                            <a:srgbClr val="08090C"/>
                          </a:solidFill>
                          <a:uFillTx/>
                          <a:latin typeface="Times New Roman" panose="02020603050405020304" charset="0"/>
                          <a:ea typeface="宋体" panose="02010600030101010101" pitchFamily="2" charset="-122"/>
                        </a:rPr>
                        <a:t>2</a:t>
                      </a:r>
                    </a:p>
                  </a:txBody>
                  <a:tcPr/>
                </a:tc>
                <a:tc>
                  <a:txBody>
                    <a:bodyPr/>
                    <a:lstStyle/>
                    <a:p>
                      <a:pPr algn="ctr">
                        <a:buClrTx/>
                        <a:buSzTx/>
                        <a:buFontTx/>
                      </a:pPr>
                      <a:r>
                        <a:rPr lang="zh-CN" altLang="en-US" sz="1600">
                          <a:solidFill>
                            <a:srgbClr val="08090C"/>
                          </a:solidFill>
                          <a:uFillTx/>
                          <a:latin typeface="Times New Roman" panose="02020603050405020304" charset="0"/>
                          <a:ea typeface="宋体" panose="02010600030101010101" pitchFamily="2" charset="-122"/>
                          <a:cs typeface="宋体" panose="02010600030101010101" pitchFamily="2" charset="-122"/>
                        </a:rPr>
                        <a:t>Et₃B/NaBH₄试剂对水、氧气敏感</a:t>
                      </a:r>
                    </a:p>
                  </a:txBody>
                  <a:tcPr marL="51117" marR="51117" marT="51117" marB="51117" anchor="ctr"/>
                </a:tc>
                <a:tc>
                  <a:txBody>
                    <a:bodyPr/>
                    <a:lstStyle/>
                    <a:p>
                      <a:pPr algn="ctr">
                        <a:buClrTx/>
                        <a:buSzTx/>
                        <a:buFontTx/>
                      </a:pPr>
                      <a:r>
                        <a:rPr lang="en-US" altLang="zh-CN" sz="1600">
                          <a:solidFill>
                            <a:srgbClr val="08090C"/>
                          </a:solidFill>
                          <a:uFillTx/>
                          <a:latin typeface="Times New Roman" panose="02020603050405020304" charset="0"/>
                          <a:ea typeface="宋体" panose="02010600030101010101" pitchFamily="2" charset="-122"/>
                          <a:cs typeface="宋体" panose="02010600030101010101" pitchFamily="2" charset="-122"/>
                        </a:rPr>
                        <a:t> </a:t>
                      </a:r>
                      <a:r>
                        <a:rPr lang="zh-CN" altLang="en-US" sz="1600">
                          <a:solidFill>
                            <a:srgbClr val="08090C"/>
                          </a:solidFill>
                          <a:uFillTx/>
                          <a:latin typeface="Times New Roman" panose="02020603050405020304" charset="0"/>
                          <a:ea typeface="宋体" panose="02010600030101010101" pitchFamily="2" charset="-122"/>
                          <a:cs typeface="宋体" panose="02010600030101010101" pitchFamily="2" charset="-122"/>
                        </a:rPr>
                        <a:t>改用不对称催化加氢，在常温</a:t>
                      </a:r>
                      <a:r>
                        <a:rPr lang="en-US" altLang="zh-CN" sz="1600">
                          <a:solidFill>
                            <a:srgbClr val="08090C"/>
                          </a:solidFill>
                          <a:uFillTx/>
                          <a:latin typeface="Times New Roman" panose="02020603050405020304" charset="0"/>
                          <a:ea typeface="宋体" panose="02010600030101010101" pitchFamily="2" charset="-122"/>
                          <a:cs typeface="宋体" panose="02010600030101010101" pitchFamily="2" charset="-122"/>
                        </a:rPr>
                        <a:t> / </a:t>
                      </a:r>
                      <a:r>
                        <a:rPr lang="zh-CN" altLang="en-US" sz="1600">
                          <a:solidFill>
                            <a:srgbClr val="08090C"/>
                          </a:solidFill>
                          <a:uFillTx/>
                          <a:latin typeface="Times New Roman" panose="02020603050405020304" charset="0"/>
                          <a:ea typeface="宋体" panose="02010600030101010101" pitchFamily="2" charset="-122"/>
                          <a:cs typeface="宋体" panose="02010600030101010101" pitchFamily="2" charset="-122"/>
                        </a:rPr>
                        <a:t>常压下实现高立体选择性还原，如硼氢化钠（</a:t>
                      </a:r>
                      <a:r>
                        <a:rPr lang="en-US" altLang="zh-CN" sz="1600">
                          <a:solidFill>
                            <a:srgbClr val="08090C"/>
                          </a:solidFill>
                          <a:uFillTx/>
                          <a:latin typeface="Times New Roman" panose="02020603050405020304" charset="0"/>
                          <a:ea typeface="宋体" panose="02010600030101010101" pitchFamily="2" charset="-122"/>
                          <a:cs typeface="宋体" panose="02010600030101010101" pitchFamily="2" charset="-122"/>
                        </a:rPr>
                        <a:t>NaBH</a:t>
                      </a:r>
                      <a:r>
                        <a:rPr lang="en-US" altLang="en-US" sz="1600">
                          <a:solidFill>
                            <a:srgbClr val="08090C"/>
                          </a:solidFill>
                          <a:uFillTx/>
                          <a:latin typeface="Times New Roman" panose="02020603050405020304" charset="0"/>
                          <a:ea typeface="宋体" panose="02010600030101010101" pitchFamily="2" charset="-122"/>
                          <a:cs typeface="宋体" panose="02010600030101010101" pitchFamily="2" charset="-122"/>
                        </a:rPr>
                        <a:t>₄</a:t>
                      </a:r>
                      <a:r>
                        <a:rPr lang="zh-CN" altLang="en-US" sz="1600">
                          <a:solidFill>
                            <a:srgbClr val="08090C"/>
                          </a:solidFill>
                          <a:uFillTx/>
                          <a:latin typeface="Times New Roman" panose="02020603050405020304" charset="0"/>
                          <a:ea typeface="宋体" panose="02010600030101010101" pitchFamily="2" charset="-122"/>
                          <a:cs typeface="宋体" panose="02010600030101010101" pitchFamily="2" charset="-122"/>
                        </a:rPr>
                        <a:t>）</a:t>
                      </a:r>
                      <a:r>
                        <a:rPr lang="en-US" altLang="zh-CN" sz="1600">
                          <a:solidFill>
                            <a:srgbClr val="08090C"/>
                          </a:solidFill>
                          <a:uFillTx/>
                          <a:latin typeface="Times New Roman" panose="02020603050405020304" charset="0"/>
                          <a:ea typeface="宋体" panose="02010600030101010101" pitchFamily="2" charset="-122"/>
                          <a:cs typeface="宋体" panose="02010600030101010101" pitchFamily="2" charset="-122"/>
                        </a:rPr>
                        <a:t>/LiI </a:t>
                      </a:r>
                      <a:r>
                        <a:rPr lang="zh-CN" altLang="en-US" sz="1600">
                          <a:solidFill>
                            <a:srgbClr val="08090C"/>
                          </a:solidFill>
                          <a:uFillTx/>
                          <a:latin typeface="Times New Roman" panose="02020603050405020304" charset="0"/>
                          <a:ea typeface="宋体" panose="02010600030101010101" pitchFamily="2" charset="-122"/>
                          <a:cs typeface="宋体" panose="02010600030101010101" pitchFamily="2" charset="-122"/>
                        </a:rPr>
                        <a:t>复合还原体系代替</a:t>
                      </a:r>
                      <a:r>
                        <a:rPr lang="en-US" altLang="zh-CN" sz="1600">
                          <a:solidFill>
                            <a:srgbClr val="08090C"/>
                          </a:solidFill>
                          <a:uFillTx/>
                          <a:latin typeface="Times New Roman" panose="02020603050405020304" charset="0"/>
                          <a:ea typeface="宋体" panose="02010600030101010101" pitchFamily="2" charset="-122"/>
                          <a:cs typeface="宋体" panose="02010600030101010101" pitchFamily="2" charset="-122"/>
                        </a:rPr>
                        <a:t>Et</a:t>
                      </a:r>
                      <a:r>
                        <a:rPr lang="en-US" altLang="en-US" sz="1600">
                          <a:solidFill>
                            <a:srgbClr val="08090C"/>
                          </a:solidFill>
                          <a:uFillTx/>
                          <a:latin typeface="Times New Roman" panose="02020603050405020304" charset="0"/>
                          <a:ea typeface="宋体" panose="02010600030101010101" pitchFamily="2" charset="-122"/>
                          <a:cs typeface="宋体" panose="02010600030101010101" pitchFamily="2" charset="-122"/>
                        </a:rPr>
                        <a:t>₃</a:t>
                      </a:r>
                      <a:r>
                        <a:rPr lang="en-US" altLang="zh-CN" sz="1600">
                          <a:solidFill>
                            <a:srgbClr val="08090C"/>
                          </a:solidFill>
                          <a:uFillTx/>
                          <a:latin typeface="Times New Roman" panose="02020603050405020304" charset="0"/>
                          <a:ea typeface="宋体" panose="02010600030101010101" pitchFamily="2" charset="-122"/>
                          <a:cs typeface="宋体" panose="02010600030101010101" pitchFamily="2" charset="-122"/>
                        </a:rPr>
                        <a:t>B/NaBH</a:t>
                      </a:r>
                      <a:r>
                        <a:rPr lang="en-US" altLang="en-US" sz="1600">
                          <a:solidFill>
                            <a:srgbClr val="08090C"/>
                          </a:solidFill>
                          <a:uFillTx/>
                          <a:latin typeface="Times New Roman" panose="02020603050405020304" charset="0"/>
                          <a:ea typeface="宋体" panose="02010600030101010101" pitchFamily="2" charset="-122"/>
                          <a:cs typeface="宋体" panose="02010600030101010101" pitchFamily="2" charset="-122"/>
                        </a:rPr>
                        <a:t>₄</a:t>
                      </a:r>
                      <a:r>
                        <a:rPr lang="zh-CN" altLang="en-US" sz="1600">
                          <a:solidFill>
                            <a:srgbClr val="08090C"/>
                          </a:solidFill>
                          <a:uFillTx/>
                          <a:latin typeface="Times New Roman" panose="02020603050405020304" charset="0"/>
                          <a:ea typeface="宋体" panose="02010600030101010101" pitchFamily="2" charset="-122"/>
                          <a:cs typeface="宋体" panose="02010600030101010101" pitchFamily="2" charset="-122"/>
                        </a:rPr>
                        <a:t>是一种有效的替代方案，尝试酶催化还原（如羰基还原酶），在温和水相体系中反应</a:t>
                      </a:r>
                    </a:p>
                  </a:txBody>
                  <a:tcPr marL="51117" marR="51117" marT="51117" marB="51117" anchor="ctr"/>
                </a:tc>
                <a:extLst>
                  <a:ext uri="{0D108BD9-81ED-4DB2-BD59-A6C34878D82A}">
                    <a16:rowId xmlns:a16="http://schemas.microsoft.com/office/drawing/2014/main" val="10002"/>
                  </a:ext>
                </a:extLst>
              </a:tr>
              <a:tr h="1338580">
                <a:tc>
                  <a:txBody>
                    <a:bodyPr/>
                    <a:lstStyle/>
                    <a:p>
                      <a:pPr algn="ctr">
                        <a:buClrTx/>
                        <a:buSzTx/>
                        <a:buFontTx/>
                        <a:buNone/>
                      </a:pPr>
                      <a:endParaRPr lang="en-US" altLang="zh-CN" sz="1600">
                        <a:solidFill>
                          <a:srgbClr val="08090C"/>
                        </a:solidFill>
                        <a:uFillTx/>
                        <a:latin typeface="Times New Roman" panose="02020603050405020304" charset="0"/>
                        <a:ea typeface="宋体" panose="02010600030101010101" pitchFamily="2" charset="-122"/>
                      </a:endParaRPr>
                    </a:p>
                    <a:p>
                      <a:pPr algn="ctr">
                        <a:buClrTx/>
                        <a:buSzTx/>
                        <a:buFontTx/>
                        <a:buNone/>
                      </a:pPr>
                      <a:endParaRPr lang="en-US" altLang="zh-CN" sz="1600">
                        <a:solidFill>
                          <a:srgbClr val="08090C"/>
                        </a:solidFill>
                        <a:uFillTx/>
                        <a:latin typeface="Times New Roman" panose="02020603050405020304" charset="0"/>
                        <a:ea typeface="宋体" panose="02010600030101010101" pitchFamily="2" charset="-122"/>
                      </a:endParaRPr>
                    </a:p>
                    <a:p>
                      <a:pPr algn="ctr">
                        <a:buClrTx/>
                        <a:buSzTx/>
                        <a:buFontTx/>
                        <a:buNone/>
                      </a:pPr>
                      <a:r>
                        <a:rPr lang="en-US" altLang="zh-CN" sz="1600">
                          <a:solidFill>
                            <a:srgbClr val="08090C"/>
                          </a:solidFill>
                          <a:uFillTx/>
                          <a:latin typeface="Times New Roman" panose="02020603050405020304" charset="0"/>
                          <a:ea typeface="宋体" panose="02010600030101010101" pitchFamily="2" charset="-122"/>
                        </a:rPr>
                        <a:t>3</a:t>
                      </a:r>
                    </a:p>
                    <a:p>
                      <a:pPr algn="ctr">
                        <a:buClrTx/>
                        <a:buSzTx/>
                        <a:buFontTx/>
                        <a:buNone/>
                      </a:pPr>
                      <a:endParaRPr lang="en-US" altLang="zh-CN" sz="1600">
                        <a:solidFill>
                          <a:srgbClr val="08090C"/>
                        </a:solidFill>
                        <a:uFillTx/>
                        <a:latin typeface="Times New Roman" panose="02020603050405020304" charset="0"/>
                        <a:ea typeface="宋体" panose="02010600030101010101" pitchFamily="2" charset="-122"/>
                      </a:endParaRPr>
                    </a:p>
                  </a:txBody>
                  <a:tcPr/>
                </a:tc>
                <a:tc>
                  <a:txBody>
                    <a:bodyPr/>
                    <a:lstStyle/>
                    <a:p>
                      <a:pPr algn="ctr">
                        <a:buClrTx/>
                        <a:buSzTx/>
                        <a:buFontTx/>
                        <a:buNone/>
                      </a:pPr>
                      <a:r>
                        <a:rPr lang="zh-CN" altLang="en-US" sz="1600">
                          <a:ln>
                            <a:noFill/>
                          </a:ln>
                          <a:solidFill>
                            <a:prstClr val="black"/>
                          </a:solidFill>
                          <a:latin typeface="Times New Roman" panose="02020603050405020304" charset="0"/>
                          <a:ea typeface="宋体" panose="02010600030101010101" pitchFamily="2" charset="-122"/>
                          <a:sym typeface="+mn-ea"/>
                        </a:rPr>
                        <a:t>该合成路线使用</a:t>
                      </a:r>
                      <a:r>
                        <a:rPr lang="en-US" altLang="zh-CN" sz="1600">
                          <a:ln>
                            <a:noFill/>
                          </a:ln>
                          <a:solidFill>
                            <a:prstClr val="black"/>
                          </a:solidFill>
                          <a:latin typeface="Times New Roman" panose="02020603050405020304" charset="0"/>
                          <a:ea typeface="宋体" panose="02010600030101010101" pitchFamily="2" charset="-122"/>
                          <a:sym typeface="+mn-ea"/>
                        </a:rPr>
                        <a:t>POCl</a:t>
                      </a:r>
                      <a:r>
                        <a:rPr lang="en-US" altLang="en-US" sz="1600">
                          <a:ln>
                            <a:noFill/>
                          </a:ln>
                          <a:solidFill>
                            <a:prstClr val="black"/>
                          </a:solidFill>
                          <a:latin typeface="Times New Roman" panose="02020603050405020304" charset="0"/>
                          <a:ea typeface="宋体" panose="02010600030101010101" pitchFamily="2" charset="-122"/>
                          <a:sym typeface="+mn-ea"/>
                        </a:rPr>
                        <a:t>₃</a:t>
                      </a:r>
                      <a:r>
                        <a:rPr lang="zh-CN" altLang="en-US" sz="1600">
                          <a:ln>
                            <a:noFill/>
                          </a:ln>
                          <a:solidFill>
                            <a:prstClr val="black"/>
                          </a:solidFill>
                          <a:latin typeface="Times New Roman" panose="02020603050405020304" charset="0"/>
                          <a:ea typeface="宋体" panose="02010600030101010101" pitchFamily="2" charset="-122"/>
                          <a:sym typeface="+mn-ea"/>
                        </a:rPr>
                        <a:t>，反应后产生大量酸性含磷废水，处理困难</a:t>
                      </a:r>
                      <a:endParaRPr lang="zh-CN" altLang="en-US" sz="1600">
                        <a:solidFill>
                          <a:srgbClr val="08090C"/>
                        </a:solidFill>
                        <a:uFillTx/>
                        <a:latin typeface="Times New Roman" panose="02020603050405020304" charset="0"/>
                        <a:ea typeface="宋体" panose="02010600030101010101" pitchFamily="2" charset="-122"/>
                      </a:endParaRPr>
                    </a:p>
                  </a:txBody>
                  <a:tcPr marL="51117" marR="51117" marT="51117" marB="51117" anchor="ctr"/>
                </a:tc>
                <a:tc>
                  <a:txBody>
                    <a:bodyPr/>
                    <a:lstStyle/>
                    <a:p>
                      <a:pPr algn="ctr">
                        <a:buClrTx/>
                        <a:buSzTx/>
                        <a:buFontTx/>
                        <a:buNone/>
                      </a:pPr>
                      <a:r>
                        <a:rPr lang="zh-CN" altLang="en-US" sz="1600" dirty="0">
                          <a:solidFill>
                            <a:srgbClr val="08090C"/>
                          </a:solidFill>
                          <a:uFillTx/>
                          <a:latin typeface="Times New Roman" panose="02020603050405020304" charset="0"/>
                          <a:ea typeface="宋体" panose="02010600030101010101" pitchFamily="2" charset="-122"/>
                          <a:cs typeface="宋体" panose="02010600030101010101" pitchFamily="2" charset="-122"/>
                        </a:rPr>
                        <a:t>使用更绿色的甲酰化试剂：在构建醛中间体时，可以采用选择性更好毒性更低的甲酰化试剂，或探索全新的反应路径，从源头避免产生含磷废水</a:t>
                      </a:r>
                    </a:p>
                  </a:txBody>
                  <a:tcPr marL="51117" marR="51117" marT="51117" marB="51117" anchor="ctr"/>
                </a:tc>
                <a:extLst>
                  <a:ext uri="{0D108BD9-81ED-4DB2-BD59-A6C34878D82A}">
                    <a16:rowId xmlns:a16="http://schemas.microsoft.com/office/drawing/2014/main" val="10003"/>
                  </a:ext>
                </a:extLst>
              </a:tr>
            </a:tbl>
          </a:graphicData>
        </a:graphic>
      </p:graphicFrame>
    </p:spTree>
    <p:custDataLst>
      <p:tags r:id="rId1"/>
    </p:custData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3" name="图片 1"/>
          <p:cNvPicPr>
            <a:picLocks noChangeAspect="1"/>
          </p:cNvPicPr>
          <p:nvPr/>
        </p:nvPicPr>
        <p:blipFill>
          <a:blip r:embed="rId2"/>
          <a:stretch>
            <a:fillRect/>
          </a:stretch>
        </p:blipFill>
        <p:spPr>
          <a:xfrm>
            <a:off x="3935413" y="981075"/>
            <a:ext cx="4340225" cy="2470150"/>
          </a:xfrm>
          <a:prstGeom prst="rect">
            <a:avLst/>
          </a:prstGeom>
          <a:noFill/>
          <a:ln w="9525">
            <a:noFill/>
          </a:ln>
        </p:spPr>
      </p:pic>
      <p:sp>
        <p:nvSpPr>
          <p:cNvPr id="3074" name="文本框 3"/>
          <p:cNvSpPr txBox="1"/>
          <p:nvPr/>
        </p:nvSpPr>
        <p:spPr>
          <a:xfrm>
            <a:off x="4656138" y="3789363"/>
            <a:ext cx="3048000" cy="696912"/>
          </a:xfrm>
          <a:prstGeom prst="rect">
            <a:avLst/>
          </a:prstGeom>
          <a:noFill/>
          <a:ln w="9525">
            <a:noFill/>
          </a:ln>
        </p:spPr>
        <p:txBody>
          <a:bodyPr wrap="square" anchor="t" anchorCtr="0"/>
          <a:lstStyle/>
          <a:p>
            <a:pPr algn="ctr"/>
            <a:r>
              <a:rPr lang="zh-CN" altLang="en-US">
                <a:latin typeface="Times New Roman" panose="02020603050405020304" charset="0"/>
                <a:ea typeface="宋体" panose="02010600030101010101" pitchFamily="2" charset="-122"/>
              </a:rPr>
              <a:t>氟伐他汀</a:t>
            </a:r>
          </a:p>
          <a:p>
            <a:pPr algn="ctr"/>
            <a:r>
              <a:rPr lang="en-US" altLang="zh-CN">
                <a:latin typeface="Times New Roman" panose="02020603050405020304" charset="0"/>
                <a:ea typeface="宋体" panose="02010600030101010101" pitchFamily="2" charset="-122"/>
              </a:rPr>
              <a:t>Fluvastatin</a:t>
            </a:r>
          </a:p>
          <a:p>
            <a:pPr algn="ctr"/>
            <a:endParaRPr lang="en-US" altLang="zh-CN">
              <a:latin typeface="Times New Roman" panose="02020603050405020304" charset="0"/>
              <a:ea typeface="宋体" panose="02010600030101010101" pitchFamily="2" charset="-122"/>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标题 1"/>
          <p:cNvSpPr>
            <a:spLocks noGrp="1"/>
          </p:cNvSpPr>
          <p:nvPr>
            <p:ph type="title"/>
            <p:custDataLst>
              <p:tags r:id="rId2"/>
            </p:custDataLst>
          </p:nvPr>
        </p:nvSpPr>
        <p:spPr>
          <a:xfrm>
            <a:off x="1487488" y="1127125"/>
            <a:ext cx="2690812" cy="528638"/>
          </a:xfrm>
        </p:spPr>
        <p:txBody>
          <a:bodyPr anchor="ctr" anchorCtr="0"/>
          <a:lstStyle/>
          <a:p>
            <a:r>
              <a:rPr lang="zh-CN" altLang="en-US" sz="1800" b="1">
                <a:solidFill>
                  <a:schemeClr val="tx1"/>
                </a:solidFill>
                <a:sym typeface="宋体" panose="02010600030101010101" pitchFamily="2" charset="-122"/>
              </a:rPr>
              <a:t>氟伐他汀的市场价值</a:t>
            </a:r>
            <a:endParaRPr lang="zh-CN" altLang="en-US" sz="1800" b="1" dirty="0">
              <a:solidFill>
                <a:schemeClr val="tx1"/>
              </a:solidFill>
              <a:latin typeface="宋体" panose="02010600030101010101" pitchFamily="2" charset="-122"/>
              <a:sym typeface="宋体" panose="02010600030101010101" pitchFamily="2" charset="-122"/>
            </a:endParaRPr>
          </a:p>
        </p:txBody>
      </p:sp>
      <p:sp>
        <p:nvSpPr>
          <p:cNvPr id="3" name="内容占位符 2"/>
          <p:cNvSpPr>
            <a:spLocks noGrp="1"/>
          </p:cNvSpPr>
          <p:nvPr>
            <p:ph idx="1"/>
            <p:custDataLst>
              <p:tags r:id="rId3"/>
            </p:custDataLst>
          </p:nvPr>
        </p:nvSpPr>
        <p:spPr>
          <a:xfrm>
            <a:off x="2022475" y="3997325"/>
            <a:ext cx="5829300" cy="628650"/>
          </a:xfrm>
        </p:spPr>
        <p:txBody>
          <a:bodyPr>
            <a:noAutofit/>
          </a:bodyPr>
          <a:lstStyle/>
          <a:p>
            <a:pPr marL="0" marR="0" indent="-342900" algn="l" defTabSz="914400" rtl="0" eaLnBrk="1" fontAlgn="base" latinLnBrk="0" hangingPunct="1">
              <a:lnSpc>
                <a:spcPct val="100000"/>
              </a:lnSpc>
              <a:spcBef>
                <a:spcPct val="20000"/>
              </a:spcBef>
              <a:spcAft>
                <a:spcPct val="0"/>
              </a:spcAft>
              <a:buClrTx/>
              <a:buSzTx/>
              <a:buFontTx/>
              <a:buNone/>
            </a:pPr>
            <a:r>
              <a:rPr kumimoji="0" lang="en-US" altLang="zh-CN" sz="1800" b="0" i="0" u="none" strike="noStrike" kern="1200" cap="none" spc="0" normalizeH="0" baseline="0" noProof="1">
                <a:solidFill>
                  <a:schemeClr val="tx1"/>
                </a:solidFill>
                <a:uFillTx/>
                <a:latin typeface="Times New Roman" panose="02020603050405020304" charset="0"/>
                <a:ea typeface="宋体" panose="02010600030101010101" pitchFamily="2" charset="-122"/>
                <a:cs typeface="微软雅黑" panose="020B0503020204020204" charset="-122"/>
                <a:sym typeface="+mn-ea"/>
              </a:rPr>
              <a:t>1. </a:t>
            </a:r>
            <a:r>
              <a:rPr kumimoji="0" lang="en-US" altLang="zh-CN" sz="1800" b="0" i="0" u="none" strike="noStrike" kern="1200" cap="none" spc="0" normalizeH="0" baseline="0" noProof="1">
                <a:solidFill>
                  <a:schemeClr val="tx1"/>
                </a:solidFill>
                <a:uFillTx/>
                <a:latin typeface="Times New Roman" panose="02020603050405020304" charset="0"/>
                <a:ea typeface="宋体" panose="02010600030101010101" pitchFamily="2" charset="-122"/>
                <a:cs typeface="微软雅黑" panose="020B0503020204020204" charset="-122"/>
              </a:rPr>
              <a:t>工业级价格 (≥99.5%)：980 元/kg</a:t>
            </a:r>
          </a:p>
          <a:p>
            <a:pPr marL="0" marR="0" indent="-342900" algn="l" defTabSz="914400" rtl="0" eaLnBrk="1" fontAlgn="base" latinLnBrk="0" hangingPunct="1">
              <a:lnSpc>
                <a:spcPct val="100000"/>
              </a:lnSpc>
              <a:spcBef>
                <a:spcPct val="20000"/>
              </a:spcBef>
              <a:spcAft>
                <a:spcPct val="0"/>
              </a:spcAft>
              <a:buClrTx/>
              <a:buSzTx/>
              <a:buFontTx/>
              <a:buNone/>
            </a:pPr>
            <a:r>
              <a:rPr kumimoji="0" lang="en-US" altLang="zh-CN" sz="1800" b="0" i="0" u="none" strike="noStrike" kern="1200" cap="none" spc="0" normalizeH="0" baseline="0" noProof="1">
                <a:solidFill>
                  <a:schemeClr val="tx1"/>
                </a:solidFill>
                <a:uFillTx/>
                <a:latin typeface="Times New Roman" panose="02020603050405020304" charset="0"/>
                <a:ea typeface="宋体" panose="02010600030101010101" pitchFamily="2" charset="-122"/>
                <a:cs typeface="微软雅黑" panose="020B0503020204020204" charset="-122"/>
              </a:rPr>
              <a:t>2. 科研级价格：100mg (≥98%) ：790.42元（阿拉丁）</a:t>
            </a:r>
          </a:p>
          <a:p>
            <a:pPr marL="0" marR="0" indent="-342900" algn="l" defTabSz="914400" rtl="0" eaLnBrk="1" fontAlgn="base" latinLnBrk="0" hangingPunct="1">
              <a:lnSpc>
                <a:spcPct val="150000"/>
              </a:lnSpc>
              <a:spcBef>
                <a:spcPct val="20000"/>
              </a:spcBef>
              <a:spcAft>
                <a:spcPct val="0"/>
              </a:spcAft>
              <a:buClrTx/>
              <a:buSzTx/>
              <a:buFontTx/>
              <a:buNone/>
            </a:pPr>
            <a:endParaRPr kumimoji="0" lang="en-US" altLang="zh-CN" sz="1800" b="0" i="0" u="none" strike="noStrike" kern="1200" cap="none" spc="0" normalizeH="0" baseline="0" noProof="1">
              <a:solidFill>
                <a:schemeClr val="tx1"/>
              </a:solidFill>
              <a:uFillTx/>
              <a:latin typeface="Times New Roman" panose="02020603050405020304" charset="0"/>
              <a:ea typeface="宋体" panose="02010600030101010101" pitchFamily="2" charset="-122"/>
              <a:cs typeface="微软雅黑" panose="020B0503020204020204" charset="-122"/>
            </a:endParaRPr>
          </a:p>
        </p:txBody>
      </p:sp>
      <p:sp>
        <p:nvSpPr>
          <p:cNvPr id="4" name="文本框 3"/>
          <p:cNvSpPr txBox="1"/>
          <p:nvPr/>
        </p:nvSpPr>
        <p:spPr>
          <a:xfrm>
            <a:off x="1781175" y="3284538"/>
            <a:ext cx="2009775" cy="368300"/>
          </a:xfrm>
          <a:prstGeom prst="rect">
            <a:avLst/>
          </a:prstGeom>
          <a:noFill/>
        </p:spPr>
        <p:txBody>
          <a:bodyPr wrap="square" rtlCol="0" anchor="t">
            <a:spAutoFit/>
          </a:bodyPr>
          <a:lstStyle/>
          <a:p>
            <a:pPr>
              <a:buClrTx/>
              <a:buSzTx/>
              <a:buFontTx/>
            </a:pPr>
            <a:r>
              <a:rPr lang="zh-CN" altLang="en-US" b="1" spc="300" noProof="1">
                <a:latin typeface="+mj-lt"/>
                <a:ea typeface="+mj-ea"/>
                <a:cs typeface="+mj-cs"/>
                <a:sym typeface="+mn-ea"/>
              </a:rPr>
              <a:t>原料药的价格</a:t>
            </a:r>
          </a:p>
        </p:txBody>
      </p:sp>
      <p:sp>
        <p:nvSpPr>
          <p:cNvPr id="5" name="文本框 4"/>
          <p:cNvSpPr txBox="1"/>
          <p:nvPr/>
        </p:nvSpPr>
        <p:spPr>
          <a:xfrm>
            <a:off x="1851025" y="1765300"/>
            <a:ext cx="8616950" cy="1334770"/>
          </a:xfrm>
          <a:prstGeom prst="rect">
            <a:avLst/>
          </a:prstGeom>
          <a:noFill/>
        </p:spPr>
        <p:txBody>
          <a:bodyPr wrap="square" rtlCol="0">
            <a:noAutofit/>
          </a:bodyPr>
          <a:lstStyle/>
          <a:p>
            <a:pPr>
              <a:lnSpc>
                <a:spcPct val="150000"/>
              </a:lnSpc>
              <a:spcBef>
                <a:spcPts val="0"/>
              </a:spcBef>
              <a:spcAft>
                <a:spcPts val="1000"/>
              </a:spcAft>
              <a:buClrTx/>
              <a:buSzTx/>
              <a:buNone/>
            </a:pPr>
            <a:r>
              <a:rPr lang="en-US" altLang="zh-CN" sz="1200" spc="150" noProof="1">
                <a:solidFill>
                  <a:schemeClr val="tx1">
                    <a:lumMod val="65000"/>
                    <a:lumOff val="35000"/>
                  </a:schemeClr>
                </a:solidFill>
                <a:latin typeface="微软雅黑" panose="020B0503020204020204" charset="-122"/>
                <a:ea typeface="微软雅黑" panose="020B0503020204020204" charset="-122"/>
                <a:cs typeface="微软雅黑" panose="020B0503020204020204" charset="-122"/>
              </a:rPr>
              <a:t>    </a:t>
            </a:r>
            <a:r>
              <a:rPr lang="zh-CN" altLang="en-US" spc="150" noProof="1">
                <a:solidFill>
                  <a:schemeClr val="tx1"/>
                </a:solidFill>
                <a:uFillTx/>
                <a:latin typeface="Times New Roman" panose="02020603050405020304" charset="0"/>
                <a:ea typeface="宋体" panose="02010600030101010101" pitchFamily="2" charset="-122"/>
                <a:cs typeface="微软雅黑" panose="020B0503020204020204" charset="-122"/>
              </a:rPr>
              <a:t>2025年全球氟伐他汀钠药物市场规模为1.5亿美元，预计到2034年将达到2.4亿美元，2025-2034年复合年增长率为5.9%。</a:t>
            </a:r>
            <a:r>
              <a:rPr lang="en-US" altLang="zh-CN" spc="150" noProof="1">
                <a:solidFill>
                  <a:schemeClr val="tx1"/>
                </a:solidFill>
                <a:uFillTx/>
                <a:latin typeface="Times New Roman" panose="02020603050405020304" charset="0"/>
                <a:ea typeface="宋体" panose="02010600030101010101" pitchFamily="2" charset="-122"/>
                <a:cs typeface="微软雅黑" panose="020B0503020204020204" charset="-122"/>
              </a:rPr>
              <a:t>氟伐他汀钠药市场复合年增长率（CAGR）预计在预测期（2026-2035年）内约为4.4%。</a:t>
            </a:r>
          </a:p>
        </p:txBody>
      </p:sp>
    </p:spTree>
    <p:custDataLst>
      <p:tags r:id="rId1"/>
    </p:custData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文本框 3"/>
          <p:cNvSpPr txBox="1"/>
          <p:nvPr/>
        </p:nvSpPr>
        <p:spPr>
          <a:xfrm>
            <a:off x="4656138" y="5300663"/>
            <a:ext cx="2557462" cy="337185"/>
          </a:xfrm>
          <a:prstGeom prst="rect">
            <a:avLst/>
          </a:prstGeom>
          <a:noFill/>
          <a:ln w="9525">
            <a:noFill/>
          </a:ln>
        </p:spPr>
        <p:txBody>
          <a:bodyPr wrap="square" anchor="t" anchorCtr="0">
            <a:spAutoFit/>
          </a:bodyPr>
          <a:lstStyle/>
          <a:p>
            <a:r>
              <a:rPr lang="zh-CN" altLang="en-US" sz="1600" i="1">
                <a:latin typeface="Times New Roman" panose="02020603050405020304" charset="0"/>
                <a:ea typeface="宋体" panose="02010600030101010101" pitchFamily="2" charset="-122"/>
              </a:rPr>
              <a:t>药物资讯</a:t>
            </a:r>
            <a:r>
              <a:rPr lang="en-US" altLang="zh-CN" sz="1600" i="1">
                <a:latin typeface="Times New Roman" panose="02020603050405020304" charset="0"/>
                <a:ea typeface="宋体" panose="02010600030101010101" pitchFamily="2" charset="-122"/>
              </a:rPr>
              <a:t>, </a:t>
            </a:r>
            <a:r>
              <a:rPr lang="en-US" altLang="zh-CN" sz="1600" b="1">
                <a:latin typeface="Times New Roman" panose="02020603050405020304" charset="0"/>
                <a:ea typeface="宋体" panose="02010600030101010101" pitchFamily="2" charset="-122"/>
              </a:rPr>
              <a:t>2012</a:t>
            </a:r>
            <a:r>
              <a:rPr lang="en-US" altLang="zh-CN" sz="1600" i="1">
                <a:latin typeface="Times New Roman" panose="02020603050405020304" charset="0"/>
                <a:ea typeface="宋体" panose="02010600030101010101" pitchFamily="2" charset="-122"/>
              </a:rPr>
              <a:t>,</a:t>
            </a:r>
            <a:r>
              <a:rPr lang="en-US" altLang="zh-CN" sz="1600">
                <a:latin typeface="Times New Roman" panose="02020603050405020304" charset="0"/>
                <a:ea typeface="宋体" panose="02010600030101010101" pitchFamily="2" charset="-122"/>
              </a:rPr>
              <a:t>1(1): 1-5.</a:t>
            </a:r>
          </a:p>
        </p:txBody>
      </p:sp>
      <p:sp>
        <p:nvSpPr>
          <p:cNvPr id="6147" name="文本框 1"/>
          <p:cNvSpPr txBox="1"/>
          <p:nvPr/>
        </p:nvSpPr>
        <p:spPr>
          <a:xfrm>
            <a:off x="1703388" y="188913"/>
            <a:ext cx="8915400" cy="521970"/>
          </a:xfrm>
          <a:prstGeom prst="rect">
            <a:avLst/>
          </a:prstGeom>
          <a:noFill/>
          <a:ln w="9525">
            <a:noFill/>
          </a:ln>
        </p:spPr>
        <p:txBody>
          <a:bodyPr wrap="square" anchor="t" anchorCtr="0">
            <a:spAutoFit/>
          </a:bodyPr>
          <a:lstStyle/>
          <a:p>
            <a:r>
              <a:rPr lang="zh-CN" altLang="en-US" sz="2800" b="1" dirty="0">
                <a:latin typeface="Times New Roman" panose="02020603050405020304" charset="0"/>
                <a:ea typeface="宋体" panose="02010600030101010101" pitchFamily="2" charset="-122"/>
              </a:rPr>
              <a:t>氟伐他汀合成路线：</a:t>
            </a:r>
            <a:endParaRPr lang="zh-CN" altLang="en-US" sz="2800" b="1" baseline="100000" dirty="0">
              <a:latin typeface="Times New Roman" panose="02020603050405020304" charset="0"/>
              <a:ea typeface="宋体" panose="02010600030101010101" pitchFamily="2" charset="-122"/>
            </a:endParaRPr>
          </a:p>
        </p:txBody>
      </p:sp>
      <p:pic>
        <p:nvPicPr>
          <p:cNvPr id="4" name="图片 3"/>
          <p:cNvPicPr>
            <a:picLocks noChangeAspect="1"/>
          </p:cNvPicPr>
          <p:nvPr/>
        </p:nvPicPr>
        <p:blipFill>
          <a:blip r:embed="rId2"/>
          <a:stretch>
            <a:fillRect/>
          </a:stretch>
        </p:blipFill>
        <p:spPr>
          <a:xfrm>
            <a:off x="1959610" y="2833370"/>
            <a:ext cx="6585585" cy="1470025"/>
          </a:xfrm>
          <a:prstGeom prst="rect">
            <a:avLst/>
          </a:prstGeom>
        </p:spPr>
      </p:pic>
      <p:pic>
        <p:nvPicPr>
          <p:cNvPr id="5" name="图片 4"/>
          <p:cNvPicPr>
            <a:picLocks noChangeAspect="1"/>
          </p:cNvPicPr>
          <p:nvPr/>
        </p:nvPicPr>
        <p:blipFill>
          <a:blip r:embed="rId3"/>
          <a:stretch>
            <a:fillRect/>
          </a:stretch>
        </p:blipFill>
        <p:spPr>
          <a:xfrm>
            <a:off x="1959610" y="1261110"/>
            <a:ext cx="8292465" cy="1419860"/>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文本框 1"/>
          <p:cNvSpPr txBox="1"/>
          <p:nvPr/>
        </p:nvSpPr>
        <p:spPr>
          <a:xfrm>
            <a:off x="1703705" y="836930"/>
            <a:ext cx="6915150" cy="4001770"/>
          </a:xfrm>
          <a:prstGeom prst="rect">
            <a:avLst/>
          </a:prstGeom>
          <a:noFill/>
          <a:ln w="9525">
            <a:noFill/>
          </a:ln>
        </p:spPr>
        <p:txBody>
          <a:bodyPr wrap="square" anchor="t" anchorCtr="0"/>
          <a:lstStyle/>
          <a:p>
            <a:r>
              <a:rPr lang="zh-CN" altLang="en-US">
                <a:latin typeface="Times New Roman" panose="02020603050405020304" charset="0"/>
                <a:ea typeface="宋体" panose="02010600030101010101" pitchFamily="2" charset="-122"/>
              </a:rPr>
              <a:t>该工艺路线直接以氟苯为起始原料，共六步反应，工艺路线最短，原料也简单，生产成本也较低，总收率达26%。本路线以</a:t>
            </a:r>
            <a:r>
              <a:rPr lang="en-US" altLang="zh-CN">
                <a:latin typeface="Times New Roman" panose="02020603050405020304" charset="0"/>
                <a:ea typeface="宋体" panose="02010600030101010101" pitchFamily="2" charset="-122"/>
              </a:rPr>
              <a:t>N-</a:t>
            </a:r>
            <a:r>
              <a:rPr lang="zh-CN" altLang="en-US">
                <a:latin typeface="Times New Roman" panose="02020603050405020304" charset="0"/>
                <a:ea typeface="宋体" panose="02010600030101010101" pitchFamily="2" charset="-122"/>
              </a:rPr>
              <a:t>甲基-</a:t>
            </a:r>
            <a:r>
              <a:rPr lang="en-US" altLang="zh-CN">
                <a:latin typeface="Times New Roman" panose="02020603050405020304" charset="0"/>
                <a:ea typeface="宋体" panose="02010600030101010101" pitchFamily="2" charset="-122"/>
              </a:rPr>
              <a:t>N</a:t>
            </a:r>
            <a:r>
              <a:rPr lang="zh-CN" altLang="en-US">
                <a:latin typeface="Times New Roman" panose="02020603050405020304" charset="0"/>
                <a:ea typeface="宋体" panose="02010600030101010101" pitchFamily="2" charset="-122"/>
              </a:rPr>
              <a:t>苯基-3氨基丙烯醛来代替反应不稳定、需要色谱分离的</a:t>
            </a:r>
            <a:r>
              <a:rPr lang="en-US" altLang="zh-CN">
                <a:latin typeface="Times New Roman" panose="02020603050405020304" charset="0"/>
                <a:ea typeface="宋体" panose="02010600030101010101" pitchFamily="2" charset="-122"/>
              </a:rPr>
              <a:t>N,N-</a:t>
            </a:r>
            <a:r>
              <a:rPr lang="zh-CN" altLang="en-US">
                <a:latin typeface="Times New Roman" panose="02020603050405020304" charset="0"/>
                <a:ea typeface="宋体" panose="02010600030101010101" pitchFamily="2" charset="-122"/>
              </a:rPr>
              <a:t>二甲基-3氨基丙烯醛，</a:t>
            </a:r>
            <a:r>
              <a:rPr lang="en-US" altLang="zh-CN">
                <a:latin typeface="Times New Roman" panose="02020603050405020304" charset="0"/>
                <a:ea typeface="宋体" panose="02010600030101010101" pitchFamily="2" charset="-122"/>
              </a:rPr>
              <a:t>Vilsmeier-Haauc</a:t>
            </a:r>
            <a:r>
              <a:rPr lang="zh-CN" altLang="en-US">
                <a:latin typeface="Times New Roman" panose="02020603050405020304" charset="0"/>
                <a:ea typeface="宋体" panose="02010600030101010101" pitchFamily="2" charset="-122"/>
              </a:rPr>
              <a:t>反应后，加入活性炭脱去杂质和色素，避免了用色谱分离纯化，本步收率由58.4%提高到71.5%</a:t>
            </a:r>
          </a:p>
          <a:p>
            <a:endParaRPr lang="zh-CN" altLang="en-US">
              <a:latin typeface="Times New Roman" panose="02020603050405020304" charset="0"/>
              <a:ea typeface="宋体" panose="02010600030101010101" pitchFamily="2" charset="-122"/>
            </a:endParaRPr>
          </a:p>
          <a:p>
            <a:r>
              <a:rPr lang="zh-CN" altLang="en-US">
                <a:latin typeface="Times New Roman" panose="02020603050405020304" charset="0"/>
                <a:ea typeface="宋体" panose="02010600030101010101" pitchFamily="2" charset="-122"/>
              </a:rPr>
              <a:t>在化合物</a:t>
            </a:r>
            <a:r>
              <a:rPr lang="en-US" altLang="zh-CN">
                <a:latin typeface="Times New Roman" panose="02020603050405020304" charset="0"/>
                <a:ea typeface="宋体" panose="02010600030101010101" pitchFamily="2" charset="-122"/>
              </a:rPr>
              <a:t>7</a:t>
            </a:r>
            <a:r>
              <a:rPr lang="zh-CN" altLang="en-US">
                <a:latin typeface="Times New Roman" panose="02020603050405020304" charset="0"/>
                <a:ea typeface="宋体" panose="02010600030101010101" pitchFamily="2" charset="-122"/>
              </a:rPr>
              <a:t>的合成过程中，乙酰乙酸甲酯/乙酰乙酸乙酯为原料与化合物</a:t>
            </a:r>
            <a:r>
              <a:rPr lang="en-US" altLang="zh-CN">
                <a:latin typeface="Times New Roman" panose="02020603050405020304" charset="0"/>
                <a:ea typeface="宋体" panose="02010600030101010101" pitchFamily="2" charset="-122"/>
              </a:rPr>
              <a:t>6</a:t>
            </a:r>
            <a:r>
              <a:rPr lang="zh-CN" altLang="en-US">
                <a:latin typeface="Times New Roman" panose="02020603050405020304" charset="0"/>
                <a:ea typeface="宋体" panose="02010600030101010101" pitchFamily="2" charset="-122"/>
              </a:rPr>
              <a:t>反应，而出现反式二醇。尽管这种异构化作用的数量很少，但毕竟影响着目标产物的纯度与收率。但叔丁基酯能够完全阻止内酯化反应和异构化反应。乙酰乙酸叔丁酯还有其他的优点：在浓缩反应中可获得较高的产率(73%)，还原反应中可以带来较高的立体选择性(99%的顺式选择性)，而且可以获得晶体化合物</a:t>
            </a:r>
            <a:r>
              <a:rPr lang="en-US" altLang="zh-CN">
                <a:latin typeface="Times New Roman" panose="02020603050405020304" charset="0"/>
                <a:ea typeface="宋体" panose="02010600030101010101" pitchFamily="2" charset="-122"/>
              </a:rPr>
              <a:t>8</a:t>
            </a:r>
            <a:r>
              <a:rPr lang="zh-CN" altLang="en-US">
                <a:latin typeface="Times New Roman" panose="02020603050405020304" charset="0"/>
                <a:ea typeface="宋体" panose="02010600030101010101" pitchFamily="2" charset="-122"/>
              </a:rPr>
              <a:t>。用甲醇蒸馏纯化一次之后，就没有必要进行除去硼的衍生物的操作了。</a:t>
            </a:r>
          </a:p>
        </p:txBody>
      </p:sp>
      <p:sp>
        <p:nvSpPr>
          <p:cNvPr id="7170" name="文本框 1"/>
          <p:cNvSpPr txBox="1"/>
          <p:nvPr/>
        </p:nvSpPr>
        <p:spPr>
          <a:xfrm>
            <a:off x="1703388" y="188913"/>
            <a:ext cx="8915400" cy="521970"/>
          </a:xfrm>
          <a:prstGeom prst="rect">
            <a:avLst/>
          </a:prstGeom>
          <a:noFill/>
          <a:ln w="9525">
            <a:noFill/>
          </a:ln>
        </p:spPr>
        <p:txBody>
          <a:bodyPr wrap="square" anchor="t" anchorCtr="0">
            <a:spAutoFit/>
          </a:bodyPr>
          <a:lstStyle/>
          <a:p>
            <a:r>
              <a:rPr lang="zh-CN" altLang="en-US" sz="2800" b="1" dirty="0">
                <a:latin typeface="Times New Roman" panose="02020603050405020304" charset="0"/>
                <a:ea typeface="宋体" panose="02010600030101010101" pitchFamily="2" charset="-122"/>
              </a:rPr>
              <a:t>合成路线优缺点：</a:t>
            </a:r>
            <a:endParaRPr lang="zh-CN" altLang="en-US" sz="2800" b="1" baseline="100000" dirty="0">
              <a:latin typeface="Times New Roman" panose="02020603050405020304" charset="0"/>
              <a:ea typeface="宋体" panose="02010600030101010101" pitchFamily="2" charset="-122"/>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内容占位符 3"/>
          <p:cNvSpPr>
            <a:spLocks noGrp="1"/>
          </p:cNvSpPr>
          <p:nvPr>
            <p:ph idx="1"/>
          </p:nvPr>
        </p:nvSpPr>
        <p:spPr>
          <a:xfrm>
            <a:off x="1558925" y="405130"/>
            <a:ext cx="9057005" cy="4184650"/>
          </a:xfrm>
        </p:spPr>
        <p:txBody>
          <a:bodyPr anchor="t" anchorCtr="0"/>
          <a:lstStyle/>
          <a:p>
            <a:pPr marL="0" indent="457200" algn="just">
              <a:lnSpc>
                <a:spcPts val="3000"/>
              </a:lnSpc>
              <a:buNone/>
            </a:pPr>
            <a:r>
              <a:rPr lang="zh-CN" altLang="en-US" sz="1800" b="1" dirty="0">
                <a:latin typeface="Times New Roman" panose="02020603050405020304" charset="0"/>
              </a:rPr>
              <a:t>难点</a:t>
            </a:r>
          </a:p>
          <a:p>
            <a:pPr marL="0" indent="457200" algn="just">
              <a:lnSpc>
                <a:spcPts val="3000"/>
              </a:lnSpc>
              <a:buNone/>
            </a:pPr>
            <a:r>
              <a:rPr lang="zh-CN" altLang="en-US" sz="1800" dirty="0">
                <a:latin typeface="Times New Roman" panose="02020603050405020304" charset="0"/>
              </a:rPr>
              <a:t>氟伐他汀合成路线的难点在于中间体不稳定、副反应多、立体选择性要求高、低温条件苛刻。</a:t>
            </a:r>
            <a:endParaRPr lang="en-US" altLang="zh-CN" sz="1800" dirty="0">
              <a:latin typeface="Times New Roman" panose="02020603050405020304" charset="0"/>
            </a:endParaRPr>
          </a:p>
          <a:p>
            <a:pPr marL="0" indent="457200" algn="just">
              <a:lnSpc>
                <a:spcPts val="3000"/>
              </a:lnSpc>
              <a:buNone/>
            </a:pPr>
            <a:endParaRPr lang="en-US" altLang="zh-CN" sz="1800" dirty="0">
              <a:latin typeface="Times New Roman" panose="02020603050405020304" charset="0"/>
            </a:endParaRPr>
          </a:p>
          <a:p>
            <a:pPr marL="0" indent="457200" algn="just">
              <a:lnSpc>
                <a:spcPts val="3000"/>
              </a:lnSpc>
              <a:spcBef>
                <a:spcPct val="0"/>
              </a:spcBef>
              <a:buNone/>
            </a:pPr>
            <a:r>
              <a:rPr lang="zh-CN" altLang="en-US" sz="1800" b="1" dirty="0">
                <a:latin typeface="Times New Roman" panose="02020603050405020304" charset="0"/>
              </a:rPr>
              <a:t>解决方案：</a:t>
            </a:r>
            <a:endParaRPr lang="en-US" altLang="zh-CN" sz="1800" b="1" dirty="0">
              <a:latin typeface="Times New Roman" panose="02020603050405020304" charset="0"/>
            </a:endParaRPr>
          </a:p>
          <a:p>
            <a:pPr marL="0" indent="457200" algn="just">
              <a:lnSpc>
                <a:spcPts val="3000"/>
              </a:lnSpc>
              <a:spcBef>
                <a:spcPct val="0"/>
              </a:spcBef>
              <a:buNone/>
            </a:pPr>
            <a:r>
              <a:rPr lang="zh-CN" altLang="en-US" sz="1800" dirty="0">
                <a:latin typeface="Times New Roman" panose="02020603050405020304" charset="0"/>
              </a:rPr>
              <a:t>乙酰乙酸叔丁基酯能够完全阻止内酯化反应和异构化反应。乙酰乙酸叔丁酯还有其他的优点：在浓缩反应中可获得较高的产率(73%)，还原反应中可以带来较高的立体选择性(99%的顺式选择性)，而且可以获得晶体化合物8。用甲醇蒸馏纯化一次之后，就没有必要进行除去硼的衍生物的操作了。</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对象 3"/>
          <p:cNvGraphicFramePr>
            <a:graphicFrameLocks noChangeAspect="1"/>
          </p:cNvGraphicFramePr>
          <p:nvPr/>
        </p:nvGraphicFramePr>
        <p:xfrm>
          <a:off x="4384675" y="1925638"/>
          <a:ext cx="3422650" cy="3006725"/>
        </p:xfrm>
        <a:graphic>
          <a:graphicData uri="http://schemas.openxmlformats.org/presentationml/2006/ole">
            <mc:AlternateContent xmlns:mc="http://schemas.openxmlformats.org/markup-compatibility/2006">
              <mc:Choice xmlns:v="urn:schemas-microsoft-com:vml" Requires="v">
                <p:oleObj spid="_x0000_s61444" name="CS ChemDraw 64-bit Drawing" r:id="rId3" imgW="1586230" imgH="1399540" progId="ChemDraw_x64.Document.6.0">
                  <p:embed/>
                </p:oleObj>
              </mc:Choice>
              <mc:Fallback>
                <p:oleObj name="CS ChemDraw 64-bit Drawing" r:id="rId3" imgW="1586230" imgH="1399540" progId="ChemDraw_x64.Document.6.0">
                  <p:embed/>
                  <p:pic>
                    <p:nvPicPr>
                      <p:cNvPr id="4" name="对象 3"/>
                      <p:cNvPicPr/>
                      <p:nvPr/>
                    </p:nvPicPr>
                    <p:blipFill>
                      <a:blip r:embed="rId4"/>
                      <a:stretch>
                        <a:fillRect/>
                      </a:stretch>
                    </p:blipFill>
                    <p:spPr>
                      <a:xfrm>
                        <a:off x="4384675" y="1925638"/>
                        <a:ext cx="3422650" cy="3006725"/>
                      </a:xfrm>
                      <a:prstGeom prst="rect">
                        <a:avLst/>
                      </a:prstGeom>
                    </p:spPr>
                  </p:pic>
                </p:oleObj>
              </mc:Fallback>
            </mc:AlternateContent>
          </a:graphicData>
        </a:graphic>
      </p:graphicFrame>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13361" y="1440814"/>
            <a:ext cx="9993549" cy="1395404"/>
          </a:xfrm>
        </p:spPr>
        <p:txBody>
          <a:bodyPr/>
          <a:lstStyle/>
          <a:p>
            <a:pPr marL="0" indent="457200" algn="just">
              <a:lnSpc>
                <a:spcPts val="3000"/>
              </a:lnSpc>
              <a:spcBef>
                <a:spcPts val="0"/>
              </a:spcBef>
              <a:buNone/>
            </a:pPr>
            <a:r>
              <a:rPr lang="zh-CN" altLang="en-US" sz="1800" dirty="0">
                <a:latin typeface="Times New Roman" panose="02020603050405020304" charset="0"/>
                <a:ea typeface="宋体" panose="02010600030101010101" pitchFamily="2" charset="-122"/>
                <a:cs typeface="Times New Roman" panose="02020603050405020304" charset="0"/>
              </a:rPr>
              <a:t>氟伐他汀钠药物市场规模在</a:t>
            </a:r>
            <a:r>
              <a:rPr lang="en-US" altLang="zh-CN" sz="1800" dirty="0">
                <a:latin typeface="Times New Roman" panose="02020603050405020304" charset="0"/>
                <a:ea typeface="宋体" panose="02010600030101010101" pitchFamily="2" charset="-122"/>
                <a:cs typeface="Times New Roman" panose="02020603050405020304" charset="0"/>
              </a:rPr>
              <a:t>2024</a:t>
            </a:r>
            <a:r>
              <a:rPr lang="zh-CN" altLang="en-US" sz="1800" dirty="0">
                <a:latin typeface="Times New Roman" panose="02020603050405020304" charset="0"/>
                <a:ea typeface="宋体" panose="02010600030101010101" pitchFamily="2" charset="-122"/>
                <a:cs typeface="Times New Roman" panose="02020603050405020304" charset="0"/>
              </a:rPr>
              <a:t>年估值为</a:t>
            </a:r>
            <a:r>
              <a:rPr lang="en-US" altLang="zh-CN" sz="1800" b="1" dirty="0">
                <a:latin typeface="Times New Roman" panose="02020603050405020304" charset="0"/>
                <a:ea typeface="宋体" panose="02010600030101010101" pitchFamily="2" charset="-122"/>
                <a:cs typeface="Times New Roman" panose="02020603050405020304" charset="0"/>
              </a:rPr>
              <a:t>7</a:t>
            </a:r>
            <a:r>
              <a:rPr lang="zh-CN" altLang="en-US" sz="1800" b="1" dirty="0">
                <a:latin typeface="Times New Roman" panose="02020603050405020304" charset="0"/>
                <a:ea typeface="宋体" panose="02010600030101010101" pitchFamily="2" charset="-122"/>
                <a:cs typeface="Times New Roman" panose="02020603050405020304" charset="0"/>
              </a:rPr>
              <a:t>亿</a:t>
            </a:r>
            <a:r>
              <a:rPr lang="zh-CN" altLang="en-US" sz="1800" dirty="0">
                <a:latin typeface="Times New Roman" panose="02020603050405020304" charset="0"/>
                <a:ea typeface="宋体" panose="02010600030101010101" pitchFamily="2" charset="-122"/>
                <a:cs typeface="Times New Roman" panose="02020603050405020304" charset="0"/>
              </a:rPr>
              <a:t>美元。氟伐他汀钠药物市场预计将从</a:t>
            </a:r>
            <a:r>
              <a:rPr lang="en-US" altLang="zh-CN" sz="1800" dirty="0">
                <a:latin typeface="Times New Roman" panose="02020603050405020304" charset="0"/>
                <a:ea typeface="宋体" panose="02010600030101010101" pitchFamily="2" charset="-122"/>
                <a:cs typeface="Times New Roman" panose="02020603050405020304" charset="0"/>
              </a:rPr>
              <a:t>2025</a:t>
            </a:r>
            <a:r>
              <a:rPr lang="zh-CN" altLang="en-US" sz="1800" dirty="0">
                <a:latin typeface="Times New Roman" panose="02020603050405020304" charset="0"/>
                <a:ea typeface="宋体" panose="02010600030101010101" pitchFamily="2" charset="-122"/>
                <a:cs typeface="Times New Roman" panose="02020603050405020304" charset="0"/>
              </a:rPr>
              <a:t>年的</a:t>
            </a:r>
            <a:r>
              <a:rPr lang="en-US" altLang="zh-CN" sz="1800" b="1" dirty="0">
                <a:latin typeface="Times New Roman" panose="02020603050405020304" charset="0"/>
                <a:ea typeface="宋体" panose="02010600030101010101" pitchFamily="2" charset="-122"/>
                <a:cs typeface="Times New Roman" panose="02020603050405020304" charset="0"/>
              </a:rPr>
              <a:t>8</a:t>
            </a:r>
            <a:r>
              <a:rPr lang="zh-CN" altLang="en-US" sz="1800" b="1" dirty="0">
                <a:latin typeface="Times New Roman" panose="02020603050405020304" charset="0"/>
                <a:ea typeface="宋体" panose="02010600030101010101" pitchFamily="2" charset="-122"/>
                <a:cs typeface="Times New Roman" panose="02020603050405020304" charset="0"/>
              </a:rPr>
              <a:t>亿美元</a:t>
            </a:r>
            <a:r>
              <a:rPr lang="zh-CN" altLang="en-US" sz="1800" dirty="0">
                <a:latin typeface="Times New Roman" panose="02020603050405020304" charset="0"/>
                <a:ea typeface="宋体" panose="02010600030101010101" pitchFamily="2" charset="-122"/>
                <a:cs typeface="Times New Roman" panose="02020603050405020304" charset="0"/>
              </a:rPr>
              <a:t>增长到</a:t>
            </a:r>
            <a:r>
              <a:rPr lang="en-US" altLang="zh-CN" sz="1800" dirty="0">
                <a:latin typeface="Times New Roman" panose="02020603050405020304" charset="0"/>
                <a:ea typeface="宋体" panose="02010600030101010101" pitchFamily="2" charset="-122"/>
                <a:cs typeface="Times New Roman" panose="02020603050405020304" charset="0"/>
              </a:rPr>
              <a:t>2035</a:t>
            </a:r>
            <a:r>
              <a:rPr lang="zh-CN" altLang="en-US" sz="1800" dirty="0">
                <a:latin typeface="Times New Roman" panose="02020603050405020304" charset="0"/>
                <a:ea typeface="宋体" panose="02010600030101010101" pitchFamily="2" charset="-122"/>
                <a:cs typeface="Times New Roman" panose="02020603050405020304" charset="0"/>
              </a:rPr>
              <a:t>年的</a:t>
            </a:r>
            <a:r>
              <a:rPr lang="en-US" altLang="zh-CN" sz="1800" b="1" dirty="0">
                <a:latin typeface="Times New Roman" panose="02020603050405020304" charset="0"/>
                <a:ea typeface="宋体" panose="02010600030101010101" pitchFamily="2" charset="-122"/>
                <a:cs typeface="Times New Roman" panose="02020603050405020304" charset="0"/>
              </a:rPr>
              <a:t>12</a:t>
            </a:r>
            <a:r>
              <a:rPr lang="zh-CN" altLang="en-US" sz="1800" b="1" dirty="0">
                <a:latin typeface="Times New Roman" panose="02020603050405020304" charset="0"/>
                <a:ea typeface="宋体" panose="02010600030101010101" pitchFamily="2" charset="-122"/>
                <a:cs typeface="Times New Roman" panose="02020603050405020304" charset="0"/>
              </a:rPr>
              <a:t>亿美元</a:t>
            </a:r>
            <a:r>
              <a:rPr lang="zh-CN" altLang="en-US" sz="1800" dirty="0">
                <a:latin typeface="Times New Roman" panose="02020603050405020304" charset="0"/>
                <a:ea typeface="宋体" panose="02010600030101010101" pitchFamily="2" charset="-122"/>
                <a:cs typeface="Times New Roman" panose="02020603050405020304" charset="0"/>
              </a:rPr>
              <a:t>。氟伐他汀钠药市场复合年增长率（</a:t>
            </a:r>
            <a:r>
              <a:rPr lang="en-US" altLang="zh-CN" sz="1800" dirty="0">
                <a:latin typeface="Times New Roman" panose="02020603050405020304" charset="0"/>
                <a:ea typeface="宋体" panose="02010600030101010101" pitchFamily="2" charset="-122"/>
                <a:cs typeface="Times New Roman" panose="02020603050405020304" charset="0"/>
              </a:rPr>
              <a:t>CAGR</a:t>
            </a:r>
            <a:r>
              <a:rPr lang="zh-CN" altLang="en-US" sz="1800" dirty="0">
                <a:latin typeface="Times New Roman" panose="02020603050405020304" charset="0"/>
                <a:ea typeface="宋体" panose="02010600030101010101" pitchFamily="2" charset="-122"/>
                <a:cs typeface="Times New Roman" panose="02020603050405020304" charset="0"/>
              </a:rPr>
              <a:t>）预计在预测期（</a:t>
            </a:r>
            <a:r>
              <a:rPr lang="en-US" altLang="zh-CN" sz="1800" dirty="0">
                <a:latin typeface="Times New Roman" panose="02020603050405020304" charset="0"/>
                <a:ea typeface="宋体" panose="02010600030101010101" pitchFamily="2" charset="-122"/>
                <a:cs typeface="Times New Roman" panose="02020603050405020304" charset="0"/>
              </a:rPr>
              <a:t>2026-2035</a:t>
            </a:r>
            <a:r>
              <a:rPr lang="zh-CN" altLang="en-US" sz="1800" dirty="0">
                <a:latin typeface="Times New Roman" panose="02020603050405020304" charset="0"/>
                <a:ea typeface="宋体" panose="02010600030101010101" pitchFamily="2" charset="-122"/>
                <a:cs typeface="Times New Roman" panose="02020603050405020304" charset="0"/>
              </a:rPr>
              <a:t>年）内约为</a:t>
            </a:r>
            <a:r>
              <a:rPr lang="en-US" altLang="zh-CN" sz="1800" dirty="0">
                <a:latin typeface="Times New Roman" panose="02020603050405020304" charset="0"/>
                <a:ea typeface="宋体" panose="02010600030101010101" pitchFamily="2" charset="-122"/>
                <a:cs typeface="Times New Roman" panose="02020603050405020304" charset="0"/>
              </a:rPr>
              <a:t>4.4%</a:t>
            </a:r>
            <a:r>
              <a:rPr lang="zh-CN" altLang="en-US" sz="1800" dirty="0">
                <a:latin typeface="Times New Roman" panose="02020603050405020304" charset="0"/>
                <a:ea typeface="宋体" panose="02010600030101010101" pitchFamily="2" charset="-122"/>
                <a:cs typeface="Times New Roman" panose="02020603050405020304" charset="0"/>
              </a:rPr>
              <a:t>。</a:t>
            </a:r>
          </a:p>
          <a:p>
            <a:pPr marL="0" indent="0">
              <a:buNone/>
            </a:pPr>
            <a:endParaRPr lang="zh-CN" altLang="en-US" dirty="0"/>
          </a:p>
        </p:txBody>
      </p:sp>
      <p:sp>
        <p:nvSpPr>
          <p:cNvPr id="2" name="内容占位符 2"/>
          <p:cNvSpPr txBox="1"/>
          <p:nvPr/>
        </p:nvSpPr>
        <p:spPr>
          <a:xfrm>
            <a:off x="494877" y="425867"/>
            <a:ext cx="2206171" cy="54428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dirty="0">
                <a:latin typeface="黑体" panose="02010609060101010101" pitchFamily="49" charset="-122"/>
                <a:ea typeface="黑体" panose="02010609060101010101" pitchFamily="49" charset="-122"/>
              </a:rPr>
              <a:t>市场价值</a:t>
            </a:r>
          </a:p>
        </p:txBody>
      </p:sp>
      <p:sp>
        <p:nvSpPr>
          <p:cNvPr id="4" name="内容占位符 2"/>
          <p:cNvSpPr txBox="1"/>
          <p:nvPr/>
        </p:nvSpPr>
        <p:spPr>
          <a:xfrm>
            <a:off x="556484" y="3429000"/>
            <a:ext cx="3101115" cy="54428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dirty="0">
                <a:latin typeface="黑体" panose="02010609060101010101" pitchFamily="49" charset="-122"/>
                <a:ea typeface="黑体" panose="02010609060101010101" pitchFamily="49" charset="-122"/>
              </a:rPr>
              <a:t>原料药价格</a:t>
            </a:r>
            <a:endParaRPr lang="zh-CN" altLang="en-US" dirty="0"/>
          </a:p>
        </p:txBody>
      </p:sp>
      <p:sp>
        <p:nvSpPr>
          <p:cNvPr id="6" name="文本框 5"/>
          <p:cNvSpPr txBox="1"/>
          <p:nvPr/>
        </p:nvSpPr>
        <p:spPr>
          <a:xfrm>
            <a:off x="713361" y="4566068"/>
            <a:ext cx="6096000" cy="1201611"/>
          </a:xfrm>
          <a:prstGeom prst="rect">
            <a:avLst/>
          </a:prstGeom>
          <a:noFill/>
        </p:spPr>
        <p:txBody>
          <a:bodyPr wrap="square">
            <a:spAutoFit/>
          </a:bodyPr>
          <a:lstStyle/>
          <a:p>
            <a:pPr indent="457200" algn="just">
              <a:lnSpc>
                <a:spcPts val="3000"/>
              </a:lnSpc>
            </a:pPr>
            <a:r>
              <a:rPr lang="zh-CN" altLang="en-US" dirty="0">
                <a:latin typeface="Times New Roman" panose="02020603050405020304" charset="0"/>
                <a:ea typeface="宋体" panose="02010600030101010101" pitchFamily="2" charset="-122"/>
                <a:cs typeface="Times New Roman" panose="02020603050405020304" charset="0"/>
              </a:rPr>
              <a:t>工业级价格 (≥99.5</a:t>
            </a:r>
            <a:r>
              <a:rPr lang="en-US" altLang="zh-CN" dirty="0">
                <a:latin typeface="Times New Roman" panose="02020603050405020304" charset="0"/>
                <a:ea typeface="宋体" panose="02010600030101010101" pitchFamily="2" charset="-122"/>
                <a:cs typeface="Times New Roman" panose="02020603050405020304" charset="0"/>
              </a:rPr>
              <a:t>%</a:t>
            </a:r>
            <a:r>
              <a:rPr lang="zh-CN" altLang="en-US" dirty="0">
                <a:latin typeface="Times New Roman" panose="02020603050405020304" charset="0"/>
                <a:ea typeface="宋体" panose="02010600030101010101" pitchFamily="2" charset="-122"/>
                <a:cs typeface="Times New Roman" panose="02020603050405020304" charset="0"/>
              </a:rPr>
              <a:t>)：约 ￥1,000/ kg</a:t>
            </a:r>
            <a:endParaRPr lang="en-US" altLang="zh-CN" dirty="0">
              <a:latin typeface="Times New Roman" panose="02020603050405020304" charset="0"/>
              <a:ea typeface="宋体" panose="02010600030101010101" pitchFamily="2" charset="-122"/>
              <a:cs typeface="Times New Roman" panose="02020603050405020304" charset="0"/>
            </a:endParaRPr>
          </a:p>
          <a:p>
            <a:pPr indent="457200" algn="just">
              <a:lnSpc>
                <a:spcPts val="3000"/>
              </a:lnSpc>
            </a:pPr>
            <a:endParaRPr lang="zh-CN" altLang="en-US" dirty="0">
              <a:latin typeface="Times New Roman" panose="02020603050405020304" charset="0"/>
              <a:ea typeface="宋体" panose="02010600030101010101" pitchFamily="2" charset="-122"/>
              <a:cs typeface="Times New Roman" panose="02020603050405020304" charset="0"/>
            </a:endParaRPr>
          </a:p>
          <a:p>
            <a:pPr indent="457200" algn="just">
              <a:lnSpc>
                <a:spcPts val="3000"/>
              </a:lnSpc>
            </a:pPr>
            <a:r>
              <a:rPr lang="zh-CN" altLang="en-US" dirty="0">
                <a:latin typeface="Times New Roman" panose="02020603050405020304" charset="0"/>
                <a:ea typeface="宋体" panose="02010600030101010101" pitchFamily="2" charset="-122"/>
                <a:cs typeface="Times New Roman" panose="02020603050405020304" charset="0"/>
              </a:rPr>
              <a:t>科研级价格 (≥98%) ：约 ￥</a:t>
            </a:r>
            <a:r>
              <a:rPr lang="en-US" altLang="zh-CN" dirty="0">
                <a:latin typeface="Times New Roman" panose="02020603050405020304" charset="0"/>
                <a:ea typeface="宋体" panose="02010600030101010101" pitchFamily="2" charset="-122"/>
                <a:cs typeface="Times New Roman" panose="02020603050405020304" charset="0"/>
              </a:rPr>
              <a:t>1280 / 50 mg</a:t>
            </a:r>
            <a:r>
              <a:rPr lang="zh-CN" altLang="en-US" dirty="0">
                <a:latin typeface="Times New Roman" panose="02020603050405020304" charset="0"/>
                <a:ea typeface="宋体" panose="02010600030101010101" pitchFamily="2" charset="-122"/>
                <a:cs typeface="Times New Roman" panose="02020603050405020304" charset="0"/>
              </a:rPr>
              <a:t> （</a:t>
            </a:r>
            <a:r>
              <a:rPr lang="en-US" altLang="zh-CN" b="1" dirty="0">
                <a:latin typeface="Times New Roman" panose="02020603050405020304" charset="0"/>
                <a:cs typeface="Times New Roman" panose="02020603050405020304" charset="0"/>
              </a:rPr>
              <a:t>Macklin</a:t>
            </a:r>
            <a:r>
              <a:rPr lang="zh-CN" altLang="en-US" dirty="0">
                <a:latin typeface="Times New Roman" panose="02020603050405020304" charset="0"/>
                <a:ea typeface="宋体" panose="02010600030101010101" pitchFamily="2" charset="-122"/>
                <a:cs typeface="Times New Roman" panose="02020603050405020304" charset="0"/>
              </a:rPr>
              <a:t>）</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94877" y="425867"/>
            <a:ext cx="2206171" cy="544286"/>
          </a:xfrm>
        </p:spPr>
        <p:txBody>
          <a:bodyPr/>
          <a:lstStyle/>
          <a:p>
            <a:pPr marL="0" indent="0">
              <a:buNone/>
            </a:pPr>
            <a:r>
              <a:rPr lang="zh-CN" altLang="en-US" dirty="0">
                <a:latin typeface="黑体" panose="02010609060101010101" pitchFamily="49" charset="-122"/>
                <a:ea typeface="黑体" panose="02010609060101010101" pitchFamily="49" charset="-122"/>
              </a:rPr>
              <a:t>合成路线</a:t>
            </a:r>
          </a:p>
        </p:txBody>
      </p:sp>
      <p:sp>
        <p:nvSpPr>
          <p:cNvPr id="5" name="文本框 4"/>
          <p:cNvSpPr txBox="1"/>
          <p:nvPr/>
        </p:nvSpPr>
        <p:spPr>
          <a:xfrm>
            <a:off x="6186792" y="6416676"/>
            <a:ext cx="6096000" cy="369332"/>
          </a:xfrm>
          <a:prstGeom prst="rect">
            <a:avLst/>
          </a:prstGeom>
          <a:noFill/>
        </p:spPr>
        <p:txBody>
          <a:bodyPr wrap="square">
            <a:spAutoFit/>
          </a:bodyPr>
          <a:lstStyle/>
          <a:p>
            <a:r>
              <a:rPr lang="en-US" altLang="zh-CN" dirty="0">
                <a:latin typeface="Times New Roman" panose="02020603050405020304" charset="0"/>
                <a:cs typeface="Times New Roman" panose="02020603050405020304" charset="0"/>
              </a:rPr>
              <a:t>Fuenfschilling et al., </a:t>
            </a:r>
            <a:r>
              <a:rPr lang="en-US" altLang="zh-CN" i="1" dirty="0">
                <a:solidFill>
                  <a:srgbClr val="000000"/>
                </a:solidFill>
                <a:effectLst/>
                <a:latin typeface="Times New Roman" panose="02020603050405020304" charset="0"/>
                <a:cs typeface="Times New Roman" panose="02020603050405020304" charset="0"/>
              </a:rPr>
              <a:t>Org. Process Res. Dev., </a:t>
            </a:r>
            <a:r>
              <a:rPr lang="en-US" altLang="zh-CN" b="1" dirty="0">
                <a:latin typeface="Times New Roman" panose="02020603050405020304" charset="0"/>
                <a:cs typeface="Times New Roman" panose="02020603050405020304" charset="0"/>
              </a:rPr>
              <a:t>2007</a:t>
            </a:r>
            <a:r>
              <a:rPr lang="en-US" altLang="zh-CN" dirty="0">
                <a:latin typeface="Times New Roman" panose="02020603050405020304" charset="0"/>
                <a:cs typeface="Times New Roman" panose="02020603050405020304" charset="0"/>
              </a:rPr>
              <a:t>, </a:t>
            </a:r>
            <a:r>
              <a:rPr lang="en-US" altLang="zh-CN" i="1" dirty="0">
                <a:latin typeface="Times New Roman" panose="02020603050405020304" charset="0"/>
                <a:cs typeface="Times New Roman" panose="02020603050405020304" charset="0"/>
              </a:rPr>
              <a:t>11</a:t>
            </a:r>
            <a:r>
              <a:rPr lang="en-US" altLang="zh-CN" dirty="0">
                <a:latin typeface="Times New Roman" panose="02020603050405020304" charset="0"/>
                <a:cs typeface="Times New Roman" panose="02020603050405020304" charset="0"/>
              </a:rPr>
              <a:t>, 13-18.</a:t>
            </a:r>
            <a:endParaRPr lang="zh-CN" altLang="en-US" dirty="0">
              <a:latin typeface="Times New Roman" panose="02020603050405020304" charset="0"/>
              <a:cs typeface="Times New Roman" panose="02020603050405020304" charset="0"/>
            </a:endParaRPr>
          </a:p>
        </p:txBody>
      </p:sp>
      <p:graphicFrame>
        <p:nvGraphicFramePr>
          <p:cNvPr id="6" name="对象 5"/>
          <p:cNvGraphicFramePr>
            <a:graphicFrameLocks noChangeAspect="1"/>
          </p:cNvGraphicFramePr>
          <p:nvPr/>
        </p:nvGraphicFramePr>
        <p:xfrm>
          <a:off x="2279717" y="71992"/>
          <a:ext cx="7632565" cy="6360141"/>
        </p:xfrm>
        <a:graphic>
          <a:graphicData uri="http://schemas.openxmlformats.org/presentationml/2006/ole">
            <mc:AlternateContent xmlns:mc="http://schemas.openxmlformats.org/markup-compatibility/2006">
              <mc:Choice xmlns:v="urn:schemas-microsoft-com:vml" Requires="v">
                <p:oleObj spid="_x0000_s62468" name="CS ChemDraw 64-bit Drawing" r:id="rId3" imgW="4797425" imgH="3997960" progId="ChemDraw_x64.Document.6.0">
                  <p:embed/>
                </p:oleObj>
              </mc:Choice>
              <mc:Fallback>
                <p:oleObj name="CS ChemDraw 64-bit Drawing" r:id="rId3" imgW="4797425" imgH="3997960" progId="ChemDraw_x64.Document.6.0">
                  <p:embed/>
                  <p:pic>
                    <p:nvPicPr>
                      <p:cNvPr id="6" name="对象 5"/>
                      <p:cNvPicPr/>
                      <p:nvPr/>
                    </p:nvPicPr>
                    <p:blipFill>
                      <a:blip r:embed="rId4"/>
                      <a:stretch>
                        <a:fillRect/>
                      </a:stretch>
                    </p:blipFill>
                    <p:spPr>
                      <a:xfrm>
                        <a:off x="2279717" y="71992"/>
                        <a:ext cx="7632565" cy="6360141"/>
                      </a:xfrm>
                      <a:prstGeom prst="rect">
                        <a:avLst/>
                      </a:prstGeom>
                    </p:spPr>
                  </p:pic>
                </p:oleObj>
              </mc:Fallback>
            </mc:AlternateContent>
          </a:graphicData>
        </a:graphic>
      </p:graphicFrame>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67443" y="1259191"/>
            <a:ext cx="10657114" cy="4339617"/>
          </a:xfrm>
        </p:spPr>
        <p:txBody>
          <a:bodyPr/>
          <a:lstStyle/>
          <a:p>
            <a:pPr marL="0" indent="457200" algn="just">
              <a:lnSpc>
                <a:spcPts val="3000"/>
              </a:lnSpc>
              <a:spcBef>
                <a:spcPts val="0"/>
              </a:spcBef>
              <a:buNone/>
            </a:pPr>
            <a:endParaRPr lang="en-US" altLang="zh-CN" sz="1800" dirty="0">
              <a:latin typeface="Times New Roman" panose="02020603050405020304" charset="0"/>
              <a:ea typeface="宋体" panose="02010600030101010101" pitchFamily="2" charset="-122"/>
              <a:cs typeface="Times New Roman" panose="02020603050405020304" charset="0"/>
            </a:endParaRPr>
          </a:p>
          <a:p>
            <a:pPr marL="0" indent="457200" algn="just">
              <a:lnSpc>
                <a:spcPts val="3000"/>
              </a:lnSpc>
              <a:spcBef>
                <a:spcPts val="0"/>
              </a:spcBef>
              <a:buNone/>
            </a:pPr>
            <a:r>
              <a:rPr lang="zh-CN" altLang="en-US" sz="1800" dirty="0">
                <a:latin typeface="Times New Roman" panose="02020603050405020304" charset="0"/>
                <a:ea typeface="宋体" panose="02010600030101010101" pitchFamily="2" charset="-122"/>
                <a:cs typeface="Times New Roman" panose="02020603050405020304" charset="0"/>
              </a:rPr>
              <a:t>路线倒数第二步，在二乙基甲氧基硼烷存在下，于</a:t>
            </a:r>
            <a:r>
              <a:rPr lang="en-US" altLang="zh-CN" sz="1800" dirty="0">
                <a:latin typeface="Times New Roman" panose="02020603050405020304" charset="0"/>
                <a:ea typeface="宋体" panose="02010600030101010101" pitchFamily="2" charset="-122"/>
                <a:cs typeface="Times New Roman" panose="02020603050405020304" charset="0"/>
              </a:rPr>
              <a:t>-78℃</a:t>
            </a:r>
            <a:r>
              <a:rPr lang="zh-CN" altLang="en-US" sz="1800" dirty="0">
                <a:latin typeface="Times New Roman" panose="02020603050405020304" charset="0"/>
                <a:ea typeface="宋体" panose="02010600030101010101" pitchFamily="2" charset="-122"/>
                <a:cs typeface="Times New Roman" panose="02020603050405020304" charset="0"/>
              </a:rPr>
              <a:t>的</a:t>
            </a:r>
            <a:r>
              <a:rPr lang="en-US" altLang="zh-CN" sz="1800" dirty="0">
                <a:latin typeface="Times New Roman" panose="02020603050405020304" charset="0"/>
                <a:ea typeface="宋体" panose="02010600030101010101" pitchFamily="2" charset="-122"/>
                <a:cs typeface="Times New Roman" panose="02020603050405020304" charset="0"/>
              </a:rPr>
              <a:t>THF/</a:t>
            </a:r>
            <a:r>
              <a:rPr lang="zh-CN" altLang="en-US" sz="1800" dirty="0">
                <a:latin typeface="Times New Roman" panose="02020603050405020304" charset="0"/>
                <a:ea typeface="宋体" panose="02010600030101010101" pitchFamily="2" charset="-122"/>
                <a:cs typeface="Times New Roman" panose="02020603050405020304" charset="0"/>
              </a:rPr>
              <a:t>甲醇混合溶剂中进行反应，可实现产物较高的</a:t>
            </a:r>
            <a:r>
              <a:rPr lang="zh-CN" altLang="en-US" sz="1800" b="1" dirty="0">
                <a:latin typeface="Times New Roman" panose="02020603050405020304" charset="0"/>
                <a:ea typeface="宋体" panose="02010600030101010101" pitchFamily="2" charset="-122"/>
                <a:cs typeface="Times New Roman" panose="02020603050405020304" charset="0"/>
              </a:rPr>
              <a:t>顺式立体选择性</a:t>
            </a:r>
            <a:r>
              <a:rPr lang="zh-CN" altLang="en-US" sz="1800" dirty="0">
                <a:latin typeface="Times New Roman" panose="02020603050405020304" charset="0"/>
                <a:ea typeface="宋体" panose="02010600030101010101" pitchFamily="2" charset="-122"/>
                <a:cs typeface="Times New Roman" panose="02020603050405020304" charset="0"/>
              </a:rPr>
              <a:t>。在最优条件下，顺反比例可提升至＞</a:t>
            </a:r>
            <a:r>
              <a:rPr lang="en-US" altLang="zh-CN" sz="1800" b="1" dirty="0">
                <a:latin typeface="Times New Roman" panose="02020603050405020304" charset="0"/>
                <a:ea typeface="宋体" panose="02010600030101010101" pitchFamily="2" charset="-122"/>
                <a:cs typeface="Times New Roman" panose="02020603050405020304" charset="0"/>
              </a:rPr>
              <a:t>98: 2</a:t>
            </a:r>
            <a:r>
              <a:rPr lang="zh-CN" altLang="en-US" sz="1800" dirty="0">
                <a:latin typeface="Times New Roman" panose="02020603050405020304" charset="0"/>
                <a:ea typeface="宋体" panose="02010600030101010101" pitchFamily="2" charset="-122"/>
                <a:cs typeface="Times New Roman" panose="02020603050405020304" charset="0"/>
              </a:rPr>
              <a:t>，并且可以保持较高收率（</a:t>
            </a:r>
            <a:r>
              <a:rPr lang="en-US" altLang="zh-CN" sz="1800" dirty="0">
                <a:latin typeface="Times New Roman" panose="02020603050405020304" charset="0"/>
                <a:ea typeface="宋体" panose="02010600030101010101" pitchFamily="2" charset="-122"/>
                <a:cs typeface="Times New Roman" panose="02020603050405020304" charset="0"/>
              </a:rPr>
              <a:t>80%</a:t>
            </a:r>
            <a:r>
              <a:rPr lang="zh-CN" altLang="en-US" sz="1800" dirty="0">
                <a:latin typeface="Times New Roman" panose="02020603050405020304" charset="0"/>
                <a:ea typeface="宋体" panose="02010600030101010101" pitchFamily="2" charset="-122"/>
                <a:cs typeface="Times New Roman" panose="02020603050405020304" charset="0"/>
              </a:rPr>
              <a:t>）。随后，对二醇化合物进行碱性水解，并通过冷冻干燥分离得到氟伐他汀，完成整个生产流程。</a:t>
            </a:r>
            <a:endParaRPr lang="en-US" altLang="zh-CN" sz="1800" b="1" dirty="0">
              <a:latin typeface="Times New Roman" panose="02020603050405020304" charset="0"/>
              <a:ea typeface="宋体" panose="02010600030101010101" pitchFamily="2" charset="-122"/>
              <a:cs typeface="Times New Roman" panose="02020603050405020304" charset="0"/>
            </a:endParaRPr>
          </a:p>
          <a:p>
            <a:pPr marL="0" indent="0">
              <a:buNone/>
            </a:pPr>
            <a:endParaRPr lang="en-US" altLang="zh-CN" b="1" dirty="0">
              <a:latin typeface="宋体" panose="02010600030101010101" pitchFamily="2" charset="-122"/>
              <a:ea typeface="宋体" panose="02010600030101010101" pitchFamily="2" charset="-122"/>
            </a:endParaRPr>
          </a:p>
          <a:p>
            <a:pPr marL="0" indent="457200" algn="just">
              <a:lnSpc>
                <a:spcPts val="3000"/>
              </a:lnSpc>
              <a:spcBef>
                <a:spcPts val="0"/>
              </a:spcBef>
              <a:buNone/>
            </a:pPr>
            <a:r>
              <a:rPr lang="zh-CN" altLang="en-US" sz="1800" dirty="0">
                <a:latin typeface="Times New Roman" panose="02020603050405020304" charset="0"/>
                <a:ea typeface="宋体" panose="02010600030101010101" pitchFamily="2" charset="-122"/>
                <a:cs typeface="Times New Roman" panose="02020603050405020304" charset="0"/>
              </a:rPr>
              <a:t>合成步骤存在的缺点：</a:t>
            </a:r>
            <a:r>
              <a:rPr lang="zh-CN" altLang="en-US" sz="1800" b="1" dirty="0">
                <a:latin typeface="Times New Roman" panose="02020603050405020304" charset="0"/>
                <a:ea typeface="宋体" panose="02010600030101010101" pitchFamily="2" charset="-122"/>
                <a:cs typeface="Times New Roman" panose="02020603050405020304" charset="0"/>
              </a:rPr>
              <a:t>步骤繁琐</a:t>
            </a:r>
            <a:r>
              <a:rPr lang="zh-CN" altLang="en-US" sz="1800" dirty="0">
                <a:latin typeface="Times New Roman" panose="02020603050405020304" charset="0"/>
                <a:ea typeface="宋体" panose="02010600030101010101" pitchFamily="2" charset="-122"/>
                <a:cs typeface="Times New Roman" panose="02020603050405020304" charset="0"/>
              </a:rPr>
              <a:t>，需要对中间体 </a:t>
            </a:r>
            <a:r>
              <a:rPr lang="en-US" altLang="zh-CN" sz="1800" b="1" dirty="0">
                <a:latin typeface="Times New Roman" panose="02020603050405020304" charset="0"/>
                <a:ea typeface="宋体" panose="02010600030101010101" pitchFamily="2" charset="-122"/>
                <a:cs typeface="Times New Roman" panose="02020603050405020304" charset="0"/>
              </a:rPr>
              <a:t>5</a:t>
            </a:r>
            <a:r>
              <a:rPr lang="en-US" altLang="zh-CN" sz="1800" dirty="0">
                <a:latin typeface="Times New Roman" panose="02020603050405020304" charset="0"/>
                <a:ea typeface="宋体" panose="02010600030101010101" pitchFamily="2" charset="-122"/>
                <a:cs typeface="Times New Roman" panose="02020603050405020304" charset="0"/>
              </a:rPr>
              <a:t> </a:t>
            </a:r>
            <a:r>
              <a:rPr lang="zh-CN" altLang="en-US" sz="1800" dirty="0">
                <a:latin typeface="Times New Roman" panose="02020603050405020304" charset="0"/>
                <a:ea typeface="宋体" panose="02010600030101010101" pitchFamily="2" charset="-122"/>
                <a:cs typeface="Times New Roman" panose="02020603050405020304" charset="0"/>
              </a:rPr>
              <a:t>进行结晶和干燥，增加了操作工序与生产时间。</a:t>
            </a:r>
            <a:r>
              <a:rPr lang="zh-CN" altLang="en-US" sz="1800" b="1" dirty="0">
                <a:latin typeface="Times New Roman" panose="02020603050405020304" charset="0"/>
                <a:ea typeface="宋体" panose="02010600030101010101" pitchFamily="2" charset="-122"/>
                <a:cs typeface="Times New Roman" panose="02020603050405020304" charset="0"/>
              </a:rPr>
              <a:t>溶剂使用种类多</a:t>
            </a:r>
            <a:r>
              <a:rPr lang="zh-CN" altLang="en-US" sz="1800" dirty="0">
                <a:latin typeface="Times New Roman" panose="02020603050405020304" charset="0"/>
                <a:ea typeface="宋体" panose="02010600030101010101" pitchFamily="2" charset="-122"/>
                <a:cs typeface="Times New Roman" panose="02020603050405020304" charset="0"/>
              </a:rPr>
              <a:t>，导致回收复杂、成本高，同时增加环保处理压力。</a:t>
            </a:r>
            <a:r>
              <a:rPr lang="en-US" altLang="zh-CN" sz="1800" b="1" dirty="0">
                <a:latin typeface="Times New Roman" panose="02020603050405020304" charset="0"/>
                <a:ea typeface="宋体" panose="02010600030101010101" pitchFamily="2" charset="-122"/>
                <a:cs typeface="Times New Roman" panose="02020603050405020304" charset="0"/>
              </a:rPr>
              <a:t>4</a:t>
            </a:r>
            <a:r>
              <a:rPr lang="en-US" altLang="zh-CN" sz="1800" dirty="0">
                <a:latin typeface="Times New Roman" panose="02020603050405020304" charset="0"/>
                <a:ea typeface="宋体" panose="02010600030101010101" pitchFamily="2" charset="-122"/>
                <a:cs typeface="Times New Roman" panose="02020603050405020304" charset="0"/>
              </a:rPr>
              <a:t> </a:t>
            </a:r>
            <a:r>
              <a:rPr lang="zh-CN" altLang="en-US" sz="1800" dirty="0">
                <a:latin typeface="Times New Roman" panose="02020603050405020304" charset="0"/>
                <a:ea typeface="宋体" panose="02010600030101010101" pitchFamily="2" charset="-122"/>
                <a:cs typeface="Times New Roman" panose="02020603050405020304" charset="0"/>
              </a:rPr>
              <a:t>→ </a:t>
            </a:r>
            <a:r>
              <a:rPr lang="en-US" altLang="zh-CN" sz="1800" b="1" dirty="0">
                <a:latin typeface="Times New Roman" panose="02020603050405020304" charset="0"/>
                <a:ea typeface="宋体" panose="02010600030101010101" pitchFamily="2" charset="-122"/>
                <a:cs typeface="Times New Roman" panose="02020603050405020304" charset="0"/>
              </a:rPr>
              <a:t>5 </a:t>
            </a:r>
            <a:r>
              <a:rPr lang="zh-CN" altLang="en-US" sz="1800" dirty="0">
                <a:latin typeface="Times New Roman" panose="02020603050405020304" charset="0"/>
                <a:ea typeface="宋体" panose="02010600030101010101" pitchFamily="2" charset="-122"/>
                <a:cs typeface="Times New Roman" panose="02020603050405020304" charset="0"/>
              </a:rPr>
              <a:t>的缩合反应会</a:t>
            </a:r>
            <a:r>
              <a:rPr lang="zh-CN" altLang="en-US" sz="1800" b="1" dirty="0">
                <a:latin typeface="Times New Roman" panose="02020603050405020304" charset="0"/>
                <a:ea typeface="宋体" panose="02010600030101010101" pitchFamily="2" charset="-122"/>
                <a:cs typeface="Times New Roman" panose="02020603050405020304" charset="0"/>
              </a:rPr>
              <a:t>生成副产物</a:t>
            </a:r>
            <a:r>
              <a:rPr lang="zh-CN" altLang="en-US" sz="1800" dirty="0">
                <a:latin typeface="Times New Roman" panose="02020603050405020304" charset="0"/>
                <a:ea typeface="宋体" panose="02010600030101010101" pitchFamily="2" charset="-122"/>
                <a:cs typeface="Times New Roman" panose="02020603050405020304" charset="0"/>
              </a:rPr>
              <a:t>，虽然可通过结晶除去，但会降低反应总收率。中间体 </a:t>
            </a:r>
            <a:r>
              <a:rPr lang="en-US" altLang="zh-CN" sz="1800" b="1" dirty="0">
                <a:latin typeface="Times New Roman" panose="02020603050405020304" charset="0"/>
                <a:ea typeface="宋体" panose="02010600030101010101" pitchFamily="2" charset="-122"/>
                <a:cs typeface="Times New Roman" panose="02020603050405020304" charset="0"/>
              </a:rPr>
              <a:t>5</a:t>
            </a:r>
            <a:r>
              <a:rPr lang="en-US" altLang="zh-CN" sz="1800" dirty="0">
                <a:latin typeface="Times New Roman" panose="02020603050405020304" charset="0"/>
                <a:ea typeface="宋体" panose="02010600030101010101" pitchFamily="2" charset="-122"/>
                <a:cs typeface="Times New Roman" panose="02020603050405020304" charset="0"/>
              </a:rPr>
              <a:t> </a:t>
            </a:r>
            <a:r>
              <a:rPr lang="zh-CN" altLang="en-US" sz="1800" dirty="0">
                <a:latin typeface="Times New Roman" panose="02020603050405020304" charset="0"/>
                <a:ea typeface="宋体" panose="02010600030101010101" pitchFamily="2" charset="-122"/>
                <a:cs typeface="Times New Roman" panose="02020603050405020304" charset="0"/>
              </a:rPr>
              <a:t>在溶液中化学和热稳定性较差，容易产生降解产物，影响纯度与收率。还原步骤需要 </a:t>
            </a:r>
            <a:r>
              <a:rPr lang="en-US" altLang="zh-CN" sz="1800" dirty="0">
                <a:latin typeface="Times New Roman" panose="02020603050405020304" charset="0"/>
                <a:ea typeface="宋体" panose="02010600030101010101" pitchFamily="2" charset="-122"/>
                <a:cs typeface="Times New Roman" panose="02020603050405020304" charset="0"/>
              </a:rPr>
              <a:t>-78℃ </a:t>
            </a:r>
            <a:r>
              <a:rPr lang="zh-CN" altLang="en-US" sz="1800" dirty="0">
                <a:latin typeface="Times New Roman" panose="02020603050405020304" charset="0"/>
                <a:ea typeface="宋体" panose="02010600030101010101" pitchFamily="2" charset="-122"/>
                <a:cs typeface="Times New Roman" panose="02020603050405020304" charset="0"/>
              </a:rPr>
              <a:t>超低温条件，对设备要求高、能耗大。</a:t>
            </a:r>
            <a:endParaRPr lang="en-US" altLang="zh-CN" sz="1800" dirty="0">
              <a:latin typeface="Times New Roman" panose="02020603050405020304" charset="0"/>
              <a:ea typeface="宋体" panose="02010600030101010101" pitchFamily="2" charset="-122"/>
              <a:cs typeface="Times New Roman" panose="02020603050405020304" charset="0"/>
            </a:endParaRPr>
          </a:p>
          <a:p>
            <a:pPr marL="0" indent="457200" algn="just">
              <a:lnSpc>
                <a:spcPts val="3000"/>
              </a:lnSpc>
              <a:spcBef>
                <a:spcPts val="0"/>
              </a:spcBef>
              <a:buNone/>
            </a:pPr>
            <a:endParaRPr lang="en-US" altLang="zh-CN" dirty="0">
              <a:latin typeface="Times New Roman" panose="02020603050405020304" charset="0"/>
              <a:ea typeface="宋体" panose="02010600030101010101" pitchFamily="2" charset="-122"/>
              <a:cs typeface="Times New Roman" panose="02020603050405020304" charset="0"/>
            </a:endParaRPr>
          </a:p>
          <a:p>
            <a:pPr marL="0" indent="457200" algn="just">
              <a:lnSpc>
                <a:spcPts val="3000"/>
              </a:lnSpc>
              <a:spcBef>
                <a:spcPts val="0"/>
              </a:spcBef>
              <a:buNone/>
            </a:pPr>
            <a:endParaRPr lang="en-US" altLang="zh-CN" sz="1800" dirty="0">
              <a:latin typeface="Times New Roman" panose="02020603050405020304" charset="0"/>
              <a:ea typeface="宋体" panose="02010600030101010101" pitchFamily="2" charset="-122"/>
              <a:cs typeface="Times New Roman" panose="02020603050405020304" charset="0"/>
            </a:endParaRPr>
          </a:p>
        </p:txBody>
      </p:sp>
      <p:sp>
        <p:nvSpPr>
          <p:cNvPr id="6" name="内容占位符 2"/>
          <p:cNvSpPr txBox="1"/>
          <p:nvPr/>
        </p:nvSpPr>
        <p:spPr>
          <a:xfrm>
            <a:off x="494877" y="425867"/>
            <a:ext cx="2206171" cy="54428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dirty="0">
                <a:latin typeface="黑体" panose="02010609060101010101" pitchFamily="49" charset="-122"/>
                <a:ea typeface="黑体" panose="02010609060101010101" pitchFamily="49" charset="-122"/>
              </a:rPr>
              <a:t>路线优缺点</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96432" y="1240122"/>
            <a:ext cx="10599135" cy="4377756"/>
          </a:xfrm>
        </p:spPr>
        <p:txBody>
          <a:bodyPr/>
          <a:lstStyle/>
          <a:p>
            <a:pPr marL="0" indent="457200" algn="just">
              <a:lnSpc>
                <a:spcPts val="3000"/>
              </a:lnSpc>
              <a:buNone/>
            </a:pPr>
            <a:r>
              <a:rPr lang="zh-CN" altLang="en-US" sz="1800" dirty="0">
                <a:latin typeface="Times New Roman" panose="02020603050405020304" charset="0"/>
                <a:ea typeface="宋体" panose="02010600030101010101" pitchFamily="2" charset="-122"/>
                <a:cs typeface="Times New Roman" panose="02020603050405020304" charset="0"/>
              </a:rPr>
              <a:t>因此理想氟伐他汀合成路线的核心难点在于</a:t>
            </a:r>
            <a:r>
              <a:rPr lang="zh-CN" altLang="en-US" sz="1800" b="1" dirty="0">
                <a:latin typeface="Times New Roman" panose="02020603050405020304" charset="0"/>
                <a:ea typeface="宋体" panose="02010600030101010101" pitchFamily="2" charset="-122"/>
                <a:cs typeface="Times New Roman" panose="02020603050405020304" charset="0"/>
              </a:rPr>
              <a:t>中间体不稳定、副反应多、立体选择性要求高、低温条件苛刻</a:t>
            </a:r>
            <a:r>
              <a:rPr lang="zh-CN" altLang="en-US" sz="1800" dirty="0">
                <a:latin typeface="Times New Roman" panose="02020603050405020304" charset="0"/>
                <a:ea typeface="宋体" panose="02010600030101010101" pitchFamily="2" charset="-122"/>
                <a:cs typeface="Times New Roman" panose="02020603050405020304" charset="0"/>
              </a:rPr>
              <a:t>。</a:t>
            </a:r>
            <a:endParaRPr lang="en-US" altLang="zh-CN" sz="1800" dirty="0">
              <a:latin typeface="Times New Roman" panose="02020603050405020304" charset="0"/>
              <a:ea typeface="宋体" panose="02010600030101010101" pitchFamily="2" charset="-122"/>
              <a:cs typeface="Times New Roman" panose="02020603050405020304" charset="0"/>
            </a:endParaRPr>
          </a:p>
          <a:p>
            <a:pPr marL="0" indent="457200" algn="just">
              <a:lnSpc>
                <a:spcPts val="3000"/>
              </a:lnSpc>
              <a:buNone/>
            </a:pPr>
            <a:endParaRPr lang="en-US" altLang="zh-CN" sz="1800" dirty="0">
              <a:latin typeface="Times New Roman" panose="02020603050405020304" charset="0"/>
              <a:ea typeface="宋体" panose="02010600030101010101" pitchFamily="2" charset="-122"/>
              <a:cs typeface="Times New Roman" panose="02020603050405020304" charset="0"/>
            </a:endParaRPr>
          </a:p>
          <a:p>
            <a:pPr marL="0" indent="457200" algn="just">
              <a:lnSpc>
                <a:spcPts val="3000"/>
              </a:lnSpc>
              <a:spcBef>
                <a:spcPts val="0"/>
              </a:spcBef>
              <a:buNone/>
            </a:pPr>
            <a:r>
              <a:rPr lang="zh-CN" altLang="en-US" sz="1800" b="1" dirty="0">
                <a:latin typeface="Times New Roman" panose="02020603050405020304" charset="0"/>
                <a:ea typeface="宋体" panose="02010600030101010101" pitchFamily="2" charset="-122"/>
                <a:cs typeface="Times New Roman" panose="02020603050405020304" charset="0"/>
              </a:rPr>
              <a:t>解决方案：</a:t>
            </a:r>
            <a:endParaRPr lang="en-US" altLang="zh-CN" sz="1800" b="1" dirty="0">
              <a:latin typeface="Times New Roman" panose="02020603050405020304" charset="0"/>
              <a:ea typeface="宋体" panose="02010600030101010101" pitchFamily="2" charset="-122"/>
              <a:cs typeface="Times New Roman" panose="02020603050405020304" charset="0"/>
            </a:endParaRPr>
          </a:p>
          <a:p>
            <a:pPr marL="0" indent="457200" algn="just">
              <a:lnSpc>
                <a:spcPts val="3000"/>
              </a:lnSpc>
              <a:spcBef>
                <a:spcPts val="0"/>
              </a:spcBef>
              <a:buNone/>
            </a:pPr>
            <a:r>
              <a:rPr lang="zh-CN" altLang="en-US" sz="1800" dirty="0">
                <a:latin typeface="Times New Roman" panose="02020603050405020304" charset="0"/>
                <a:ea typeface="宋体" panose="02010600030101010101" pitchFamily="2" charset="-122"/>
                <a:cs typeface="Times New Roman" panose="02020603050405020304" charset="0"/>
              </a:rPr>
              <a:t>采用一锅法反应，缩合生成中间体 </a:t>
            </a:r>
            <a:r>
              <a:rPr lang="en-US" altLang="zh-CN" sz="1800" b="1" dirty="0">
                <a:latin typeface="Times New Roman" panose="02020603050405020304" charset="0"/>
                <a:ea typeface="宋体" panose="02010600030101010101" pitchFamily="2" charset="-122"/>
                <a:cs typeface="Times New Roman" panose="02020603050405020304" charset="0"/>
              </a:rPr>
              <a:t>5</a:t>
            </a:r>
            <a:r>
              <a:rPr lang="en-US" altLang="zh-CN" sz="1800" dirty="0">
                <a:latin typeface="Times New Roman" panose="02020603050405020304" charset="0"/>
                <a:ea typeface="宋体" panose="02010600030101010101" pitchFamily="2" charset="-122"/>
                <a:cs typeface="Times New Roman" panose="02020603050405020304" charset="0"/>
              </a:rPr>
              <a:t> </a:t>
            </a:r>
            <a:r>
              <a:rPr lang="zh-CN" altLang="en-US" sz="1800" dirty="0">
                <a:latin typeface="Times New Roman" panose="02020603050405020304" charset="0"/>
                <a:ea typeface="宋体" panose="02010600030101010101" pitchFamily="2" charset="-122"/>
                <a:cs typeface="Times New Roman" panose="02020603050405020304" charset="0"/>
              </a:rPr>
              <a:t>后不分离、不结晶、不干燥，直接进行下一步还原，避免中间体在储存与后处理中降解。严格控制淬灭 </a:t>
            </a:r>
            <a:r>
              <a:rPr lang="en-US" altLang="zh-CN" sz="1800" dirty="0">
                <a:latin typeface="Times New Roman" panose="02020603050405020304" charset="0"/>
                <a:ea typeface="宋体" panose="02010600030101010101" pitchFamily="2" charset="-122"/>
                <a:cs typeface="Times New Roman" panose="02020603050405020304" charset="0"/>
              </a:rPr>
              <a:t>pH≈5 </a:t>
            </a:r>
            <a:r>
              <a:rPr lang="zh-CN" altLang="en-US" sz="1800" dirty="0">
                <a:latin typeface="Times New Roman" panose="02020603050405020304" charset="0"/>
                <a:ea typeface="宋体" panose="02010600030101010101" pitchFamily="2" charset="-122"/>
                <a:cs typeface="Times New Roman" panose="02020603050405020304" charset="0"/>
              </a:rPr>
              <a:t>再加水，防止降解。中间体溶液全程保持低温 </a:t>
            </a:r>
            <a:r>
              <a:rPr lang="en-US" altLang="zh-CN" sz="1800" dirty="0">
                <a:latin typeface="Times New Roman" panose="02020603050405020304" charset="0"/>
                <a:ea typeface="宋体" panose="02010600030101010101" pitchFamily="2" charset="-122"/>
                <a:cs typeface="Times New Roman" panose="02020603050405020304" charset="0"/>
              </a:rPr>
              <a:t>0–5 ℃ </a:t>
            </a:r>
            <a:r>
              <a:rPr lang="zh-CN" altLang="en-US" sz="1800" dirty="0">
                <a:latin typeface="Times New Roman" panose="02020603050405020304" charset="0"/>
                <a:ea typeface="宋体" panose="02010600030101010101" pitchFamily="2" charset="-122"/>
                <a:cs typeface="Times New Roman" panose="02020603050405020304" charset="0"/>
              </a:rPr>
              <a:t>储存，降低热降解风险。</a:t>
            </a:r>
            <a:endParaRPr lang="en-US" altLang="zh-CN" sz="1800" dirty="0">
              <a:latin typeface="Times New Roman" panose="02020603050405020304" charset="0"/>
              <a:ea typeface="宋体" panose="02010600030101010101" pitchFamily="2" charset="-122"/>
              <a:cs typeface="Times New Roman" panose="02020603050405020304" charset="0"/>
            </a:endParaRPr>
          </a:p>
          <a:p>
            <a:pPr marL="0" indent="457200" algn="just">
              <a:lnSpc>
                <a:spcPts val="3000"/>
              </a:lnSpc>
              <a:spcBef>
                <a:spcPts val="0"/>
              </a:spcBef>
              <a:buNone/>
            </a:pPr>
            <a:r>
              <a:rPr lang="en-US" altLang="zh-CN" sz="1800" b="1" dirty="0">
                <a:latin typeface="Times New Roman" panose="02020603050405020304" charset="0"/>
                <a:ea typeface="宋体" panose="02010600030101010101" pitchFamily="2" charset="-122"/>
                <a:cs typeface="Times New Roman" panose="02020603050405020304" charset="0"/>
              </a:rPr>
              <a:t>4</a:t>
            </a:r>
            <a:r>
              <a:rPr lang="en-US" altLang="zh-CN" sz="1800" dirty="0">
                <a:latin typeface="Times New Roman" panose="02020603050405020304" charset="0"/>
                <a:ea typeface="宋体" panose="02010600030101010101" pitchFamily="2" charset="-122"/>
                <a:cs typeface="Times New Roman" panose="02020603050405020304" charset="0"/>
              </a:rPr>
              <a:t> </a:t>
            </a:r>
            <a:r>
              <a:rPr lang="zh-CN" altLang="en-US" sz="1800" dirty="0">
                <a:latin typeface="Times New Roman" panose="02020603050405020304" charset="0"/>
                <a:ea typeface="宋体" panose="02010600030101010101" pitchFamily="2" charset="-122"/>
                <a:cs typeface="Times New Roman" panose="02020603050405020304" charset="0"/>
              </a:rPr>
              <a:t>→ </a:t>
            </a:r>
            <a:r>
              <a:rPr lang="en-US" altLang="zh-CN" sz="1800" b="1" dirty="0">
                <a:latin typeface="Times New Roman" panose="02020603050405020304" charset="0"/>
                <a:ea typeface="宋体" panose="02010600030101010101" pitchFamily="2" charset="-122"/>
                <a:cs typeface="Times New Roman" panose="02020603050405020304" charset="0"/>
              </a:rPr>
              <a:t>5</a:t>
            </a:r>
            <a:r>
              <a:rPr lang="en-US" altLang="zh-CN" sz="1800" dirty="0">
                <a:latin typeface="Times New Roman" panose="02020603050405020304" charset="0"/>
                <a:ea typeface="宋体" panose="02010600030101010101" pitchFamily="2" charset="-122"/>
                <a:cs typeface="Times New Roman" panose="02020603050405020304" charset="0"/>
              </a:rPr>
              <a:t> </a:t>
            </a:r>
            <a:r>
              <a:rPr lang="zh-CN" altLang="en-US" sz="1800" dirty="0">
                <a:latin typeface="Times New Roman" panose="02020603050405020304" charset="0"/>
                <a:ea typeface="宋体" panose="02010600030101010101" pitchFamily="2" charset="-122"/>
                <a:cs typeface="Times New Roman" panose="02020603050405020304" charset="0"/>
              </a:rPr>
              <a:t>反应控制双负离子过量，并将醛缓慢滴加到双负离子中，避免醛过量，从源头抑制副产物生成。双负离子制备温度控制在 </a:t>
            </a:r>
            <a:r>
              <a:rPr lang="en-US" altLang="zh-CN" sz="1800" dirty="0">
                <a:latin typeface="Times New Roman" panose="02020603050405020304" charset="0"/>
                <a:ea typeface="宋体" panose="02010600030101010101" pitchFamily="2" charset="-122"/>
                <a:cs typeface="Times New Roman" panose="02020603050405020304" charset="0"/>
              </a:rPr>
              <a:t>0–5 ℃</a:t>
            </a:r>
            <a:r>
              <a:rPr lang="zh-CN" altLang="en-US" sz="1800" dirty="0">
                <a:latin typeface="Times New Roman" panose="02020603050405020304" charset="0"/>
                <a:ea typeface="宋体" panose="02010600030101010101" pitchFamily="2" charset="-122"/>
                <a:cs typeface="Times New Roman" panose="02020603050405020304" charset="0"/>
              </a:rPr>
              <a:t>，使体系呈均匀悬浮液，不粘稠、不局部过热，减少副反应。</a:t>
            </a:r>
            <a:endParaRPr lang="en-US" altLang="zh-CN" sz="1800" dirty="0">
              <a:latin typeface="Times New Roman" panose="02020603050405020304" charset="0"/>
              <a:ea typeface="宋体" panose="02010600030101010101" pitchFamily="2" charset="-122"/>
              <a:cs typeface="Times New Roman" panose="02020603050405020304" charset="0"/>
            </a:endParaRPr>
          </a:p>
          <a:p>
            <a:pPr marL="0" indent="457200" algn="just">
              <a:lnSpc>
                <a:spcPts val="3000"/>
              </a:lnSpc>
              <a:spcBef>
                <a:spcPts val="0"/>
              </a:spcBef>
              <a:buNone/>
            </a:pPr>
            <a:r>
              <a:rPr lang="zh-CN" altLang="en-US" sz="1800" dirty="0">
                <a:latin typeface="Times New Roman" panose="02020603050405020304" charset="0"/>
                <a:ea typeface="宋体" panose="02010600030101010101" pitchFamily="2" charset="-122"/>
                <a:cs typeface="Times New Roman" panose="02020603050405020304" charset="0"/>
              </a:rPr>
              <a:t>简化溶剂体系，替换毒性大、难回收的溶剂，减少溶剂种类，降低成本与环保压力。</a:t>
            </a:r>
          </a:p>
        </p:txBody>
      </p:sp>
      <p:sp>
        <p:nvSpPr>
          <p:cNvPr id="5" name="内容占位符 2"/>
          <p:cNvSpPr txBox="1"/>
          <p:nvPr/>
        </p:nvSpPr>
        <p:spPr>
          <a:xfrm>
            <a:off x="494877" y="425867"/>
            <a:ext cx="2540153" cy="54428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dirty="0">
                <a:latin typeface="黑体" panose="02010609060101010101" pitchFamily="49" charset="-122"/>
                <a:ea typeface="黑体" panose="02010609060101010101" pitchFamily="49" charset="-122"/>
              </a:rPr>
              <a:t>难点和方案</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nvGraphicFramePr>
        <p:xfrm>
          <a:off x="3313113" y="1036638"/>
          <a:ext cx="4918075" cy="4784725"/>
        </p:xfrm>
        <a:graphic>
          <a:graphicData uri="http://schemas.openxmlformats.org/presentationml/2006/ole">
            <mc:AlternateContent xmlns:mc="http://schemas.openxmlformats.org/markup-compatibility/2006">
              <mc:Choice xmlns:v="urn:schemas-microsoft-com:vml" Requires="v">
                <p:oleObj spid="_x0000_s63492" name="CS ChemDraw 64-bit Drawing" r:id="rId3" imgW="1667510" imgH="1622425" progId="ChemDraw_x64.Document.6.0">
                  <p:embed/>
                </p:oleObj>
              </mc:Choice>
              <mc:Fallback>
                <p:oleObj name="CS ChemDraw 64-bit Drawing" r:id="rId3" imgW="1667510" imgH="1622425" progId="ChemDraw_x64.Document.6.0">
                  <p:embed/>
                  <p:pic>
                    <p:nvPicPr>
                      <p:cNvPr id="2" name="对象 1"/>
                      <p:cNvPicPr/>
                      <p:nvPr/>
                    </p:nvPicPr>
                    <p:blipFill>
                      <a:blip r:embed="rId4"/>
                      <a:stretch>
                        <a:fillRect/>
                      </a:stretch>
                    </p:blipFill>
                    <p:spPr>
                      <a:xfrm>
                        <a:off x="3313113" y="1036638"/>
                        <a:ext cx="4918075" cy="4784725"/>
                      </a:xfrm>
                      <a:prstGeom prst="rect">
                        <a:avLst/>
                      </a:prstGeom>
                    </p:spPr>
                  </p:pic>
                </p:oleObj>
              </mc:Fallback>
            </mc:AlternateContent>
          </a:graphicData>
        </a:graphic>
      </p:graphicFrame>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对象 5"/>
          <p:cNvGraphicFramePr>
            <a:graphicFrameLocks noChangeAspect="1"/>
          </p:cNvGraphicFramePr>
          <p:nvPr/>
        </p:nvGraphicFramePr>
        <p:xfrm>
          <a:off x="8199856" y="1992530"/>
          <a:ext cx="2951811" cy="2872937"/>
        </p:xfrm>
        <a:graphic>
          <a:graphicData uri="http://schemas.openxmlformats.org/presentationml/2006/ole">
            <mc:AlternateContent xmlns:mc="http://schemas.openxmlformats.org/markup-compatibility/2006">
              <mc:Choice xmlns:v="urn:schemas-microsoft-com:vml" Requires="v">
                <p:oleObj spid="_x0000_s64516" name="CS ChemDraw 64-bit Drawing" r:id="rId3" imgW="1667510" imgH="1622425" progId="ChemDraw_x64.Document.6.0">
                  <p:embed/>
                </p:oleObj>
              </mc:Choice>
              <mc:Fallback>
                <p:oleObj name="CS ChemDraw 64-bit Drawing" r:id="rId3" imgW="1667510" imgH="1622425" progId="ChemDraw_x64.Document.6.0">
                  <p:embed/>
                  <p:pic>
                    <p:nvPicPr>
                      <p:cNvPr id="6" name="对象 5"/>
                      <p:cNvPicPr/>
                      <p:nvPr/>
                    </p:nvPicPr>
                    <p:blipFill>
                      <a:blip r:embed="rId4"/>
                      <a:stretch>
                        <a:fillRect/>
                      </a:stretch>
                    </p:blipFill>
                    <p:spPr>
                      <a:xfrm>
                        <a:off x="8199856" y="1992530"/>
                        <a:ext cx="2951811" cy="2872937"/>
                      </a:xfrm>
                      <a:prstGeom prst="rect">
                        <a:avLst/>
                      </a:prstGeom>
                    </p:spPr>
                  </p:pic>
                </p:oleObj>
              </mc:Fallback>
            </mc:AlternateContent>
          </a:graphicData>
        </a:graphic>
      </p:graphicFrame>
      <p:grpSp>
        <p:nvGrpSpPr>
          <p:cNvPr id="9" name="组合 8"/>
          <p:cNvGrpSpPr/>
          <p:nvPr/>
        </p:nvGrpSpPr>
        <p:grpSpPr>
          <a:xfrm>
            <a:off x="259890" y="803434"/>
            <a:ext cx="6094378" cy="5251128"/>
            <a:chOff x="381810" y="1261010"/>
            <a:chExt cx="6094378" cy="5251128"/>
          </a:xfrm>
        </p:grpSpPr>
        <p:sp>
          <p:nvSpPr>
            <p:cNvPr id="5" name="文本框 4"/>
            <p:cNvSpPr txBox="1"/>
            <p:nvPr/>
          </p:nvSpPr>
          <p:spPr>
            <a:xfrm>
              <a:off x="381810" y="1261010"/>
              <a:ext cx="6094378" cy="2585323"/>
            </a:xfrm>
            <a:prstGeom prst="rect">
              <a:avLst/>
            </a:prstGeom>
            <a:noFill/>
          </p:spPr>
          <p:txBody>
            <a:bodyPr wrap="square">
              <a:spAutoFit/>
            </a:bodyPr>
            <a:lstStyle/>
            <a:p>
              <a:pPr algn="just"/>
              <a:r>
                <a:rPr lang="zh-CN" altLang="en-US" sz="1800" b="1" dirty="0">
                  <a:solidFill>
                    <a:srgbClr val="000000"/>
                  </a:solidFill>
                  <a:effectLst/>
                  <a:latin typeface="Times New Roman" panose="02020603050405020304" charset="0"/>
                  <a:ea typeface="仿宋" panose="02010609060101010101" charset="-122"/>
                </a:rPr>
                <a:t>自</a:t>
              </a:r>
              <a:r>
                <a:rPr lang="en-US" altLang="zh-CN" b="1" dirty="0">
                  <a:solidFill>
                    <a:srgbClr val="000000"/>
                  </a:solidFill>
                  <a:effectLst/>
                  <a:latin typeface="Times New Roman" panose="02020603050405020304" charset="0"/>
                  <a:ea typeface="仿宋" panose="02010609060101010101" charset="-122"/>
                </a:rPr>
                <a:t>1 9 7 6 </a:t>
              </a:r>
              <a:r>
                <a:rPr lang="zh-CN" altLang="en-US" sz="1800" b="1" dirty="0">
                  <a:solidFill>
                    <a:srgbClr val="000000"/>
                  </a:solidFill>
                  <a:effectLst/>
                  <a:latin typeface="Times New Roman" panose="02020603050405020304" charset="0"/>
                  <a:ea typeface="仿宋" panose="02010609060101010101" charset="-122"/>
                </a:rPr>
                <a:t>年第一个他汀类药物美伐他汀问世以来，他汀类药物已发展至第三代，新的他汀类药物</a:t>
              </a:r>
              <a:r>
                <a:rPr lang="en-US" altLang="zh-CN" sz="1800" b="1" dirty="0">
                  <a:solidFill>
                    <a:srgbClr val="000000"/>
                  </a:solidFill>
                  <a:effectLst/>
                  <a:latin typeface="Times New Roman" panose="02020603050405020304" charset="0"/>
                  <a:ea typeface="仿宋" panose="02010609060101010101" charset="-122"/>
                </a:rPr>
                <a:t>-</a:t>
              </a:r>
              <a:r>
                <a:rPr lang="en-US" altLang="zh-CN" sz="1800" b="1" dirty="0" err="1">
                  <a:solidFill>
                    <a:srgbClr val="000000"/>
                  </a:solidFill>
                  <a:effectLst/>
                  <a:latin typeface="Times New Roman" panose="02020603050405020304" charset="0"/>
                  <a:ea typeface="仿宋" panose="02010609060101010101" charset="-122"/>
                </a:rPr>
                <a:t>Astrazeneca</a:t>
              </a:r>
              <a:r>
                <a:rPr lang="zh-CN" altLang="en-US" sz="1800" b="1" dirty="0">
                  <a:solidFill>
                    <a:srgbClr val="000000"/>
                  </a:solidFill>
                  <a:effectLst/>
                  <a:latin typeface="Times New Roman" panose="02020603050405020304" charset="0"/>
                  <a:ea typeface="仿宋" panose="02010609060101010101" charset="-122"/>
                </a:rPr>
                <a:t>公司的瑞舒伐他汀其降脂作用强大，单独使用超过所有其他他汀类药物，号称“超级他汀”。</a:t>
              </a:r>
              <a:endParaRPr lang="en-US" altLang="zh-CN" sz="1800" b="1" dirty="0">
                <a:solidFill>
                  <a:srgbClr val="000000"/>
                </a:solidFill>
                <a:effectLst/>
                <a:latin typeface="Times New Roman" panose="02020603050405020304" charset="0"/>
                <a:ea typeface="仿宋" panose="02010609060101010101" charset="-122"/>
              </a:endParaRPr>
            </a:p>
            <a:p>
              <a:pPr algn="just"/>
              <a:endParaRPr lang="en-US" altLang="zh-CN" sz="1800" b="1" dirty="0">
                <a:solidFill>
                  <a:srgbClr val="000000"/>
                </a:solidFill>
                <a:effectLst/>
                <a:latin typeface="Times New Roman" panose="02020603050405020304" charset="0"/>
                <a:ea typeface="仿宋" panose="02010609060101010101" charset="-122"/>
              </a:endParaRPr>
            </a:p>
            <a:p>
              <a:pPr algn="just"/>
              <a:r>
                <a:rPr lang="zh-CN" altLang="en-US" b="1" dirty="0">
                  <a:solidFill>
                    <a:srgbClr val="000000"/>
                  </a:solidFill>
                  <a:latin typeface="Times New Roman" panose="02020603050405020304" charset="0"/>
                  <a:ea typeface="仿宋" panose="02010609060101010101" charset="-122"/>
                </a:rPr>
                <a:t>预计全球瑞舒伐他汀</a:t>
              </a:r>
              <a:r>
                <a:rPr lang="en-US" altLang="zh-CN" b="1" dirty="0">
                  <a:solidFill>
                    <a:srgbClr val="000000"/>
                  </a:solidFill>
                  <a:latin typeface="Times New Roman" panose="02020603050405020304" charset="0"/>
                  <a:ea typeface="仿宋" panose="02010609060101010101" charset="-122"/>
                </a:rPr>
                <a:t>2026 </a:t>
              </a:r>
              <a:r>
                <a:rPr lang="zh-CN" altLang="en-US" b="1" dirty="0">
                  <a:solidFill>
                    <a:srgbClr val="000000"/>
                  </a:solidFill>
                  <a:latin typeface="Times New Roman" panose="02020603050405020304" charset="0"/>
                  <a:ea typeface="仿宋" panose="02010609060101010101" charset="-122"/>
                </a:rPr>
                <a:t>年价值 </a:t>
              </a:r>
              <a:r>
                <a:rPr lang="en-US" altLang="zh-CN" b="1" dirty="0">
                  <a:solidFill>
                    <a:srgbClr val="000000"/>
                  </a:solidFill>
                  <a:latin typeface="Times New Roman" panose="02020603050405020304" charset="0"/>
                  <a:ea typeface="仿宋" panose="02010609060101010101" charset="-122"/>
                </a:rPr>
                <a:t>74 </a:t>
              </a:r>
              <a:r>
                <a:rPr lang="zh-CN" altLang="en-US" b="1" dirty="0">
                  <a:solidFill>
                    <a:srgbClr val="000000"/>
                  </a:solidFill>
                  <a:latin typeface="Times New Roman" panose="02020603050405020304" charset="0"/>
                  <a:ea typeface="仿宋" panose="02010609060101010101" charset="-122"/>
                </a:rPr>
                <a:t>亿美元，到 </a:t>
              </a:r>
              <a:r>
                <a:rPr lang="en-US" altLang="zh-CN" b="1" dirty="0">
                  <a:solidFill>
                    <a:srgbClr val="000000"/>
                  </a:solidFill>
                  <a:latin typeface="Times New Roman" panose="02020603050405020304" charset="0"/>
                  <a:ea typeface="仿宋" panose="02010609060101010101" charset="-122"/>
                </a:rPr>
                <a:t>2035 </a:t>
              </a:r>
              <a:r>
                <a:rPr lang="zh-CN" altLang="en-US" b="1" dirty="0">
                  <a:solidFill>
                    <a:srgbClr val="000000"/>
                  </a:solidFill>
                  <a:latin typeface="Times New Roman" panose="02020603050405020304" charset="0"/>
                  <a:ea typeface="仿宋" panose="02010609060101010101" charset="-122"/>
                </a:rPr>
                <a:t>年将达到 </a:t>
              </a:r>
              <a:r>
                <a:rPr lang="en-US" altLang="zh-CN" b="1" dirty="0">
                  <a:solidFill>
                    <a:srgbClr val="000000"/>
                  </a:solidFill>
                  <a:latin typeface="Times New Roman" panose="02020603050405020304" charset="0"/>
                  <a:ea typeface="仿宋" panose="02010609060101010101" charset="-122"/>
                </a:rPr>
                <a:t>116 </a:t>
              </a:r>
              <a:r>
                <a:rPr lang="zh-CN" altLang="en-US" b="1" dirty="0">
                  <a:solidFill>
                    <a:srgbClr val="000000"/>
                  </a:solidFill>
                  <a:latin typeface="Times New Roman" panose="02020603050405020304" charset="0"/>
                  <a:ea typeface="仿宋" panose="02010609060101010101" charset="-122"/>
                </a:rPr>
                <a:t>亿美元。</a:t>
              </a:r>
              <a:endParaRPr lang="en-US" altLang="zh-CN" b="1" dirty="0">
                <a:solidFill>
                  <a:srgbClr val="000000"/>
                </a:solidFill>
                <a:latin typeface="Times New Roman" panose="02020603050405020304" charset="0"/>
                <a:ea typeface="仿宋" panose="02010609060101010101" charset="-122"/>
              </a:endParaRPr>
            </a:p>
            <a:p>
              <a:pPr algn="just"/>
              <a:endParaRPr lang="en-US" altLang="zh-CN" b="1" dirty="0">
                <a:solidFill>
                  <a:srgbClr val="000000"/>
                </a:solidFill>
                <a:latin typeface="Times New Roman" panose="02020603050405020304" charset="0"/>
                <a:ea typeface="仿宋" panose="02010609060101010101" charset="-122"/>
              </a:endParaRPr>
            </a:p>
            <a:p>
              <a:pPr algn="just"/>
              <a:r>
                <a:rPr lang="zh-CN" altLang="en-US" b="1" dirty="0">
                  <a:latin typeface="Times New Roman" panose="02020603050405020304" charset="0"/>
                  <a:ea typeface="仿宋" panose="02010609060101010101" charset="-122"/>
                </a:rPr>
                <a:t>以</a:t>
              </a:r>
              <a:r>
                <a:rPr lang="zh-CN" altLang="en-US" b="1" dirty="0">
                  <a:solidFill>
                    <a:srgbClr val="000000"/>
                  </a:solidFill>
                  <a:latin typeface="Times New Roman" panose="02020603050405020304" charset="0"/>
                  <a:ea typeface="仿宋" panose="02010609060101010101" charset="-122"/>
                </a:rPr>
                <a:t>瑞舒伐他汀钙为例，高纯度原料药价格在</a:t>
              </a:r>
              <a:r>
                <a:rPr lang="en-US" altLang="zh-CN" b="1" dirty="0">
                  <a:solidFill>
                    <a:srgbClr val="000000"/>
                  </a:solidFill>
                  <a:latin typeface="Times New Roman" panose="02020603050405020304" charset="0"/>
                  <a:ea typeface="仿宋" panose="02010609060101010101" charset="-122"/>
                </a:rPr>
                <a:t>3000</a:t>
              </a:r>
              <a:r>
                <a:rPr lang="zh-CN" altLang="en-US" b="1" dirty="0">
                  <a:solidFill>
                    <a:srgbClr val="000000"/>
                  </a:solidFill>
                  <a:latin typeface="Times New Roman" panose="02020603050405020304" charset="0"/>
                  <a:ea typeface="仿宋" panose="02010609060101010101" charset="-122"/>
                </a:rPr>
                <a:t>元左右。</a:t>
              </a:r>
              <a:endParaRPr lang="zh-CN" altLang="en-US" b="1" dirty="0">
                <a:latin typeface="Times New Roman" panose="02020603050405020304" charset="0"/>
                <a:ea typeface="仿宋" panose="02010609060101010101" charset="-122"/>
              </a:endParaRPr>
            </a:p>
          </p:txBody>
        </p:sp>
        <p:pic>
          <p:nvPicPr>
            <p:cNvPr id="8" name="图片 7"/>
            <p:cNvPicPr>
              <a:picLocks noChangeAspect="1"/>
            </p:cNvPicPr>
            <p:nvPr/>
          </p:nvPicPr>
          <p:blipFill>
            <a:blip r:embed="rId5"/>
            <a:stretch>
              <a:fillRect/>
            </a:stretch>
          </p:blipFill>
          <p:spPr>
            <a:xfrm>
              <a:off x="613016" y="3829524"/>
              <a:ext cx="5631966" cy="2682614"/>
            </a:xfrm>
            <a:prstGeom prst="rect">
              <a:avLst/>
            </a:prstGeom>
          </p:spPr>
        </p:pic>
      </p:gr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对象 3"/>
          <p:cNvGraphicFramePr>
            <a:graphicFrameLocks noChangeAspect="1"/>
          </p:cNvGraphicFramePr>
          <p:nvPr/>
        </p:nvGraphicFramePr>
        <p:xfrm>
          <a:off x="2162175" y="266700"/>
          <a:ext cx="7869238" cy="6321425"/>
        </p:xfrm>
        <a:graphic>
          <a:graphicData uri="http://schemas.openxmlformats.org/presentationml/2006/ole">
            <mc:AlternateContent xmlns:mc="http://schemas.openxmlformats.org/markup-compatibility/2006">
              <mc:Choice xmlns:v="urn:schemas-microsoft-com:vml" Requires="v">
                <p:oleObj spid="_x0000_s65540" name="CS ChemDraw 64-bit Drawing" r:id="rId3" imgW="6658610" imgH="5351145" progId="ChemDraw_x64.Document.6.0">
                  <p:embed/>
                </p:oleObj>
              </mc:Choice>
              <mc:Fallback>
                <p:oleObj name="CS ChemDraw 64-bit Drawing" r:id="rId3" imgW="6658610" imgH="5351145" progId="ChemDraw_x64.Document.6.0">
                  <p:embed/>
                  <p:pic>
                    <p:nvPicPr>
                      <p:cNvPr id="4" name="对象 3"/>
                      <p:cNvPicPr/>
                      <p:nvPr/>
                    </p:nvPicPr>
                    <p:blipFill>
                      <a:blip r:embed="rId4"/>
                      <a:stretch>
                        <a:fillRect/>
                      </a:stretch>
                    </p:blipFill>
                    <p:spPr>
                      <a:xfrm>
                        <a:off x="2162175" y="266700"/>
                        <a:ext cx="7869238" cy="6321425"/>
                      </a:xfrm>
                      <a:prstGeom prst="rect">
                        <a:avLst/>
                      </a:prstGeom>
                    </p:spPr>
                  </p:pic>
                </p:oleObj>
              </mc:Fallback>
            </mc:AlternateContent>
          </a:graphicData>
        </a:graphic>
      </p:graphicFrame>
      <p:sp>
        <p:nvSpPr>
          <p:cNvPr id="5" name="文本框 4"/>
          <p:cNvSpPr txBox="1"/>
          <p:nvPr/>
        </p:nvSpPr>
        <p:spPr>
          <a:xfrm>
            <a:off x="0" y="6525181"/>
            <a:ext cx="12080240" cy="338554"/>
          </a:xfrm>
          <a:prstGeom prst="rect">
            <a:avLst/>
          </a:prstGeom>
          <a:noFill/>
        </p:spPr>
        <p:txBody>
          <a:bodyPr wrap="square" rtlCol="0">
            <a:spAutoFit/>
          </a:bodyPr>
          <a:lstStyle/>
          <a:p>
            <a:r>
              <a:rPr lang="zh-CN" altLang="en-US" sz="1600" dirty="0">
                <a:latin typeface="Times New Roman" panose="02020603050405020304" charset="0"/>
                <a:ea typeface="仿宋" panose="02010609060101010101" charset="-122"/>
              </a:rPr>
              <a:t>朱建荣</a:t>
            </a:r>
            <a:r>
              <a:rPr lang="en-US" altLang="zh-CN" sz="1600" dirty="0">
                <a:latin typeface="Times New Roman" panose="02020603050405020304" charset="0"/>
                <a:ea typeface="仿宋" panose="02010609060101010101" charset="-122"/>
              </a:rPr>
              <a:t>.</a:t>
            </a:r>
            <a:r>
              <a:rPr lang="zh-CN" altLang="en-US" sz="1600" dirty="0">
                <a:latin typeface="Times New Roman" panose="02020603050405020304" charset="0"/>
                <a:ea typeface="仿宋" panose="02010609060101010101" charset="-122"/>
              </a:rPr>
              <a:t>一种制备二羟基酸</a:t>
            </a:r>
            <a:r>
              <a:rPr lang="en-US" altLang="zh-CN" sz="1600" dirty="0">
                <a:latin typeface="Times New Roman" panose="02020603050405020304" charset="0"/>
                <a:ea typeface="仿宋" panose="02010609060101010101" charset="-122"/>
              </a:rPr>
              <a:t>HMG-CoA</a:t>
            </a:r>
            <a:r>
              <a:rPr lang="zh-CN" altLang="en-US" sz="1600" dirty="0">
                <a:latin typeface="Times New Roman" panose="02020603050405020304" charset="0"/>
                <a:ea typeface="仿宋" panose="02010609060101010101" charset="-122"/>
              </a:rPr>
              <a:t>还原酶抑制剂用的中间体及其制备方法和应用</a:t>
            </a:r>
            <a:r>
              <a:rPr lang="en-US" altLang="zh-CN" sz="1600" dirty="0">
                <a:latin typeface="Times New Roman" panose="02020603050405020304" charset="0"/>
                <a:ea typeface="仿宋" panose="02010609060101010101" charset="-122"/>
              </a:rPr>
              <a:t>: </a:t>
            </a:r>
            <a:r>
              <a:rPr lang="zh-CN" altLang="en-US" sz="1600" dirty="0">
                <a:latin typeface="Times New Roman" panose="02020603050405020304" charset="0"/>
                <a:ea typeface="仿宋" panose="02010609060101010101" charset="-122"/>
              </a:rPr>
              <a:t>中国</a:t>
            </a:r>
            <a:r>
              <a:rPr lang="en-US" altLang="zh-CN" sz="1600" dirty="0">
                <a:latin typeface="Times New Roman" panose="02020603050405020304" charset="0"/>
                <a:ea typeface="仿宋" panose="02010609060101010101" charset="-122"/>
              </a:rPr>
              <a:t>, CN103288871A[P], 2013. 09. 11</a:t>
            </a:r>
            <a:endParaRPr lang="zh-CN" altLang="en-US" sz="1600" dirty="0">
              <a:latin typeface="Times New Roman" panose="02020603050405020304" charset="0"/>
              <a:ea typeface="仿宋" panose="02010609060101010101" charset="-122"/>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365760" y="2135277"/>
            <a:ext cx="5232400" cy="2862322"/>
          </a:xfrm>
          <a:prstGeom prst="rect">
            <a:avLst/>
          </a:prstGeom>
          <a:noFill/>
        </p:spPr>
        <p:txBody>
          <a:bodyPr wrap="square">
            <a:spAutoFit/>
          </a:bodyPr>
          <a:lstStyle/>
          <a:p>
            <a:pPr algn="just" eaLnBrk="0" hangingPunct="0"/>
            <a:r>
              <a:rPr lang="zh-CN" altLang="en-US" sz="1800" dirty="0">
                <a:solidFill>
                  <a:srgbClr val="000000"/>
                </a:solidFill>
                <a:effectLst/>
                <a:latin typeface="Times New Roman" panose="02020603050405020304" charset="0"/>
                <a:ea typeface="仿宋" panose="02010609060101010101" charset="-122"/>
              </a:rPr>
              <a:t>优点：</a:t>
            </a:r>
            <a:endParaRPr lang="en-US" altLang="zh-CN" sz="1800" dirty="0">
              <a:solidFill>
                <a:srgbClr val="000000"/>
              </a:solidFill>
              <a:effectLst/>
              <a:latin typeface="Times New Roman" panose="02020603050405020304" charset="0"/>
              <a:ea typeface="仿宋" panose="02010609060101010101" charset="-122"/>
            </a:endParaRPr>
          </a:p>
          <a:p>
            <a:pPr algn="just" eaLnBrk="0" hangingPunct="0"/>
            <a:r>
              <a:rPr lang="zh-CN" altLang="en-US" sz="1800" dirty="0">
                <a:solidFill>
                  <a:srgbClr val="000000"/>
                </a:solidFill>
                <a:effectLst/>
                <a:latin typeface="Times New Roman" panose="02020603050405020304" charset="0"/>
                <a:ea typeface="仿宋" panose="02010609060101010101" charset="-122"/>
              </a:rPr>
              <a:t>提供</a:t>
            </a:r>
            <a:r>
              <a:rPr lang="zh-CN" altLang="en-US" dirty="0">
                <a:solidFill>
                  <a:srgbClr val="000000"/>
                </a:solidFill>
                <a:latin typeface="Times New Roman" panose="02020603050405020304" charset="0"/>
                <a:ea typeface="仿宋" panose="02010609060101010101" charset="-122"/>
              </a:rPr>
              <a:t>了</a:t>
            </a:r>
            <a:r>
              <a:rPr lang="zh-CN" altLang="en-US" sz="1800" dirty="0">
                <a:solidFill>
                  <a:srgbClr val="000000"/>
                </a:solidFill>
                <a:effectLst/>
                <a:latin typeface="Times New Roman" panose="02020603050405020304" charset="0"/>
                <a:ea typeface="仿宋" panose="02010609060101010101" charset="-122"/>
              </a:rPr>
              <a:t>一种制备二羟基酸</a:t>
            </a:r>
            <a:r>
              <a:rPr lang="en-US" altLang="zh-CN" sz="1800" dirty="0">
                <a:solidFill>
                  <a:srgbClr val="000000"/>
                </a:solidFill>
                <a:effectLst/>
                <a:latin typeface="Times New Roman" panose="02020603050405020304" charset="0"/>
                <a:ea typeface="仿宋" panose="02010609060101010101" charset="-122"/>
              </a:rPr>
              <a:t>HMG-CoA</a:t>
            </a:r>
            <a:r>
              <a:rPr lang="zh-CN" altLang="en-US" sz="1800" dirty="0">
                <a:solidFill>
                  <a:srgbClr val="000000"/>
                </a:solidFill>
                <a:effectLst/>
                <a:latin typeface="Times New Roman" panose="02020603050405020304" charset="0"/>
                <a:ea typeface="仿宋" panose="02010609060101010101" charset="-122"/>
              </a:rPr>
              <a:t>还原酶抑制剂用的中间体及其制备方法和应用。该中间体具有易于制备、成本低的特点；利用该中间体制备二羟基酸</a:t>
            </a:r>
            <a:r>
              <a:rPr lang="en-US" altLang="zh-CN" sz="1800" dirty="0">
                <a:solidFill>
                  <a:srgbClr val="000000"/>
                </a:solidFill>
                <a:effectLst/>
                <a:latin typeface="Times New Roman" panose="02020603050405020304" charset="0"/>
                <a:ea typeface="仿宋" panose="02010609060101010101" charset="-122"/>
              </a:rPr>
              <a:t>HMG-CoA</a:t>
            </a:r>
            <a:r>
              <a:rPr lang="zh-CN" altLang="en-US" sz="1800" dirty="0">
                <a:solidFill>
                  <a:srgbClr val="000000"/>
                </a:solidFill>
                <a:effectLst/>
                <a:latin typeface="Times New Roman" panose="02020603050405020304" charset="0"/>
                <a:ea typeface="仿宋" panose="02010609060101010101" charset="-122"/>
              </a:rPr>
              <a:t>还原酶抑制剂反应步骤短，过程操作简便，污染小、能耗低，所得的部分油状物无需精制直接用于下一步生产，产品收率高，得到较高化学纯度及光学纯度的二羟基酸 </a:t>
            </a:r>
            <a:r>
              <a:rPr lang="en-US" altLang="zh-CN" sz="1800" dirty="0">
                <a:solidFill>
                  <a:srgbClr val="000000"/>
                </a:solidFill>
                <a:effectLst/>
                <a:latin typeface="Times New Roman" panose="02020603050405020304" charset="0"/>
                <a:ea typeface="仿宋" panose="02010609060101010101" charset="-122"/>
              </a:rPr>
              <a:t>HMG-CoA</a:t>
            </a:r>
            <a:r>
              <a:rPr lang="zh-CN" altLang="en-US" sz="1800" dirty="0">
                <a:solidFill>
                  <a:srgbClr val="000000"/>
                </a:solidFill>
                <a:effectLst/>
                <a:latin typeface="Times New Roman" panose="02020603050405020304" charset="0"/>
                <a:ea typeface="仿宋" panose="02010609060101010101" charset="-122"/>
              </a:rPr>
              <a:t>还原酶抑制剂，避免了手性拆分的高能耗及低区域，可方便的用于工业化生产；且制备该中间体的方法简单。</a:t>
            </a:r>
          </a:p>
        </p:txBody>
      </p:sp>
      <p:sp>
        <p:nvSpPr>
          <p:cNvPr id="2" name="文本框 1"/>
          <p:cNvSpPr txBox="1"/>
          <p:nvPr/>
        </p:nvSpPr>
        <p:spPr>
          <a:xfrm>
            <a:off x="5997388" y="1858278"/>
            <a:ext cx="5828852" cy="3416320"/>
          </a:xfrm>
          <a:prstGeom prst="rect">
            <a:avLst/>
          </a:prstGeom>
          <a:noFill/>
        </p:spPr>
        <p:txBody>
          <a:bodyPr wrap="square">
            <a:spAutoFit/>
          </a:bodyPr>
          <a:lstStyle/>
          <a:p>
            <a:pPr algn="just" eaLnBrk="0" hangingPunct="0"/>
            <a:r>
              <a:rPr lang="zh-CN" altLang="en-US" sz="1800" dirty="0">
                <a:solidFill>
                  <a:srgbClr val="000000"/>
                </a:solidFill>
                <a:effectLst/>
                <a:latin typeface="Times New Roman" panose="02020603050405020304" charset="0"/>
                <a:ea typeface="仿宋" panose="02010609060101010101" charset="-122"/>
              </a:rPr>
              <a:t>缺点：</a:t>
            </a:r>
            <a:endParaRPr lang="en-US" altLang="zh-CN" sz="1800" dirty="0">
              <a:solidFill>
                <a:srgbClr val="000000"/>
              </a:solidFill>
              <a:effectLst/>
              <a:latin typeface="Times New Roman" panose="02020603050405020304" charset="0"/>
              <a:ea typeface="仿宋" panose="02010609060101010101" charset="-122"/>
            </a:endParaRPr>
          </a:p>
          <a:p>
            <a:pPr algn="just" eaLnBrk="0" hangingPunct="0"/>
            <a:r>
              <a:rPr lang="en-US" altLang="zh-CN" sz="1800" dirty="0">
                <a:solidFill>
                  <a:srgbClr val="000000"/>
                </a:solidFill>
                <a:effectLst/>
                <a:latin typeface="Times New Roman" panose="02020603050405020304" charset="0"/>
                <a:ea typeface="仿宋" panose="02010609060101010101" charset="-122"/>
              </a:rPr>
              <a:t>1. </a:t>
            </a:r>
            <a:r>
              <a:rPr lang="zh-CN" altLang="en-US" sz="1800" dirty="0">
                <a:solidFill>
                  <a:srgbClr val="000000"/>
                </a:solidFill>
                <a:effectLst/>
                <a:latin typeface="Times New Roman" panose="02020603050405020304" charset="0"/>
                <a:ea typeface="仿宋" panose="02010609060101010101" charset="-122"/>
              </a:rPr>
              <a:t>部分反应条件苛刻：关键步骤（磷酸酯与内酯盐的反应）需在 </a:t>
            </a:r>
            <a:r>
              <a:rPr lang="en-US" altLang="zh-CN" sz="1800" dirty="0">
                <a:solidFill>
                  <a:srgbClr val="000000"/>
                </a:solidFill>
                <a:effectLst/>
                <a:latin typeface="Times New Roman" panose="02020603050405020304" charset="0"/>
                <a:ea typeface="仿宋" panose="02010609060101010101" charset="-122"/>
              </a:rPr>
              <a:t>-78°C </a:t>
            </a:r>
            <a:r>
              <a:rPr lang="zh-CN" altLang="en-US" sz="1800" dirty="0">
                <a:solidFill>
                  <a:srgbClr val="000000"/>
                </a:solidFill>
                <a:effectLst/>
                <a:latin typeface="Times New Roman" panose="02020603050405020304" charset="0"/>
                <a:ea typeface="仿宋" panose="02010609060101010101" charset="-122"/>
              </a:rPr>
              <a:t>下进行，对设备要求高，能耗较大。使用正丁基锂等强碱，对操作安全性和无水无氧条件要求高。</a:t>
            </a:r>
          </a:p>
          <a:p>
            <a:pPr algn="just" eaLnBrk="0" hangingPunct="0"/>
            <a:r>
              <a:rPr lang="en-US" altLang="zh-CN" sz="1800" dirty="0">
                <a:solidFill>
                  <a:srgbClr val="000000"/>
                </a:solidFill>
                <a:effectLst/>
                <a:latin typeface="Times New Roman" panose="02020603050405020304" charset="0"/>
                <a:ea typeface="仿宋" panose="02010609060101010101" charset="-122"/>
              </a:rPr>
              <a:t>2. </a:t>
            </a:r>
            <a:r>
              <a:rPr lang="zh-CN" altLang="en-US" sz="1800" dirty="0">
                <a:solidFill>
                  <a:srgbClr val="000000"/>
                </a:solidFill>
                <a:effectLst/>
                <a:latin typeface="Times New Roman" panose="02020603050405020304" charset="0"/>
                <a:ea typeface="仿宋" panose="02010609060101010101" charset="-122"/>
              </a:rPr>
              <a:t>中间体结构复杂，合成路径依赖中间体（</a:t>
            </a:r>
            <a:r>
              <a:rPr lang="en-US" altLang="zh-CN" sz="1800" dirty="0">
                <a:solidFill>
                  <a:srgbClr val="000000"/>
                </a:solidFill>
                <a:effectLst/>
                <a:latin typeface="Times New Roman" panose="02020603050405020304" charset="0"/>
                <a:ea typeface="仿宋" panose="02010609060101010101" charset="-122"/>
              </a:rPr>
              <a:t>IIIc</a:t>
            </a:r>
            <a:r>
              <a:rPr lang="zh-CN" altLang="en-US" sz="1800" dirty="0">
                <a:solidFill>
                  <a:srgbClr val="000000"/>
                </a:solidFill>
                <a:effectLst/>
                <a:latin typeface="Times New Roman" panose="02020603050405020304" charset="0"/>
                <a:ea typeface="仿宋" panose="02010609060101010101" charset="-122"/>
              </a:rPr>
              <a:t>）本身需要多步合成整体路线仍有复杂性。</a:t>
            </a:r>
          </a:p>
          <a:p>
            <a:pPr algn="just" eaLnBrk="0" hangingPunct="0"/>
            <a:r>
              <a:rPr lang="en-US" altLang="zh-CN" sz="1800" dirty="0">
                <a:solidFill>
                  <a:srgbClr val="000000"/>
                </a:solidFill>
                <a:effectLst/>
                <a:latin typeface="Times New Roman" panose="02020603050405020304" charset="0"/>
                <a:ea typeface="仿宋" panose="02010609060101010101" charset="-122"/>
              </a:rPr>
              <a:t>3. </a:t>
            </a:r>
            <a:r>
              <a:rPr lang="zh-CN" altLang="en-US" sz="1800" dirty="0">
                <a:solidFill>
                  <a:srgbClr val="000000"/>
                </a:solidFill>
                <a:effectLst/>
                <a:latin typeface="Times New Roman" panose="02020603050405020304" charset="0"/>
                <a:ea typeface="仿宋" panose="02010609060101010101" charset="-122"/>
              </a:rPr>
              <a:t>对特定他汀类药物适用性有限</a:t>
            </a:r>
            <a:r>
              <a:rPr lang="zh-CN" altLang="en-US" dirty="0">
                <a:solidFill>
                  <a:srgbClr val="000000"/>
                </a:solidFill>
                <a:latin typeface="Times New Roman" panose="02020603050405020304" charset="0"/>
                <a:ea typeface="仿宋" panose="02010609060101010101" charset="-122"/>
              </a:rPr>
              <a:t>：</a:t>
            </a:r>
            <a:r>
              <a:rPr lang="zh-CN" altLang="en-US" sz="1800" dirty="0">
                <a:solidFill>
                  <a:srgbClr val="000000"/>
                </a:solidFill>
                <a:effectLst/>
                <a:latin typeface="Times New Roman" panose="02020603050405020304" charset="0"/>
                <a:ea typeface="仿宋" panose="02010609060101010101" charset="-122"/>
              </a:rPr>
              <a:t>路线中使用了特定手性胺（</a:t>
            </a:r>
            <a:r>
              <a:rPr lang="en-US" altLang="zh-CN" sz="1800" dirty="0">
                <a:solidFill>
                  <a:srgbClr val="000000"/>
                </a:solidFill>
                <a:effectLst/>
                <a:latin typeface="Times New Roman" panose="02020603050405020304" charset="0"/>
                <a:ea typeface="仿宋" panose="02010609060101010101" charset="-122"/>
              </a:rPr>
              <a:t>(R)-1-</a:t>
            </a:r>
            <a:r>
              <a:rPr lang="zh-CN" altLang="en-US" sz="1800" dirty="0">
                <a:solidFill>
                  <a:srgbClr val="000000"/>
                </a:solidFill>
                <a:effectLst/>
                <a:latin typeface="Times New Roman" panose="02020603050405020304" charset="0"/>
                <a:ea typeface="仿宋" panose="02010609060101010101" charset="-122"/>
              </a:rPr>
              <a:t>苯基乙胺）作为诱导基团，可能不适用于所有他汀类药物的合成。</a:t>
            </a:r>
          </a:p>
          <a:p>
            <a:pPr algn="just" eaLnBrk="0" hangingPunct="0"/>
            <a:r>
              <a:rPr lang="en-US" altLang="zh-CN" sz="1800" dirty="0">
                <a:solidFill>
                  <a:srgbClr val="000000"/>
                </a:solidFill>
                <a:effectLst/>
                <a:latin typeface="Times New Roman" panose="02020603050405020304" charset="0"/>
                <a:ea typeface="仿宋" panose="02010609060101010101" charset="-122"/>
              </a:rPr>
              <a:t>4. Wittig</a:t>
            </a:r>
            <a:r>
              <a:rPr lang="zh-CN" altLang="en-US" sz="1800" dirty="0">
                <a:solidFill>
                  <a:srgbClr val="000000"/>
                </a:solidFill>
                <a:effectLst/>
                <a:latin typeface="Times New Roman" panose="02020603050405020304" charset="0"/>
                <a:ea typeface="仿宋" panose="02010609060101010101" charset="-122"/>
              </a:rPr>
              <a:t>反应选择性依赖底物：虽然收率较高，但</a:t>
            </a:r>
            <a:r>
              <a:rPr lang="en-US" altLang="zh-CN" sz="1800" dirty="0">
                <a:solidFill>
                  <a:srgbClr val="000000"/>
                </a:solidFill>
                <a:effectLst/>
                <a:latin typeface="Times New Roman" panose="02020603050405020304" charset="0"/>
                <a:ea typeface="仿宋" panose="02010609060101010101" charset="-122"/>
              </a:rPr>
              <a:t>Wittig</a:t>
            </a:r>
            <a:r>
              <a:rPr lang="zh-CN" altLang="en-US" sz="1800" dirty="0">
                <a:solidFill>
                  <a:srgbClr val="000000"/>
                </a:solidFill>
                <a:effectLst/>
                <a:latin typeface="Times New Roman" panose="02020603050405020304" charset="0"/>
                <a:ea typeface="仿宋" panose="02010609060101010101" charset="-122"/>
              </a:rPr>
              <a:t>反应的</a:t>
            </a:r>
            <a:r>
              <a:rPr lang="en-US" altLang="zh-CN" sz="1800" dirty="0">
                <a:solidFill>
                  <a:srgbClr val="000000"/>
                </a:solidFill>
                <a:effectLst/>
                <a:latin typeface="Times New Roman" panose="02020603050405020304" charset="0"/>
                <a:ea typeface="仿宋" panose="02010609060101010101" charset="-122"/>
              </a:rPr>
              <a:t>E/Z</a:t>
            </a:r>
            <a:r>
              <a:rPr lang="zh-CN" altLang="en-US" sz="1800" dirty="0">
                <a:solidFill>
                  <a:srgbClr val="000000"/>
                </a:solidFill>
                <a:effectLst/>
                <a:latin typeface="Times New Roman" panose="02020603050405020304" charset="0"/>
                <a:ea typeface="仿宋" panose="02010609060101010101" charset="-122"/>
              </a:rPr>
              <a:t>选择性可能受醛结构和碱影响，需优化条件。</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452717" y="889843"/>
            <a:ext cx="11286565" cy="5078313"/>
          </a:xfrm>
          <a:prstGeom prst="rect">
            <a:avLst/>
          </a:prstGeom>
          <a:noFill/>
        </p:spPr>
        <p:txBody>
          <a:bodyPr wrap="square" rtlCol="0">
            <a:spAutoFit/>
          </a:bodyPr>
          <a:lstStyle/>
          <a:p>
            <a:pPr algn="just"/>
            <a:r>
              <a:rPr lang="zh-CN" altLang="en-US" dirty="0">
                <a:latin typeface="Times New Roman" panose="02020603050405020304" charset="0"/>
                <a:ea typeface="仿宋" panose="02010609060101010101" charset="-122"/>
              </a:rPr>
              <a:t>难点一：如何高效、精准地构建分子中的两个手性中心，以获得单一异构体</a:t>
            </a:r>
            <a:r>
              <a:rPr lang="en-US" altLang="zh-CN" dirty="0">
                <a:latin typeface="Times New Roman" panose="02020603050405020304" charset="0"/>
                <a:ea typeface="仿宋" panose="02010609060101010101" charset="-122"/>
              </a:rPr>
              <a:t>            </a:t>
            </a:r>
          </a:p>
          <a:p>
            <a:pPr algn="just"/>
            <a:r>
              <a:rPr lang="zh-CN" altLang="en-US" dirty="0">
                <a:latin typeface="Times New Roman" panose="02020603050405020304" charset="0"/>
                <a:ea typeface="仿宋" panose="02010609060101010101" charset="-122"/>
              </a:rPr>
              <a:t>解决方案：</a:t>
            </a:r>
            <a:endParaRPr lang="en-US" altLang="zh-CN" dirty="0">
              <a:latin typeface="Times New Roman" panose="02020603050405020304" charset="0"/>
              <a:ea typeface="仿宋" panose="02010609060101010101" charset="-122"/>
            </a:endParaRPr>
          </a:p>
          <a:p>
            <a:pPr algn="just"/>
            <a:r>
              <a:rPr lang="en-US" altLang="zh-CN" dirty="0">
                <a:latin typeface="Times New Roman" panose="02020603050405020304" charset="0"/>
                <a:ea typeface="仿宋" panose="02010609060101010101" charset="-122"/>
              </a:rPr>
              <a:t>1. </a:t>
            </a:r>
            <a:r>
              <a:rPr lang="zh-CN" altLang="en-US" dirty="0">
                <a:latin typeface="Times New Roman" panose="02020603050405020304" charset="0"/>
                <a:ea typeface="仿宋" panose="02010609060101010101" charset="-122"/>
              </a:rPr>
              <a:t>可以引入特定构型的手性诱导基团</a:t>
            </a:r>
            <a:endParaRPr lang="en-US" altLang="zh-CN" dirty="0">
              <a:latin typeface="Times New Roman" panose="02020603050405020304" charset="0"/>
              <a:ea typeface="仿宋" panose="02010609060101010101" charset="-122"/>
            </a:endParaRPr>
          </a:p>
          <a:p>
            <a:pPr algn="just"/>
            <a:r>
              <a:rPr lang="en-US" altLang="zh-CN" dirty="0">
                <a:latin typeface="Times New Roman" panose="02020603050405020304" charset="0"/>
                <a:ea typeface="仿宋" panose="02010609060101010101" charset="-122"/>
              </a:rPr>
              <a:t>2.</a:t>
            </a:r>
            <a:r>
              <a:rPr lang="zh-CN" altLang="en-US" dirty="0">
                <a:latin typeface="Times New Roman" panose="02020603050405020304" charset="0"/>
                <a:ea typeface="仿宋" panose="02010609060101010101" charset="-122"/>
              </a:rPr>
              <a:t>酶催化不对称合成：使用羰基还原酶在非水相或水相中一步构建手性二醇</a:t>
            </a:r>
            <a:endParaRPr lang="en-US" altLang="zh-CN" dirty="0">
              <a:latin typeface="Times New Roman" panose="02020603050405020304" charset="0"/>
              <a:ea typeface="仿宋" panose="02010609060101010101" charset="-122"/>
            </a:endParaRPr>
          </a:p>
          <a:p>
            <a:pPr algn="just"/>
            <a:endParaRPr lang="en-US" altLang="zh-CN" dirty="0">
              <a:latin typeface="Times New Roman" panose="02020603050405020304" charset="0"/>
              <a:ea typeface="仿宋" panose="02010609060101010101" charset="-122"/>
            </a:endParaRPr>
          </a:p>
          <a:p>
            <a:pPr algn="just"/>
            <a:endParaRPr lang="en-US" altLang="zh-CN" dirty="0">
              <a:latin typeface="Times New Roman" panose="02020603050405020304" charset="0"/>
              <a:ea typeface="仿宋" panose="02010609060101010101" charset="-122"/>
            </a:endParaRPr>
          </a:p>
          <a:p>
            <a:pPr algn="just"/>
            <a:endParaRPr lang="en-US" altLang="zh-CN" dirty="0">
              <a:latin typeface="Times New Roman" panose="02020603050405020304" charset="0"/>
              <a:ea typeface="仿宋" panose="02010609060101010101" charset="-122"/>
            </a:endParaRPr>
          </a:p>
          <a:p>
            <a:pPr algn="just"/>
            <a:endParaRPr lang="en-US" altLang="zh-CN" dirty="0">
              <a:latin typeface="Times New Roman" panose="02020603050405020304" charset="0"/>
              <a:ea typeface="仿宋" panose="02010609060101010101" charset="-122"/>
            </a:endParaRPr>
          </a:p>
          <a:p>
            <a:pPr algn="just"/>
            <a:r>
              <a:rPr lang="zh-CN" altLang="en-US" dirty="0">
                <a:latin typeface="Times New Roman" panose="02020603050405020304" charset="0"/>
                <a:ea typeface="仿宋" panose="02010609060101010101" charset="-122"/>
              </a:rPr>
              <a:t>难点二：如何以高立体选择性构建对药效至关重要的</a:t>
            </a:r>
            <a:r>
              <a:rPr lang="en-US" altLang="zh-CN" i="1" dirty="0">
                <a:latin typeface="Times New Roman" panose="02020603050405020304" charset="0"/>
                <a:ea typeface="仿宋" panose="02010609060101010101" charset="-122"/>
              </a:rPr>
              <a:t>E</a:t>
            </a:r>
            <a:r>
              <a:rPr lang="zh-CN" altLang="en-US" dirty="0">
                <a:latin typeface="Times New Roman" panose="02020603050405020304" charset="0"/>
                <a:ea typeface="仿宋" panose="02010609060101010101" charset="-122"/>
              </a:rPr>
              <a:t>式双键              </a:t>
            </a:r>
            <a:endParaRPr lang="en-US" altLang="zh-CN" dirty="0">
              <a:latin typeface="Times New Roman" panose="02020603050405020304" charset="0"/>
              <a:ea typeface="仿宋" panose="02010609060101010101" charset="-122"/>
            </a:endParaRPr>
          </a:p>
          <a:p>
            <a:pPr algn="just"/>
            <a:r>
              <a:rPr lang="zh-CN" altLang="en-US" dirty="0">
                <a:latin typeface="Times New Roman" panose="02020603050405020304" charset="0"/>
                <a:ea typeface="仿宋" panose="02010609060101010101" charset="-122"/>
              </a:rPr>
              <a:t>解决方案：</a:t>
            </a:r>
            <a:endParaRPr lang="en-US" altLang="zh-CN" dirty="0">
              <a:latin typeface="Times New Roman" panose="02020603050405020304" charset="0"/>
              <a:ea typeface="仿宋" panose="02010609060101010101" charset="-122"/>
            </a:endParaRPr>
          </a:p>
          <a:p>
            <a:pPr algn="just"/>
            <a:r>
              <a:rPr lang="en-US" altLang="zh-CN" dirty="0">
                <a:latin typeface="Times New Roman" panose="02020603050405020304" charset="0"/>
                <a:ea typeface="仿宋" panose="02010609060101010101" charset="-122"/>
              </a:rPr>
              <a:t>1.</a:t>
            </a:r>
            <a:r>
              <a:rPr lang="zh-CN" altLang="en-US" dirty="0">
                <a:latin typeface="Times New Roman" panose="02020603050405020304" charset="0"/>
                <a:ea typeface="仿宋" panose="02010609060101010101" charset="-122"/>
              </a:rPr>
              <a:t>优化</a:t>
            </a:r>
            <a:r>
              <a:rPr lang="en-US" altLang="zh-CN" dirty="0">
                <a:latin typeface="Times New Roman" panose="02020603050405020304" charset="0"/>
                <a:ea typeface="仿宋" panose="02010609060101010101" charset="-122"/>
              </a:rPr>
              <a:t>Wittig</a:t>
            </a:r>
            <a:r>
              <a:rPr lang="zh-CN" altLang="en-US" dirty="0">
                <a:latin typeface="Times New Roman" panose="02020603050405020304" charset="0"/>
                <a:ea typeface="仿宋" panose="02010609060101010101" charset="-122"/>
              </a:rPr>
              <a:t>反应条件</a:t>
            </a:r>
            <a:endParaRPr lang="en-US" altLang="zh-CN" dirty="0">
              <a:latin typeface="Times New Roman" panose="02020603050405020304" charset="0"/>
              <a:ea typeface="仿宋" panose="02010609060101010101" charset="-122"/>
            </a:endParaRPr>
          </a:p>
          <a:p>
            <a:pPr algn="just"/>
            <a:r>
              <a:rPr lang="en-US" altLang="zh-CN" dirty="0">
                <a:latin typeface="Times New Roman" panose="02020603050405020304" charset="0"/>
                <a:ea typeface="仿宋" panose="02010609060101010101" charset="-122"/>
              </a:rPr>
              <a:t>2.</a:t>
            </a:r>
            <a:r>
              <a:rPr lang="zh-CN" altLang="en-US" dirty="0">
                <a:latin typeface="Times New Roman" panose="02020603050405020304" charset="0"/>
                <a:ea typeface="仿宋" panose="02010609060101010101" charset="-122"/>
              </a:rPr>
              <a:t>探索不对称催化氢化或过渡金属催化的偶联反应</a:t>
            </a:r>
          </a:p>
          <a:p>
            <a:pPr algn="just"/>
            <a:endParaRPr lang="en-US" altLang="zh-CN" dirty="0">
              <a:latin typeface="Times New Roman" panose="02020603050405020304" charset="0"/>
              <a:ea typeface="仿宋" panose="02010609060101010101" charset="-122"/>
            </a:endParaRPr>
          </a:p>
          <a:p>
            <a:pPr algn="just"/>
            <a:endParaRPr lang="en-US" altLang="zh-CN" dirty="0">
              <a:latin typeface="Times New Roman" panose="02020603050405020304" charset="0"/>
              <a:ea typeface="仿宋" panose="02010609060101010101" charset="-122"/>
            </a:endParaRPr>
          </a:p>
          <a:p>
            <a:pPr algn="just"/>
            <a:endParaRPr lang="en-US" altLang="zh-CN" dirty="0">
              <a:latin typeface="Times New Roman" panose="02020603050405020304" charset="0"/>
              <a:ea typeface="仿宋" panose="02010609060101010101" charset="-122"/>
            </a:endParaRPr>
          </a:p>
          <a:p>
            <a:pPr algn="just"/>
            <a:endParaRPr lang="en-US" altLang="zh-CN" dirty="0">
              <a:latin typeface="Times New Roman" panose="02020603050405020304" charset="0"/>
              <a:ea typeface="仿宋" panose="02010609060101010101" charset="-122"/>
            </a:endParaRPr>
          </a:p>
          <a:p>
            <a:pPr algn="just"/>
            <a:r>
              <a:rPr lang="zh-CN" altLang="en-US" dirty="0">
                <a:latin typeface="Times New Roman" panose="02020603050405020304" charset="0"/>
                <a:ea typeface="仿宋" panose="02010609060101010101" charset="-122"/>
              </a:rPr>
              <a:t>难点二：如何高效率、高纯度和低成本地构建复杂的嘧啶环并引入特定官能团             </a:t>
            </a:r>
            <a:endParaRPr lang="en-US" altLang="zh-CN" dirty="0">
              <a:latin typeface="Times New Roman" panose="02020603050405020304" charset="0"/>
              <a:ea typeface="仿宋" panose="02010609060101010101" charset="-122"/>
            </a:endParaRPr>
          </a:p>
          <a:p>
            <a:pPr algn="just"/>
            <a:r>
              <a:rPr lang="zh-CN" altLang="en-US" dirty="0">
                <a:latin typeface="Times New Roman" panose="02020603050405020304" charset="0"/>
                <a:ea typeface="仿宋" panose="02010609060101010101" charset="-122"/>
              </a:rPr>
              <a:t>解决方案：利用一锅法的</a:t>
            </a:r>
            <a:r>
              <a:rPr lang="en-US" altLang="zh-CN" dirty="0" err="1">
                <a:latin typeface="Times New Roman" panose="02020603050405020304" charset="0"/>
                <a:ea typeface="仿宋" panose="02010609060101010101" charset="-122"/>
              </a:rPr>
              <a:t>Biginelli</a:t>
            </a:r>
            <a:r>
              <a:rPr lang="zh-CN" altLang="en-US" dirty="0">
                <a:latin typeface="Times New Roman" panose="02020603050405020304" charset="0"/>
                <a:ea typeface="仿宋" panose="02010609060101010101" charset="-122"/>
              </a:rPr>
              <a:t>多组分缩合反应，优化反应试剂与催化剂</a:t>
            </a:r>
            <a:endParaRPr lang="en-US" altLang="zh-CN" dirty="0">
              <a:latin typeface="Times New Roman" panose="02020603050405020304" charset="0"/>
              <a:ea typeface="仿宋" panose="02010609060101010101" charset="-122"/>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对象 3"/>
          <p:cNvGraphicFramePr>
            <a:graphicFrameLocks noChangeAspect="1"/>
          </p:cNvGraphicFramePr>
          <p:nvPr/>
        </p:nvGraphicFramePr>
        <p:xfrm>
          <a:off x="3854332" y="1335536"/>
          <a:ext cx="3668431" cy="3959944"/>
        </p:xfrm>
        <a:graphic>
          <a:graphicData uri="http://schemas.openxmlformats.org/presentationml/2006/ole">
            <mc:AlternateContent xmlns:mc="http://schemas.openxmlformats.org/markup-compatibility/2006">
              <mc:Choice xmlns:v="urn:schemas-microsoft-com:vml" Requires="v">
                <p:oleObj spid="_x0000_s66564" name="CS ChemDraw Drawing" r:id="rId3" imgW="1564005" imgH="1689100" progId="ChemDraw.Document.6.0">
                  <p:embed/>
                </p:oleObj>
              </mc:Choice>
              <mc:Fallback>
                <p:oleObj name="CS ChemDraw Drawing" r:id="rId3" imgW="1564005" imgH="1689100" progId="ChemDraw.Document.6.0">
                  <p:embed/>
                  <p:pic>
                    <p:nvPicPr>
                      <p:cNvPr id="4" name="对象 3"/>
                      <p:cNvPicPr/>
                      <p:nvPr/>
                    </p:nvPicPr>
                    <p:blipFill>
                      <a:blip r:embed="rId4"/>
                      <a:stretch>
                        <a:fillRect/>
                      </a:stretch>
                    </p:blipFill>
                    <p:spPr>
                      <a:xfrm>
                        <a:off x="3854332" y="1335536"/>
                        <a:ext cx="3668431" cy="3959944"/>
                      </a:xfrm>
                      <a:prstGeom prst="rect">
                        <a:avLst/>
                      </a:prstGeom>
                    </p:spPr>
                  </p:pic>
                </p:oleObj>
              </mc:Fallback>
            </mc:AlternateContent>
          </a:graphicData>
        </a:graphic>
      </p:graphicFrame>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89646" y="1720902"/>
            <a:ext cx="7954684" cy="1477328"/>
          </a:xfrm>
          <a:prstGeom prst="rect">
            <a:avLst/>
          </a:prstGeom>
          <a:noFill/>
        </p:spPr>
        <p:txBody>
          <a:bodyPr wrap="square">
            <a:spAutoFit/>
          </a:bodyPr>
          <a:lstStyle/>
          <a:p>
            <a:pPr indent="457200" algn="just"/>
            <a:r>
              <a:rPr lang="zh-CN" altLang="en-US" dirty="0">
                <a:latin typeface="Times New Roman" panose="02020603050405020304" charset="0"/>
                <a:ea typeface="宋体" panose="02010600030101010101" pitchFamily="2" charset="-122"/>
              </a:rPr>
              <a:t>市场规模和增长：</a:t>
            </a:r>
            <a:r>
              <a:rPr lang="en-US" altLang="zh-CN" dirty="0">
                <a:latin typeface="Times New Roman" panose="02020603050405020304" charset="0"/>
                <a:ea typeface="宋体" panose="02010600030101010101" pitchFamily="2" charset="-122"/>
              </a:rPr>
              <a:t>2026 </a:t>
            </a:r>
            <a:r>
              <a:rPr lang="zh-CN" altLang="en-US" dirty="0">
                <a:latin typeface="Times New Roman" panose="02020603050405020304" charset="0"/>
                <a:ea typeface="宋体" panose="02010600030101010101" pitchFamily="2" charset="-122"/>
              </a:rPr>
              <a:t>年价值 </a:t>
            </a:r>
            <a:r>
              <a:rPr lang="en-US" altLang="zh-CN" dirty="0">
                <a:latin typeface="Times New Roman" panose="02020603050405020304" charset="0"/>
                <a:ea typeface="宋体" panose="02010600030101010101" pitchFamily="2" charset="-122"/>
              </a:rPr>
              <a:t>74 </a:t>
            </a:r>
            <a:r>
              <a:rPr lang="zh-CN" altLang="en-US" dirty="0">
                <a:latin typeface="Times New Roman" panose="02020603050405020304" charset="0"/>
                <a:ea typeface="宋体" panose="02010600030101010101" pitchFamily="2" charset="-122"/>
              </a:rPr>
              <a:t>亿美元，预计到 </a:t>
            </a:r>
            <a:r>
              <a:rPr lang="en-US" altLang="zh-CN" dirty="0">
                <a:latin typeface="Times New Roman" panose="02020603050405020304" charset="0"/>
                <a:ea typeface="宋体" panose="02010600030101010101" pitchFamily="2" charset="-122"/>
              </a:rPr>
              <a:t>2035 </a:t>
            </a:r>
            <a:r>
              <a:rPr lang="zh-CN" altLang="en-US" dirty="0">
                <a:latin typeface="Times New Roman" panose="02020603050405020304" charset="0"/>
                <a:ea typeface="宋体" panose="02010600030101010101" pitchFamily="2" charset="-122"/>
              </a:rPr>
              <a:t>年将达到 </a:t>
            </a:r>
            <a:r>
              <a:rPr lang="en-US" altLang="zh-CN" dirty="0">
                <a:latin typeface="Times New Roman" panose="02020603050405020304" charset="0"/>
                <a:ea typeface="宋体" panose="02010600030101010101" pitchFamily="2" charset="-122"/>
              </a:rPr>
              <a:t>116 </a:t>
            </a:r>
            <a:r>
              <a:rPr lang="zh-CN" altLang="en-US" dirty="0">
                <a:latin typeface="Times New Roman" panose="02020603050405020304" charset="0"/>
                <a:ea typeface="宋体" panose="02010600030101010101" pitchFamily="2" charset="-122"/>
              </a:rPr>
              <a:t>亿美元，复合年增长率为 </a:t>
            </a:r>
            <a:r>
              <a:rPr lang="en-US" altLang="zh-CN" dirty="0">
                <a:latin typeface="Times New Roman" panose="02020603050405020304" charset="0"/>
                <a:ea typeface="宋体" panose="02010600030101010101" pitchFamily="2" charset="-122"/>
              </a:rPr>
              <a:t>5.13%</a:t>
            </a:r>
            <a:r>
              <a:rPr lang="zh-CN" altLang="en-US" dirty="0">
                <a:latin typeface="Times New Roman" panose="02020603050405020304" charset="0"/>
                <a:ea typeface="宋体" panose="02010600030101010101" pitchFamily="2" charset="-122"/>
              </a:rPr>
              <a:t>。</a:t>
            </a:r>
            <a:endParaRPr lang="en-US" altLang="zh-CN" dirty="0">
              <a:latin typeface="Times New Roman" panose="02020603050405020304" charset="0"/>
              <a:ea typeface="宋体" panose="02010600030101010101" pitchFamily="2" charset="-122"/>
            </a:endParaRPr>
          </a:p>
          <a:p>
            <a:pPr indent="457200" algn="just"/>
            <a:r>
              <a:rPr lang="zh-CN" altLang="en-US" dirty="0">
                <a:latin typeface="Times New Roman" panose="02020603050405020304" charset="0"/>
                <a:ea typeface="宋体" panose="02010600030101010101" pitchFamily="2" charset="-122"/>
              </a:rPr>
              <a:t>主要市场驱动因素：瑞舒伐他汀是最有效的降脂药之一，心血管疾病患病率的不断上升，特别是老年人的患病率正在推动心血管疾病的需求。</a:t>
            </a:r>
            <a:endParaRPr lang="en-US" altLang="zh-CN" dirty="0">
              <a:latin typeface="Times New Roman" panose="02020603050405020304" charset="0"/>
              <a:ea typeface="宋体" panose="02010600030101010101" pitchFamily="2" charset="-122"/>
            </a:endParaRPr>
          </a:p>
          <a:p>
            <a:endParaRPr lang="zh-CN" altLang="en-US" dirty="0"/>
          </a:p>
        </p:txBody>
      </p:sp>
      <p:pic>
        <p:nvPicPr>
          <p:cNvPr id="7" name="图片 6"/>
          <p:cNvPicPr>
            <a:picLocks noChangeAspect="1"/>
          </p:cNvPicPr>
          <p:nvPr/>
        </p:nvPicPr>
        <p:blipFill>
          <a:blip r:embed="rId3"/>
          <a:stretch>
            <a:fillRect/>
          </a:stretch>
        </p:blipFill>
        <p:spPr>
          <a:xfrm>
            <a:off x="251013" y="3429000"/>
            <a:ext cx="7279342" cy="1264487"/>
          </a:xfrm>
          <a:prstGeom prst="rect">
            <a:avLst/>
          </a:prstGeom>
        </p:spPr>
      </p:pic>
      <p:graphicFrame>
        <p:nvGraphicFramePr>
          <p:cNvPr id="8" name="对象 7"/>
          <p:cNvGraphicFramePr>
            <a:graphicFrameLocks noChangeAspect="1"/>
          </p:cNvGraphicFramePr>
          <p:nvPr/>
        </p:nvGraphicFramePr>
        <p:xfrm>
          <a:off x="8175811" y="1275772"/>
          <a:ext cx="3418984" cy="3690675"/>
        </p:xfrm>
        <a:graphic>
          <a:graphicData uri="http://schemas.openxmlformats.org/presentationml/2006/ole">
            <mc:AlternateContent xmlns:mc="http://schemas.openxmlformats.org/markup-compatibility/2006">
              <mc:Choice xmlns:v="urn:schemas-microsoft-com:vml" Requires="v">
                <p:oleObj spid="_x0000_s67588" name="CS ChemDraw Drawing" r:id="rId4" imgW="1564005" imgH="1689100" progId="ChemDraw.Document.6.0">
                  <p:embed/>
                </p:oleObj>
              </mc:Choice>
              <mc:Fallback>
                <p:oleObj name="CS ChemDraw Drawing" r:id="rId4" imgW="1564005" imgH="1689100" progId="ChemDraw.Document.6.0">
                  <p:embed/>
                  <p:pic>
                    <p:nvPicPr>
                      <p:cNvPr id="8" name="对象 7"/>
                      <p:cNvPicPr/>
                      <p:nvPr/>
                    </p:nvPicPr>
                    <p:blipFill>
                      <a:blip r:embed="rId5"/>
                      <a:stretch>
                        <a:fillRect/>
                      </a:stretch>
                    </p:blipFill>
                    <p:spPr>
                      <a:xfrm>
                        <a:off x="8175811" y="1275772"/>
                        <a:ext cx="3418984" cy="3690675"/>
                      </a:xfrm>
                      <a:prstGeom prst="rect">
                        <a:avLst/>
                      </a:prstGeom>
                    </p:spPr>
                  </p:pic>
                </p:oleObj>
              </mc:Fallback>
            </mc:AlternateContent>
          </a:graphicData>
        </a:graphic>
      </p:graphicFrame>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nvGraphicFramePr>
        <p:xfrm>
          <a:off x="1399267" y="363695"/>
          <a:ext cx="8582648" cy="5759950"/>
        </p:xfrm>
        <a:graphic>
          <a:graphicData uri="http://schemas.openxmlformats.org/presentationml/2006/ole">
            <mc:AlternateContent xmlns:mc="http://schemas.openxmlformats.org/markup-compatibility/2006">
              <mc:Choice xmlns:v="urn:schemas-microsoft-com:vml" Requires="v">
                <p:oleObj spid="_x0000_s68612" name="CS ChemDraw Drawing" r:id="rId3" imgW="6042025" imgH="4058285" progId="ChemDraw.Document.6.0">
                  <p:embed/>
                </p:oleObj>
              </mc:Choice>
              <mc:Fallback>
                <p:oleObj name="CS ChemDraw Drawing" r:id="rId3" imgW="6042025" imgH="4058285" progId="ChemDraw.Document.6.0">
                  <p:embed/>
                  <p:pic>
                    <p:nvPicPr>
                      <p:cNvPr id="2" name="对象 1"/>
                      <p:cNvPicPr/>
                      <p:nvPr/>
                    </p:nvPicPr>
                    <p:blipFill>
                      <a:blip r:embed="rId4"/>
                      <a:stretch>
                        <a:fillRect/>
                      </a:stretch>
                    </p:blipFill>
                    <p:spPr>
                      <a:xfrm>
                        <a:off x="1399267" y="363695"/>
                        <a:ext cx="8582648" cy="5759950"/>
                      </a:xfrm>
                      <a:prstGeom prst="rect">
                        <a:avLst/>
                      </a:prstGeom>
                    </p:spPr>
                  </p:pic>
                </p:oleObj>
              </mc:Fallback>
            </mc:AlternateContent>
          </a:graphicData>
        </a:graphic>
      </p:graphicFrame>
      <p:sp>
        <p:nvSpPr>
          <p:cNvPr id="4" name="文本框 3"/>
          <p:cNvSpPr txBox="1"/>
          <p:nvPr/>
        </p:nvSpPr>
        <p:spPr>
          <a:xfrm>
            <a:off x="782917" y="6123645"/>
            <a:ext cx="10632141" cy="369332"/>
          </a:xfrm>
          <a:prstGeom prst="rect">
            <a:avLst/>
          </a:prstGeom>
          <a:noFill/>
        </p:spPr>
        <p:txBody>
          <a:bodyPr wrap="square">
            <a:spAutoFit/>
          </a:bodyPr>
          <a:lstStyle/>
          <a:p>
            <a:r>
              <a:rPr lang="en-US" altLang="zh-CN" b="0" i="0" dirty="0">
                <a:solidFill>
                  <a:srgbClr val="333333"/>
                </a:solidFill>
                <a:effectLst/>
                <a:latin typeface="Times New Roman" panose="02020603050405020304" charset="0"/>
                <a:ea typeface="宋体" panose="02010600030101010101" pitchFamily="2" charset="-122"/>
              </a:rPr>
              <a:t>[1]</a:t>
            </a:r>
            <a:r>
              <a:rPr lang="zh-CN" altLang="en-US" b="0" i="0" dirty="0">
                <a:solidFill>
                  <a:srgbClr val="333333"/>
                </a:solidFill>
                <a:effectLst/>
                <a:latin typeface="Times New Roman" panose="02020603050405020304" charset="0"/>
                <a:ea typeface="宋体" panose="02010600030101010101" pitchFamily="2" charset="-122"/>
              </a:rPr>
              <a:t>秦华利</a:t>
            </a:r>
            <a:r>
              <a:rPr lang="en-US" altLang="zh-CN" b="0" i="0" dirty="0">
                <a:solidFill>
                  <a:srgbClr val="333333"/>
                </a:solidFill>
                <a:effectLst/>
                <a:latin typeface="Times New Roman" panose="02020603050405020304" charset="0"/>
                <a:ea typeface="宋体" panose="02010600030101010101" pitchFamily="2" charset="-122"/>
              </a:rPr>
              <a:t>, </a:t>
            </a:r>
            <a:r>
              <a:rPr lang="zh-CN" altLang="en-US" b="0" i="0" dirty="0">
                <a:solidFill>
                  <a:srgbClr val="333333"/>
                </a:solidFill>
                <a:effectLst/>
                <a:latin typeface="Times New Roman" panose="02020603050405020304" charset="0"/>
                <a:ea typeface="宋体" panose="02010600030101010101" pitchFamily="2" charset="-122"/>
              </a:rPr>
              <a:t>冯康</a:t>
            </a:r>
            <a:r>
              <a:rPr lang="en-US" altLang="zh-CN" b="0" i="0" dirty="0">
                <a:solidFill>
                  <a:srgbClr val="333333"/>
                </a:solidFill>
                <a:effectLst/>
                <a:latin typeface="Times New Roman" panose="02020603050405020304" charset="0"/>
                <a:ea typeface="宋体" panose="02010600030101010101" pitchFamily="2" charset="-122"/>
              </a:rPr>
              <a:t>, </a:t>
            </a:r>
            <a:r>
              <a:rPr lang="zh-CN" altLang="en-US" b="0" i="0" dirty="0">
                <a:solidFill>
                  <a:srgbClr val="333333"/>
                </a:solidFill>
                <a:effectLst/>
                <a:latin typeface="Times New Roman" panose="02020603050405020304" charset="0"/>
                <a:ea typeface="宋体" panose="02010600030101010101" pitchFamily="2" charset="-122"/>
              </a:rPr>
              <a:t>范晓庆</a:t>
            </a:r>
            <a:r>
              <a:rPr lang="en-US" altLang="zh-CN" b="0" i="0" dirty="0">
                <a:solidFill>
                  <a:srgbClr val="333333"/>
                </a:solidFill>
                <a:effectLst/>
                <a:latin typeface="Times New Roman" panose="02020603050405020304" charset="0"/>
                <a:ea typeface="宋体" panose="02010600030101010101" pitchFamily="2" charset="-122"/>
              </a:rPr>
              <a:t>. </a:t>
            </a:r>
            <a:r>
              <a:rPr lang="zh-CN" altLang="en-US" b="0" i="0" dirty="0">
                <a:solidFill>
                  <a:srgbClr val="333333"/>
                </a:solidFill>
                <a:effectLst/>
                <a:latin typeface="Times New Roman" panose="02020603050405020304" charset="0"/>
                <a:ea typeface="宋体" panose="02010600030101010101" pitchFamily="2" charset="-122"/>
              </a:rPr>
              <a:t>一种瑞舒伐他汀的合成工艺方法</a:t>
            </a:r>
            <a:r>
              <a:rPr lang="en-US" altLang="zh-CN" b="0" i="0" dirty="0">
                <a:solidFill>
                  <a:srgbClr val="333333"/>
                </a:solidFill>
                <a:effectLst/>
                <a:latin typeface="Times New Roman" panose="02020603050405020304" charset="0"/>
                <a:ea typeface="宋体" panose="02010600030101010101" pitchFamily="2" charset="-122"/>
              </a:rPr>
              <a:t>: </a:t>
            </a:r>
            <a:r>
              <a:rPr lang="zh-CN" altLang="en-US" b="0" i="0" dirty="0">
                <a:solidFill>
                  <a:srgbClr val="333333"/>
                </a:solidFill>
                <a:effectLst/>
                <a:latin typeface="Times New Roman" panose="02020603050405020304" charset="0"/>
                <a:ea typeface="宋体" panose="02010600030101010101" pitchFamily="2" charset="-122"/>
              </a:rPr>
              <a:t>浙江省</a:t>
            </a:r>
            <a:r>
              <a:rPr lang="en-US" altLang="zh-CN" b="0" i="0" dirty="0">
                <a:solidFill>
                  <a:srgbClr val="333333"/>
                </a:solidFill>
                <a:effectLst/>
                <a:latin typeface="Times New Roman" panose="02020603050405020304" charset="0"/>
                <a:ea typeface="宋体" panose="02010600030101010101" pitchFamily="2" charset="-122"/>
              </a:rPr>
              <a:t>, CN113979951A[P]. 2022-01-28</a:t>
            </a:r>
            <a:endParaRPr lang="zh-CN" altLang="en-US" dirty="0">
              <a:latin typeface="Times New Roman" panose="02020603050405020304" charset="0"/>
              <a:ea typeface="宋体" panose="02010600030101010101" pitchFamily="2" charset="-122"/>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0" y="1150421"/>
            <a:ext cx="12059728" cy="1754326"/>
          </a:xfrm>
          <a:prstGeom prst="rect">
            <a:avLst/>
          </a:prstGeom>
          <a:noFill/>
        </p:spPr>
        <p:txBody>
          <a:bodyPr wrap="square" rtlCol="0">
            <a:spAutoFit/>
          </a:bodyPr>
          <a:lstStyle/>
          <a:p>
            <a:pPr marL="285750" indent="-285750">
              <a:buFont typeface="Wingdings" panose="05000000000000000000" pitchFamily="2" charset="2"/>
              <a:buChar char="p"/>
            </a:pPr>
            <a:r>
              <a:rPr lang="zh-CN" altLang="en-US" dirty="0">
                <a:latin typeface="Times New Roman" panose="02020603050405020304" charset="0"/>
                <a:ea typeface="宋体" panose="02010600030101010101" pitchFamily="2" charset="-122"/>
              </a:rPr>
              <a:t>流程简洁，工艺操作简便，中间体易纯化，总收率可达 </a:t>
            </a:r>
            <a:r>
              <a:rPr lang="en-US" altLang="zh-CN" dirty="0">
                <a:latin typeface="Times New Roman" panose="02020603050405020304" charset="0"/>
                <a:ea typeface="宋体" panose="02010600030101010101" pitchFamily="2" charset="-122"/>
              </a:rPr>
              <a:t>32.2%</a:t>
            </a:r>
            <a:r>
              <a:rPr lang="zh-CN" altLang="en-US" dirty="0">
                <a:latin typeface="Times New Roman" panose="02020603050405020304" charset="0"/>
                <a:ea typeface="宋体" panose="02010600030101010101" pitchFamily="2" charset="-122"/>
              </a:rPr>
              <a:t>，生产成本低廉，适合中试放大及工业化规模化生产。</a:t>
            </a:r>
            <a:endParaRPr lang="en-US" altLang="zh-CN" dirty="0">
              <a:latin typeface="Times New Roman" panose="02020603050405020304" charset="0"/>
              <a:ea typeface="宋体" panose="02010600030101010101" pitchFamily="2" charset="-122"/>
            </a:endParaRPr>
          </a:p>
          <a:p>
            <a:pPr marL="285750" indent="-285750">
              <a:buFont typeface="Wingdings" panose="05000000000000000000" pitchFamily="2" charset="2"/>
              <a:buChar char="p"/>
            </a:pPr>
            <a:r>
              <a:rPr lang="zh-CN" altLang="en-US" dirty="0">
                <a:latin typeface="Times New Roman" panose="02020603050405020304" charset="0"/>
                <a:ea typeface="宋体" panose="02010600030101010101" pitchFamily="2" charset="-122"/>
              </a:rPr>
              <a:t>本工艺对维悌希反应进行条件优化，不再采用超低温工况与高风险超强碱试剂，替换为温和且安全性更高的反应条件，生产安全性显著提升。</a:t>
            </a:r>
            <a:endParaRPr lang="en-US" altLang="zh-CN" dirty="0">
              <a:latin typeface="Times New Roman" panose="02020603050405020304" charset="0"/>
              <a:ea typeface="宋体" panose="02010600030101010101" pitchFamily="2" charset="-122"/>
            </a:endParaRPr>
          </a:p>
          <a:p>
            <a:pPr marL="285750" indent="-285750">
              <a:buFont typeface="Wingdings" panose="05000000000000000000" pitchFamily="2" charset="2"/>
              <a:buChar char="p"/>
            </a:pPr>
            <a:r>
              <a:rPr lang="zh-CN" altLang="en-US" dirty="0">
                <a:latin typeface="Times New Roman" panose="02020603050405020304" charset="0"/>
                <a:ea typeface="宋体" panose="02010600030101010101" pitchFamily="2" charset="-122"/>
              </a:rPr>
              <a:t>合成路径步骤精简，所需原辅材料易得、经济性好，反应收率优异，中间体质量稳定可控。生产工艺中大部分溶剂可回收循环套用，固体废弃物产生量少，有效减少了三废排放，环境友好性更强。</a:t>
            </a:r>
            <a:endParaRPr lang="en-US" altLang="zh-CN" dirty="0">
              <a:latin typeface="Times New Roman" panose="02020603050405020304" charset="0"/>
              <a:ea typeface="宋体" panose="02010600030101010101" pitchFamily="2" charset="-122"/>
            </a:endParaRPr>
          </a:p>
          <a:p>
            <a:endParaRPr lang="zh-CN" altLang="en-US" dirty="0"/>
          </a:p>
        </p:txBody>
      </p:sp>
      <p:sp>
        <p:nvSpPr>
          <p:cNvPr id="5" name="文本框 4"/>
          <p:cNvSpPr txBox="1"/>
          <p:nvPr/>
        </p:nvSpPr>
        <p:spPr>
          <a:xfrm>
            <a:off x="197224" y="609601"/>
            <a:ext cx="803425" cy="461665"/>
          </a:xfrm>
          <a:prstGeom prst="rect">
            <a:avLst/>
          </a:prstGeom>
          <a:noFill/>
        </p:spPr>
        <p:txBody>
          <a:bodyPr wrap="none" rtlCol="0">
            <a:spAutoFit/>
          </a:bodyPr>
          <a:lstStyle/>
          <a:p>
            <a:r>
              <a:rPr lang="zh-CN" altLang="en-US" sz="2400" b="1" dirty="0">
                <a:latin typeface="宋体" panose="02010600030101010101" pitchFamily="2" charset="-122"/>
                <a:ea typeface="宋体" panose="02010600030101010101" pitchFamily="2" charset="-122"/>
              </a:rPr>
              <a:t>优点</a:t>
            </a:r>
          </a:p>
        </p:txBody>
      </p:sp>
      <p:sp>
        <p:nvSpPr>
          <p:cNvPr id="6" name="文本框 5"/>
          <p:cNvSpPr txBox="1"/>
          <p:nvPr/>
        </p:nvSpPr>
        <p:spPr>
          <a:xfrm>
            <a:off x="197223" y="3429000"/>
            <a:ext cx="803425" cy="461665"/>
          </a:xfrm>
          <a:prstGeom prst="rect">
            <a:avLst/>
          </a:prstGeom>
          <a:noFill/>
        </p:spPr>
        <p:txBody>
          <a:bodyPr wrap="none" rtlCol="0">
            <a:spAutoFit/>
          </a:bodyPr>
          <a:lstStyle/>
          <a:p>
            <a:r>
              <a:rPr lang="zh-CN" altLang="en-US" sz="2400" b="1" dirty="0">
                <a:latin typeface="宋体" panose="02010600030101010101" pitchFamily="2" charset="-122"/>
                <a:ea typeface="宋体" panose="02010600030101010101" pitchFamily="2" charset="-122"/>
              </a:rPr>
              <a:t>缺点</a:t>
            </a:r>
          </a:p>
        </p:txBody>
      </p:sp>
      <p:sp>
        <p:nvSpPr>
          <p:cNvPr id="7" name="文本框 6"/>
          <p:cNvSpPr txBox="1"/>
          <p:nvPr/>
        </p:nvSpPr>
        <p:spPr>
          <a:xfrm>
            <a:off x="0" y="4004186"/>
            <a:ext cx="12059728" cy="2031325"/>
          </a:xfrm>
          <a:prstGeom prst="rect">
            <a:avLst/>
          </a:prstGeom>
          <a:noFill/>
        </p:spPr>
        <p:txBody>
          <a:bodyPr wrap="square" rtlCol="0">
            <a:spAutoFit/>
          </a:bodyPr>
          <a:lstStyle/>
          <a:p>
            <a:pPr marL="285750" indent="-285750">
              <a:buFont typeface="Wingdings" panose="05000000000000000000" pitchFamily="2" charset="2"/>
              <a:buChar char="p"/>
            </a:pPr>
            <a:r>
              <a:rPr lang="zh-CN" altLang="en-US" dirty="0">
                <a:latin typeface="Times New Roman" panose="02020603050405020304" charset="0"/>
                <a:ea typeface="宋体" panose="02010600030101010101" pitchFamily="2" charset="-122"/>
              </a:rPr>
              <a:t>​​总收率仍有提升空间​​：例如，成钙盐反应的收率为</a:t>
            </a:r>
            <a:r>
              <a:rPr lang="en-US" altLang="zh-CN" dirty="0">
                <a:latin typeface="Times New Roman" panose="02020603050405020304" charset="0"/>
                <a:ea typeface="宋体" panose="02010600030101010101" pitchFamily="2" charset="-122"/>
              </a:rPr>
              <a:t>70%</a:t>
            </a:r>
            <a:r>
              <a:rPr lang="zh-CN" altLang="en-US" dirty="0">
                <a:latin typeface="Times New Roman" panose="02020603050405020304" charset="0"/>
                <a:ea typeface="宋体" panose="02010600030101010101" pitchFamily="2" charset="-122"/>
              </a:rPr>
              <a:t>，这可能是影响总收率的一个环节。</a:t>
            </a:r>
          </a:p>
          <a:p>
            <a:pPr marL="285750" indent="-285750">
              <a:buFont typeface="Wingdings" panose="05000000000000000000" pitchFamily="2" charset="2"/>
              <a:buChar char="p"/>
            </a:pPr>
            <a:r>
              <a:rPr lang="zh-CN" altLang="en-US" dirty="0">
                <a:latin typeface="Times New Roman" panose="02020603050405020304" charset="0"/>
                <a:ea typeface="宋体" panose="02010600030101010101" pitchFamily="2" charset="-122"/>
              </a:rPr>
              <a:t>​​</a:t>
            </a:r>
            <a:r>
              <a:rPr lang="en-US" altLang="zh-CN" dirty="0">
                <a:latin typeface="Times New Roman" panose="02020603050405020304" charset="0"/>
                <a:ea typeface="宋体" panose="02010600030101010101" pitchFamily="2" charset="-122"/>
              </a:rPr>
              <a:t>Wittig</a:t>
            </a:r>
            <a:r>
              <a:rPr lang="zh-CN" altLang="en-US" dirty="0">
                <a:latin typeface="Times New Roman" panose="02020603050405020304" charset="0"/>
                <a:ea typeface="宋体" panose="02010600030101010101" pitchFamily="2" charset="-122"/>
              </a:rPr>
              <a:t>反应的</a:t>
            </a:r>
            <a:r>
              <a:rPr lang="en-US" altLang="zh-CN" dirty="0">
                <a:latin typeface="Times New Roman" panose="02020603050405020304" charset="0"/>
                <a:ea typeface="宋体" panose="02010600030101010101" pitchFamily="2" charset="-122"/>
              </a:rPr>
              <a:t>E/Z</a:t>
            </a:r>
            <a:r>
              <a:rPr lang="zh-CN" altLang="en-US" dirty="0">
                <a:latin typeface="Times New Roman" panose="02020603050405020304" charset="0"/>
                <a:ea typeface="宋体" panose="02010600030101010101" pitchFamily="2" charset="-122"/>
              </a:rPr>
              <a:t>选择性未明确提及具体数值​​：本专利虽然改进了</a:t>
            </a:r>
            <a:r>
              <a:rPr lang="en-US" altLang="zh-CN" dirty="0">
                <a:latin typeface="Times New Roman" panose="02020603050405020304" charset="0"/>
                <a:ea typeface="宋体" panose="02010600030101010101" pitchFamily="2" charset="-122"/>
              </a:rPr>
              <a:t>Wittig</a:t>
            </a:r>
            <a:r>
              <a:rPr lang="zh-CN" altLang="en-US" dirty="0">
                <a:latin typeface="Times New Roman" panose="02020603050405020304" charset="0"/>
                <a:ea typeface="宋体" panose="02010600030101010101" pitchFamily="2" charset="-122"/>
              </a:rPr>
              <a:t>反应条件，但未明确给出其</a:t>
            </a:r>
            <a:r>
              <a:rPr lang="en-US" altLang="zh-CN" dirty="0">
                <a:latin typeface="Times New Roman" panose="02020603050405020304" charset="0"/>
                <a:ea typeface="宋体" panose="02010600030101010101" pitchFamily="2" charset="-122"/>
              </a:rPr>
              <a:t>E/Z</a:t>
            </a:r>
            <a:r>
              <a:rPr lang="zh-CN" altLang="en-US" dirty="0">
                <a:latin typeface="Times New Roman" panose="02020603050405020304" charset="0"/>
                <a:ea typeface="宋体" panose="02010600030101010101" pitchFamily="2" charset="-122"/>
              </a:rPr>
              <a:t>选择性的具体数据，这对于最终产品纯度和后续分离可能仍是考量因素。</a:t>
            </a:r>
          </a:p>
          <a:p>
            <a:pPr marL="285750" indent="-285750">
              <a:buFont typeface="Wingdings" panose="05000000000000000000" pitchFamily="2" charset="2"/>
              <a:buChar char="p"/>
            </a:pPr>
            <a:r>
              <a:rPr lang="zh-CN" altLang="en-US" dirty="0">
                <a:latin typeface="Times New Roman" panose="02020603050405020304" charset="0"/>
                <a:ea typeface="宋体" panose="02010600030101010101" pitchFamily="2" charset="-122"/>
              </a:rPr>
              <a:t>​​部分反应条件仍需优化​​：例如，</a:t>
            </a:r>
            <a:r>
              <a:rPr lang="en-US" altLang="zh-CN" dirty="0">
                <a:latin typeface="Times New Roman" panose="02020603050405020304" charset="0"/>
                <a:ea typeface="宋体" panose="02010600030101010101" pitchFamily="2" charset="-122"/>
              </a:rPr>
              <a:t>Wittig</a:t>
            </a:r>
            <a:r>
              <a:rPr lang="zh-CN" altLang="en-US" dirty="0">
                <a:latin typeface="Times New Roman" panose="02020603050405020304" charset="0"/>
                <a:ea typeface="宋体" panose="02010600030101010101" pitchFamily="2" charset="-122"/>
              </a:rPr>
              <a:t>缩合反应“搅拌反应过夜”，这可能意味着反应时间较长，不利于提高生产效率。</a:t>
            </a:r>
          </a:p>
          <a:p>
            <a:pPr marL="285750" indent="-285750">
              <a:buFont typeface="Wingdings" panose="05000000000000000000" pitchFamily="2" charset="2"/>
              <a:buChar char="p"/>
            </a:pPr>
            <a:r>
              <a:rPr lang="zh-CN" altLang="en-US" dirty="0">
                <a:latin typeface="Times New Roman" panose="02020603050405020304" charset="0"/>
                <a:ea typeface="宋体" panose="02010600030101010101" pitchFamily="2" charset="-122"/>
              </a:rPr>
              <a:t>​​对设备的要求​​：虽然避免了超低温和超强碱，但仍涉及氮气保护、减压蒸馏、重结晶等操作，对设备和操作人员仍有一定要求。</a:t>
            </a:r>
            <a:endParaRPr lang="zh-CN" altLang="en-US"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0" y="852455"/>
            <a:ext cx="12059728" cy="5153090"/>
            <a:chOff x="-65346" y="301762"/>
            <a:chExt cx="12059728" cy="5153090"/>
          </a:xfrm>
        </p:grpSpPr>
        <p:sp>
          <p:nvSpPr>
            <p:cNvPr id="3" name="文本框 2"/>
            <p:cNvSpPr txBox="1"/>
            <p:nvPr/>
          </p:nvSpPr>
          <p:spPr>
            <a:xfrm>
              <a:off x="-65346" y="301762"/>
              <a:ext cx="12059728" cy="1754326"/>
            </a:xfrm>
            <a:prstGeom prst="rect">
              <a:avLst/>
            </a:prstGeom>
            <a:noFill/>
          </p:spPr>
          <p:txBody>
            <a:bodyPr wrap="square" rtlCol="0">
              <a:spAutoFit/>
            </a:bodyPr>
            <a:lstStyle/>
            <a:p>
              <a:pPr marL="285750" indent="-285750">
                <a:buFont typeface="Wingdings" panose="05000000000000000000" pitchFamily="2" charset="2"/>
                <a:buChar char="p"/>
              </a:pPr>
              <a:r>
                <a:rPr lang="zh-CN" altLang="en-US" dirty="0">
                  <a:latin typeface="Times New Roman" panose="02020603050405020304" charset="0"/>
                  <a:ea typeface="宋体" panose="02010600030101010101" pitchFamily="2" charset="-122"/>
                </a:rPr>
                <a:t>​​难点问题 </a:t>
              </a:r>
              <a:r>
                <a:rPr lang="en-US" altLang="zh-CN" dirty="0">
                  <a:latin typeface="Times New Roman" panose="02020603050405020304" charset="0"/>
                  <a:ea typeface="宋体" panose="02010600030101010101" pitchFamily="2" charset="-122"/>
                </a:rPr>
                <a:t>1</a:t>
              </a:r>
              <a:r>
                <a:rPr lang="zh-CN" altLang="en-US" dirty="0">
                  <a:latin typeface="Times New Roman" panose="02020603050405020304" charset="0"/>
                  <a:ea typeface="宋体" panose="02010600030101010101" pitchFamily="2" charset="-122"/>
                </a:rPr>
                <a:t>：</a:t>
              </a:r>
              <a:r>
                <a:rPr lang="en-US" altLang="zh-CN" dirty="0">
                  <a:latin typeface="Times New Roman" panose="02020603050405020304" charset="0"/>
                  <a:ea typeface="宋体" panose="02010600030101010101" pitchFamily="2" charset="-122"/>
                </a:rPr>
                <a:t>Wittig</a:t>
              </a:r>
              <a:r>
                <a:rPr lang="zh-CN" altLang="en-US" dirty="0">
                  <a:latin typeface="Times New Roman" panose="02020603050405020304" charset="0"/>
                  <a:ea typeface="宋体" panose="02010600030101010101" pitchFamily="2" charset="-122"/>
                </a:rPr>
                <a:t>反应的</a:t>
              </a:r>
              <a:r>
                <a:rPr lang="en-US" altLang="zh-CN" dirty="0">
                  <a:latin typeface="Times New Roman" panose="02020603050405020304" charset="0"/>
                  <a:ea typeface="宋体" panose="02010600030101010101" pitchFamily="2" charset="-122"/>
                </a:rPr>
                <a:t>E/Z</a:t>
              </a:r>
              <a:r>
                <a:rPr lang="zh-CN" altLang="en-US" dirty="0">
                  <a:latin typeface="Times New Roman" panose="02020603050405020304" charset="0"/>
                  <a:ea typeface="宋体" panose="02010600030101010101" pitchFamily="2" charset="-122"/>
                </a:rPr>
                <a:t>选择性控制​​</a:t>
              </a:r>
            </a:p>
            <a:p>
              <a:pPr marL="285750" indent="-285750">
                <a:buFont typeface="Wingdings" panose="05000000000000000000" pitchFamily="2" charset="2"/>
                <a:buChar char="p"/>
              </a:pPr>
              <a:r>
                <a:rPr lang="zh-CN" altLang="en-US" dirty="0">
                  <a:latin typeface="Times New Roman" panose="02020603050405020304" charset="0"/>
                  <a:ea typeface="宋体" panose="02010600030101010101" pitchFamily="2" charset="-122"/>
                </a:rPr>
                <a:t>​​解决方案​​：</a:t>
              </a:r>
            </a:p>
            <a:p>
              <a:pPr indent="457200"/>
              <a:r>
                <a:rPr lang="zh-CN" altLang="en-US" dirty="0">
                  <a:latin typeface="Times New Roman" panose="02020603050405020304" charset="0"/>
                  <a:ea typeface="宋体" panose="02010600030101010101" pitchFamily="2" charset="-122"/>
                </a:rPr>
                <a:t>​​优化叶立德结构和反应条件​​：本发明通过使用碳酸钠作为碱，并在二甲基亚砜中进行反应，可能已经对此进行了优化。进一步的优化可以探索不同取代基的磷叶立德、不同碱、溶剂体系以及反应温度和时间，以提高</a:t>
              </a:r>
              <a:r>
                <a:rPr lang="en-US" altLang="zh-CN" dirty="0">
                  <a:latin typeface="Times New Roman" panose="02020603050405020304" charset="0"/>
                  <a:ea typeface="宋体" panose="02010600030101010101" pitchFamily="2" charset="-122"/>
                </a:rPr>
                <a:t>E</a:t>
              </a:r>
              <a:r>
                <a:rPr lang="zh-CN" altLang="en-US" dirty="0">
                  <a:latin typeface="Times New Roman" panose="02020603050405020304" charset="0"/>
                  <a:ea typeface="宋体" panose="02010600030101010101" pitchFamily="2" charset="-122"/>
                </a:rPr>
                <a:t>构型的选择性。</a:t>
              </a:r>
            </a:p>
            <a:p>
              <a:pPr indent="457200"/>
              <a:r>
                <a:rPr lang="zh-CN" altLang="en-US" dirty="0">
                  <a:latin typeface="Times New Roman" panose="02020603050405020304" charset="0"/>
                  <a:ea typeface="宋体" panose="02010600030101010101" pitchFamily="2" charset="-122"/>
                </a:rPr>
                <a:t>​​使用立体选择性更高的烯烃化反应​​：除了经典的</a:t>
              </a:r>
              <a:r>
                <a:rPr lang="en-US" altLang="zh-CN" dirty="0">
                  <a:latin typeface="Times New Roman" panose="02020603050405020304" charset="0"/>
                  <a:ea typeface="宋体" panose="02010600030101010101" pitchFamily="2" charset="-122"/>
                </a:rPr>
                <a:t>Wittig</a:t>
              </a:r>
              <a:r>
                <a:rPr lang="zh-CN" altLang="en-US" dirty="0">
                  <a:latin typeface="Times New Roman" panose="02020603050405020304" charset="0"/>
                  <a:ea typeface="宋体" panose="02010600030101010101" pitchFamily="2" charset="-122"/>
                </a:rPr>
                <a:t>反应，还可以考虑使用</a:t>
              </a:r>
              <a:r>
                <a:rPr lang="en-US" altLang="zh-CN" dirty="0">
                  <a:latin typeface="Times New Roman" panose="02020603050405020304" charset="0"/>
                  <a:ea typeface="宋体" panose="02010600030101010101" pitchFamily="2" charset="-122"/>
                </a:rPr>
                <a:t>Horner-Wadsworth-Emmons (HWE)</a:t>
              </a:r>
              <a:r>
                <a:rPr lang="zh-CN" altLang="en-US" dirty="0">
                  <a:latin typeface="Times New Roman" panose="02020603050405020304" charset="0"/>
                  <a:ea typeface="宋体" panose="02010600030101010101" pitchFamily="2" charset="-122"/>
                </a:rPr>
                <a:t>反应或其他立体选择性更高的烯烃化反应，这些反应通常更容易控制</a:t>
              </a:r>
              <a:r>
                <a:rPr lang="en-US" altLang="zh-CN" dirty="0">
                  <a:latin typeface="Times New Roman" panose="02020603050405020304" charset="0"/>
                  <a:ea typeface="宋体" panose="02010600030101010101" pitchFamily="2" charset="-122"/>
                </a:rPr>
                <a:t>E/Z</a:t>
              </a:r>
              <a:r>
                <a:rPr lang="zh-CN" altLang="en-US" dirty="0">
                  <a:latin typeface="Times New Roman" panose="02020603050405020304" charset="0"/>
                  <a:ea typeface="宋体" panose="02010600030101010101" pitchFamily="2" charset="-122"/>
                </a:rPr>
                <a:t>比例。</a:t>
              </a:r>
              <a:endParaRPr lang="zh-CN" altLang="en-US" dirty="0"/>
            </a:p>
          </p:txBody>
        </p:sp>
        <p:sp>
          <p:nvSpPr>
            <p:cNvPr id="7" name="文本框 6"/>
            <p:cNvSpPr txBox="1"/>
            <p:nvPr/>
          </p:nvSpPr>
          <p:spPr>
            <a:xfrm>
              <a:off x="-65346" y="2247336"/>
              <a:ext cx="12059728" cy="1477328"/>
            </a:xfrm>
            <a:prstGeom prst="rect">
              <a:avLst/>
            </a:prstGeom>
            <a:noFill/>
          </p:spPr>
          <p:txBody>
            <a:bodyPr wrap="square" rtlCol="0">
              <a:spAutoFit/>
            </a:bodyPr>
            <a:lstStyle/>
            <a:p>
              <a:pPr marL="285750" indent="-285750">
                <a:buFont typeface="Wingdings" panose="05000000000000000000" pitchFamily="2" charset="2"/>
                <a:buChar char="p"/>
              </a:pPr>
              <a:r>
                <a:rPr lang="zh-CN" altLang="en-US" dirty="0">
                  <a:latin typeface="Times New Roman" panose="02020603050405020304" charset="0"/>
                  <a:ea typeface="宋体" panose="02010600030101010101" pitchFamily="2" charset="-122"/>
                </a:rPr>
                <a:t>​​难点问题 </a:t>
              </a:r>
              <a:r>
                <a:rPr lang="en-US" altLang="zh-CN" dirty="0">
                  <a:latin typeface="Times New Roman" panose="02020603050405020304" charset="0"/>
                  <a:ea typeface="宋体" panose="02010600030101010101" pitchFamily="2" charset="-122"/>
                </a:rPr>
                <a:t>2</a:t>
              </a:r>
              <a:r>
                <a:rPr lang="zh-CN" altLang="en-US" dirty="0">
                  <a:latin typeface="Times New Roman" panose="02020603050405020304" charset="0"/>
                  <a:ea typeface="宋体" panose="02010600030101010101" pitchFamily="2" charset="-122"/>
                </a:rPr>
                <a:t>：手性中心的构建和保持​​</a:t>
              </a:r>
            </a:p>
            <a:p>
              <a:pPr marL="285750" indent="-285750">
                <a:buFont typeface="Wingdings" panose="05000000000000000000" pitchFamily="2" charset="2"/>
                <a:buChar char="p"/>
              </a:pPr>
              <a:r>
                <a:rPr lang="zh-CN" altLang="en-US" dirty="0">
                  <a:latin typeface="Times New Roman" panose="02020603050405020304" charset="0"/>
                  <a:ea typeface="宋体" panose="02010600030101010101" pitchFamily="2" charset="-122"/>
                </a:rPr>
                <a:t>​​解决方案​​：</a:t>
              </a:r>
            </a:p>
            <a:p>
              <a:pPr indent="457200"/>
              <a:r>
                <a:rPr lang="zh-CN" altLang="en-US" dirty="0">
                  <a:latin typeface="Times New Roman" panose="02020603050405020304" charset="0"/>
                  <a:ea typeface="宋体" panose="02010600030101010101" pitchFamily="2" charset="-122"/>
                </a:rPr>
                <a:t>手性源策略​​：本发明通过由（</a:t>
              </a:r>
              <a:r>
                <a:rPr lang="en-US" altLang="zh-CN" dirty="0">
                  <a:latin typeface="Times New Roman" panose="02020603050405020304" charset="0"/>
                  <a:ea typeface="宋体" panose="02010600030101010101" pitchFamily="2" charset="-122"/>
                </a:rPr>
                <a:t>S</a:t>
              </a:r>
              <a:r>
                <a:rPr lang="zh-CN" altLang="en-US" dirty="0">
                  <a:latin typeface="Times New Roman" panose="02020603050405020304" charset="0"/>
                  <a:ea typeface="宋体" panose="02010600030101010101" pitchFamily="2" charset="-122"/>
                </a:rPr>
                <a:t>）</a:t>
              </a:r>
              <a:r>
                <a:rPr lang="en-US" altLang="zh-CN" dirty="0">
                  <a:latin typeface="Times New Roman" panose="02020603050405020304" charset="0"/>
                  <a:ea typeface="宋体" panose="02010600030101010101" pitchFamily="2" charset="-122"/>
                </a:rPr>
                <a:t>-4-</a:t>
              </a:r>
              <a:r>
                <a:rPr lang="zh-CN" altLang="en-US" dirty="0">
                  <a:latin typeface="Times New Roman" panose="02020603050405020304" charset="0"/>
                  <a:ea typeface="宋体" panose="02010600030101010101" pitchFamily="2" charset="-122"/>
                </a:rPr>
                <a:t>氯</a:t>
              </a:r>
              <a:r>
                <a:rPr lang="en-US" altLang="zh-CN" dirty="0">
                  <a:latin typeface="Times New Roman" panose="02020603050405020304" charset="0"/>
                  <a:ea typeface="宋体" panose="02010600030101010101" pitchFamily="2" charset="-122"/>
                </a:rPr>
                <a:t>-3-</a:t>
              </a:r>
              <a:r>
                <a:rPr lang="zh-CN" altLang="en-US" dirty="0">
                  <a:latin typeface="Times New Roman" panose="02020603050405020304" charset="0"/>
                  <a:ea typeface="宋体" panose="02010600030101010101" pitchFamily="2" charset="-122"/>
                </a:rPr>
                <a:t>羟基丁腈制备关键中间体</a:t>
              </a:r>
              <a:r>
                <a:rPr lang="en-US" altLang="zh-CN" dirty="0">
                  <a:latin typeface="Times New Roman" panose="02020603050405020304" charset="0"/>
                  <a:ea typeface="宋体" panose="02010600030101010101" pitchFamily="2" charset="-122"/>
                </a:rPr>
                <a:t>2</a:t>
              </a:r>
              <a:r>
                <a:rPr lang="zh-CN" altLang="en-US" dirty="0">
                  <a:latin typeface="Times New Roman" panose="02020603050405020304" charset="0"/>
                  <a:ea typeface="宋体" panose="02010600030101010101" pitchFamily="2" charset="-122"/>
                </a:rPr>
                <a:t>，这是一种有效的手性源策略。</a:t>
              </a:r>
            </a:p>
            <a:p>
              <a:pPr indent="457200"/>
              <a:r>
                <a:rPr lang="zh-CN" altLang="en-US" dirty="0">
                  <a:latin typeface="Times New Roman" panose="02020603050405020304" charset="0"/>
                  <a:ea typeface="宋体" panose="02010600030101010101" pitchFamily="2" charset="-122"/>
                </a:rPr>
                <a:t>​​不对称合成​​：在合成过程中引入不对称催化或不对称试剂，直接构建手性中心。</a:t>
              </a:r>
            </a:p>
            <a:p>
              <a:pPr indent="457200"/>
              <a:r>
                <a:rPr lang="zh-CN" altLang="en-US" dirty="0">
                  <a:latin typeface="Times New Roman" panose="02020603050405020304" charset="0"/>
                  <a:ea typeface="宋体" panose="02010600030101010101" pitchFamily="2" charset="-122"/>
                </a:rPr>
                <a:t>酶催化​​：利用酶的高度立体选择性进行反应，可以高效地构建手性中心。</a:t>
              </a:r>
              <a:endParaRPr lang="zh-CN" altLang="en-US" dirty="0"/>
            </a:p>
          </p:txBody>
        </p:sp>
        <p:sp>
          <p:nvSpPr>
            <p:cNvPr id="2" name="文本框 1"/>
            <p:cNvSpPr txBox="1"/>
            <p:nvPr/>
          </p:nvSpPr>
          <p:spPr>
            <a:xfrm>
              <a:off x="-65346" y="3977524"/>
              <a:ext cx="12059728" cy="1477328"/>
            </a:xfrm>
            <a:prstGeom prst="rect">
              <a:avLst/>
            </a:prstGeom>
            <a:noFill/>
          </p:spPr>
          <p:txBody>
            <a:bodyPr wrap="square" rtlCol="0">
              <a:spAutoFit/>
            </a:bodyPr>
            <a:lstStyle/>
            <a:p>
              <a:pPr marL="285750" indent="-285750">
                <a:buFont typeface="Wingdings" panose="05000000000000000000" pitchFamily="2" charset="2"/>
                <a:buChar char="p"/>
              </a:pPr>
              <a:r>
                <a:rPr lang="zh-CN" altLang="en-US" dirty="0">
                  <a:latin typeface="Times New Roman" panose="02020603050405020304" charset="0"/>
                  <a:ea typeface="宋体" panose="02010600030101010101" pitchFamily="2" charset="-122"/>
                </a:rPr>
                <a:t>​​难点问题 </a:t>
              </a:r>
              <a:r>
                <a:rPr lang="en-US" altLang="zh-CN" dirty="0">
                  <a:latin typeface="Times New Roman" panose="02020603050405020304" charset="0"/>
                  <a:ea typeface="宋体" panose="02010600030101010101" pitchFamily="2" charset="-122"/>
                </a:rPr>
                <a:t>3</a:t>
              </a:r>
              <a:r>
                <a:rPr lang="zh-CN" altLang="en-US" dirty="0">
                  <a:latin typeface="Times New Roman" panose="02020603050405020304" charset="0"/>
                  <a:ea typeface="宋体" panose="02010600030101010101" pitchFamily="2" charset="-122"/>
                </a:rPr>
                <a:t>：反应条件温和化和安全性​​</a:t>
              </a:r>
            </a:p>
            <a:p>
              <a:pPr marL="285750" indent="-285750">
                <a:buFont typeface="Wingdings" panose="05000000000000000000" pitchFamily="2" charset="2"/>
                <a:buChar char="p"/>
              </a:pPr>
              <a:r>
                <a:rPr lang="zh-CN" altLang="en-US" dirty="0">
                  <a:latin typeface="Times New Roman" panose="02020603050405020304" charset="0"/>
                  <a:ea typeface="宋体" panose="02010600030101010101" pitchFamily="2" charset="-122"/>
                </a:rPr>
                <a:t>​​解决方案​​：</a:t>
              </a:r>
            </a:p>
            <a:p>
              <a:pPr indent="457200"/>
              <a:r>
                <a:rPr lang="zh-CN" altLang="en-US" dirty="0">
                  <a:latin typeface="Times New Roman" panose="02020603050405020304" charset="0"/>
                  <a:ea typeface="宋体" panose="02010600030101010101" pitchFamily="2" charset="-122"/>
                </a:rPr>
                <a:t>​​选择温和的试剂和催化剂​​：本发明通过使用碳酸钠等温和碱，避免了超强碱的使用，这是一个很好的改进。</a:t>
              </a:r>
            </a:p>
            <a:p>
              <a:pPr indent="457200"/>
              <a:r>
                <a:rPr lang="zh-CN" altLang="en-US" dirty="0">
                  <a:latin typeface="Times New Roman" panose="02020603050405020304" charset="0"/>
                  <a:ea typeface="宋体" panose="02010600030101010101" pitchFamily="2" charset="-122"/>
                </a:rPr>
                <a:t>​​优化反应温度和压力​​：在保证反应效率和选择性的前提下，尽量选择常温常压或接近常温常压的条件。</a:t>
              </a:r>
            </a:p>
            <a:p>
              <a:pPr indent="457200"/>
              <a:r>
                <a:rPr lang="zh-CN" altLang="en-US" dirty="0">
                  <a:latin typeface="Times New Roman" panose="02020603050405020304" charset="0"/>
                  <a:ea typeface="宋体" panose="02010600030101010101" pitchFamily="2" charset="-122"/>
                </a:rPr>
                <a:t>​​绿色溶剂替代​​：优先选择毒性低、环境友好的溶剂，并考虑溶剂的回收利用。</a:t>
              </a:r>
              <a:endParaRPr lang="zh-CN" altLang="en-US" dirty="0"/>
            </a:p>
          </p:txBody>
        </p:sp>
      </p:gr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nvGraphicFramePr>
        <p:xfrm>
          <a:off x="3881789" y="917327"/>
          <a:ext cx="3418984" cy="3690675"/>
        </p:xfrm>
        <a:graphic>
          <a:graphicData uri="http://schemas.openxmlformats.org/presentationml/2006/ole">
            <mc:AlternateContent xmlns:mc="http://schemas.openxmlformats.org/markup-compatibility/2006">
              <mc:Choice xmlns:v="urn:schemas-microsoft-com:vml" Requires="v">
                <p:oleObj spid="_x0000_s69636" name="CS ChemDraw Drawing" r:id="rId3" imgW="1564005" imgH="1689100" progId="ChemDraw.Document.6.0">
                  <p:embed/>
                </p:oleObj>
              </mc:Choice>
              <mc:Fallback>
                <p:oleObj name="CS ChemDraw Drawing" r:id="rId3" imgW="1564005" imgH="1689100" progId="ChemDraw.Document.6.0">
                  <p:embed/>
                  <p:pic>
                    <p:nvPicPr>
                      <p:cNvPr id="3" name="对象 2"/>
                      <p:cNvPicPr/>
                      <p:nvPr/>
                    </p:nvPicPr>
                    <p:blipFill>
                      <a:blip r:embed="rId4"/>
                      <a:stretch>
                        <a:fillRect/>
                      </a:stretch>
                    </p:blipFill>
                    <p:spPr>
                      <a:xfrm>
                        <a:off x="3881789" y="917327"/>
                        <a:ext cx="3418984" cy="3690675"/>
                      </a:xfrm>
                      <a:prstGeom prst="rect">
                        <a:avLst/>
                      </a:prstGeom>
                    </p:spPr>
                  </p:pic>
                </p:oleObj>
              </mc:Fallback>
            </mc:AlternateContent>
          </a:graphicData>
        </a:graphic>
      </p:graphicFrame>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nvGraphicFramePr>
        <p:xfrm>
          <a:off x="1273967" y="872403"/>
          <a:ext cx="9644067" cy="4405718"/>
        </p:xfrm>
        <a:graphic>
          <a:graphicData uri="http://schemas.openxmlformats.org/presentationml/2006/ole">
            <mc:AlternateContent xmlns:mc="http://schemas.openxmlformats.org/markup-compatibility/2006">
              <mc:Choice xmlns:v="urn:schemas-microsoft-com:vml" Requires="v">
                <p:oleObj spid="_x0000_s70660" name="CS ChemDraw 64-bit Drawing" r:id="rId3" imgW="6414770" imgH="2930525" progId="ChemDraw_x64.Document.6.0">
                  <p:embed/>
                </p:oleObj>
              </mc:Choice>
              <mc:Fallback>
                <p:oleObj name="CS ChemDraw 64-bit Drawing" r:id="rId3" imgW="6414770" imgH="2930525" progId="ChemDraw_x64.Document.6.0">
                  <p:embed/>
                  <p:pic>
                    <p:nvPicPr>
                      <p:cNvPr id="2" name="对象 1"/>
                      <p:cNvPicPr/>
                      <p:nvPr/>
                    </p:nvPicPr>
                    <p:blipFill>
                      <a:blip r:embed="rId4"/>
                      <a:stretch>
                        <a:fillRect/>
                      </a:stretch>
                    </p:blipFill>
                    <p:spPr>
                      <a:xfrm>
                        <a:off x="1273967" y="872403"/>
                        <a:ext cx="9644067" cy="4405718"/>
                      </a:xfrm>
                      <a:prstGeom prst="rect">
                        <a:avLst/>
                      </a:prstGeom>
                    </p:spPr>
                  </p:pic>
                </p:oleObj>
              </mc:Fallback>
            </mc:AlternateContent>
          </a:graphicData>
        </a:graphic>
      </p:graphicFrame>
      <p:sp>
        <p:nvSpPr>
          <p:cNvPr id="4" name="文本框 3"/>
          <p:cNvSpPr txBox="1"/>
          <p:nvPr/>
        </p:nvSpPr>
        <p:spPr>
          <a:xfrm>
            <a:off x="5640019" y="2973629"/>
            <a:ext cx="914400" cy="914400"/>
          </a:xfrm>
          <a:prstGeom prst="rect">
            <a:avLst/>
          </a:prstGeom>
          <a:noFill/>
        </p:spPr>
        <p:txBody>
          <a:bodyPr wrap="square" rtlCol="0">
            <a:spAutoFit/>
          </a:bodyPr>
          <a:lstStyle/>
          <a:p>
            <a:endParaRPr lang="zh-CN" altLang="en-US" dirty="0"/>
          </a:p>
        </p:txBody>
      </p:sp>
      <p:sp>
        <p:nvSpPr>
          <p:cNvPr id="5" name="文本框 4"/>
          <p:cNvSpPr txBox="1"/>
          <p:nvPr/>
        </p:nvSpPr>
        <p:spPr>
          <a:xfrm>
            <a:off x="1273967" y="5669280"/>
            <a:ext cx="8455250" cy="923330"/>
          </a:xfrm>
          <a:prstGeom prst="rect">
            <a:avLst/>
          </a:prstGeom>
          <a:noFill/>
        </p:spPr>
        <p:txBody>
          <a:bodyPr wrap="square" rtlCol="0">
            <a:spAutoFit/>
          </a:bodyPr>
          <a:lstStyle/>
          <a:p>
            <a:r>
              <a:rPr lang="zh-CN" altLang="en-US" dirty="0">
                <a:latin typeface="Times New Roman" panose="02020603050405020304" charset="0"/>
                <a:cs typeface="Times New Roman" panose="02020603050405020304" charset="0"/>
              </a:rPr>
              <a:t>参考文献：</a:t>
            </a:r>
            <a:endParaRPr lang="en-US" altLang="zh-CN" dirty="0">
              <a:latin typeface="Times New Roman" panose="02020603050405020304" charset="0"/>
              <a:cs typeface="Times New Roman" panose="02020603050405020304" charset="0"/>
            </a:endParaRPr>
          </a:p>
          <a:p>
            <a:r>
              <a:rPr lang="en-US" altLang="zh-CN" dirty="0">
                <a:latin typeface="Times New Roman" panose="02020603050405020304" charset="0"/>
                <a:cs typeface="Times New Roman" panose="02020603050405020304" charset="0"/>
              </a:rPr>
              <a:t>SHIONOGI SEIYAKU KABUSHIKI KAISHA. Pyrimidine derivatives as HMG-CoA reductase inhibitors: EP0521471B1 [P]. 1993-01-07.</a:t>
            </a:r>
            <a:endParaRPr lang="zh-CN" altLang="en-US" dirty="0">
              <a:latin typeface="Times New Roman" panose="02020603050405020304" charset="0"/>
              <a:cs typeface="Times New Roman" panose="02020603050405020304" charset="0"/>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对象 9"/>
          <p:cNvGraphicFramePr>
            <a:graphicFrameLocks noChangeAspect="1"/>
          </p:cNvGraphicFramePr>
          <p:nvPr/>
        </p:nvGraphicFramePr>
        <p:xfrm>
          <a:off x="8103065" y="1241820"/>
          <a:ext cx="3418984" cy="3690675"/>
        </p:xfrm>
        <a:graphic>
          <a:graphicData uri="http://schemas.openxmlformats.org/presentationml/2006/ole">
            <mc:AlternateContent xmlns:mc="http://schemas.openxmlformats.org/markup-compatibility/2006">
              <mc:Choice xmlns:v="urn:schemas-microsoft-com:vml" Requires="v">
                <p:oleObj spid="_x0000_s71684" name="CS ChemDraw Drawing" r:id="rId3" imgW="1564005" imgH="1689100" progId="ChemDraw.Document.6.0">
                  <p:embed/>
                </p:oleObj>
              </mc:Choice>
              <mc:Fallback>
                <p:oleObj name="CS ChemDraw Drawing" r:id="rId3" imgW="1564005" imgH="1689100" progId="ChemDraw.Document.6.0">
                  <p:embed/>
                  <p:pic>
                    <p:nvPicPr>
                      <p:cNvPr id="10" name="对象 9"/>
                      <p:cNvPicPr/>
                      <p:nvPr/>
                    </p:nvPicPr>
                    <p:blipFill>
                      <a:blip r:embed="rId4"/>
                      <a:stretch>
                        <a:fillRect/>
                      </a:stretch>
                    </p:blipFill>
                    <p:spPr>
                      <a:xfrm>
                        <a:off x="8103065" y="1241820"/>
                        <a:ext cx="3418984" cy="3690675"/>
                      </a:xfrm>
                      <a:prstGeom prst="rect">
                        <a:avLst/>
                      </a:prstGeom>
                    </p:spPr>
                  </p:pic>
                </p:oleObj>
              </mc:Fallback>
            </mc:AlternateContent>
          </a:graphicData>
        </a:graphic>
      </p:graphicFrame>
      <p:sp>
        <p:nvSpPr>
          <p:cNvPr id="11" name="矩形 10"/>
          <p:cNvSpPr/>
          <p:nvPr/>
        </p:nvSpPr>
        <p:spPr>
          <a:xfrm>
            <a:off x="311604" y="1352672"/>
            <a:ext cx="7554664" cy="4801314"/>
          </a:xfrm>
          <a:prstGeom prst="rect">
            <a:avLst/>
          </a:prstGeom>
        </p:spPr>
        <p:txBody>
          <a:bodyPr wrap="square">
            <a:spAutoFit/>
          </a:bodyPr>
          <a:lstStyle/>
          <a:p>
            <a:r>
              <a:rPr lang="zh-CN" altLang="en-US" sz="2400" b="1" dirty="0">
                <a:solidFill>
                  <a:srgbClr val="0F1115"/>
                </a:solidFill>
                <a:latin typeface="quote-cjk-patch"/>
              </a:rPr>
              <a:t>市场价值</a:t>
            </a:r>
            <a:endParaRPr lang="en-US" altLang="zh-CN" sz="2400" b="1" dirty="0">
              <a:solidFill>
                <a:srgbClr val="0F1115"/>
              </a:solidFill>
              <a:latin typeface="quote-cjk-patch"/>
            </a:endParaRPr>
          </a:p>
          <a:p>
            <a:endParaRPr lang="zh-CN" altLang="en-US" b="1" dirty="0">
              <a:solidFill>
                <a:srgbClr val="0F1115"/>
              </a:solidFill>
              <a:latin typeface="quote-cjk-patch"/>
            </a:endParaRPr>
          </a:p>
          <a:p>
            <a:r>
              <a:rPr lang="en-US" altLang="zh-CN" dirty="0">
                <a:solidFill>
                  <a:srgbClr val="0F1115"/>
                </a:solidFill>
                <a:latin typeface="quote-cjk-patch"/>
              </a:rPr>
              <a:t>2024</a:t>
            </a:r>
            <a:r>
              <a:rPr lang="zh-CN" altLang="en-US" dirty="0">
                <a:solidFill>
                  <a:srgbClr val="0F1115"/>
                </a:solidFill>
                <a:latin typeface="quote-cjk-patch"/>
              </a:rPr>
              <a:t>年中国市场规模超</a:t>
            </a:r>
            <a:r>
              <a:rPr lang="en-US" altLang="zh-CN" dirty="0">
                <a:solidFill>
                  <a:srgbClr val="0F1115"/>
                </a:solidFill>
                <a:latin typeface="quote-cjk-patch"/>
              </a:rPr>
              <a:t>48</a:t>
            </a:r>
            <a:r>
              <a:rPr lang="zh-CN" altLang="en-US" dirty="0">
                <a:solidFill>
                  <a:srgbClr val="0F1115"/>
                </a:solidFill>
                <a:latin typeface="quote-cjk-patch"/>
              </a:rPr>
              <a:t>亿元，</a:t>
            </a:r>
            <a:r>
              <a:rPr lang="en-US" altLang="zh-CN" dirty="0">
                <a:solidFill>
                  <a:srgbClr val="0F1115"/>
                </a:solidFill>
                <a:latin typeface="quote-cjk-patch"/>
              </a:rPr>
              <a:t>2025</a:t>
            </a:r>
            <a:r>
              <a:rPr lang="zh-CN" altLang="en-US" dirty="0">
                <a:solidFill>
                  <a:srgbClr val="0F1115"/>
                </a:solidFill>
                <a:latin typeface="quote-cjk-patch"/>
              </a:rPr>
              <a:t>年上半年超</a:t>
            </a:r>
            <a:r>
              <a:rPr lang="en-US" altLang="zh-CN" dirty="0">
                <a:solidFill>
                  <a:srgbClr val="0F1115"/>
                </a:solidFill>
                <a:latin typeface="quote-cjk-patch"/>
              </a:rPr>
              <a:t>26</a:t>
            </a:r>
            <a:r>
              <a:rPr lang="zh-CN" altLang="en-US" dirty="0">
                <a:solidFill>
                  <a:srgbClr val="0F1115"/>
                </a:solidFill>
                <a:latin typeface="quote-cjk-patch"/>
              </a:rPr>
              <a:t>亿元，同比增长</a:t>
            </a:r>
            <a:r>
              <a:rPr lang="en-US" altLang="zh-CN" dirty="0">
                <a:solidFill>
                  <a:srgbClr val="0F1115"/>
                </a:solidFill>
                <a:latin typeface="quote-cjk-patch"/>
              </a:rPr>
              <a:t>9.62%,</a:t>
            </a:r>
            <a:r>
              <a:rPr lang="zh-CN" altLang="en-US" dirty="0"/>
              <a:t>全球他汀类药物市场</a:t>
            </a:r>
            <a:r>
              <a:rPr lang="en-US" altLang="zh-CN" dirty="0"/>
              <a:t>2025</a:t>
            </a:r>
            <a:r>
              <a:rPr lang="zh-CN" altLang="en-US" dirty="0"/>
              <a:t>年约</a:t>
            </a:r>
            <a:r>
              <a:rPr lang="en-US" altLang="zh-CN" dirty="0"/>
              <a:t>353.1</a:t>
            </a:r>
            <a:r>
              <a:rPr lang="zh-CN" altLang="en-US" dirty="0"/>
              <a:t>亿美元，</a:t>
            </a:r>
            <a:r>
              <a:rPr lang="en-US" altLang="zh-CN" dirty="0"/>
              <a:t>2026</a:t>
            </a:r>
            <a:r>
              <a:rPr lang="zh-CN" altLang="en-US" dirty="0"/>
              <a:t>年预计增至</a:t>
            </a:r>
            <a:r>
              <a:rPr lang="en-US" altLang="zh-CN" dirty="0"/>
              <a:t>374.6</a:t>
            </a:r>
            <a:r>
              <a:rPr lang="zh-CN" altLang="en-US" dirty="0"/>
              <a:t>亿美元。</a:t>
            </a:r>
            <a:endParaRPr lang="en-US" altLang="zh-CN" dirty="0">
              <a:solidFill>
                <a:srgbClr val="0F1115"/>
              </a:solidFill>
              <a:latin typeface="quote-cjk-patch"/>
            </a:endParaRPr>
          </a:p>
          <a:p>
            <a:r>
              <a:rPr lang="zh-CN" altLang="en-US" dirty="0">
                <a:solidFill>
                  <a:srgbClr val="0F1115"/>
                </a:solidFill>
                <a:latin typeface="quote-cjk-patch"/>
              </a:rPr>
              <a:t>原研为阿斯利康（可定），国产仿制药主导销量，</a:t>
            </a:r>
            <a:r>
              <a:rPr lang="en-US" altLang="zh-CN" dirty="0">
                <a:solidFill>
                  <a:srgbClr val="0F1115"/>
                </a:solidFill>
                <a:latin typeface="quote-cjk-patch"/>
              </a:rPr>
              <a:t>36</a:t>
            </a:r>
            <a:r>
              <a:rPr lang="zh-CN" altLang="en-US" dirty="0">
                <a:solidFill>
                  <a:srgbClr val="0F1115"/>
                </a:solidFill>
                <a:latin typeface="quote-cjk-patch"/>
              </a:rPr>
              <a:t>家企业拥有批文集采后价格大幅下降，进入“低单价、高销量”模式</a:t>
            </a:r>
            <a:endParaRPr lang="en-US" altLang="zh-CN" dirty="0">
              <a:solidFill>
                <a:srgbClr val="0F1115"/>
              </a:solidFill>
              <a:latin typeface="quote-cjk-patch"/>
            </a:endParaRPr>
          </a:p>
          <a:p>
            <a:pPr>
              <a:buFont typeface="Arial" panose="020B0604020202020204" pitchFamily="34" charset="0"/>
              <a:buChar char="•"/>
            </a:pPr>
            <a:endParaRPr lang="en-US" altLang="zh-CN" sz="2400" dirty="0">
              <a:solidFill>
                <a:srgbClr val="0F1115"/>
              </a:solidFill>
              <a:latin typeface="quote-cjk-patch"/>
            </a:endParaRPr>
          </a:p>
          <a:p>
            <a:endParaRPr lang="zh-CN" altLang="en-US" dirty="0">
              <a:solidFill>
                <a:srgbClr val="0F1115"/>
              </a:solidFill>
              <a:latin typeface="quote-cjk-patch"/>
            </a:endParaRPr>
          </a:p>
          <a:p>
            <a:r>
              <a:rPr lang="zh-CN" altLang="en-US" sz="2400" b="1" dirty="0">
                <a:solidFill>
                  <a:srgbClr val="0F1115"/>
                </a:solidFill>
                <a:latin typeface="quote-cjk-patch"/>
              </a:rPr>
              <a:t>原料药价格</a:t>
            </a:r>
            <a:endParaRPr lang="en-US" altLang="zh-CN" sz="2400" b="1" dirty="0">
              <a:solidFill>
                <a:srgbClr val="0F1115"/>
              </a:solidFill>
              <a:latin typeface="quote-cjk-patch"/>
            </a:endParaRPr>
          </a:p>
          <a:p>
            <a:endParaRPr lang="zh-CN" altLang="en-US" b="1" dirty="0">
              <a:solidFill>
                <a:srgbClr val="0F1115"/>
              </a:solidFill>
              <a:latin typeface="quote-cjk-patch"/>
            </a:endParaRPr>
          </a:p>
          <a:p>
            <a:r>
              <a:rPr lang="zh-CN" altLang="en-US" dirty="0">
                <a:solidFill>
                  <a:srgbClr val="0F1115"/>
                </a:solidFill>
                <a:latin typeface="quote-cjk-patch"/>
              </a:rPr>
              <a:t>工业化原料药：每公斤几百至一千多元（受集采传导，价格低位）</a:t>
            </a:r>
          </a:p>
          <a:p>
            <a:r>
              <a:rPr lang="zh-CN" altLang="en-US" dirty="0">
                <a:solidFill>
                  <a:srgbClr val="0F1115"/>
                </a:solidFill>
                <a:latin typeface="quote-cjk-patch"/>
              </a:rPr>
              <a:t>科研用价格：约</a:t>
            </a:r>
            <a:r>
              <a:rPr lang="en-US" altLang="zh-CN" dirty="0">
                <a:solidFill>
                  <a:srgbClr val="0F1115"/>
                </a:solidFill>
                <a:latin typeface="quote-cjk-patch"/>
              </a:rPr>
              <a:t>200–950</a:t>
            </a:r>
            <a:r>
              <a:rPr lang="zh-CN" altLang="en-US" dirty="0">
                <a:solidFill>
                  <a:srgbClr val="0F1115"/>
                </a:solidFill>
                <a:latin typeface="quote-cjk-patch"/>
              </a:rPr>
              <a:t>元</a:t>
            </a:r>
            <a:r>
              <a:rPr lang="en-US" altLang="zh-CN" dirty="0">
                <a:solidFill>
                  <a:srgbClr val="0F1115"/>
                </a:solidFill>
                <a:latin typeface="quote-cjk-patch"/>
              </a:rPr>
              <a:t>/</a:t>
            </a:r>
            <a:r>
              <a:rPr lang="zh-CN" altLang="en-US" dirty="0">
                <a:solidFill>
                  <a:srgbClr val="0F1115"/>
                </a:solidFill>
                <a:latin typeface="quote-cjk-patch"/>
              </a:rPr>
              <a:t>克，远高于工业化采购价</a:t>
            </a:r>
            <a:endParaRPr lang="en-US" altLang="zh-CN" dirty="0">
              <a:solidFill>
                <a:srgbClr val="0F1115"/>
              </a:solidFill>
              <a:latin typeface="quote-cjk-patch"/>
            </a:endParaRPr>
          </a:p>
          <a:p>
            <a:r>
              <a:rPr lang="zh-CN" altLang="en-US" dirty="0">
                <a:solidFill>
                  <a:srgbClr val="0F1115"/>
                </a:solidFill>
                <a:latin typeface="quote-cjk-patch"/>
              </a:rPr>
              <a:t>高纯度原料药：约</a:t>
            </a:r>
            <a:r>
              <a:rPr lang="en-US" altLang="zh-CN" dirty="0">
                <a:solidFill>
                  <a:srgbClr val="0F1115"/>
                </a:solidFill>
                <a:latin typeface="quote-cjk-patch"/>
              </a:rPr>
              <a:t>1800</a:t>
            </a:r>
            <a:r>
              <a:rPr lang="zh-CN" altLang="en-US" dirty="0">
                <a:solidFill>
                  <a:srgbClr val="0F1115"/>
                </a:solidFill>
                <a:latin typeface="quote-cjk-patch"/>
              </a:rPr>
              <a:t>元</a:t>
            </a:r>
            <a:r>
              <a:rPr lang="en-US" altLang="zh-CN" dirty="0">
                <a:solidFill>
                  <a:srgbClr val="0F1115"/>
                </a:solidFill>
                <a:latin typeface="quote-cjk-patch"/>
              </a:rPr>
              <a:t>/</a:t>
            </a:r>
            <a:r>
              <a:rPr lang="zh-CN" altLang="en-US" dirty="0">
                <a:solidFill>
                  <a:srgbClr val="0F1115"/>
                </a:solidFill>
                <a:latin typeface="quote-cjk-patch"/>
              </a:rPr>
              <a:t>克</a:t>
            </a:r>
          </a:p>
          <a:p>
            <a:r>
              <a:rPr lang="zh-CN" altLang="en-US" dirty="0">
                <a:solidFill>
                  <a:srgbClr val="0F1115"/>
                </a:solidFill>
                <a:latin typeface="quote-cjk-patch"/>
              </a:rPr>
              <a:t>整体呈明确下降趋势，利润空间依赖工艺优化</a:t>
            </a:r>
          </a:p>
          <a:p>
            <a:br>
              <a:rPr lang="zh-CN" altLang="en-US" dirty="0"/>
            </a:br>
            <a:endParaRPr lang="zh-CN" altLang="en-US"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表格 8"/>
          <p:cNvGraphicFramePr>
            <a:graphicFrameLocks noGrp="1"/>
          </p:cNvGraphicFramePr>
          <p:nvPr/>
        </p:nvGraphicFramePr>
        <p:xfrm>
          <a:off x="541349" y="314554"/>
          <a:ext cx="5554651" cy="2731309"/>
        </p:xfrm>
        <a:graphic>
          <a:graphicData uri="http://schemas.openxmlformats.org/drawingml/2006/table">
            <a:tbl>
              <a:tblPr>
                <a:tableStyleId>{2D5ABB26-0587-4C30-8999-92F81FD0307C}</a:tableStyleId>
              </a:tblPr>
              <a:tblGrid>
                <a:gridCol w="1420380">
                  <a:extLst>
                    <a:ext uri="{9D8B030D-6E8A-4147-A177-3AD203B41FA5}">
                      <a16:colId xmlns:a16="http://schemas.microsoft.com/office/drawing/2014/main" val="20000"/>
                    </a:ext>
                  </a:extLst>
                </a:gridCol>
                <a:gridCol w="4134271">
                  <a:extLst>
                    <a:ext uri="{9D8B030D-6E8A-4147-A177-3AD203B41FA5}">
                      <a16:colId xmlns:a16="http://schemas.microsoft.com/office/drawing/2014/main" val="20001"/>
                    </a:ext>
                  </a:extLst>
                </a:gridCol>
              </a:tblGrid>
              <a:tr h="368963">
                <a:tc>
                  <a:txBody>
                    <a:bodyPr/>
                    <a:lstStyle/>
                    <a:p>
                      <a:pPr algn="l"/>
                      <a:r>
                        <a:rPr lang="zh-CN" altLang="en-US" sz="1200" b="0" dirty="0">
                          <a:effectLst/>
                          <a:latin typeface="黑体" panose="02010609060101010101" pitchFamily="49" charset="-122"/>
                          <a:ea typeface="黑体" panose="02010609060101010101" pitchFamily="49" charset="-122"/>
                        </a:rPr>
                        <a:t>类别</a:t>
                      </a:r>
                    </a:p>
                  </a:txBody>
                  <a:tcPr marL="51360" marR="57067"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CN" altLang="en-US" sz="1200" b="0" dirty="0">
                          <a:effectLst/>
                          <a:latin typeface="黑体" panose="02010609060101010101" pitchFamily="49" charset="-122"/>
                          <a:ea typeface="黑体" panose="02010609060101010101" pitchFamily="49" charset="-122"/>
                        </a:rPr>
                        <a:t>优点</a:t>
                      </a:r>
                    </a:p>
                  </a:txBody>
                  <a:tcPr marL="57067" marR="57067"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434612">
                <a:tc>
                  <a:txBody>
                    <a:bodyPr/>
                    <a:lstStyle/>
                    <a:p>
                      <a:r>
                        <a:rPr lang="zh-CN" altLang="en-US" sz="1200" b="1" dirty="0">
                          <a:effectLst/>
                          <a:latin typeface="黑体" panose="02010609060101010101" pitchFamily="49" charset="-122"/>
                          <a:ea typeface="黑体" panose="02010609060101010101" pitchFamily="49" charset="-122"/>
                        </a:rPr>
                        <a:t>路线成熟</a:t>
                      </a:r>
                      <a:endParaRPr lang="zh-CN" altLang="en-US" sz="1200" b="0" dirty="0">
                        <a:effectLst/>
                        <a:latin typeface="黑体" panose="02010609060101010101" pitchFamily="49" charset="-122"/>
                        <a:ea typeface="黑体" panose="02010609060101010101" pitchFamily="49" charset="-122"/>
                      </a:endParaRPr>
                    </a:p>
                  </a:txBody>
                  <a:tcPr marL="51360" marR="57067"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1200" b="0" dirty="0">
                          <a:effectLst/>
                          <a:latin typeface="黑体" panose="02010609060101010101" pitchFamily="49" charset="-122"/>
                          <a:ea typeface="黑体" panose="02010609060101010101" pitchFamily="49" charset="-122"/>
                        </a:rPr>
                        <a:t>基于</a:t>
                      </a:r>
                      <a:r>
                        <a:rPr lang="en-US" altLang="zh-CN" sz="1200" b="0" dirty="0">
                          <a:effectLst/>
                          <a:latin typeface="黑体" panose="02010609060101010101" pitchFamily="49" charset="-122"/>
                          <a:ea typeface="黑体" panose="02010609060101010101" pitchFamily="49" charset="-122"/>
                        </a:rPr>
                        <a:t>WO2004/002280</a:t>
                      </a:r>
                      <a:r>
                        <a:rPr lang="zh-CN" altLang="en-US" sz="1200" b="0" dirty="0">
                          <a:effectLst/>
                          <a:latin typeface="黑体" panose="02010609060101010101" pitchFamily="49" charset="-122"/>
                          <a:ea typeface="黑体" panose="02010609060101010101" pitchFamily="49" charset="-122"/>
                        </a:rPr>
                        <a:t>和</a:t>
                      </a:r>
                      <a:r>
                        <a:rPr lang="en-US" altLang="zh-CN" sz="1200" b="0" dirty="0">
                          <a:effectLst/>
                          <a:latin typeface="黑体" panose="02010609060101010101" pitchFamily="49" charset="-122"/>
                          <a:ea typeface="黑体" panose="02010609060101010101" pitchFamily="49" charset="-122"/>
                        </a:rPr>
                        <a:t>EP0521471B1</a:t>
                      </a:r>
                      <a:r>
                        <a:rPr lang="zh-CN" altLang="en-US" sz="1200" b="0" dirty="0">
                          <a:effectLst/>
                          <a:latin typeface="黑体" panose="02010609060101010101" pitchFamily="49" charset="-122"/>
                          <a:ea typeface="黑体" panose="02010609060101010101" pitchFamily="49" charset="-122"/>
                        </a:rPr>
                        <a:t>等专利文献，是工业上经过验证的主流路线</a:t>
                      </a:r>
                    </a:p>
                  </a:txBody>
                  <a:tcPr marL="57067" marR="51360"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34612">
                <a:tc>
                  <a:txBody>
                    <a:bodyPr/>
                    <a:lstStyle/>
                    <a:p>
                      <a:r>
                        <a:rPr lang="zh-CN" altLang="en-US" sz="1200" b="1">
                          <a:effectLst/>
                          <a:latin typeface="黑体" panose="02010609060101010101" pitchFamily="49" charset="-122"/>
                          <a:ea typeface="黑体" panose="02010609060101010101" pitchFamily="49" charset="-122"/>
                        </a:rPr>
                        <a:t>关键反应明确</a:t>
                      </a:r>
                      <a:endParaRPr lang="zh-CN" altLang="en-US" sz="1200" b="0">
                        <a:effectLst/>
                        <a:latin typeface="黑体" panose="02010609060101010101" pitchFamily="49" charset="-122"/>
                        <a:ea typeface="黑体" panose="02010609060101010101" pitchFamily="49" charset="-122"/>
                      </a:endParaRPr>
                    </a:p>
                  </a:txBody>
                  <a:tcPr marL="51360" marR="57067"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b="0" dirty="0">
                          <a:effectLst/>
                          <a:latin typeface="黑体" panose="02010609060101010101" pitchFamily="49" charset="-122"/>
                          <a:ea typeface="黑体" panose="02010609060101010101" pitchFamily="49" charset="-122"/>
                        </a:rPr>
                        <a:t>Wittig</a:t>
                      </a:r>
                      <a:r>
                        <a:rPr lang="zh-CN" altLang="en-US" sz="1200" b="0" dirty="0">
                          <a:effectLst/>
                          <a:latin typeface="黑体" panose="02010609060101010101" pitchFamily="49" charset="-122"/>
                          <a:ea typeface="黑体" panose="02010609060101010101" pitchFamily="49" charset="-122"/>
                        </a:rPr>
                        <a:t>反应构建庚烯酸侧链、非对映选择性还原构建双手性中心（</a:t>
                      </a:r>
                      <a:r>
                        <a:rPr lang="en-US" altLang="zh-CN" sz="1200" b="0" dirty="0">
                          <a:effectLst/>
                          <a:latin typeface="黑体" panose="02010609060101010101" pitchFamily="49" charset="-122"/>
                          <a:ea typeface="黑体" panose="02010609060101010101" pitchFamily="49" charset="-122"/>
                        </a:rPr>
                        <a:t>3R,5S</a:t>
                      </a:r>
                      <a:r>
                        <a:rPr lang="zh-CN" altLang="en-US" sz="1200" b="0" dirty="0">
                          <a:effectLst/>
                          <a:latin typeface="黑体" panose="02010609060101010101" pitchFamily="49" charset="-122"/>
                          <a:ea typeface="黑体" panose="02010609060101010101" pitchFamily="49" charset="-122"/>
                        </a:rPr>
                        <a:t>），策略清晰</a:t>
                      </a:r>
                    </a:p>
                  </a:txBody>
                  <a:tcPr marL="57067" marR="51360"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34612">
                <a:tc>
                  <a:txBody>
                    <a:bodyPr/>
                    <a:lstStyle/>
                    <a:p>
                      <a:r>
                        <a:rPr lang="zh-CN" altLang="en-US" sz="1200" b="1" dirty="0">
                          <a:effectLst/>
                          <a:latin typeface="黑体" panose="02010609060101010101" pitchFamily="49" charset="-122"/>
                          <a:ea typeface="黑体" panose="02010609060101010101" pitchFamily="49" charset="-122"/>
                        </a:rPr>
                        <a:t>立体选择性好</a:t>
                      </a:r>
                      <a:endParaRPr lang="zh-CN" altLang="en-US" sz="1200" b="0" dirty="0">
                        <a:effectLst/>
                        <a:latin typeface="黑体" panose="02010609060101010101" pitchFamily="49" charset="-122"/>
                        <a:ea typeface="黑体" panose="02010609060101010101" pitchFamily="49" charset="-122"/>
                      </a:endParaRPr>
                    </a:p>
                  </a:txBody>
                  <a:tcPr marL="51360" marR="57067"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1200" b="0" dirty="0">
                          <a:effectLst/>
                          <a:latin typeface="黑体" panose="02010609060101010101" pitchFamily="49" charset="-122"/>
                          <a:ea typeface="黑体" panose="02010609060101010101" pitchFamily="49" charset="-122"/>
                        </a:rPr>
                        <a:t>使用</a:t>
                      </a:r>
                      <a:r>
                        <a:rPr lang="en-US" altLang="zh-CN" sz="1200" b="0" dirty="0" err="1">
                          <a:effectLst/>
                          <a:latin typeface="黑体" panose="02010609060101010101" pitchFamily="49" charset="-122"/>
                          <a:ea typeface="黑体" panose="02010609060101010101" pitchFamily="49" charset="-122"/>
                        </a:rPr>
                        <a:t>EtBOMe</a:t>
                      </a:r>
                      <a:r>
                        <a:rPr lang="en-US" altLang="zh-CN" sz="1200" b="0" dirty="0">
                          <a:effectLst/>
                          <a:latin typeface="黑体" panose="02010609060101010101" pitchFamily="49" charset="-122"/>
                          <a:ea typeface="黑体" panose="02010609060101010101" pitchFamily="49" charset="-122"/>
                        </a:rPr>
                        <a:t>/</a:t>
                      </a:r>
                      <a:r>
                        <a:rPr lang="en-US" altLang="zh-CN" sz="1200" b="0" dirty="0" err="1">
                          <a:effectLst/>
                          <a:latin typeface="黑体" panose="02010609060101010101" pitchFamily="49" charset="-122"/>
                          <a:ea typeface="黑体" panose="02010609060101010101" pitchFamily="49" charset="-122"/>
                        </a:rPr>
                        <a:t>NaBH</a:t>
                      </a:r>
                      <a:r>
                        <a:rPr lang="en-US" altLang="zh-CN" sz="1200" b="0" dirty="0">
                          <a:effectLst/>
                          <a:latin typeface="黑体" panose="02010609060101010101" pitchFamily="49" charset="-122"/>
                          <a:ea typeface="黑体" panose="02010609060101010101" pitchFamily="49" charset="-122"/>
                        </a:rPr>
                        <a:t>₄</a:t>
                      </a:r>
                      <a:r>
                        <a:rPr lang="zh-CN" altLang="en-US" sz="1200" b="0" dirty="0">
                          <a:effectLst/>
                          <a:latin typeface="黑体" panose="02010609060101010101" pitchFamily="49" charset="-122"/>
                          <a:ea typeface="黑体" panose="02010609060101010101" pitchFamily="49" charset="-122"/>
                        </a:rPr>
                        <a:t>在</a:t>
                      </a:r>
                      <a:r>
                        <a:rPr lang="en-US" altLang="zh-CN" sz="1200" b="0" dirty="0">
                          <a:effectLst/>
                          <a:latin typeface="黑体" panose="02010609060101010101" pitchFamily="49" charset="-122"/>
                          <a:ea typeface="黑体" panose="02010609060101010101" pitchFamily="49" charset="-122"/>
                        </a:rPr>
                        <a:t>-78°C</a:t>
                      </a:r>
                      <a:r>
                        <a:rPr lang="zh-CN" altLang="en-US" sz="1200" b="0" dirty="0">
                          <a:effectLst/>
                          <a:latin typeface="黑体" panose="02010609060101010101" pitchFamily="49" charset="-122"/>
                          <a:ea typeface="黑体" panose="02010609060101010101" pitchFamily="49" charset="-122"/>
                        </a:rPr>
                        <a:t>下进行非对映选择性还原，能高效构建目标构型</a:t>
                      </a:r>
                    </a:p>
                  </a:txBody>
                  <a:tcPr marL="57067" marR="51360"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434612">
                <a:tc>
                  <a:txBody>
                    <a:bodyPr/>
                    <a:lstStyle/>
                    <a:p>
                      <a:r>
                        <a:rPr lang="zh-CN" altLang="en-US" sz="1200" b="1">
                          <a:effectLst/>
                          <a:latin typeface="黑体" panose="02010609060101010101" pitchFamily="49" charset="-122"/>
                          <a:ea typeface="黑体" panose="02010609060101010101" pitchFamily="49" charset="-122"/>
                        </a:rPr>
                        <a:t>保护基策略合理</a:t>
                      </a:r>
                      <a:endParaRPr lang="zh-CN" altLang="en-US" sz="1200" b="0">
                        <a:effectLst/>
                        <a:latin typeface="黑体" panose="02010609060101010101" pitchFamily="49" charset="-122"/>
                        <a:ea typeface="黑体" panose="02010609060101010101" pitchFamily="49" charset="-122"/>
                      </a:endParaRPr>
                    </a:p>
                  </a:txBody>
                  <a:tcPr marL="51360" marR="57067"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b="0" dirty="0">
                          <a:effectLst/>
                          <a:latin typeface="黑体" panose="02010609060101010101" pitchFamily="49" charset="-122"/>
                          <a:ea typeface="黑体" panose="02010609060101010101" pitchFamily="49" charset="-122"/>
                        </a:rPr>
                        <a:t>TBS</a:t>
                      </a:r>
                      <a:r>
                        <a:rPr lang="zh-CN" altLang="en-US" sz="1200" b="0" dirty="0">
                          <a:effectLst/>
                          <a:latin typeface="黑体" panose="02010609060101010101" pitchFamily="49" charset="-122"/>
                          <a:ea typeface="黑体" panose="02010609060101010101" pitchFamily="49" charset="-122"/>
                        </a:rPr>
                        <a:t>保护羟基，后续</a:t>
                      </a:r>
                      <a:r>
                        <a:rPr lang="en-US" altLang="zh-CN" sz="1200" b="0" dirty="0">
                          <a:effectLst/>
                          <a:latin typeface="黑体" panose="02010609060101010101" pitchFamily="49" charset="-122"/>
                          <a:ea typeface="黑体" panose="02010609060101010101" pitchFamily="49" charset="-122"/>
                        </a:rPr>
                        <a:t>HF/</a:t>
                      </a:r>
                      <a:r>
                        <a:rPr lang="zh-CN" altLang="en-US" sz="1200" b="0" dirty="0">
                          <a:effectLst/>
                          <a:latin typeface="黑体" panose="02010609060101010101" pitchFamily="49" charset="-122"/>
                          <a:ea typeface="黑体" panose="02010609060101010101" pitchFamily="49" charset="-122"/>
                        </a:rPr>
                        <a:t>乙腈脱保护条件温和、选择性好</a:t>
                      </a:r>
                    </a:p>
                  </a:txBody>
                  <a:tcPr marL="57067" marR="51360"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616452">
                <a:tc>
                  <a:txBody>
                    <a:bodyPr/>
                    <a:lstStyle/>
                    <a:p>
                      <a:r>
                        <a:rPr lang="zh-CN" altLang="en-US" sz="1200" b="1">
                          <a:effectLst/>
                          <a:latin typeface="黑体" panose="02010609060101010101" pitchFamily="49" charset="-122"/>
                          <a:ea typeface="黑体" panose="02010609060101010101" pitchFamily="49" charset="-122"/>
                        </a:rPr>
                        <a:t>可放大性</a:t>
                      </a:r>
                      <a:endParaRPr lang="zh-CN" altLang="en-US" sz="1200" b="0">
                        <a:effectLst/>
                        <a:latin typeface="黑体" panose="02010609060101010101" pitchFamily="49" charset="-122"/>
                        <a:ea typeface="黑体" panose="02010609060101010101" pitchFamily="49" charset="-122"/>
                      </a:endParaRPr>
                    </a:p>
                  </a:txBody>
                  <a:tcPr marL="51360" marR="57067"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1200" b="0" dirty="0">
                          <a:effectLst/>
                          <a:latin typeface="黑体" panose="02010609060101010101" pitchFamily="49" charset="-122"/>
                          <a:ea typeface="黑体" panose="02010609060101010101" pitchFamily="49" charset="-122"/>
                        </a:rPr>
                        <a:t>所用溶剂（甲苯、</a:t>
                      </a:r>
                      <a:r>
                        <a:rPr lang="en-US" altLang="zh-CN" sz="1200" b="0" dirty="0">
                          <a:effectLst/>
                          <a:latin typeface="黑体" panose="02010609060101010101" pitchFamily="49" charset="-122"/>
                          <a:ea typeface="黑体" panose="02010609060101010101" pitchFamily="49" charset="-122"/>
                        </a:rPr>
                        <a:t>THF</a:t>
                      </a:r>
                      <a:r>
                        <a:rPr lang="zh-CN" altLang="en-US" sz="1200" b="0" dirty="0">
                          <a:effectLst/>
                          <a:latin typeface="黑体" panose="02010609060101010101" pitchFamily="49" charset="-122"/>
                          <a:ea typeface="黑体" panose="02010609060101010101" pitchFamily="49" charset="-122"/>
                        </a:rPr>
                        <a:t>、</a:t>
                      </a:r>
                      <a:r>
                        <a:rPr lang="en-US" altLang="zh-CN" sz="1200" b="0" dirty="0">
                          <a:effectLst/>
                          <a:latin typeface="黑体" panose="02010609060101010101" pitchFamily="49" charset="-122"/>
                          <a:ea typeface="黑体" panose="02010609060101010101" pitchFamily="49" charset="-122"/>
                        </a:rPr>
                        <a:t>MeOH</a:t>
                      </a:r>
                      <a:r>
                        <a:rPr lang="zh-CN" altLang="en-US" sz="1200" b="0" dirty="0">
                          <a:effectLst/>
                          <a:latin typeface="黑体" panose="02010609060101010101" pitchFamily="49" charset="-122"/>
                          <a:ea typeface="黑体" panose="02010609060101010101" pitchFamily="49" charset="-122"/>
                        </a:rPr>
                        <a:t>等）和试剂（</a:t>
                      </a:r>
                      <a:r>
                        <a:rPr lang="en-US" altLang="zh-CN" sz="1200" b="0" dirty="0">
                          <a:effectLst/>
                          <a:latin typeface="黑体" panose="02010609060101010101" pitchFamily="49" charset="-122"/>
                          <a:ea typeface="黑体" panose="02010609060101010101" pitchFamily="49" charset="-122"/>
                        </a:rPr>
                        <a:t>DIBAL-H</a:t>
                      </a:r>
                      <a:r>
                        <a:rPr lang="zh-CN" altLang="en-US" sz="1200" b="0" dirty="0">
                          <a:effectLst/>
                          <a:latin typeface="黑体" panose="02010609060101010101" pitchFamily="49" charset="-122"/>
                          <a:ea typeface="黑体" panose="02010609060101010101" pitchFamily="49" charset="-122"/>
                        </a:rPr>
                        <a:t>、</a:t>
                      </a:r>
                      <a:r>
                        <a:rPr lang="en-US" altLang="zh-CN" sz="1200" b="0" dirty="0">
                          <a:effectLst/>
                          <a:latin typeface="黑体" panose="02010609060101010101" pitchFamily="49" charset="-122"/>
                          <a:ea typeface="黑体" panose="02010609060101010101" pitchFamily="49" charset="-122"/>
                        </a:rPr>
                        <a:t>n-</a:t>
                      </a:r>
                      <a:r>
                        <a:rPr lang="en-US" altLang="zh-CN" sz="1200" b="0" dirty="0" err="1">
                          <a:effectLst/>
                          <a:latin typeface="黑体" panose="02010609060101010101" pitchFamily="49" charset="-122"/>
                          <a:ea typeface="黑体" panose="02010609060101010101" pitchFamily="49" charset="-122"/>
                        </a:rPr>
                        <a:t>BuLi</a:t>
                      </a:r>
                      <a:r>
                        <a:rPr lang="zh-CN" altLang="en-US" sz="1200" b="0" dirty="0">
                          <a:effectLst/>
                          <a:latin typeface="黑体" panose="02010609060101010101" pitchFamily="49" charset="-122"/>
                          <a:ea typeface="黑体" panose="02010609060101010101" pitchFamily="49" charset="-122"/>
                        </a:rPr>
                        <a:t>、</a:t>
                      </a:r>
                      <a:r>
                        <a:rPr lang="en-US" altLang="zh-CN" sz="1200" b="0" dirty="0" err="1">
                          <a:effectLst/>
                          <a:latin typeface="黑体" panose="02010609060101010101" pitchFamily="49" charset="-122"/>
                          <a:ea typeface="黑体" panose="02010609060101010101" pitchFamily="49" charset="-122"/>
                        </a:rPr>
                        <a:t>MnO</a:t>
                      </a:r>
                      <a:r>
                        <a:rPr lang="en-US" altLang="zh-CN" sz="1200" b="0" dirty="0">
                          <a:effectLst/>
                          <a:latin typeface="黑体" panose="02010609060101010101" pitchFamily="49" charset="-122"/>
                          <a:ea typeface="黑体" panose="02010609060101010101" pitchFamily="49" charset="-122"/>
                        </a:rPr>
                        <a:t>₂</a:t>
                      </a:r>
                      <a:r>
                        <a:rPr lang="zh-CN" altLang="en-US" sz="1200" b="0" dirty="0">
                          <a:effectLst/>
                          <a:latin typeface="黑体" panose="02010609060101010101" pitchFamily="49" charset="-122"/>
                          <a:ea typeface="黑体" panose="02010609060101010101" pitchFamily="49" charset="-122"/>
                        </a:rPr>
                        <a:t>）均为大宗化学品，适合工业生产</a:t>
                      </a:r>
                    </a:p>
                  </a:txBody>
                  <a:tcPr marL="57067" marR="51360"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graphicFrame>
        <p:nvGraphicFramePr>
          <p:cNvPr id="10" name="表格 9"/>
          <p:cNvGraphicFramePr>
            <a:graphicFrameLocks noGrp="1"/>
          </p:cNvGraphicFramePr>
          <p:nvPr/>
        </p:nvGraphicFramePr>
        <p:xfrm>
          <a:off x="541349" y="3599078"/>
          <a:ext cx="5554651" cy="2664173"/>
        </p:xfrm>
        <a:graphic>
          <a:graphicData uri="http://schemas.openxmlformats.org/drawingml/2006/table">
            <a:tbl>
              <a:tblPr/>
              <a:tblGrid>
                <a:gridCol w="1414336">
                  <a:extLst>
                    <a:ext uri="{9D8B030D-6E8A-4147-A177-3AD203B41FA5}">
                      <a16:colId xmlns:a16="http://schemas.microsoft.com/office/drawing/2014/main" val="20000"/>
                    </a:ext>
                  </a:extLst>
                </a:gridCol>
                <a:gridCol w="4140315">
                  <a:extLst>
                    <a:ext uri="{9D8B030D-6E8A-4147-A177-3AD203B41FA5}">
                      <a16:colId xmlns:a16="http://schemas.microsoft.com/office/drawing/2014/main" val="20001"/>
                    </a:ext>
                  </a:extLst>
                </a:gridCol>
              </a:tblGrid>
              <a:tr h="258247">
                <a:tc>
                  <a:txBody>
                    <a:bodyPr/>
                    <a:lstStyle/>
                    <a:p>
                      <a:pPr algn="l"/>
                      <a:r>
                        <a:rPr lang="zh-CN" altLang="en-US" sz="1200" b="0" dirty="0">
                          <a:effectLst/>
                          <a:latin typeface="黑体" panose="02010609060101010101" pitchFamily="49" charset="-122"/>
                          <a:ea typeface="黑体" panose="02010609060101010101" pitchFamily="49" charset="-122"/>
                        </a:rPr>
                        <a:t>类别</a:t>
                      </a:r>
                    </a:p>
                  </a:txBody>
                  <a:tcPr marL="51360" marR="57067"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a:r>
                        <a:rPr lang="zh-CN" altLang="en-US" sz="1200" b="0" dirty="0">
                          <a:effectLst/>
                          <a:latin typeface="黑体" panose="02010609060101010101" pitchFamily="49" charset="-122"/>
                          <a:ea typeface="黑体" panose="02010609060101010101" pitchFamily="49" charset="-122"/>
                        </a:rPr>
                        <a:t>缺点</a:t>
                      </a:r>
                    </a:p>
                  </a:txBody>
                  <a:tcPr marL="57067" marR="57067"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444029">
                <a:tc>
                  <a:txBody>
                    <a:bodyPr/>
                    <a:lstStyle/>
                    <a:p>
                      <a:r>
                        <a:rPr lang="zh-CN" altLang="en-US" sz="1200" b="1" dirty="0">
                          <a:effectLst/>
                          <a:latin typeface="黑体" panose="02010609060101010101" pitchFamily="49" charset="-122"/>
                          <a:ea typeface="黑体" panose="02010609060101010101" pitchFamily="49" charset="-122"/>
                        </a:rPr>
                        <a:t>步骤较长</a:t>
                      </a:r>
                      <a:endParaRPr lang="zh-CN" altLang="en-US" sz="1200" b="0" dirty="0">
                        <a:effectLst/>
                        <a:latin typeface="黑体" panose="02010609060101010101" pitchFamily="49" charset="-122"/>
                        <a:ea typeface="黑体" panose="02010609060101010101" pitchFamily="49" charset="-122"/>
                      </a:endParaRPr>
                    </a:p>
                  </a:txBody>
                  <a:tcPr marL="51360" marR="57067"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200" b="0">
                          <a:effectLst/>
                          <a:latin typeface="黑体" panose="02010609060101010101" pitchFamily="49" charset="-122"/>
                          <a:ea typeface="黑体" panose="02010609060101010101" pitchFamily="49" charset="-122"/>
                        </a:rPr>
                        <a:t>从对氟苯甲醛到最终产物约需</a:t>
                      </a:r>
                      <a:r>
                        <a:rPr lang="en-US" altLang="zh-CN" sz="1200" b="0">
                          <a:effectLst/>
                          <a:latin typeface="黑体" panose="02010609060101010101" pitchFamily="49" charset="-122"/>
                          <a:ea typeface="黑体" panose="02010609060101010101" pitchFamily="49" charset="-122"/>
                        </a:rPr>
                        <a:t>12–13</a:t>
                      </a:r>
                      <a:r>
                        <a:rPr lang="zh-CN" altLang="en-US" sz="1200" b="0">
                          <a:effectLst/>
                          <a:latin typeface="黑体" panose="02010609060101010101" pitchFamily="49" charset="-122"/>
                          <a:ea typeface="黑体" panose="02010609060101010101" pitchFamily="49" charset="-122"/>
                        </a:rPr>
                        <a:t>步，总收率可能偏低</a:t>
                      </a:r>
                    </a:p>
                  </a:txBody>
                  <a:tcPr marL="57067" marR="51360"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44029">
                <a:tc>
                  <a:txBody>
                    <a:bodyPr/>
                    <a:lstStyle/>
                    <a:p>
                      <a:r>
                        <a:rPr lang="zh-CN" altLang="en-US" sz="1200" b="1" dirty="0">
                          <a:effectLst/>
                          <a:latin typeface="黑体" panose="02010609060101010101" pitchFamily="49" charset="-122"/>
                          <a:ea typeface="黑体" panose="02010609060101010101" pitchFamily="49" charset="-122"/>
                        </a:rPr>
                        <a:t>低温反应苛刻</a:t>
                      </a:r>
                      <a:endParaRPr lang="zh-CN" altLang="en-US" sz="1200" b="0" dirty="0">
                        <a:effectLst/>
                        <a:latin typeface="黑体" panose="02010609060101010101" pitchFamily="49" charset="-122"/>
                        <a:ea typeface="黑体" panose="02010609060101010101" pitchFamily="49" charset="-122"/>
                      </a:endParaRPr>
                    </a:p>
                  </a:txBody>
                  <a:tcPr marL="51360" marR="57067"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altLang="zh-CN" sz="1200" b="0">
                          <a:effectLst/>
                          <a:latin typeface="黑体" panose="02010609060101010101" pitchFamily="49" charset="-122"/>
                          <a:ea typeface="黑体" panose="02010609060101010101" pitchFamily="49" charset="-122"/>
                        </a:rPr>
                        <a:t>Wittig</a:t>
                      </a:r>
                      <a:r>
                        <a:rPr lang="zh-CN" altLang="en-US" sz="1200" b="0">
                          <a:effectLst/>
                          <a:latin typeface="黑体" panose="02010609060101010101" pitchFamily="49" charset="-122"/>
                          <a:ea typeface="黑体" panose="02010609060101010101" pitchFamily="49" charset="-122"/>
                        </a:rPr>
                        <a:t>反应前的醛制备、非对映选择性还原等需</a:t>
                      </a:r>
                      <a:r>
                        <a:rPr lang="en-US" altLang="zh-CN" sz="1200" b="0">
                          <a:effectLst/>
                          <a:latin typeface="黑体" panose="02010609060101010101" pitchFamily="49" charset="-122"/>
                          <a:ea typeface="黑体" panose="02010609060101010101" pitchFamily="49" charset="-122"/>
                        </a:rPr>
                        <a:t>–70°C</a:t>
                      </a:r>
                      <a:r>
                        <a:rPr lang="zh-CN" altLang="en-US" sz="1200" b="0">
                          <a:effectLst/>
                          <a:latin typeface="黑体" panose="02010609060101010101" pitchFamily="49" charset="-122"/>
                          <a:ea typeface="黑体" panose="02010609060101010101" pitchFamily="49" charset="-122"/>
                        </a:rPr>
                        <a:t>至</a:t>
                      </a:r>
                      <a:r>
                        <a:rPr lang="en-US" altLang="zh-CN" sz="1200" b="0">
                          <a:effectLst/>
                          <a:latin typeface="黑体" panose="02010609060101010101" pitchFamily="49" charset="-122"/>
                          <a:ea typeface="黑体" panose="02010609060101010101" pitchFamily="49" charset="-122"/>
                        </a:rPr>
                        <a:t>–78°C</a:t>
                      </a:r>
                      <a:r>
                        <a:rPr lang="zh-CN" altLang="en-US" sz="1200" b="0">
                          <a:effectLst/>
                          <a:latin typeface="黑体" panose="02010609060101010101" pitchFamily="49" charset="-122"/>
                          <a:ea typeface="黑体" panose="02010609060101010101" pitchFamily="49" charset="-122"/>
                        </a:rPr>
                        <a:t>，能耗高，设备要求高</a:t>
                      </a:r>
                    </a:p>
                  </a:txBody>
                  <a:tcPr marL="57067" marR="51360"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29810">
                <a:tc>
                  <a:txBody>
                    <a:bodyPr/>
                    <a:lstStyle/>
                    <a:p>
                      <a:r>
                        <a:rPr lang="zh-CN" altLang="en-US" sz="1200" b="1" dirty="0">
                          <a:effectLst/>
                          <a:latin typeface="黑体" panose="02010609060101010101" pitchFamily="49" charset="-122"/>
                          <a:ea typeface="黑体" panose="02010609060101010101" pitchFamily="49" charset="-122"/>
                        </a:rPr>
                        <a:t>使用危险</a:t>
                      </a:r>
                      <a:r>
                        <a:rPr lang="en-US" altLang="zh-CN" sz="1200" b="1" dirty="0">
                          <a:effectLst/>
                          <a:latin typeface="黑体" panose="02010609060101010101" pitchFamily="49" charset="-122"/>
                          <a:ea typeface="黑体" panose="02010609060101010101" pitchFamily="49" charset="-122"/>
                        </a:rPr>
                        <a:t>/</a:t>
                      </a:r>
                      <a:r>
                        <a:rPr lang="zh-CN" altLang="en-US" sz="1200" b="1" dirty="0">
                          <a:effectLst/>
                          <a:latin typeface="黑体" panose="02010609060101010101" pitchFamily="49" charset="-122"/>
                          <a:ea typeface="黑体" panose="02010609060101010101" pitchFamily="49" charset="-122"/>
                        </a:rPr>
                        <a:t>敏感试剂</a:t>
                      </a:r>
                      <a:endParaRPr lang="zh-CN" altLang="en-US" sz="1200" b="0" dirty="0">
                        <a:effectLst/>
                        <a:latin typeface="黑体" panose="02010609060101010101" pitchFamily="49" charset="-122"/>
                        <a:ea typeface="黑体" panose="02010609060101010101" pitchFamily="49" charset="-122"/>
                      </a:endParaRPr>
                    </a:p>
                  </a:txBody>
                  <a:tcPr marL="51360" marR="57067"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sz="1200" b="0" dirty="0">
                          <a:effectLst/>
                          <a:latin typeface="黑体" panose="02010609060101010101" pitchFamily="49" charset="-122"/>
                          <a:ea typeface="黑体" panose="02010609060101010101" pitchFamily="49" charset="-122"/>
                        </a:rPr>
                        <a:t>n-</a:t>
                      </a:r>
                      <a:r>
                        <a:rPr lang="en-US" sz="1200" b="0" dirty="0" err="1">
                          <a:effectLst/>
                          <a:latin typeface="黑体" panose="02010609060101010101" pitchFamily="49" charset="-122"/>
                          <a:ea typeface="黑体" panose="02010609060101010101" pitchFamily="49" charset="-122"/>
                        </a:rPr>
                        <a:t>BuLi</a:t>
                      </a:r>
                      <a:r>
                        <a:rPr lang="en-US" sz="1200" b="0" dirty="0">
                          <a:effectLst/>
                          <a:latin typeface="黑体" panose="02010609060101010101" pitchFamily="49" charset="-122"/>
                          <a:ea typeface="黑体" panose="02010609060101010101" pitchFamily="49" charset="-122"/>
                        </a:rPr>
                        <a:t>（</a:t>
                      </a:r>
                      <a:r>
                        <a:rPr lang="zh-CN" altLang="en-US" sz="1200" b="0" dirty="0">
                          <a:effectLst/>
                          <a:latin typeface="黑体" panose="02010609060101010101" pitchFamily="49" charset="-122"/>
                          <a:ea typeface="黑体" panose="02010609060101010101" pitchFamily="49" charset="-122"/>
                        </a:rPr>
                        <a:t>易燃、需无水无氧）、</a:t>
                      </a:r>
                      <a:r>
                        <a:rPr lang="en-US" sz="1200" b="0" dirty="0">
                          <a:effectLst/>
                          <a:latin typeface="黑体" panose="02010609060101010101" pitchFamily="49" charset="-122"/>
                          <a:ea typeface="黑体" panose="02010609060101010101" pitchFamily="49" charset="-122"/>
                        </a:rPr>
                        <a:t>DIBAL-H（</a:t>
                      </a:r>
                      <a:r>
                        <a:rPr lang="zh-CN" altLang="en-US" sz="1200" b="0" dirty="0">
                          <a:effectLst/>
                          <a:latin typeface="黑体" panose="02010609060101010101" pitchFamily="49" charset="-122"/>
                          <a:ea typeface="黑体" panose="02010609060101010101" pitchFamily="49" charset="-122"/>
                        </a:rPr>
                        <a:t>对空气和湿气敏感）、</a:t>
                      </a:r>
                      <a:r>
                        <a:rPr lang="en-US" sz="1200" b="0" dirty="0">
                          <a:effectLst/>
                          <a:latin typeface="黑体" panose="02010609060101010101" pitchFamily="49" charset="-122"/>
                          <a:ea typeface="黑体" panose="02010609060101010101" pitchFamily="49" charset="-122"/>
                        </a:rPr>
                        <a:t>TPAP（</a:t>
                      </a:r>
                      <a:r>
                        <a:rPr lang="zh-CN" altLang="en-US" sz="1200" b="0" dirty="0">
                          <a:effectLst/>
                          <a:latin typeface="黑体" panose="02010609060101010101" pitchFamily="49" charset="-122"/>
                          <a:ea typeface="黑体" panose="02010609060101010101" pitchFamily="49" charset="-122"/>
                        </a:rPr>
                        <a:t>含高价钌，成本高）</a:t>
                      </a:r>
                    </a:p>
                  </a:txBody>
                  <a:tcPr marL="57067" marR="51360"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44029">
                <a:tc>
                  <a:txBody>
                    <a:bodyPr/>
                    <a:lstStyle/>
                    <a:p>
                      <a:r>
                        <a:rPr lang="zh-CN" altLang="en-US" sz="1200" b="1">
                          <a:effectLst/>
                          <a:latin typeface="黑体" panose="02010609060101010101" pitchFamily="49" charset="-122"/>
                          <a:ea typeface="黑体" panose="02010609060101010101" pitchFamily="49" charset="-122"/>
                        </a:rPr>
                        <a:t>副产物控制难</a:t>
                      </a:r>
                      <a:endParaRPr lang="zh-CN" altLang="en-US" sz="1200" b="0">
                        <a:effectLst/>
                        <a:latin typeface="黑体" panose="02010609060101010101" pitchFamily="49" charset="-122"/>
                        <a:ea typeface="黑体" panose="02010609060101010101" pitchFamily="49" charset="-122"/>
                      </a:endParaRPr>
                    </a:p>
                  </a:txBody>
                  <a:tcPr marL="51360" marR="57067"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200" b="0">
                          <a:effectLst/>
                          <a:latin typeface="黑体" panose="02010609060101010101" pitchFamily="49" charset="-122"/>
                          <a:ea typeface="黑体" panose="02010609060101010101" pitchFamily="49" charset="-122"/>
                        </a:rPr>
                        <a:t>嘧啶醛合成时可能过氧化或生成杂质；</a:t>
                      </a:r>
                      <a:r>
                        <a:rPr lang="en-US" altLang="zh-CN" sz="1200" b="0">
                          <a:effectLst/>
                          <a:latin typeface="黑体" panose="02010609060101010101" pitchFamily="49" charset="-122"/>
                          <a:ea typeface="黑体" panose="02010609060101010101" pitchFamily="49" charset="-122"/>
                        </a:rPr>
                        <a:t>Wittig</a:t>
                      </a:r>
                      <a:r>
                        <a:rPr lang="zh-CN" altLang="en-US" sz="1200" b="0">
                          <a:effectLst/>
                          <a:latin typeface="黑体" panose="02010609060101010101" pitchFamily="49" charset="-122"/>
                          <a:ea typeface="黑体" panose="02010609060101010101" pitchFamily="49" charset="-122"/>
                        </a:rPr>
                        <a:t>反应可能有</a:t>
                      </a:r>
                      <a:r>
                        <a:rPr lang="en-US" altLang="zh-CN" sz="1200" b="0">
                          <a:effectLst/>
                          <a:latin typeface="黑体" panose="02010609060101010101" pitchFamily="49" charset="-122"/>
                          <a:ea typeface="黑体" panose="02010609060101010101" pitchFamily="49" charset="-122"/>
                        </a:rPr>
                        <a:t>E/Z</a:t>
                      </a:r>
                      <a:r>
                        <a:rPr lang="zh-CN" altLang="en-US" sz="1200" b="0">
                          <a:effectLst/>
                          <a:latin typeface="黑体" panose="02010609060101010101" pitchFamily="49" charset="-122"/>
                          <a:ea typeface="黑体" panose="02010609060101010101" pitchFamily="49" charset="-122"/>
                        </a:rPr>
                        <a:t>异构体副产物</a:t>
                      </a:r>
                    </a:p>
                  </a:txBody>
                  <a:tcPr marL="57067" marR="51360"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44029">
                <a:tc>
                  <a:txBody>
                    <a:bodyPr/>
                    <a:lstStyle/>
                    <a:p>
                      <a:r>
                        <a:rPr lang="en-US" altLang="zh-CN" sz="1200" b="1">
                          <a:effectLst/>
                          <a:latin typeface="黑体" panose="02010609060101010101" pitchFamily="49" charset="-122"/>
                          <a:ea typeface="黑体" panose="02010609060101010101" pitchFamily="49" charset="-122"/>
                        </a:rPr>
                        <a:t>TBS</a:t>
                      </a:r>
                      <a:r>
                        <a:rPr lang="zh-CN" altLang="en-US" sz="1200" b="1">
                          <a:effectLst/>
                          <a:latin typeface="黑体" panose="02010609060101010101" pitchFamily="49" charset="-122"/>
                          <a:ea typeface="黑体" panose="02010609060101010101" pitchFamily="49" charset="-122"/>
                        </a:rPr>
                        <a:t>保护</a:t>
                      </a:r>
                      <a:r>
                        <a:rPr lang="en-US" altLang="zh-CN" sz="1200" b="1">
                          <a:effectLst/>
                          <a:latin typeface="黑体" panose="02010609060101010101" pitchFamily="49" charset="-122"/>
                          <a:ea typeface="黑体" panose="02010609060101010101" pitchFamily="49" charset="-122"/>
                        </a:rPr>
                        <a:t>/</a:t>
                      </a:r>
                      <a:r>
                        <a:rPr lang="zh-CN" altLang="en-US" sz="1200" b="1">
                          <a:effectLst/>
                          <a:latin typeface="黑体" panose="02010609060101010101" pitchFamily="49" charset="-122"/>
                          <a:ea typeface="黑体" panose="02010609060101010101" pitchFamily="49" charset="-122"/>
                        </a:rPr>
                        <a:t>脱保护增加步骤</a:t>
                      </a:r>
                      <a:endParaRPr lang="zh-CN" altLang="en-US" sz="1200" b="0">
                        <a:effectLst/>
                        <a:latin typeface="黑体" panose="02010609060101010101" pitchFamily="49" charset="-122"/>
                        <a:ea typeface="黑体" panose="02010609060101010101" pitchFamily="49" charset="-122"/>
                      </a:endParaRPr>
                    </a:p>
                  </a:txBody>
                  <a:tcPr marL="51360" marR="57067"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200" b="0" dirty="0">
                          <a:effectLst/>
                          <a:latin typeface="黑体" panose="02010609060101010101" pitchFamily="49" charset="-122"/>
                          <a:ea typeface="黑体" panose="02010609060101010101" pitchFamily="49" charset="-122"/>
                        </a:rPr>
                        <a:t>虽保护策略合理，但增加了两步操作（上保护</a:t>
                      </a:r>
                      <a:r>
                        <a:rPr lang="en-US" altLang="zh-CN" sz="1200" b="0" dirty="0">
                          <a:effectLst/>
                          <a:latin typeface="黑体" panose="02010609060101010101" pitchFamily="49" charset="-122"/>
                          <a:ea typeface="黑体" panose="02010609060101010101" pitchFamily="49" charset="-122"/>
                        </a:rPr>
                        <a:t>+</a:t>
                      </a:r>
                      <a:r>
                        <a:rPr lang="zh-CN" altLang="en-US" sz="1200" b="0" dirty="0">
                          <a:effectLst/>
                          <a:latin typeface="黑体" panose="02010609060101010101" pitchFamily="49" charset="-122"/>
                          <a:ea typeface="黑体" panose="02010609060101010101" pitchFamily="49" charset="-122"/>
                        </a:rPr>
                        <a:t>脱保护），原子经济性一般</a:t>
                      </a:r>
                    </a:p>
                  </a:txBody>
                  <a:tcPr marL="57067" marR="51360" marT="35667" marB="356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graphicFrame>
        <p:nvGraphicFramePr>
          <p:cNvPr id="13" name="表格 12"/>
          <p:cNvGraphicFramePr>
            <a:graphicFrameLocks noGrp="1"/>
          </p:cNvGraphicFramePr>
          <p:nvPr/>
        </p:nvGraphicFramePr>
        <p:xfrm>
          <a:off x="7232270" y="835734"/>
          <a:ext cx="4418381" cy="4420258"/>
        </p:xfrm>
        <a:graphic>
          <a:graphicData uri="http://schemas.openxmlformats.org/drawingml/2006/table">
            <a:tbl>
              <a:tblPr/>
              <a:tblGrid>
                <a:gridCol w="1340139">
                  <a:extLst>
                    <a:ext uri="{9D8B030D-6E8A-4147-A177-3AD203B41FA5}">
                      <a16:colId xmlns:a16="http://schemas.microsoft.com/office/drawing/2014/main" val="20000"/>
                    </a:ext>
                  </a:extLst>
                </a:gridCol>
                <a:gridCol w="3078242">
                  <a:extLst>
                    <a:ext uri="{9D8B030D-6E8A-4147-A177-3AD203B41FA5}">
                      <a16:colId xmlns:a16="http://schemas.microsoft.com/office/drawing/2014/main" val="20001"/>
                    </a:ext>
                  </a:extLst>
                </a:gridCol>
              </a:tblGrid>
              <a:tr h="283488">
                <a:tc>
                  <a:txBody>
                    <a:bodyPr/>
                    <a:lstStyle/>
                    <a:p>
                      <a:pPr algn="l"/>
                      <a:endParaRPr lang="zh-CN" altLang="en-US" sz="1200" b="0" dirty="0">
                        <a:effectLst/>
                        <a:latin typeface="黑体" panose="02010609060101010101" pitchFamily="49" charset="-122"/>
                        <a:ea typeface="黑体" panose="02010609060101010101" pitchFamily="49" charset="-122"/>
                      </a:endParaRPr>
                    </a:p>
                  </a:txBody>
                  <a:tcPr marL="42360" marR="47067" marT="29417" marB="294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a:r>
                        <a:rPr lang="zh-CN" altLang="en-US" sz="1200" b="0" dirty="0">
                          <a:effectLst/>
                          <a:latin typeface="黑体" panose="02010609060101010101" pitchFamily="49" charset="-122"/>
                          <a:ea typeface="黑体" panose="02010609060101010101" pitchFamily="49" charset="-122"/>
                        </a:rPr>
                        <a:t>解决方案</a:t>
                      </a:r>
                    </a:p>
                  </a:txBody>
                  <a:tcPr marL="47067" marR="47067" marT="29417" marB="294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926949">
                <a:tc>
                  <a:txBody>
                    <a:bodyPr/>
                    <a:lstStyle/>
                    <a:p>
                      <a:r>
                        <a:rPr lang="en-US" altLang="zh-CN" sz="1200" b="1" dirty="0">
                          <a:effectLst/>
                          <a:latin typeface="黑体" panose="02010609060101010101" pitchFamily="49" charset="-122"/>
                          <a:ea typeface="黑体" panose="02010609060101010101" pitchFamily="49" charset="-122"/>
                        </a:rPr>
                        <a:t>1. </a:t>
                      </a:r>
                      <a:r>
                        <a:rPr lang="zh-CN" altLang="en-US" sz="1200" b="1" dirty="0">
                          <a:effectLst/>
                          <a:latin typeface="黑体" panose="02010609060101010101" pitchFamily="49" charset="-122"/>
                          <a:ea typeface="黑体" panose="02010609060101010101" pitchFamily="49" charset="-122"/>
                        </a:rPr>
                        <a:t>嘧啶醛</a:t>
                      </a:r>
                      <a:r>
                        <a:rPr lang="en-US" altLang="zh-CN" sz="1200" b="1" dirty="0">
                          <a:effectLst/>
                          <a:latin typeface="黑体" panose="02010609060101010101" pitchFamily="49" charset="-122"/>
                          <a:ea typeface="黑体" panose="02010609060101010101" pitchFamily="49" charset="-122"/>
                        </a:rPr>
                        <a:t>I</a:t>
                      </a:r>
                      <a:r>
                        <a:rPr lang="zh-CN" altLang="en-US" sz="1200" b="1" dirty="0">
                          <a:effectLst/>
                          <a:latin typeface="黑体" panose="02010609060101010101" pitchFamily="49" charset="-122"/>
                          <a:ea typeface="黑体" panose="02010609060101010101" pitchFamily="49" charset="-122"/>
                        </a:rPr>
                        <a:t>的合成收率不稳定</a:t>
                      </a:r>
                      <a:endParaRPr lang="zh-CN" altLang="en-US" sz="1200" b="0" dirty="0">
                        <a:effectLst/>
                        <a:latin typeface="黑体" panose="02010609060101010101" pitchFamily="49" charset="-122"/>
                        <a:ea typeface="黑体" panose="02010609060101010101" pitchFamily="49" charset="-122"/>
                      </a:endParaRPr>
                    </a:p>
                  </a:txBody>
                  <a:tcPr marL="42360" marR="47067" marT="29417" marB="294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200" b="0" dirty="0">
                          <a:effectLst/>
                          <a:latin typeface="黑体" panose="02010609060101010101" pitchFamily="49" charset="-122"/>
                          <a:ea typeface="黑体" panose="02010609060101010101" pitchFamily="49" charset="-122"/>
                        </a:rPr>
                        <a:t>方法二（</a:t>
                      </a:r>
                      <a:r>
                        <a:rPr lang="en-US" altLang="zh-CN" sz="1200" b="0" dirty="0">
                          <a:effectLst/>
                          <a:latin typeface="黑体" panose="02010609060101010101" pitchFamily="49" charset="-122"/>
                          <a:ea typeface="黑体" panose="02010609060101010101" pitchFamily="49" charset="-122"/>
                        </a:rPr>
                        <a:t>TPAP/NMO</a:t>
                      </a:r>
                      <a:r>
                        <a:rPr lang="zh-CN" altLang="en-US" sz="1200" b="0" dirty="0">
                          <a:effectLst/>
                          <a:latin typeface="黑体" panose="02010609060101010101" pitchFamily="49" charset="-122"/>
                          <a:ea typeface="黑体" panose="02010609060101010101" pitchFamily="49" charset="-122"/>
                        </a:rPr>
                        <a:t>）较</a:t>
                      </a:r>
                      <a:r>
                        <a:rPr lang="en-US" altLang="zh-CN" sz="1200" b="0" dirty="0" err="1">
                          <a:effectLst/>
                          <a:latin typeface="黑体" panose="02010609060101010101" pitchFamily="49" charset="-122"/>
                          <a:ea typeface="黑体" panose="02010609060101010101" pitchFamily="49" charset="-122"/>
                        </a:rPr>
                        <a:t>MnO</a:t>
                      </a:r>
                      <a:r>
                        <a:rPr lang="en-US" altLang="zh-CN" sz="1200" b="0" dirty="0">
                          <a:effectLst/>
                          <a:latin typeface="黑体" panose="02010609060101010101" pitchFamily="49" charset="-122"/>
                          <a:ea typeface="黑体" panose="02010609060101010101" pitchFamily="49" charset="-122"/>
                        </a:rPr>
                        <a:t>₂</a:t>
                      </a:r>
                      <a:r>
                        <a:rPr lang="zh-CN" altLang="en-US" sz="1200" b="0" dirty="0">
                          <a:effectLst/>
                          <a:latin typeface="黑体" panose="02010609060101010101" pitchFamily="49" charset="-122"/>
                          <a:ea typeface="黑体" panose="02010609060101010101" pitchFamily="49" charset="-122"/>
                        </a:rPr>
                        <a:t>更温和、易过滤，适合放大；可优化为催化量</a:t>
                      </a:r>
                      <a:r>
                        <a:rPr lang="en-US" altLang="zh-CN" sz="1200" b="0" dirty="0">
                          <a:effectLst/>
                          <a:latin typeface="黑体" panose="02010609060101010101" pitchFamily="49" charset="-122"/>
                          <a:ea typeface="黑体" panose="02010609060101010101" pitchFamily="49" charset="-122"/>
                        </a:rPr>
                        <a:t>TPAP + </a:t>
                      </a:r>
                      <a:r>
                        <a:rPr lang="zh-CN" altLang="en-US" sz="1200" b="0" dirty="0">
                          <a:effectLst/>
                          <a:latin typeface="黑体" panose="02010609060101010101" pitchFamily="49" charset="-122"/>
                          <a:ea typeface="黑体" panose="02010609060101010101" pitchFamily="49" charset="-122"/>
                        </a:rPr>
                        <a:t>共氧化剂</a:t>
                      </a:r>
                    </a:p>
                  </a:txBody>
                  <a:tcPr marL="47067" marR="42360" marT="29417" marB="294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141436">
                <a:tc>
                  <a:txBody>
                    <a:bodyPr/>
                    <a:lstStyle/>
                    <a:p>
                      <a:r>
                        <a:rPr lang="en-US" altLang="zh-CN" sz="1200" b="1">
                          <a:effectLst/>
                          <a:latin typeface="黑体" panose="02010609060101010101" pitchFamily="49" charset="-122"/>
                          <a:ea typeface="黑体" panose="02010609060101010101" pitchFamily="49" charset="-122"/>
                        </a:rPr>
                        <a:t>2. Wittig</a:t>
                      </a:r>
                      <a:r>
                        <a:rPr lang="zh-CN" altLang="en-US" sz="1200" b="1">
                          <a:effectLst/>
                          <a:latin typeface="黑体" panose="02010609060101010101" pitchFamily="49" charset="-122"/>
                          <a:ea typeface="黑体" panose="02010609060101010101" pitchFamily="49" charset="-122"/>
                        </a:rPr>
                        <a:t>反应</a:t>
                      </a:r>
                      <a:r>
                        <a:rPr lang="en-US" altLang="zh-CN" sz="1200" b="1">
                          <a:effectLst/>
                          <a:latin typeface="黑体" panose="02010609060101010101" pitchFamily="49" charset="-122"/>
                          <a:ea typeface="黑体" panose="02010609060101010101" pitchFamily="49" charset="-122"/>
                        </a:rPr>
                        <a:t>E/Z</a:t>
                      </a:r>
                      <a:r>
                        <a:rPr lang="zh-CN" altLang="en-US" sz="1200" b="1">
                          <a:effectLst/>
                          <a:latin typeface="黑体" panose="02010609060101010101" pitchFamily="49" charset="-122"/>
                          <a:ea typeface="黑体" panose="02010609060101010101" pitchFamily="49" charset="-122"/>
                        </a:rPr>
                        <a:t>选择性控制</a:t>
                      </a:r>
                      <a:endParaRPr lang="zh-CN" altLang="en-US" sz="1200" b="0">
                        <a:effectLst/>
                        <a:latin typeface="黑体" panose="02010609060101010101" pitchFamily="49" charset="-122"/>
                        <a:ea typeface="黑体" panose="02010609060101010101" pitchFamily="49" charset="-122"/>
                      </a:endParaRPr>
                    </a:p>
                  </a:txBody>
                  <a:tcPr marL="42360" marR="47067" marT="29417" marB="294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200" b="0">
                          <a:effectLst/>
                          <a:latin typeface="黑体" panose="02010609060101010101" pitchFamily="49" charset="-122"/>
                          <a:ea typeface="黑体" panose="02010609060101010101" pitchFamily="49" charset="-122"/>
                        </a:rPr>
                        <a:t>使用稳定叶立德（</a:t>
                      </a:r>
                      <a:r>
                        <a:rPr lang="en-US" altLang="zh-CN" sz="1200" b="0">
                          <a:effectLst/>
                          <a:latin typeface="黑体" panose="02010609060101010101" pitchFamily="49" charset="-122"/>
                          <a:ea typeface="黑体" panose="02010609060101010101" pitchFamily="49" charset="-122"/>
                        </a:rPr>
                        <a:t>Ph₃P=</a:t>
                      </a:r>
                      <a:r>
                        <a:rPr lang="zh-CN" altLang="en-US" sz="1200" b="0">
                          <a:effectLst/>
                          <a:latin typeface="黑体" panose="02010609060101010101" pitchFamily="49" charset="-122"/>
                          <a:ea typeface="黑体" panose="02010609060101010101" pitchFamily="49" charset="-122"/>
                        </a:rPr>
                        <a:t>）在甲苯中回流，热力学控制生成反式（</a:t>
                      </a:r>
                      <a:r>
                        <a:rPr lang="en-US" altLang="zh-CN" sz="1200" b="0">
                          <a:effectLst/>
                          <a:latin typeface="黑体" panose="02010609060101010101" pitchFamily="49" charset="-122"/>
                          <a:ea typeface="黑体" panose="02010609060101010101" pitchFamily="49" charset="-122"/>
                        </a:rPr>
                        <a:t>E</a:t>
                      </a:r>
                      <a:r>
                        <a:rPr lang="zh-CN" altLang="en-US" sz="1200" b="0">
                          <a:effectLst/>
                          <a:latin typeface="黑体" panose="02010609060101010101" pitchFamily="49" charset="-122"/>
                          <a:ea typeface="黑体" panose="02010609060101010101" pitchFamily="49" charset="-122"/>
                        </a:rPr>
                        <a:t>）异构体；避免强碱条件</a:t>
                      </a:r>
                    </a:p>
                  </a:txBody>
                  <a:tcPr marL="47067" marR="42360" marT="29417" marB="294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926949">
                <a:tc>
                  <a:txBody>
                    <a:bodyPr/>
                    <a:lstStyle/>
                    <a:p>
                      <a:r>
                        <a:rPr lang="en-US" altLang="zh-CN" sz="1200" b="1">
                          <a:effectLst/>
                          <a:latin typeface="黑体" panose="02010609060101010101" pitchFamily="49" charset="-122"/>
                          <a:ea typeface="黑体" panose="02010609060101010101" pitchFamily="49" charset="-122"/>
                        </a:rPr>
                        <a:t>3. </a:t>
                      </a:r>
                      <a:r>
                        <a:rPr lang="zh-CN" altLang="en-US" sz="1200" b="1">
                          <a:effectLst/>
                          <a:latin typeface="黑体" panose="02010609060101010101" pitchFamily="49" charset="-122"/>
                          <a:ea typeface="黑体" panose="02010609060101010101" pitchFamily="49" charset="-122"/>
                        </a:rPr>
                        <a:t>非对映选择性还原的立体选择性</a:t>
                      </a:r>
                      <a:endParaRPr lang="zh-CN" altLang="en-US" sz="1200" b="0">
                        <a:effectLst/>
                        <a:latin typeface="黑体" panose="02010609060101010101" pitchFamily="49" charset="-122"/>
                        <a:ea typeface="黑体" panose="02010609060101010101" pitchFamily="49" charset="-122"/>
                      </a:endParaRPr>
                    </a:p>
                  </a:txBody>
                  <a:tcPr marL="42360" marR="47067" marT="29417" marB="294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200" b="0">
                          <a:effectLst/>
                          <a:latin typeface="黑体" panose="02010609060101010101" pitchFamily="49" charset="-122"/>
                          <a:ea typeface="黑体" panose="02010609060101010101" pitchFamily="49" charset="-122"/>
                        </a:rPr>
                        <a:t>维持</a:t>
                      </a:r>
                      <a:r>
                        <a:rPr lang="en-US" altLang="zh-CN" sz="1200" b="0">
                          <a:effectLst/>
                          <a:latin typeface="黑体" panose="02010609060101010101" pitchFamily="49" charset="-122"/>
                          <a:ea typeface="黑体" panose="02010609060101010101" pitchFamily="49" charset="-122"/>
                        </a:rPr>
                        <a:t>–78°C</a:t>
                      </a:r>
                      <a:r>
                        <a:rPr lang="zh-CN" altLang="en-US" sz="1200" b="0">
                          <a:effectLst/>
                          <a:latin typeface="黑体" panose="02010609060101010101" pitchFamily="49" charset="-122"/>
                          <a:ea typeface="黑体" panose="02010609060101010101" pitchFamily="49" charset="-122"/>
                        </a:rPr>
                        <a:t>低温，使用</a:t>
                      </a:r>
                      <a:r>
                        <a:rPr lang="en-US" altLang="zh-CN" sz="1200" b="0">
                          <a:effectLst/>
                          <a:latin typeface="黑体" panose="02010609060101010101" pitchFamily="49" charset="-122"/>
                          <a:ea typeface="黑体" panose="02010609060101010101" pitchFamily="49" charset="-122"/>
                        </a:rPr>
                        <a:t>EtBOMe/NaBH₄</a:t>
                      </a:r>
                      <a:r>
                        <a:rPr lang="zh-CN" altLang="en-US" sz="1200" b="0">
                          <a:effectLst/>
                          <a:latin typeface="黑体" panose="02010609060101010101" pitchFamily="49" charset="-122"/>
                          <a:ea typeface="黑体" panose="02010609060101010101" pitchFamily="49" charset="-122"/>
                        </a:rPr>
                        <a:t>体系；可筛选硼烷试剂（如</a:t>
                      </a:r>
                      <a:r>
                        <a:rPr lang="en-US" altLang="zh-CN" sz="1200" b="0">
                          <a:effectLst/>
                          <a:latin typeface="黑体" panose="02010609060101010101" pitchFamily="49" charset="-122"/>
                          <a:ea typeface="黑体" panose="02010609060101010101" pitchFamily="49" charset="-122"/>
                        </a:rPr>
                        <a:t>MeOEtBH₃</a:t>
                      </a:r>
                      <a:r>
                        <a:rPr lang="zh-CN" altLang="en-US" sz="1200" b="0">
                          <a:effectLst/>
                          <a:latin typeface="黑体" panose="02010609060101010101" pitchFamily="49" charset="-122"/>
                          <a:ea typeface="黑体" panose="02010609060101010101" pitchFamily="49" charset="-122"/>
                        </a:rPr>
                        <a:t>）提高</a:t>
                      </a:r>
                      <a:r>
                        <a:rPr lang="en-US" altLang="zh-CN" sz="1200" b="0">
                          <a:effectLst/>
                          <a:latin typeface="黑体" panose="02010609060101010101" pitchFamily="49" charset="-122"/>
                          <a:ea typeface="黑体" panose="02010609060101010101" pitchFamily="49" charset="-122"/>
                        </a:rPr>
                        <a:t>dr</a:t>
                      </a:r>
                      <a:r>
                        <a:rPr lang="zh-CN" altLang="en-US" sz="1200" b="0">
                          <a:effectLst/>
                          <a:latin typeface="黑体" panose="02010609060101010101" pitchFamily="49" charset="-122"/>
                          <a:ea typeface="黑体" panose="02010609060101010101" pitchFamily="49" charset="-122"/>
                        </a:rPr>
                        <a:t>值</a:t>
                      </a:r>
                    </a:p>
                  </a:txBody>
                  <a:tcPr marL="47067" marR="42360" marT="29417" marB="294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141436">
                <a:tc>
                  <a:txBody>
                    <a:bodyPr/>
                    <a:lstStyle/>
                    <a:p>
                      <a:r>
                        <a:rPr lang="en-US" altLang="zh-CN" sz="1200" b="1" dirty="0">
                          <a:effectLst/>
                          <a:latin typeface="黑体" panose="02010609060101010101" pitchFamily="49" charset="-122"/>
                          <a:ea typeface="黑体" panose="02010609060101010101" pitchFamily="49" charset="-122"/>
                        </a:rPr>
                        <a:t>4. </a:t>
                      </a:r>
                      <a:r>
                        <a:rPr lang="zh-CN" altLang="en-US" sz="1200" b="1" dirty="0">
                          <a:effectLst/>
                          <a:latin typeface="黑体" panose="02010609060101010101" pitchFamily="49" charset="-122"/>
                          <a:ea typeface="黑体" panose="02010609060101010101" pitchFamily="49" charset="-122"/>
                        </a:rPr>
                        <a:t>侧链</a:t>
                      </a:r>
                      <a:r>
                        <a:rPr lang="en-US" altLang="zh-CN" sz="1200" b="1" dirty="0">
                          <a:effectLst/>
                          <a:latin typeface="黑体" panose="02010609060101010101" pitchFamily="49" charset="-122"/>
                          <a:ea typeface="黑体" panose="02010609060101010101" pitchFamily="49" charset="-122"/>
                        </a:rPr>
                        <a:t>TBS</a:t>
                      </a:r>
                      <a:r>
                        <a:rPr lang="zh-CN" altLang="en-US" sz="1200" b="1" dirty="0">
                          <a:effectLst/>
                          <a:latin typeface="黑体" panose="02010609060101010101" pitchFamily="49" charset="-122"/>
                          <a:ea typeface="黑体" panose="02010609060101010101" pitchFamily="49" charset="-122"/>
                        </a:rPr>
                        <a:t>保护</a:t>
                      </a:r>
                      <a:r>
                        <a:rPr lang="en-US" altLang="zh-CN" sz="1200" b="1" dirty="0">
                          <a:effectLst/>
                          <a:latin typeface="黑体" panose="02010609060101010101" pitchFamily="49" charset="-122"/>
                          <a:ea typeface="黑体" panose="02010609060101010101" pitchFamily="49" charset="-122"/>
                        </a:rPr>
                        <a:t>/</a:t>
                      </a:r>
                      <a:r>
                        <a:rPr lang="zh-CN" altLang="en-US" sz="1200" b="1" dirty="0">
                          <a:effectLst/>
                          <a:latin typeface="黑体" panose="02010609060101010101" pitchFamily="49" charset="-122"/>
                          <a:ea typeface="黑体" panose="02010609060101010101" pitchFamily="49" charset="-122"/>
                        </a:rPr>
                        <a:t>脱保护繁琐</a:t>
                      </a:r>
                      <a:endParaRPr lang="zh-CN" altLang="en-US" sz="1200" b="0" dirty="0">
                        <a:effectLst/>
                        <a:latin typeface="黑体" panose="02010609060101010101" pitchFamily="49" charset="-122"/>
                        <a:ea typeface="黑体" panose="02010609060101010101" pitchFamily="49" charset="-122"/>
                      </a:endParaRPr>
                    </a:p>
                  </a:txBody>
                  <a:tcPr marL="42360" marR="47067" marT="29417" marB="294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200" b="0" dirty="0">
                          <a:effectLst/>
                          <a:latin typeface="黑体" panose="02010609060101010101" pitchFamily="49" charset="-122"/>
                          <a:ea typeface="黑体" panose="02010609060101010101" pitchFamily="49" charset="-122"/>
                        </a:rPr>
                        <a:t>探索一锅法：</a:t>
                      </a:r>
                      <a:r>
                        <a:rPr lang="en-US" altLang="zh-CN" sz="1200" b="0" dirty="0">
                          <a:effectLst/>
                          <a:latin typeface="黑体" panose="02010609060101010101" pitchFamily="49" charset="-122"/>
                          <a:ea typeface="黑体" panose="02010609060101010101" pitchFamily="49" charset="-122"/>
                        </a:rPr>
                        <a:t>Wittig</a:t>
                      </a:r>
                      <a:r>
                        <a:rPr lang="zh-CN" altLang="en-US" sz="1200" b="0" dirty="0">
                          <a:effectLst/>
                          <a:latin typeface="黑体" panose="02010609060101010101" pitchFamily="49" charset="-122"/>
                          <a:ea typeface="黑体" panose="02010609060101010101" pitchFamily="49" charset="-122"/>
                        </a:rPr>
                        <a:t>反应后直接脱保护而不分离</a:t>
                      </a:r>
                      <a:r>
                        <a:rPr lang="en-US" altLang="zh-CN" sz="1200" b="0" dirty="0">
                          <a:effectLst/>
                          <a:latin typeface="黑体" panose="02010609060101010101" pitchFamily="49" charset="-122"/>
                          <a:ea typeface="黑体" panose="02010609060101010101" pitchFamily="49" charset="-122"/>
                        </a:rPr>
                        <a:t>TBS</a:t>
                      </a:r>
                      <a:r>
                        <a:rPr lang="zh-CN" altLang="en-US" sz="1200" b="0" dirty="0">
                          <a:effectLst/>
                          <a:latin typeface="黑体" panose="02010609060101010101" pitchFamily="49" charset="-122"/>
                          <a:ea typeface="黑体" panose="02010609060101010101" pitchFamily="49" charset="-122"/>
                        </a:rPr>
                        <a:t>中间体；或改用更易脱除的保护基（如乙酰基）</a:t>
                      </a:r>
                    </a:p>
                  </a:txBody>
                  <a:tcPr marL="47067" marR="42360" marT="29417" marB="294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对象 3"/>
          <p:cNvGraphicFramePr>
            <a:graphicFrameLocks noChangeAspect="1"/>
          </p:cNvGraphicFramePr>
          <p:nvPr/>
        </p:nvGraphicFramePr>
        <p:xfrm>
          <a:off x="4107497" y="816571"/>
          <a:ext cx="3436303" cy="3706954"/>
        </p:xfrm>
        <a:graphic>
          <a:graphicData uri="http://schemas.openxmlformats.org/presentationml/2006/ole">
            <mc:AlternateContent xmlns:mc="http://schemas.openxmlformats.org/markup-compatibility/2006">
              <mc:Choice xmlns:v="urn:schemas-microsoft-com:vml" Requires="v">
                <p:oleObj spid="_x0000_s72708" name="CS ChemDraw Drawing" r:id="rId3" imgW="1512570" imgH="1634490" progId="ChemDraw.Document.6.0">
                  <p:embed/>
                </p:oleObj>
              </mc:Choice>
              <mc:Fallback>
                <p:oleObj name="CS ChemDraw Drawing" r:id="rId3" imgW="1512570" imgH="1634490" progId="ChemDraw.Document.6.0">
                  <p:embed/>
                  <p:pic>
                    <p:nvPicPr>
                      <p:cNvPr id="4" name="对象 3"/>
                      <p:cNvPicPr/>
                      <p:nvPr/>
                    </p:nvPicPr>
                    <p:blipFill>
                      <a:blip r:embed="rId4"/>
                      <a:stretch>
                        <a:fillRect/>
                      </a:stretch>
                    </p:blipFill>
                    <p:spPr>
                      <a:xfrm>
                        <a:off x="4107497" y="816571"/>
                        <a:ext cx="3436303" cy="3706954"/>
                      </a:xfrm>
                      <a:prstGeom prst="rect">
                        <a:avLst/>
                      </a:prstGeom>
                    </p:spPr>
                  </p:pic>
                </p:oleObj>
              </mc:Fallback>
            </mc:AlternateContent>
          </a:graphicData>
        </a:graphic>
      </p:graphicFrame>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54380" y="246888"/>
            <a:ext cx="7648956" cy="5925312"/>
          </a:xfrm>
        </p:spPr>
        <p:txBody>
          <a:bodyPr>
            <a:noAutofit/>
          </a:bodyPr>
          <a:lstStyle/>
          <a:p>
            <a:pPr>
              <a:lnSpc>
                <a:spcPct val="150000"/>
              </a:lnSpc>
            </a:pPr>
            <a:r>
              <a:rPr lang="zh-CN" altLang="en-US" sz="2800" b="1" dirty="0">
                <a:latin typeface="宋体" panose="02010600030101010101" pitchFamily="2" charset="-122"/>
                <a:ea typeface="宋体" panose="02010600030101010101" pitchFamily="2" charset="-122"/>
              </a:rPr>
              <a:t>市场价值</a:t>
            </a:r>
            <a:br>
              <a:rPr lang="en-US" altLang="zh-CN" sz="2400" dirty="0">
                <a:latin typeface="宋体" panose="02010600030101010101" pitchFamily="2" charset="-122"/>
                <a:ea typeface="宋体" panose="02010600030101010101" pitchFamily="2" charset="-122"/>
              </a:rPr>
            </a:br>
            <a:r>
              <a:rPr lang="zh-CN" altLang="en-US" sz="2400" dirty="0">
                <a:latin typeface="宋体" panose="02010600030101010101" pitchFamily="2" charset="-122"/>
                <a:ea typeface="宋体" panose="02010600030101010101" pitchFamily="2" charset="-122"/>
              </a:rPr>
              <a:t>全球市场：</a:t>
            </a:r>
            <a:r>
              <a:rPr lang="en-US" altLang="zh-CN" sz="2400" dirty="0">
                <a:latin typeface="宋体" panose="02010600030101010101" pitchFamily="2" charset="-122"/>
                <a:ea typeface="宋体" panose="02010600030101010101" pitchFamily="2" charset="-122"/>
              </a:rPr>
              <a:t>2025</a:t>
            </a:r>
            <a:r>
              <a:rPr lang="zh-CN" altLang="en-US" sz="2400" dirty="0">
                <a:latin typeface="宋体" panose="02010600030101010101" pitchFamily="2" charset="-122"/>
                <a:ea typeface="宋体" panose="02010600030101010101" pitchFamily="2" charset="-122"/>
              </a:rPr>
              <a:t>年，包含瑞舒伐他汀和他汀类家族的全球市场规模约为</a:t>
            </a:r>
            <a:r>
              <a:rPr lang="en-US" altLang="zh-CN" sz="2400" dirty="0">
                <a:latin typeface="宋体" panose="02010600030101010101" pitchFamily="2" charset="-122"/>
                <a:ea typeface="宋体" panose="02010600030101010101" pitchFamily="2" charset="-122"/>
              </a:rPr>
              <a:t>353.1</a:t>
            </a:r>
            <a:r>
              <a:rPr lang="zh-CN" altLang="en-US" sz="2400" dirty="0">
                <a:latin typeface="宋体" panose="02010600030101010101" pitchFamily="2" charset="-122"/>
                <a:ea typeface="宋体" panose="02010600030101010101" pitchFamily="2" charset="-122"/>
              </a:rPr>
              <a:t>亿至</a:t>
            </a:r>
            <a:r>
              <a:rPr lang="en-US" altLang="zh-CN" sz="2400" dirty="0">
                <a:latin typeface="宋体" panose="02010600030101010101" pitchFamily="2" charset="-122"/>
                <a:ea typeface="宋体" panose="02010600030101010101" pitchFamily="2" charset="-122"/>
              </a:rPr>
              <a:t>353.5</a:t>
            </a:r>
            <a:r>
              <a:rPr lang="zh-CN" altLang="en-US" sz="2400" dirty="0">
                <a:latin typeface="宋体" panose="02010600030101010101" pitchFamily="2" charset="-122"/>
                <a:ea typeface="宋体" panose="02010600030101010101" pitchFamily="2" charset="-122"/>
              </a:rPr>
              <a:t>亿美元。。</a:t>
            </a:r>
            <a:br>
              <a:rPr lang="en-US" altLang="zh-CN" sz="2400" dirty="0">
                <a:latin typeface="宋体" panose="02010600030101010101" pitchFamily="2" charset="-122"/>
                <a:ea typeface="宋体" panose="02010600030101010101" pitchFamily="2" charset="-122"/>
              </a:rPr>
            </a:br>
            <a:r>
              <a:rPr lang="zh-CN" altLang="en-US" sz="2400" dirty="0">
                <a:latin typeface="宋体" panose="02010600030101010101" pitchFamily="2" charset="-122"/>
                <a:ea typeface="宋体" panose="02010600030101010101" pitchFamily="2" charset="-122"/>
              </a:rPr>
              <a:t>中国制剂市场：</a:t>
            </a:r>
            <a:r>
              <a:rPr lang="en-US" altLang="zh-CN" sz="2400" dirty="0">
                <a:latin typeface="宋体" panose="02010600030101010101" pitchFamily="2" charset="-122"/>
                <a:ea typeface="宋体" panose="02010600030101010101" pitchFamily="2" charset="-122"/>
              </a:rPr>
              <a:t>2024</a:t>
            </a:r>
            <a:r>
              <a:rPr lang="zh-CN" altLang="en-US" sz="2400" dirty="0">
                <a:latin typeface="宋体" panose="02010600030101010101" pitchFamily="2" charset="-122"/>
                <a:ea typeface="宋体" panose="02010600030101010101" pitchFamily="2" charset="-122"/>
              </a:rPr>
              <a:t>年中国三大终端市场销售额超</a:t>
            </a:r>
            <a:r>
              <a:rPr lang="en-US" altLang="zh-CN" sz="2400" dirty="0">
                <a:latin typeface="宋体" panose="02010600030101010101" pitchFamily="2" charset="-122"/>
                <a:ea typeface="宋体" panose="02010600030101010101" pitchFamily="2" charset="-122"/>
              </a:rPr>
              <a:t>48</a:t>
            </a:r>
            <a:r>
              <a:rPr lang="zh-CN" altLang="en-US" sz="2400" dirty="0">
                <a:latin typeface="宋体" panose="02010600030101010101" pitchFamily="2" charset="-122"/>
                <a:ea typeface="宋体" panose="02010600030101010101" pitchFamily="2" charset="-122"/>
              </a:rPr>
              <a:t>亿元人民币，为血脂调节剂第二大产品。</a:t>
            </a:r>
            <a:r>
              <a:rPr lang="en-US" altLang="zh-CN" sz="2400" dirty="0">
                <a:latin typeface="宋体" panose="02010600030101010101" pitchFamily="2" charset="-122"/>
                <a:ea typeface="宋体" panose="02010600030101010101" pitchFamily="2" charset="-122"/>
              </a:rPr>
              <a:t>2025</a:t>
            </a:r>
            <a:r>
              <a:rPr lang="zh-CN" altLang="en-US" sz="2400" dirty="0">
                <a:latin typeface="宋体" panose="02010600030101010101" pitchFamily="2" charset="-122"/>
                <a:ea typeface="宋体" panose="02010600030101010101" pitchFamily="2" charset="-122"/>
              </a:rPr>
              <a:t>上半年已超</a:t>
            </a:r>
            <a:r>
              <a:rPr lang="en-US" altLang="zh-CN" sz="2400" dirty="0">
                <a:latin typeface="宋体" panose="02010600030101010101" pitchFamily="2" charset="-122"/>
                <a:ea typeface="宋体" panose="02010600030101010101" pitchFamily="2" charset="-122"/>
              </a:rPr>
              <a:t>26</a:t>
            </a:r>
            <a:r>
              <a:rPr lang="zh-CN" altLang="en-US" sz="2400" dirty="0">
                <a:latin typeface="宋体" panose="02010600030101010101" pitchFamily="2" charset="-122"/>
                <a:ea typeface="宋体" panose="02010600030101010101" pitchFamily="2" charset="-122"/>
              </a:rPr>
              <a:t>亿元，同比增长</a:t>
            </a:r>
            <a:r>
              <a:rPr lang="en-US" altLang="zh-CN" sz="2400" dirty="0">
                <a:latin typeface="宋体" panose="02010600030101010101" pitchFamily="2" charset="-122"/>
                <a:ea typeface="宋体" panose="02010600030101010101" pitchFamily="2" charset="-122"/>
              </a:rPr>
              <a:t>9.62%</a:t>
            </a:r>
            <a:r>
              <a:rPr lang="zh-CN" altLang="en-US" sz="2400" dirty="0">
                <a:latin typeface="宋体" panose="02010600030101010101" pitchFamily="2" charset="-122"/>
                <a:ea typeface="宋体" panose="02010600030101010101" pitchFamily="2" charset="-122"/>
              </a:rPr>
              <a:t>，增速稳健。</a:t>
            </a:r>
            <a:br>
              <a:rPr lang="en-US" altLang="zh-CN" sz="2400" dirty="0">
                <a:latin typeface="宋体" panose="02010600030101010101" pitchFamily="2" charset="-122"/>
                <a:ea typeface="宋体" panose="02010600030101010101" pitchFamily="2" charset="-122"/>
              </a:rPr>
            </a:br>
            <a:br>
              <a:rPr lang="en-US" altLang="zh-CN" sz="2400" dirty="0">
                <a:latin typeface="宋体" panose="02010600030101010101" pitchFamily="2" charset="-122"/>
                <a:ea typeface="宋体" panose="02010600030101010101" pitchFamily="2" charset="-122"/>
              </a:rPr>
            </a:br>
            <a:r>
              <a:rPr lang="zh-CN" altLang="en-US" sz="2800" b="1" dirty="0">
                <a:latin typeface="宋体" panose="02010600030101010101" pitchFamily="2" charset="-122"/>
                <a:ea typeface="宋体" panose="02010600030101010101" pitchFamily="2" charset="-122"/>
              </a:rPr>
              <a:t>原料药价格</a:t>
            </a:r>
            <a:br>
              <a:rPr lang="en-US" altLang="zh-CN" sz="2400" dirty="0">
                <a:latin typeface="宋体" panose="02010600030101010101" pitchFamily="2" charset="-122"/>
                <a:ea typeface="宋体" panose="02010600030101010101" pitchFamily="2" charset="-122"/>
              </a:rPr>
            </a:br>
            <a:r>
              <a:rPr lang="zh-CN" altLang="en-US" sz="2400" dirty="0">
                <a:latin typeface="宋体" panose="02010600030101010101" pitchFamily="2" charset="-122"/>
                <a:ea typeface="宋体" panose="02010600030101010101" pitchFamily="2" charset="-122"/>
              </a:rPr>
              <a:t>以瑞舒伐他汀钙为例，其报价约为每公斤（</a:t>
            </a:r>
            <a:r>
              <a:rPr lang="en-US" altLang="zh-CN" sz="2400" dirty="0">
                <a:latin typeface="宋体" panose="02010600030101010101" pitchFamily="2" charset="-122"/>
                <a:ea typeface="宋体" panose="02010600030101010101" pitchFamily="2" charset="-122"/>
              </a:rPr>
              <a:t>kg</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2800</a:t>
            </a:r>
            <a:r>
              <a:rPr lang="zh-CN" altLang="en-US" sz="2400" dirty="0">
                <a:latin typeface="宋体" panose="02010600030101010101" pitchFamily="2" charset="-122"/>
                <a:ea typeface="宋体" panose="02010600030101010101" pitchFamily="2" charset="-122"/>
              </a:rPr>
              <a:t>元人民币。</a:t>
            </a:r>
          </a:p>
        </p:txBody>
      </p:sp>
      <p:graphicFrame>
        <p:nvGraphicFramePr>
          <p:cNvPr id="4" name="对象 3"/>
          <p:cNvGraphicFramePr>
            <a:graphicFrameLocks noChangeAspect="1"/>
          </p:cNvGraphicFramePr>
          <p:nvPr/>
        </p:nvGraphicFramePr>
        <p:xfrm>
          <a:off x="8332025" y="1356067"/>
          <a:ext cx="3436303" cy="3706954"/>
        </p:xfrm>
        <a:graphic>
          <a:graphicData uri="http://schemas.openxmlformats.org/presentationml/2006/ole">
            <mc:AlternateContent xmlns:mc="http://schemas.openxmlformats.org/markup-compatibility/2006">
              <mc:Choice xmlns:v="urn:schemas-microsoft-com:vml" Requires="v">
                <p:oleObj spid="_x0000_s73732" name="CS ChemDraw Drawing" r:id="rId3" imgW="1512570" imgH="1634490" progId="ChemDraw.Document.6.0">
                  <p:embed/>
                </p:oleObj>
              </mc:Choice>
              <mc:Fallback>
                <p:oleObj name="CS ChemDraw Drawing" r:id="rId3" imgW="1512570" imgH="1634490" progId="ChemDraw.Document.6.0">
                  <p:embed/>
                  <p:pic>
                    <p:nvPicPr>
                      <p:cNvPr id="4" name="对象 3"/>
                      <p:cNvPicPr/>
                      <p:nvPr/>
                    </p:nvPicPr>
                    <p:blipFill>
                      <a:blip r:embed="rId4"/>
                      <a:stretch>
                        <a:fillRect/>
                      </a:stretch>
                    </p:blipFill>
                    <p:spPr>
                      <a:xfrm>
                        <a:off x="8332025" y="1356067"/>
                        <a:ext cx="3436303" cy="3706954"/>
                      </a:xfrm>
                      <a:prstGeom prst="rect">
                        <a:avLst/>
                      </a:prstGeom>
                    </p:spPr>
                  </p:pic>
                </p:oleObj>
              </mc:Fallback>
            </mc:AlternateContent>
          </a:graphicData>
        </a:graphic>
      </p:graphicFrame>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对象 3"/>
          <p:cNvGraphicFramePr>
            <a:graphicFrameLocks noChangeAspect="1"/>
          </p:cNvGraphicFramePr>
          <p:nvPr/>
        </p:nvGraphicFramePr>
        <p:xfrm>
          <a:off x="731838" y="593725"/>
          <a:ext cx="10868025" cy="4902200"/>
        </p:xfrm>
        <a:graphic>
          <a:graphicData uri="http://schemas.openxmlformats.org/presentationml/2006/ole">
            <mc:AlternateContent xmlns:mc="http://schemas.openxmlformats.org/markup-compatibility/2006">
              <mc:Choice xmlns:v="urn:schemas-microsoft-com:vml" Requires="v">
                <p:oleObj spid="_x0000_s74756" name="CS ChemDraw Drawing" r:id="rId3" imgW="9061450" imgH="4080510" progId="ChemDraw.Document.6.0">
                  <p:embed/>
                </p:oleObj>
              </mc:Choice>
              <mc:Fallback>
                <p:oleObj name="CS ChemDraw Drawing" r:id="rId3" imgW="9061450" imgH="4080510" progId="ChemDraw.Document.6.0">
                  <p:embed/>
                  <p:pic>
                    <p:nvPicPr>
                      <p:cNvPr id="4" name="对象 3"/>
                      <p:cNvPicPr/>
                      <p:nvPr/>
                    </p:nvPicPr>
                    <p:blipFill>
                      <a:blip r:embed="rId4"/>
                      <a:stretch>
                        <a:fillRect/>
                      </a:stretch>
                    </p:blipFill>
                    <p:spPr>
                      <a:xfrm>
                        <a:off x="731838" y="593725"/>
                        <a:ext cx="10868025" cy="4902200"/>
                      </a:xfrm>
                      <a:prstGeom prst="rect">
                        <a:avLst/>
                      </a:prstGeom>
                    </p:spPr>
                  </p:pic>
                </p:oleObj>
              </mc:Fallback>
            </mc:AlternateContent>
          </a:graphicData>
        </a:graphic>
      </p:graphicFrame>
      <p:sp>
        <p:nvSpPr>
          <p:cNvPr id="2" name="文本框 1"/>
          <p:cNvSpPr txBox="1"/>
          <p:nvPr/>
        </p:nvSpPr>
        <p:spPr>
          <a:xfrm>
            <a:off x="458758" y="5718765"/>
            <a:ext cx="11415178" cy="923330"/>
          </a:xfrm>
          <a:prstGeom prst="rect">
            <a:avLst/>
          </a:prstGeom>
          <a:noFill/>
        </p:spPr>
        <p:txBody>
          <a:bodyPr wrap="square" rtlCol="0">
            <a:spAutoFit/>
          </a:bodyPr>
          <a:lstStyle/>
          <a:p>
            <a:r>
              <a:rPr lang="en-US" altLang="zh-CN" dirty="0"/>
              <a:t>Metzner, R.; Hummel, W.; </a:t>
            </a:r>
            <a:r>
              <a:rPr lang="en-US" altLang="zh-CN" dirty="0" err="1"/>
              <a:t>Wetterich</a:t>
            </a:r>
            <a:r>
              <a:rPr lang="en-US" altLang="zh-CN" dirty="0"/>
              <a:t>, F.; Konig, B.; Groger, H. Integrated Biocatalysis in Multistep Drug Synthesis without Intermediate Isolation: A de Novo Approach toward a Rosuvastatin Key Building Block. Org. Process Res. Dev. </a:t>
            </a:r>
            <a:r>
              <a:rPr lang="en-US" altLang="zh-CN" b="1" dirty="0"/>
              <a:t>2015</a:t>
            </a:r>
            <a:r>
              <a:rPr lang="en-US" altLang="zh-CN" dirty="0"/>
              <a:t>, 19, 635−638.</a:t>
            </a:r>
            <a:endParaRPr lang="zh-CN" altLang="en-US"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6730" y="292608"/>
            <a:ext cx="11178540" cy="2752344"/>
          </a:xfrm>
        </p:spPr>
        <p:txBody>
          <a:bodyPr>
            <a:noAutofit/>
          </a:bodyPr>
          <a:lstStyle/>
          <a:p>
            <a:pPr>
              <a:lnSpc>
                <a:spcPts val="3000"/>
              </a:lnSpc>
            </a:pPr>
            <a:r>
              <a:rPr lang="zh-CN" altLang="en-US" sz="2000" b="1" dirty="0">
                <a:latin typeface="宋体" panose="02010600030101010101" pitchFamily="2" charset="-122"/>
                <a:ea typeface="宋体" panose="02010600030101010101" pitchFamily="2" charset="-122"/>
                <a:cs typeface="+mn-cs"/>
              </a:rPr>
              <a:t>一、优点：</a:t>
            </a:r>
            <a:br>
              <a:rPr lang="en-US" altLang="zh-CN" sz="2000" dirty="0">
                <a:latin typeface="宋体" panose="02010600030101010101" pitchFamily="2" charset="-122"/>
                <a:ea typeface="宋体" panose="02010600030101010101" pitchFamily="2" charset="-122"/>
                <a:cs typeface="+mn-cs"/>
              </a:rPr>
            </a:br>
            <a:r>
              <a:rPr lang="en-US" altLang="zh-CN" sz="2000" b="1" dirty="0">
                <a:latin typeface="宋体" panose="02010600030101010101" pitchFamily="2" charset="-122"/>
                <a:ea typeface="宋体" panose="02010600030101010101" pitchFamily="2" charset="-122"/>
                <a:cs typeface="+mn-cs"/>
              </a:rPr>
              <a:t>1. </a:t>
            </a:r>
            <a:r>
              <a:rPr lang="zh-CN" altLang="en-US" sz="2000" b="1" dirty="0">
                <a:latin typeface="宋体" panose="02010600030101010101" pitchFamily="2" charset="-122"/>
                <a:ea typeface="宋体" panose="02010600030101010101" pitchFamily="2" charset="-122"/>
                <a:cs typeface="+mn-cs"/>
              </a:rPr>
              <a:t>手性中心构建高效</a:t>
            </a:r>
            <a:r>
              <a:rPr lang="zh-CN" altLang="en-US" sz="2000" dirty="0">
                <a:latin typeface="宋体" panose="02010600030101010101" pitchFamily="2" charset="-122"/>
                <a:ea typeface="宋体" panose="02010600030101010101" pitchFamily="2" charset="-122"/>
                <a:cs typeface="+mn-cs"/>
              </a:rPr>
              <a:t>：酶催化拆分</a:t>
            </a:r>
            <a:r>
              <a:rPr lang="zh-CN" altLang="en-US" sz="2000" dirty="0">
                <a:solidFill>
                  <a:schemeClr val="accent5">
                    <a:lumMod val="50000"/>
                  </a:schemeClr>
                </a:solidFill>
                <a:latin typeface="宋体" panose="02010600030101010101" pitchFamily="2" charset="-122"/>
                <a:ea typeface="宋体" panose="02010600030101010101" pitchFamily="2" charset="-122"/>
                <a:cs typeface="+mn-cs"/>
              </a:rPr>
              <a:t>立体选择性高</a:t>
            </a:r>
            <a:r>
              <a:rPr lang="zh-CN" altLang="en-US" sz="2000" dirty="0">
                <a:latin typeface="宋体" panose="02010600030101010101" pitchFamily="2" charset="-122"/>
                <a:ea typeface="宋体" panose="02010600030101010101" pitchFamily="2" charset="-122"/>
                <a:cs typeface="+mn-cs"/>
              </a:rPr>
              <a:t>，实现了手性中心的高效拆分与构建，避免了传统化学拆分的高成本与低收率问题，产物光学纯度高，大幅</a:t>
            </a:r>
            <a:r>
              <a:rPr lang="zh-CN" altLang="en-US" sz="2000" dirty="0">
                <a:solidFill>
                  <a:schemeClr val="accent5">
                    <a:lumMod val="50000"/>
                  </a:schemeClr>
                </a:solidFill>
                <a:latin typeface="宋体" panose="02010600030101010101" pitchFamily="2" charset="-122"/>
                <a:ea typeface="宋体" panose="02010600030101010101" pitchFamily="2" charset="-122"/>
                <a:cs typeface="+mn-cs"/>
              </a:rPr>
              <a:t>降低了后续纯化难度与成本</a:t>
            </a:r>
            <a:r>
              <a:rPr lang="zh-CN" altLang="en-US" sz="2000" dirty="0">
                <a:latin typeface="宋体" panose="02010600030101010101" pitchFamily="2" charset="-122"/>
                <a:ea typeface="宋体" panose="02010600030101010101" pitchFamily="2" charset="-122"/>
                <a:cs typeface="+mn-cs"/>
              </a:rPr>
              <a:t>。反应</a:t>
            </a:r>
            <a:r>
              <a:rPr lang="zh-CN" altLang="en-US" sz="2000" dirty="0">
                <a:solidFill>
                  <a:schemeClr val="accent5">
                    <a:lumMod val="50000"/>
                  </a:schemeClr>
                </a:solidFill>
                <a:latin typeface="宋体" panose="02010600030101010101" pitchFamily="2" charset="-122"/>
                <a:ea typeface="宋体" panose="02010600030101010101" pitchFamily="2" charset="-122"/>
                <a:cs typeface="+mn-cs"/>
              </a:rPr>
              <a:t>条件温和</a:t>
            </a:r>
            <a:r>
              <a:rPr lang="zh-CN" altLang="en-US" sz="2000" dirty="0">
                <a:latin typeface="宋体" panose="02010600030101010101" pitchFamily="2" charset="-122"/>
                <a:ea typeface="宋体" panose="02010600030101010101" pitchFamily="2" charset="-122"/>
                <a:cs typeface="+mn-cs"/>
              </a:rPr>
              <a:t>，无需高压、高温或强腐蚀性试剂，对设备要求低。</a:t>
            </a:r>
            <a:br>
              <a:rPr lang="en-US" altLang="zh-CN" sz="2000" dirty="0">
                <a:latin typeface="宋体" panose="02010600030101010101" pitchFamily="2" charset="-122"/>
                <a:ea typeface="宋体" panose="02010600030101010101" pitchFamily="2" charset="-122"/>
                <a:cs typeface="+mn-cs"/>
              </a:rPr>
            </a:br>
            <a:r>
              <a:rPr lang="en-US" altLang="zh-CN" sz="2000" b="1" dirty="0">
                <a:latin typeface="宋体" panose="02010600030101010101" pitchFamily="2" charset="-122"/>
                <a:ea typeface="宋体" panose="02010600030101010101" pitchFamily="2" charset="-122"/>
                <a:cs typeface="+mn-cs"/>
              </a:rPr>
              <a:t>2. </a:t>
            </a:r>
            <a:r>
              <a:rPr lang="zh-CN" altLang="en-US" sz="2000" b="1" dirty="0">
                <a:latin typeface="宋体" panose="02010600030101010101" pitchFamily="2" charset="-122"/>
                <a:ea typeface="宋体" panose="02010600030101010101" pitchFamily="2" charset="-122"/>
                <a:cs typeface="+mn-cs"/>
              </a:rPr>
              <a:t>三废压力相对可控，工艺绿色化潜力大：</a:t>
            </a:r>
            <a:r>
              <a:rPr lang="zh-CN" altLang="en-US" sz="2000" dirty="0">
                <a:latin typeface="宋体" panose="02010600030101010101" pitchFamily="2" charset="-122"/>
                <a:ea typeface="宋体" panose="02010600030101010101" pitchFamily="2" charset="-122"/>
                <a:cs typeface="+mn-cs"/>
              </a:rPr>
              <a:t>酶催化步骤替代了传统的化学拆分或不对称催化，</a:t>
            </a:r>
            <a:r>
              <a:rPr lang="zh-CN" altLang="en-US" sz="2000" dirty="0">
                <a:solidFill>
                  <a:schemeClr val="accent5">
                    <a:lumMod val="50000"/>
                  </a:schemeClr>
                </a:solidFill>
                <a:latin typeface="宋体" panose="02010600030101010101" pitchFamily="2" charset="-122"/>
                <a:ea typeface="宋体" panose="02010600030101010101" pitchFamily="2" charset="-122"/>
                <a:cs typeface="+mn-cs"/>
              </a:rPr>
              <a:t>减少了重金属催化剂、手性配体的使用，</a:t>
            </a:r>
            <a:r>
              <a:rPr lang="zh-CN" altLang="en-US" sz="2000" dirty="0">
                <a:latin typeface="宋体" panose="02010600030101010101" pitchFamily="2" charset="-122"/>
                <a:ea typeface="宋体" panose="02010600030101010101" pitchFamily="2" charset="-122"/>
                <a:cs typeface="+mn-cs"/>
              </a:rPr>
              <a:t>降低了废盐、废溶剂的产生，符合绿色制药的发展趋势。</a:t>
            </a:r>
            <a:br>
              <a:rPr lang="en-US" altLang="zh-CN" sz="2000" dirty="0">
                <a:latin typeface="宋体" panose="02010600030101010101" pitchFamily="2" charset="-122"/>
                <a:ea typeface="宋体" panose="02010600030101010101" pitchFamily="2" charset="-122"/>
                <a:cs typeface="+mn-cs"/>
              </a:rPr>
            </a:br>
            <a:br>
              <a:rPr lang="en-US" altLang="zh-CN" sz="2000" dirty="0">
                <a:latin typeface="宋体" panose="02010600030101010101" pitchFamily="2" charset="-122"/>
                <a:ea typeface="宋体" panose="02010600030101010101" pitchFamily="2" charset="-122"/>
                <a:cs typeface="+mn-cs"/>
              </a:rPr>
            </a:br>
            <a:r>
              <a:rPr lang="zh-CN" altLang="en-US" sz="2000" b="1" dirty="0">
                <a:latin typeface="宋体" panose="02010600030101010101" pitchFamily="2" charset="-122"/>
                <a:ea typeface="宋体" panose="02010600030101010101" pitchFamily="2" charset="-122"/>
                <a:cs typeface="+mn-cs"/>
              </a:rPr>
              <a:t>二、难点及解决方案</a:t>
            </a:r>
          </a:p>
        </p:txBody>
      </p:sp>
      <p:graphicFrame>
        <p:nvGraphicFramePr>
          <p:cNvPr id="4" name="表格 3"/>
          <p:cNvGraphicFramePr>
            <a:graphicFrameLocks noGrp="1"/>
          </p:cNvGraphicFramePr>
          <p:nvPr/>
        </p:nvGraphicFramePr>
        <p:xfrm>
          <a:off x="600456" y="3374136"/>
          <a:ext cx="10844784" cy="3200400"/>
        </p:xfrm>
        <a:graphic>
          <a:graphicData uri="http://schemas.openxmlformats.org/drawingml/2006/table">
            <a:tbl>
              <a:tblPr firstRow="1" bandRow="1">
                <a:tableStyleId>{5C22544A-7EE6-4342-B048-85BDC9FD1C3A}</a:tableStyleId>
              </a:tblPr>
              <a:tblGrid>
                <a:gridCol w="5228598">
                  <a:extLst>
                    <a:ext uri="{9D8B030D-6E8A-4147-A177-3AD203B41FA5}">
                      <a16:colId xmlns:a16="http://schemas.microsoft.com/office/drawing/2014/main" val="20000"/>
                    </a:ext>
                  </a:extLst>
                </a:gridCol>
                <a:gridCol w="5616186">
                  <a:extLst>
                    <a:ext uri="{9D8B030D-6E8A-4147-A177-3AD203B41FA5}">
                      <a16:colId xmlns:a16="http://schemas.microsoft.com/office/drawing/2014/main" val="20001"/>
                    </a:ext>
                  </a:extLst>
                </a:gridCol>
              </a:tblGrid>
              <a:tr h="370840">
                <a:tc>
                  <a:txBody>
                    <a:bodyPr/>
                    <a:lstStyle/>
                    <a:p>
                      <a:pPr algn="ctr"/>
                      <a:r>
                        <a:rPr lang="zh-CN" altLang="en-US" sz="2000" b="1" kern="1200" dirty="0">
                          <a:solidFill>
                            <a:schemeClr val="tx1"/>
                          </a:solidFill>
                          <a:latin typeface="宋体" panose="02010600030101010101" pitchFamily="2" charset="-122"/>
                          <a:ea typeface="宋体" panose="02010600030101010101" pitchFamily="2" charset="-122"/>
                          <a:cs typeface="+mn-cs"/>
                        </a:rPr>
                        <a:t>难点</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2000" dirty="0">
                          <a:solidFill>
                            <a:schemeClr val="tx1"/>
                          </a:solidFill>
                          <a:latin typeface="宋体" panose="02010600030101010101" pitchFamily="2" charset="-122"/>
                          <a:ea typeface="宋体" panose="02010600030101010101" pitchFamily="2" charset="-122"/>
                        </a:rPr>
                        <a:t>解决方案</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pPr algn="l"/>
                      <a:r>
                        <a:rPr lang="zh-CN" altLang="en-US" sz="2000" dirty="0">
                          <a:latin typeface="宋体" panose="02010600030101010101" pitchFamily="2" charset="-122"/>
                          <a:ea typeface="宋体" panose="02010600030101010101" pitchFamily="2" charset="-122"/>
                        </a:rPr>
                        <a:t>酶的成本与稳定性</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zh-CN" altLang="en-US" sz="2000" dirty="0">
                          <a:latin typeface="宋体" panose="02010600030101010101" pitchFamily="2" charset="-122"/>
                          <a:ea typeface="宋体" panose="02010600030101010101" pitchFamily="2" charset="-122"/>
                        </a:rPr>
                        <a:t>开发</a:t>
                      </a:r>
                      <a:r>
                        <a:rPr lang="zh-CN" altLang="en-US" sz="2000" dirty="0">
                          <a:solidFill>
                            <a:schemeClr val="accent5">
                              <a:lumMod val="50000"/>
                            </a:schemeClr>
                          </a:solidFill>
                          <a:latin typeface="宋体" panose="02010600030101010101" pitchFamily="2" charset="-122"/>
                          <a:ea typeface="宋体" panose="02010600030101010101" pitchFamily="2" charset="-122"/>
                        </a:rPr>
                        <a:t>固定化酶</a:t>
                      </a:r>
                      <a:r>
                        <a:rPr lang="zh-CN" altLang="en-US" sz="2000" dirty="0">
                          <a:latin typeface="宋体" panose="02010600030101010101" pitchFamily="2" charset="-122"/>
                          <a:ea typeface="宋体" panose="02010600030101010101" pitchFamily="2" charset="-122"/>
                        </a:rPr>
                        <a:t>，将酶固定在载体上，实现重复利用；</a:t>
                      </a:r>
                      <a:r>
                        <a:rPr lang="zh-CN" altLang="en-US" sz="2000" dirty="0">
                          <a:solidFill>
                            <a:schemeClr val="accent5">
                              <a:lumMod val="50000"/>
                            </a:schemeClr>
                          </a:solidFill>
                          <a:latin typeface="宋体" panose="02010600030101010101" pitchFamily="2" charset="-122"/>
                          <a:ea typeface="宋体" panose="02010600030101010101" pitchFamily="2" charset="-122"/>
                        </a:rPr>
                        <a:t>基因工程改造</a:t>
                      </a:r>
                      <a:r>
                        <a:rPr lang="zh-CN" altLang="en-US" sz="2000" dirty="0">
                          <a:latin typeface="宋体" panose="02010600030101010101" pitchFamily="2" charset="-122"/>
                          <a:ea typeface="宋体" panose="02010600030101010101" pitchFamily="2" charset="-122"/>
                        </a:rPr>
                        <a:t>提升酶结构稳定性。</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pPr algn="l"/>
                      <a:r>
                        <a:rPr lang="zh-CN" altLang="en-US" sz="2000" dirty="0">
                          <a:latin typeface="宋体" panose="02010600030101010101" pitchFamily="2" charset="-122"/>
                          <a:ea typeface="宋体" panose="02010600030101010101" pitchFamily="2" charset="-122"/>
                        </a:rPr>
                        <a:t>高浓度底物混合与传质</a:t>
                      </a:r>
                      <a:r>
                        <a:rPr lang="en-US" altLang="zh-CN" sz="2000" dirty="0">
                          <a:latin typeface="宋体" panose="02010600030101010101" pitchFamily="2" charset="-122"/>
                          <a:ea typeface="宋体" panose="02010600030101010101" pitchFamily="2" charset="-122"/>
                        </a:rPr>
                        <a:t>/</a:t>
                      </a:r>
                      <a:r>
                        <a:rPr lang="zh-CN" altLang="en-US" sz="2000" dirty="0">
                          <a:latin typeface="宋体" panose="02010600030101010101" pitchFamily="2" charset="-122"/>
                          <a:ea typeface="宋体" panose="02010600030101010101" pitchFamily="2" charset="-122"/>
                        </a:rPr>
                        <a:t>传热困难</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zh-CN" altLang="en-US" sz="2000" dirty="0">
                          <a:solidFill>
                            <a:schemeClr val="accent5">
                              <a:lumMod val="50000"/>
                            </a:schemeClr>
                          </a:solidFill>
                          <a:latin typeface="宋体" panose="02010600030101010101" pitchFamily="2" charset="-122"/>
                          <a:ea typeface="宋体" panose="02010600030101010101" pitchFamily="2" charset="-122"/>
                        </a:rPr>
                        <a:t>分批补料</a:t>
                      </a:r>
                      <a:r>
                        <a:rPr lang="zh-CN" altLang="en-US" sz="2000" dirty="0">
                          <a:latin typeface="宋体" panose="02010600030101010101" pitchFamily="2" charset="-122"/>
                          <a:ea typeface="宋体" panose="02010600030101010101" pitchFamily="2" charset="-122"/>
                        </a:rPr>
                        <a:t>；使用高剪切搅拌桨（双螺带）；采用</a:t>
                      </a:r>
                      <a:r>
                        <a:rPr lang="zh-CN" altLang="en-US" sz="2000" dirty="0">
                          <a:solidFill>
                            <a:schemeClr val="accent5">
                              <a:lumMod val="50000"/>
                            </a:schemeClr>
                          </a:solidFill>
                          <a:latin typeface="宋体" panose="02010600030101010101" pitchFamily="2" charset="-122"/>
                          <a:ea typeface="宋体" panose="02010600030101010101" pitchFamily="2" charset="-122"/>
                        </a:rPr>
                        <a:t>外循环冷却</a:t>
                      </a:r>
                      <a:r>
                        <a:rPr lang="zh-CN" altLang="en-US" sz="2000" dirty="0">
                          <a:latin typeface="宋体" panose="02010600030101010101" pitchFamily="2" charset="-122"/>
                          <a:ea typeface="宋体" panose="02010600030101010101" pitchFamily="2" charset="-122"/>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70840">
                <a:tc>
                  <a:txBody>
                    <a:bodyPr/>
                    <a:lstStyle/>
                    <a:p>
                      <a:pPr algn="l"/>
                      <a:r>
                        <a:rPr lang="zh-CN" altLang="en-US" sz="2000" dirty="0">
                          <a:latin typeface="宋体" panose="02010600030101010101" pitchFamily="2" charset="-122"/>
                          <a:ea typeface="宋体" panose="02010600030101010101" pitchFamily="2" charset="-122"/>
                        </a:rPr>
                        <a:t>硅烷化后纯化去除副产物，打断连续化流程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zh-CN" altLang="en-US" sz="2000" dirty="0">
                          <a:latin typeface="宋体" panose="02010600030101010101" pitchFamily="2" charset="-122"/>
                          <a:ea typeface="宋体" panose="02010600030101010101" pitchFamily="2" charset="-122"/>
                        </a:rPr>
                        <a:t>更换保护基（</a:t>
                      </a:r>
                      <a:r>
                        <a:rPr lang="en-US" altLang="zh-CN" sz="2000" dirty="0">
                          <a:latin typeface="宋体" panose="02010600030101010101" pitchFamily="2" charset="-122"/>
                          <a:ea typeface="宋体" panose="02010600030101010101" pitchFamily="2" charset="-122"/>
                        </a:rPr>
                        <a:t>TES</a:t>
                      </a: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TIPS</a:t>
                      </a:r>
                      <a:r>
                        <a:rPr lang="zh-CN" altLang="en-US" sz="2000" dirty="0">
                          <a:latin typeface="宋体" panose="02010600030101010101" pitchFamily="2" charset="-122"/>
                          <a:ea typeface="宋体" panose="02010600030101010101" pitchFamily="2" charset="-122"/>
                        </a:rPr>
                        <a:t>）；加</a:t>
                      </a:r>
                      <a:r>
                        <a:rPr lang="zh-CN" altLang="en-US" sz="2000" dirty="0">
                          <a:solidFill>
                            <a:schemeClr val="accent5">
                              <a:lumMod val="50000"/>
                            </a:schemeClr>
                          </a:solidFill>
                          <a:latin typeface="宋体" panose="02010600030101010101" pitchFamily="2" charset="-122"/>
                          <a:ea typeface="宋体" panose="02010600030101010101" pitchFamily="2" charset="-122"/>
                        </a:rPr>
                        <a:t>固体吸附剂</a:t>
                      </a:r>
                      <a:r>
                        <a:rPr lang="zh-CN" altLang="en-US" sz="2000" dirty="0">
                          <a:latin typeface="宋体" panose="02010600030101010101" pitchFamily="2" charset="-122"/>
                          <a:ea typeface="宋体" panose="02010600030101010101" pitchFamily="2" charset="-122"/>
                        </a:rPr>
                        <a:t>原位清除；设计原位</a:t>
                      </a:r>
                      <a:r>
                        <a:rPr lang="zh-CN" altLang="en-US" sz="2000" dirty="0">
                          <a:solidFill>
                            <a:schemeClr val="accent5">
                              <a:lumMod val="50000"/>
                            </a:schemeClr>
                          </a:solidFill>
                          <a:latin typeface="宋体" panose="02010600030101010101" pitchFamily="2" charset="-122"/>
                          <a:ea typeface="宋体" panose="02010600030101010101" pitchFamily="2" charset="-122"/>
                        </a:rPr>
                        <a:t>结晶析出纯产物</a:t>
                      </a:r>
                      <a:r>
                        <a:rPr lang="zh-CN" altLang="en-US" sz="2000" dirty="0">
                          <a:latin typeface="宋体" panose="02010600030101010101" pitchFamily="2" charset="-122"/>
                          <a:ea typeface="宋体" panose="02010600030101010101" pitchFamily="2" charset="-122"/>
                        </a:rPr>
                        <a:t>，母液回收套用。</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70840">
                <a:tc>
                  <a:txBody>
                    <a:bodyPr/>
                    <a:lstStyle/>
                    <a:p>
                      <a:pPr algn="l"/>
                      <a:r>
                        <a:rPr lang="zh-CN" altLang="en-US" sz="2000" dirty="0">
                          <a:latin typeface="宋体" panose="02010600030101010101" pitchFamily="2" charset="-122"/>
                          <a:ea typeface="宋体" panose="02010600030101010101" pitchFamily="2" charset="-122"/>
                        </a:rPr>
                        <a:t>多步无分离工艺中的杂质累积</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zh-CN" altLang="en-US" sz="2000" dirty="0">
                          <a:latin typeface="宋体" panose="02010600030101010101" pitchFamily="2" charset="-122"/>
                          <a:ea typeface="宋体" panose="02010600030101010101" pitchFamily="2" charset="-122"/>
                        </a:rPr>
                        <a:t>设置“净化窗”（简单洗涤或萃取）；建立杂质谱并设阈值；使用固相清除剂，提高原料纯度。</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nvGraphicFramePr>
        <p:xfrm>
          <a:off x="4743691" y="1438785"/>
          <a:ext cx="2943156" cy="3185298"/>
        </p:xfrm>
        <a:graphic>
          <a:graphicData uri="http://schemas.openxmlformats.org/presentationml/2006/ole">
            <mc:AlternateContent xmlns:mc="http://schemas.openxmlformats.org/markup-compatibility/2006">
              <mc:Choice xmlns:v="urn:schemas-microsoft-com:vml" Requires="v">
                <p:oleObj spid="_x0000_s75780" name="CS ChemDraw Drawing" r:id="rId3" imgW="1713230" imgH="1851660" progId="ChemDraw.Document.6.0">
                  <p:embed/>
                </p:oleObj>
              </mc:Choice>
              <mc:Fallback>
                <p:oleObj name="CS ChemDraw Drawing" r:id="rId3" imgW="1713230" imgH="1851660" progId="ChemDraw.Document.6.0">
                  <p:embed/>
                  <p:pic>
                    <p:nvPicPr>
                      <p:cNvPr id="2" name="对象 1"/>
                      <p:cNvPicPr/>
                      <p:nvPr/>
                    </p:nvPicPr>
                    <p:blipFill>
                      <a:blip r:embed="rId4"/>
                      <a:stretch>
                        <a:fillRect/>
                      </a:stretch>
                    </p:blipFill>
                    <p:spPr>
                      <a:xfrm>
                        <a:off x="4743691" y="1438785"/>
                        <a:ext cx="2943156" cy="3185298"/>
                      </a:xfrm>
                      <a:prstGeom prst="rect">
                        <a:avLst/>
                      </a:prstGeom>
                    </p:spPr>
                  </p:pic>
                </p:oleObj>
              </mc:Fallback>
            </mc:AlternateContent>
          </a:graphicData>
        </a:graphic>
      </p:graphicFrame>
      <p:pic>
        <p:nvPicPr>
          <p:cNvPr id="4" name="图片 9"/>
          <p:cNvPicPr>
            <a:picLocks noChangeAspect="1" noChangeArrowheads="1"/>
          </p:cNvPicPr>
          <p:nvPr/>
        </p:nvPicPr>
        <p:blipFill>
          <a:blip r:embed="rId5">
            <a:extLst>
              <a:ext uri="{28A0092B-C50C-407E-A947-70E740481C1C}">
                <a14:useLocalDpi xmlns:a14="http://schemas.microsoft.com/office/drawing/2010/main" val="0"/>
              </a:ext>
            </a:extLst>
          </a:blip>
          <a:srcRect l="24496" r="24496"/>
          <a:stretch>
            <a:fillRect/>
          </a:stretch>
        </p:blipFill>
        <p:spPr bwMode="auto">
          <a:xfrm>
            <a:off x="11000747" y="89452"/>
            <a:ext cx="1081962" cy="1083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9148" y="411292"/>
            <a:ext cx="9004852" cy="523220"/>
          </a:xfrm>
          <a:prstGeom prst="rect">
            <a:avLst/>
          </a:prstGeom>
          <a:noFill/>
        </p:spPr>
        <p:txBody>
          <a:bodyPr wrap="square" rtlCol="0">
            <a:spAutoFit/>
          </a:bodyPr>
          <a:lstStyle/>
          <a:p>
            <a:r>
              <a:rPr lang="zh-CN" altLang="en-US" sz="2800" b="1" dirty="0">
                <a:latin typeface="宋体" panose="02010600030101010101" pitchFamily="2" charset="-122"/>
                <a:ea typeface="宋体" panose="02010600030101010101" pitchFamily="2" charset="-122"/>
              </a:rPr>
              <a:t>一、匹伐他汀市场价值与原料药价格（</a:t>
            </a:r>
            <a:r>
              <a:rPr lang="en-US" altLang="zh-CN" sz="2800" b="1" dirty="0">
                <a:latin typeface="Times New Roman" panose="02020603050405020304" charset="0"/>
                <a:ea typeface="宋体" panose="02010600030101010101" pitchFamily="2" charset="-122"/>
                <a:cs typeface="Times New Roman" panose="02020603050405020304" charset="0"/>
              </a:rPr>
              <a:t>2025-2026 </a:t>
            </a:r>
            <a:r>
              <a:rPr lang="zh-CN" altLang="en-US" sz="2800" b="1" dirty="0">
                <a:latin typeface="Times New Roman" panose="02020603050405020304" charset="0"/>
                <a:ea typeface="宋体" panose="02010600030101010101" pitchFamily="2" charset="-122"/>
                <a:cs typeface="Times New Roman" panose="02020603050405020304" charset="0"/>
              </a:rPr>
              <a:t>年</a:t>
            </a:r>
            <a:r>
              <a:rPr lang="zh-CN" altLang="en-US" sz="2800" b="1" dirty="0">
                <a:latin typeface="宋体" panose="02010600030101010101" pitchFamily="2" charset="-122"/>
                <a:ea typeface="宋体" panose="02010600030101010101" pitchFamily="2" charset="-122"/>
              </a:rPr>
              <a:t>数据）</a:t>
            </a:r>
          </a:p>
        </p:txBody>
      </p:sp>
      <p:sp>
        <p:nvSpPr>
          <p:cNvPr id="3" name="文本框 2"/>
          <p:cNvSpPr txBox="1"/>
          <p:nvPr/>
        </p:nvSpPr>
        <p:spPr>
          <a:xfrm>
            <a:off x="765314" y="1011383"/>
            <a:ext cx="10426148" cy="4835234"/>
          </a:xfrm>
          <a:prstGeom prst="rect">
            <a:avLst/>
          </a:prstGeom>
          <a:noFill/>
        </p:spPr>
        <p:txBody>
          <a:bodyPr wrap="square" rtlCol="0">
            <a:spAutoFit/>
          </a:bodyPr>
          <a:lstStyle/>
          <a:p>
            <a:pPr algn="just">
              <a:lnSpc>
                <a:spcPct val="150000"/>
              </a:lnSpc>
            </a:pPr>
            <a:r>
              <a:rPr lang="en-US" altLang="zh-CN" sz="2400" b="1" dirty="0">
                <a:latin typeface="宋体" panose="02010600030101010101" pitchFamily="2" charset="-122"/>
                <a:ea typeface="宋体" panose="02010600030101010101" pitchFamily="2" charset="-122"/>
              </a:rPr>
              <a:t>1.</a:t>
            </a:r>
            <a:r>
              <a:rPr lang="zh-CN" altLang="en-US" sz="2400" b="1" dirty="0">
                <a:latin typeface="宋体" panose="02010600030101010101" pitchFamily="2" charset="-122"/>
                <a:ea typeface="宋体" panose="02010600030101010101" pitchFamily="2" charset="-122"/>
              </a:rPr>
              <a:t>市场价值</a:t>
            </a:r>
            <a:endParaRPr lang="en-US" altLang="zh-CN" sz="2400" b="1" dirty="0">
              <a:latin typeface="宋体" panose="02010600030101010101" pitchFamily="2" charset="-122"/>
              <a:ea typeface="宋体" panose="02010600030101010101" pitchFamily="2" charset="-122"/>
            </a:endParaRPr>
          </a:p>
          <a:p>
            <a:pPr algn="just">
              <a:lnSpc>
                <a:spcPct val="150000"/>
              </a:lnSpc>
            </a:pPr>
            <a:r>
              <a:rPr lang="zh-CN" altLang="en-US" sz="2000" b="1" dirty="0">
                <a:latin typeface="宋体" panose="02010600030101010101" pitchFamily="2" charset="-122"/>
                <a:ea typeface="宋体" panose="02010600030101010101" pitchFamily="2" charset="-122"/>
              </a:rPr>
              <a:t>全球市场</a:t>
            </a:r>
            <a:r>
              <a:rPr lang="zh-CN" altLang="en-US" sz="2000" dirty="0">
                <a:latin typeface="宋体" panose="02010600030101010101" pitchFamily="2" charset="-122"/>
                <a:ea typeface="宋体" panose="02010600030101010101" pitchFamily="2" charset="-122"/>
              </a:rPr>
              <a:t>：</a:t>
            </a:r>
            <a:r>
              <a:rPr lang="en-US" altLang="zh-CN" sz="2000" dirty="0">
                <a:latin typeface="Times New Roman" panose="02020603050405020304" charset="0"/>
                <a:ea typeface="宋体" panose="02010600030101010101" pitchFamily="2" charset="-122"/>
                <a:cs typeface="Times New Roman" panose="02020603050405020304" charset="0"/>
              </a:rPr>
              <a:t>2025 </a:t>
            </a:r>
            <a:r>
              <a:rPr lang="zh-CN" altLang="en-US" sz="2000" dirty="0">
                <a:latin typeface="宋体" panose="02010600030101010101" pitchFamily="2" charset="-122"/>
                <a:ea typeface="宋体" panose="02010600030101010101" pitchFamily="2" charset="-122"/>
              </a:rPr>
              <a:t>年规模约</a:t>
            </a:r>
            <a:r>
              <a:rPr lang="en-US" altLang="zh-CN" sz="2000" dirty="0">
                <a:latin typeface="Times New Roman" panose="02020603050405020304" charset="0"/>
                <a:ea typeface="宋体" panose="02010600030101010101" pitchFamily="2" charset="-122"/>
                <a:cs typeface="Times New Roman" panose="02020603050405020304" charset="0"/>
              </a:rPr>
              <a:t>6.86 </a:t>
            </a:r>
            <a:r>
              <a:rPr lang="zh-CN" altLang="en-US" sz="2000" dirty="0">
                <a:latin typeface="宋体" panose="02010600030101010101" pitchFamily="2" charset="-122"/>
                <a:ea typeface="宋体" panose="02010600030101010101" pitchFamily="2" charset="-122"/>
              </a:rPr>
              <a:t>亿美元，年复合增速</a:t>
            </a:r>
            <a:r>
              <a:rPr lang="en-US" altLang="zh-CN" sz="2000" dirty="0">
                <a:latin typeface="Times New Roman" panose="02020603050405020304" charset="0"/>
                <a:ea typeface="宋体" panose="02010600030101010101" pitchFamily="2" charset="-122"/>
                <a:cs typeface="Times New Roman" panose="02020603050405020304" charset="0"/>
              </a:rPr>
              <a:t>6.01%</a:t>
            </a:r>
            <a:r>
              <a:rPr lang="zh-CN" altLang="en-US" sz="2000" dirty="0">
                <a:latin typeface="宋体" panose="02010600030101010101" pitchFamily="2" charset="-122"/>
                <a:ea typeface="宋体" panose="02010600030101010101" pitchFamily="2" charset="-122"/>
              </a:rPr>
              <a:t>，</a:t>
            </a:r>
            <a:r>
              <a:rPr lang="en-US" altLang="zh-CN" sz="2000" dirty="0">
                <a:latin typeface="Times New Roman" panose="02020603050405020304" charset="0"/>
                <a:ea typeface="宋体" panose="02010600030101010101" pitchFamily="2" charset="-122"/>
                <a:cs typeface="Times New Roman" panose="02020603050405020304" charset="0"/>
              </a:rPr>
              <a:t>2030 </a:t>
            </a:r>
            <a:r>
              <a:rPr lang="zh-CN" altLang="en-US" sz="2000" dirty="0">
                <a:latin typeface="宋体" panose="02010600030101010101" pitchFamily="2" charset="-122"/>
                <a:ea typeface="宋体" panose="02010600030101010101" pitchFamily="2" charset="-122"/>
              </a:rPr>
              <a:t>年预计达</a:t>
            </a:r>
            <a:r>
              <a:rPr lang="en-US" altLang="zh-CN" sz="2000" dirty="0">
                <a:latin typeface="Times New Roman" panose="02020603050405020304" charset="0"/>
                <a:ea typeface="宋体" panose="02010600030101010101" pitchFamily="2" charset="-122"/>
                <a:cs typeface="Times New Roman" panose="02020603050405020304" charset="0"/>
              </a:rPr>
              <a:t>9.18 </a:t>
            </a:r>
            <a:r>
              <a:rPr lang="zh-CN" altLang="en-US" sz="2000" dirty="0">
                <a:latin typeface="宋体" panose="02010600030101010101" pitchFamily="2" charset="-122"/>
                <a:ea typeface="宋体" panose="02010600030101010101" pitchFamily="2" charset="-122"/>
              </a:rPr>
              <a:t>亿美元，亚太为增速最快区域。</a:t>
            </a:r>
            <a:endParaRPr lang="en-US" altLang="zh-CN" sz="2000" dirty="0">
              <a:latin typeface="宋体" panose="02010600030101010101" pitchFamily="2" charset="-122"/>
              <a:ea typeface="宋体" panose="02010600030101010101" pitchFamily="2" charset="-122"/>
            </a:endParaRPr>
          </a:p>
          <a:p>
            <a:pPr algn="just">
              <a:lnSpc>
                <a:spcPct val="150000"/>
              </a:lnSpc>
            </a:pPr>
            <a:r>
              <a:rPr lang="zh-CN" altLang="en-US" sz="2000" b="1" dirty="0">
                <a:latin typeface="宋体" panose="02010600030101010101" pitchFamily="2" charset="-122"/>
                <a:ea typeface="宋体" panose="02010600030101010101" pitchFamily="2" charset="-122"/>
              </a:rPr>
              <a:t>中国市场</a:t>
            </a:r>
            <a:r>
              <a:rPr lang="zh-CN" altLang="en-US" sz="2000" dirty="0">
                <a:latin typeface="宋体" panose="02010600030101010101" pitchFamily="2" charset="-122"/>
                <a:ea typeface="宋体" panose="02010600030101010101" pitchFamily="2" charset="-122"/>
              </a:rPr>
              <a:t>：</a:t>
            </a:r>
            <a:r>
              <a:rPr lang="en-US" altLang="zh-CN" sz="2000" dirty="0">
                <a:latin typeface="Times New Roman" panose="02020603050405020304" charset="0"/>
                <a:ea typeface="宋体" panose="02010600030101010101" pitchFamily="2" charset="-122"/>
                <a:cs typeface="Times New Roman" panose="02020603050405020304" charset="0"/>
              </a:rPr>
              <a:t>2025 </a:t>
            </a:r>
            <a:r>
              <a:rPr lang="zh-CN" altLang="en-US" sz="2000" dirty="0">
                <a:latin typeface="宋体" panose="02010600030101010101" pitchFamily="2" charset="-122"/>
                <a:ea typeface="宋体" panose="02010600030101010101" pitchFamily="2" charset="-122"/>
              </a:rPr>
              <a:t>年市场规模预计突破</a:t>
            </a:r>
            <a:r>
              <a:rPr lang="en-US" altLang="zh-CN" sz="2000" dirty="0">
                <a:latin typeface="Times New Roman" panose="02020603050405020304" charset="0"/>
                <a:ea typeface="宋体" panose="02010600030101010101" pitchFamily="2" charset="-122"/>
                <a:cs typeface="Times New Roman" panose="02020603050405020304" charset="0"/>
              </a:rPr>
              <a:t>47 </a:t>
            </a:r>
            <a:r>
              <a:rPr lang="zh-CN" altLang="en-US" sz="2000" dirty="0">
                <a:latin typeface="宋体" panose="02010600030101010101" pitchFamily="2" charset="-122"/>
                <a:ea typeface="宋体" panose="02010600030101010101" pitchFamily="2" charset="-122"/>
              </a:rPr>
              <a:t>亿元，同比增</a:t>
            </a:r>
            <a:r>
              <a:rPr lang="en-US" altLang="zh-CN" sz="2000" dirty="0">
                <a:latin typeface="Times New Roman" panose="02020603050405020304" charset="0"/>
                <a:ea typeface="宋体" panose="02010600030101010101" pitchFamily="2" charset="-122"/>
                <a:cs typeface="Times New Roman" panose="02020603050405020304" charset="0"/>
              </a:rPr>
              <a:t>8.5%</a:t>
            </a:r>
            <a:r>
              <a:rPr lang="zh-CN" altLang="en-US" sz="2000" dirty="0">
                <a:latin typeface="宋体" panose="02010600030101010101" pitchFamily="2" charset="-122"/>
                <a:ea typeface="宋体" panose="02010600030101010101" pitchFamily="2" charset="-122"/>
              </a:rPr>
              <a:t>；原料药年总产量约</a:t>
            </a:r>
            <a:r>
              <a:rPr lang="en-US" altLang="zh-CN" sz="2000" dirty="0">
                <a:latin typeface="Times New Roman" panose="02020603050405020304" charset="0"/>
                <a:ea typeface="宋体" panose="02010600030101010101" pitchFamily="2" charset="-122"/>
                <a:cs typeface="Times New Roman" panose="02020603050405020304" charset="0"/>
              </a:rPr>
              <a:t>128 </a:t>
            </a:r>
            <a:r>
              <a:rPr lang="zh-CN" altLang="en-US" sz="2000" dirty="0">
                <a:latin typeface="宋体" panose="02010600030101010101" pitchFamily="2" charset="-122"/>
                <a:ea typeface="宋体" panose="02010600030101010101" pitchFamily="2" charset="-122"/>
              </a:rPr>
              <a:t>吨，产能利用率</a:t>
            </a:r>
            <a:r>
              <a:rPr lang="en-US" altLang="zh-CN" sz="2000" dirty="0">
                <a:latin typeface="Times New Roman" panose="02020603050405020304" charset="0"/>
                <a:ea typeface="宋体" panose="02010600030101010101" pitchFamily="2" charset="-122"/>
                <a:cs typeface="Times New Roman" panose="02020603050405020304" charset="0"/>
              </a:rPr>
              <a:t>91.4%</a:t>
            </a:r>
            <a:r>
              <a:rPr lang="zh-CN" altLang="en-US" sz="2000" dirty="0">
                <a:latin typeface="宋体" panose="02010600030101010101" pitchFamily="2" charset="-122"/>
                <a:ea typeface="宋体" panose="02010600030101010101" pitchFamily="2" charset="-122"/>
              </a:rPr>
              <a:t>，国内需求约</a:t>
            </a:r>
            <a:r>
              <a:rPr lang="en-US" altLang="zh-CN" sz="2000" dirty="0">
                <a:latin typeface="Times New Roman" panose="02020603050405020304" charset="0"/>
                <a:ea typeface="宋体" panose="02010600030101010101" pitchFamily="2" charset="-122"/>
                <a:cs typeface="Times New Roman" panose="02020603050405020304" charset="0"/>
              </a:rPr>
              <a:t>130 </a:t>
            </a:r>
            <a:r>
              <a:rPr lang="zh-CN" altLang="en-US" sz="2000" dirty="0">
                <a:latin typeface="宋体" panose="02010600030101010101" pitchFamily="2" charset="-122"/>
                <a:ea typeface="宋体" panose="02010600030101010101" pitchFamily="2" charset="-122"/>
              </a:rPr>
              <a:t>吨，占全球需求</a:t>
            </a:r>
            <a:r>
              <a:rPr lang="en-US" altLang="zh-CN" sz="2000" dirty="0">
                <a:latin typeface="Times New Roman" panose="02020603050405020304" charset="0"/>
                <a:ea typeface="宋体" panose="02010600030101010101" pitchFamily="2" charset="-122"/>
                <a:cs typeface="Times New Roman" panose="02020603050405020304" charset="0"/>
              </a:rPr>
              <a:t>34%</a:t>
            </a:r>
            <a:r>
              <a:rPr lang="zh-CN" altLang="en-US" sz="2000" dirty="0">
                <a:latin typeface="宋体" panose="02010600030101010101" pitchFamily="2" charset="-122"/>
                <a:ea typeface="宋体" panose="02010600030101010101" pitchFamily="2" charset="-122"/>
              </a:rPr>
              <a:t>。</a:t>
            </a:r>
            <a:endParaRPr lang="en-US" altLang="zh-CN" sz="2000" dirty="0">
              <a:latin typeface="宋体" panose="02010600030101010101" pitchFamily="2" charset="-122"/>
              <a:ea typeface="宋体" panose="02010600030101010101" pitchFamily="2" charset="-122"/>
            </a:endParaRPr>
          </a:p>
          <a:p>
            <a:pPr algn="just">
              <a:lnSpc>
                <a:spcPct val="150000"/>
              </a:lnSpc>
            </a:pPr>
            <a:r>
              <a:rPr lang="zh-CN" altLang="en-US" sz="2000" b="1" dirty="0">
                <a:latin typeface="宋体" panose="02010600030101010101" pitchFamily="2" charset="-122"/>
                <a:ea typeface="宋体" panose="02010600030101010101" pitchFamily="2" charset="-122"/>
              </a:rPr>
              <a:t>临床价值</a:t>
            </a:r>
            <a:r>
              <a:rPr lang="zh-CN" altLang="en-US" sz="2000" dirty="0">
                <a:latin typeface="宋体" panose="02010600030101010101" pitchFamily="2" charset="-122"/>
                <a:ea typeface="宋体" panose="02010600030101010101" pitchFamily="2" charset="-122"/>
              </a:rPr>
              <a:t>：第三代强效他汀，肝细胞选择性高、对血糖影响小、药物相互作用少，适合糖尿病合并高血脂人群，医保乙类，临床刚需稳定。</a:t>
            </a:r>
            <a:endParaRPr lang="en-US" altLang="zh-CN" sz="2000" dirty="0">
              <a:latin typeface="宋体" panose="02010600030101010101" pitchFamily="2" charset="-122"/>
              <a:ea typeface="宋体" panose="02010600030101010101" pitchFamily="2" charset="-122"/>
            </a:endParaRPr>
          </a:p>
          <a:p>
            <a:pPr algn="just">
              <a:lnSpc>
                <a:spcPct val="150000"/>
              </a:lnSpc>
            </a:pPr>
            <a:r>
              <a:rPr lang="en-US" altLang="zh-CN" sz="2400" b="1" dirty="0">
                <a:latin typeface="宋体" panose="02010600030101010101" pitchFamily="2" charset="-122"/>
                <a:ea typeface="宋体" panose="02010600030101010101" pitchFamily="2" charset="-122"/>
              </a:rPr>
              <a:t>2.</a:t>
            </a:r>
            <a:r>
              <a:rPr lang="zh-CN" altLang="en-US" sz="2400" b="1" dirty="0">
                <a:latin typeface="宋体" panose="02010600030101010101" pitchFamily="2" charset="-122"/>
                <a:ea typeface="宋体" panose="02010600030101010101" pitchFamily="2" charset="-122"/>
              </a:rPr>
              <a:t>原料药价格（</a:t>
            </a:r>
            <a:r>
              <a:rPr lang="en-US" altLang="zh-CN" sz="2400" b="1" dirty="0">
                <a:latin typeface="Times New Roman" panose="02020603050405020304" charset="0"/>
                <a:ea typeface="宋体" panose="02010600030101010101" pitchFamily="2" charset="-122"/>
                <a:cs typeface="Times New Roman" panose="02020603050405020304" charset="0"/>
              </a:rPr>
              <a:t>2026 </a:t>
            </a:r>
            <a:r>
              <a:rPr lang="zh-CN" altLang="en-US" sz="2400" b="1" dirty="0">
                <a:latin typeface="宋体" panose="02010600030101010101" pitchFamily="2" charset="-122"/>
                <a:ea typeface="宋体" panose="02010600030101010101" pitchFamily="2" charset="-122"/>
              </a:rPr>
              <a:t>年</a:t>
            </a:r>
            <a:r>
              <a:rPr lang="en-US" altLang="zh-CN" sz="2400" b="1" dirty="0">
                <a:latin typeface="Times New Roman" panose="02020603050405020304" charset="0"/>
                <a:ea typeface="宋体" panose="02010600030101010101" pitchFamily="2" charset="-122"/>
                <a:cs typeface="Times New Roman" panose="02020603050405020304" charset="0"/>
              </a:rPr>
              <a:t>5 </a:t>
            </a:r>
            <a:r>
              <a:rPr lang="zh-CN" altLang="en-US" sz="2400" b="1" dirty="0">
                <a:latin typeface="宋体" panose="02010600030101010101" pitchFamily="2" charset="-122"/>
                <a:ea typeface="宋体" panose="02010600030101010101" pitchFamily="2" charset="-122"/>
              </a:rPr>
              <a:t>月，医药级</a:t>
            </a:r>
            <a:r>
              <a:rPr lang="zh-CN" altLang="en-US" sz="2400" b="1" dirty="0">
                <a:latin typeface="Times New Roman" panose="02020603050405020304" charset="0"/>
                <a:ea typeface="宋体" panose="02010600030101010101" pitchFamily="2" charset="-122"/>
                <a:cs typeface="Times New Roman" panose="02020603050405020304" charset="0"/>
              </a:rPr>
              <a:t>≥ </a:t>
            </a:r>
            <a:r>
              <a:rPr lang="en-US" altLang="zh-CN" sz="2400" b="1" dirty="0">
                <a:latin typeface="Times New Roman" panose="02020603050405020304" charset="0"/>
                <a:ea typeface="宋体" panose="02010600030101010101" pitchFamily="2" charset="-122"/>
                <a:cs typeface="Times New Roman" panose="02020603050405020304" charset="0"/>
              </a:rPr>
              <a:t>99%</a:t>
            </a:r>
            <a:r>
              <a:rPr lang="zh-CN" altLang="en-US" sz="2400" b="1" dirty="0">
                <a:latin typeface="宋体" panose="02010600030101010101" pitchFamily="2" charset="-122"/>
                <a:ea typeface="宋体" panose="02010600030101010101" pitchFamily="2" charset="-122"/>
              </a:rPr>
              <a:t>）</a:t>
            </a:r>
            <a:endParaRPr lang="en-US" altLang="zh-CN" sz="2400" b="1" baseline="30000" dirty="0">
              <a:latin typeface="宋体" panose="02010600030101010101" pitchFamily="2" charset="-122"/>
              <a:ea typeface="宋体" panose="02010600030101010101" pitchFamily="2" charset="-122"/>
            </a:endParaRPr>
          </a:p>
          <a:p>
            <a:pPr algn="just">
              <a:lnSpc>
                <a:spcPct val="150000"/>
              </a:lnSpc>
            </a:pPr>
            <a:r>
              <a:rPr lang="zh-CN" altLang="en-US" sz="2000" b="1" dirty="0">
                <a:latin typeface="宋体" panose="02010600030101010101" pitchFamily="2" charset="-122"/>
                <a:ea typeface="宋体" panose="02010600030101010101" pitchFamily="2" charset="-122"/>
              </a:rPr>
              <a:t>匹伐他汀钙（</a:t>
            </a:r>
            <a:r>
              <a:rPr lang="en-US" altLang="zh-CN" sz="2000" b="1" dirty="0">
                <a:latin typeface="Times New Roman" panose="02020603050405020304" charset="0"/>
                <a:ea typeface="宋体" panose="02010600030101010101" pitchFamily="2" charset="-122"/>
                <a:cs typeface="Times New Roman" panose="02020603050405020304" charset="0"/>
              </a:rPr>
              <a:t>CAS 147526-32-7</a:t>
            </a:r>
            <a:r>
              <a:rPr lang="zh-CN" altLang="en-US" sz="2000" b="1" dirty="0">
                <a:latin typeface="宋体" panose="02010600030101010101" pitchFamily="2" charset="-122"/>
                <a:ea typeface="宋体" panose="02010600030101010101" pitchFamily="2" charset="-122"/>
              </a:rPr>
              <a:t>）</a:t>
            </a:r>
            <a:r>
              <a:rPr lang="zh-CN" altLang="en-US" sz="2000" dirty="0">
                <a:latin typeface="宋体" panose="02010600030101010101" pitchFamily="2" charset="-122"/>
                <a:ea typeface="宋体" panose="02010600030101010101" pitchFamily="2" charset="-122"/>
              </a:rPr>
              <a:t>：</a:t>
            </a:r>
            <a:r>
              <a:rPr lang="en-US" altLang="zh-CN" sz="2000" dirty="0">
                <a:latin typeface="Times New Roman" panose="02020603050405020304" charset="0"/>
                <a:ea typeface="宋体" panose="02010600030101010101" pitchFamily="2" charset="-122"/>
                <a:cs typeface="Times New Roman" panose="02020603050405020304" charset="0"/>
              </a:rPr>
              <a:t>1.3 </a:t>
            </a:r>
            <a:r>
              <a:rPr lang="zh-CN" altLang="en-US" sz="2000" dirty="0">
                <a:latin typeface="宋体" panose="02010600030101010101" pitchFamily="2" charset="-122"/>
                <a:ea typeface="宋体" panose="02010600030101010101" pitchFamily="2" charset="-122"/>
              </a:rPr>
              <a:t>万</a:t>
            </a:r>
            <a:r>
              <a:rPr lang="en-US" altLang="zh-CN" sz="2000" dirty="0">
                <a:latin typeface="Times New Roman" panose="02020603050405020304" charset="0"/>
                <a:ea typeface="宋体" panose="02010600030101010101" pitchFamily="2" charset="-122"/>
                <a:cs typeface="Times New Roman" panose="02020603050405020304" charset="0"/>
              </a:rPr>
              <a:t>-1.8 </a:t>
            </a:r>
            <a:r>
              <a:rPr lang="zh-CN" altLang="en-US" sz="2000" dirty="0">
                <a:latin typeface="宋体" panose="02010600030101010101" pitchFamily="2" charset="-122"/>
                <a:ea typeface="宋体" panose="02010600030101010101" pitchFamily="2" charset="-122"/>
              </a:rPr>
              <a:t>万元</a:t>
            </a:r>
            <a:r>
              <a:rPr lang="en-US" altLang="zh-CN" sz="2000" dirty="0">
                <a:latin typeface="宋体" panose="02010600030101010101" pitchFamily="2" charset="-122"/>
                <a:ea typeface="宋体" panose="02010600030101010101" pitchFamily="2" charset="-122"/>
              </a:rPr>
              <a:t>/</a:t>
            </a:r>
            <a:r>
              <a:rPr lang="zh-CN" altLang="en-US" sz="2000" dirty="0">
                <a:latin typeface="宋体" panose="02010600030101010101" pitchFamily="2" charset="-122"/>
                <a:ea typeface="宋体" panose="02010600030101010101" pitchFamily="2" charset="-122"/>
              </a:rPr>
              <a:t>千克，批量采购价约</a:t>
            </a:r>
            <a:r>
              <a:rPr lang="en-US" altLang="zh-CN" sz="2000" dirty="0">
                <a:latin typeface="Times New Roman" panose="02020603050405020304" charset="0"/>
                <a:ea typeface="宋体" panose="02010600030101010101" pitchFamily="2" charset="-122"/>
                <a:cs typeface="Times New Roman" panose="02020603050405020304" charset="0"/>
              </a:rPr>
              <a:t>1.5</a:t>
            </a:r>
            <a:r>
              <a:rPr lang="en-US" altLang="zh-CN" sz="2000" dirty="0">
                <a:latin typeface="宋体" panose="02010600030101010101" pitchFamily="2" charset="-122"/>
                <a:ea typeface="宋体" panose="02010600030101010101" pitchFamily="2" charset="-122"/>
              </a:rPr>
              <a:t> </a:t>
            </a:r>
            <a:r>
              <a:rPr lang="zh-CN" altLang="en-US" sz="2000" dirty="0">
                <a:latin typeface="宋体" panose="02010600030101010101" pitchFamily="2" charset="-122"/>
                <a:ea typeface="宋体" panose="02010600030101010101" pitchFamily="2" charset="-122"/>
              </a:rPr>
              <a:t>万元</a:t>
            </a:r>
            <a:r>
              <a:rPr lang="en-US" altLang="zh-CN" sz="2000" dirty="0">
                <a:latin typeface="宋体" panose="02010600030101010101" pitchFamily="2" charset="-122"/>
                <a:ea typeface="宋体" panose="02010600030101010101" pitchFamily="2" charset="-122"/>
              </a:rPr>
              <a:t>/</a:t>
            </a:r>
            <a:r>
              <a:rPr lang="zh-CN" altLang="en-US" sz="2000" dirty="0">
                <a:latin typeface="宋体" panose="02010600030101010101" pitchFamily="2" charset="-122"/>
                <a:ea typeface="宋体" panose="02010600030101010101" pitchFamily="2" charset="-122"/>
              </a:rPr>
              <a:t>千克。</a:t>
            </a:r>
            <a:endParaRPr lang="en-US" altLang="zh-CN" sz="2000" dirty="0">
              <a:latin typeface="宋体" panose="02010600030101010101" pitchFamily="2" charset="-122"/>
              <a:ea typeface="宋体" panose="02010600030101010101" pitchFamily="2" charset="-122"/>
            </a:endParaRPr>
          </a:p>
          <a:p>
            <a:pPr algn="just">
              <a:lnSpc>
                <a:spcPct val="150000"/>
              </a:lnSpc>
            </a:pPr>
            <a:r>
              <a:rPr lang="zh-CN" altLang="en-US" sz="2000" b="1" dirty="0">
                <a:latin typeface="宋体" panose="02010600030101010101" pitchFamily="2" charset="-122"/>
                <a:ea typeface="宋体" panose="02010600030101010101" pitchFamily="2" charset="-122"/>
              </a:rPr>
              <a:t>匹伐他汀游离酸</a:t>
            </a:r>
            <a:r>
              <a:rPr lang="en-US" altLang="zh-CN" sz="2000" b="1" dirty="0">
                <a:latin typeface="宋体" panose="02010600030101010101" pitchFamily="2" charset="-122"/>
                <a:ea typeface="宋体" panose="02010600030101010101" pitchFamily="2" charset="-122"/>
              </a:rPr>
              <a:t>/</a:t>
            </a:r>
            <a:r>
              <a:rPr lang="zh-CN" altLang="en-US" sz="2000" b="1" dirty="0">
                <a:latin typeface="宋体" panose="02010600030101010101" pitchFamily="2" charset="-122"/>
                <a:ea typeface="宋体" panose="02010600030101010101" pitchFamily="2" charset="-122"/>
              </a:rPr>
              <a:t>高级中间体</a:t>
            </a:r>
            <a:r>
              <a:rPr lang="zh-CN" altLang="en-US" sz="2000" dirty="0">
                <a:latin typeface="宋体" panose="02010600030101010101" pitchFamily="2" charset="-122"/>
                <a:ea typeface="宋体" panose="02010600030101010101" pitchFamily="2" charset="-122"/>
              </a:rPr>
              <a:t>：</a:t>
            </a:r>
            <a:r>
              <a:rPr lang="en-US" altLang="zh-CN" sz="2000" dirty="0">
                <a:latin typeface="Times New Roman" panose="02020603050405020304" charset="0"/>
                <a:ea typeface="宋体" panose="02010600030101010101" pitchFamily="2" charset="-122"/>
                <a:cs typeface="Times New Roman" panose="02020603050405020304" charset="0"/>
              </a:rPr>
              <a:t>8000 - 12000 </a:t>
            </a:r>
            <a:r>
              <a:rPr lang="zh-CN" altLang="en-US" sz="2000" dirty="0">
                <a:latin typeface="宋体" panose="02010600030101010101" pitchFamily="2" charset="-122"/>
                <a:ea typeface="宋体" panose="02010600030101010101" pitchFamily="2" charset="-122"/>
              </a:rPr>
              <a:t>元</a:t>
            </a:r>
            <a:r>
              <a:rPr lang="en-US" altLang="zh-CN" sz="2000" dirty="0">
                <a:latin typeface="宋体" panose="02010600030101010101" pitchFamily="2" charset="-122"/>
                <a:ea typeface="宋体" panose="02010600030101010101" pitchFamily="2" charset="-122"/>
              </a:rPr>
              <a:t>/</a:t>
            </a:r>
            <a:r>
              <a:rPr lang="zh-CN" altLang="en-US" sz="2000" dirty="0">
                <a:latin typeface="宋体" panose="02010600030101010101" pitchFamily="2" charset="-122"/>
                <a:ea typeface="宋体" panose="02010600030101010101" pitchFamily="2" charset="-122"/>
              </a:rPr>
              <a:t>千克，科研级小包装单价偏高。</a:t>
            </a:r>
          </a:p>
        </p:txBody>
      </p:sp>
      <p:pic>
        <p:nvPicPr>
          <p:cNvPr id="4" name="图片 9"/>
          <p:cNvPicPr>
            <a:picLocks noChangeAspect="1" noChangeArrowheads="1"/>
          </p:cNvPicPr>
          <p:nvPr/>
        </p:nvPicPr>
        <p:blipFill>
          <a:blip r:embed="rId2">
            <a:extLst>
              <a:ext uri="{28A0092B-C50C-407E-A947-70E740481C1C}">
                <a14:useLocalDpi xmlns:a14="http://schemas.microsoft.com/office/drawing/2010/main" val="0"/>
              </a:ext>
            </a:extLst>
          </a:blip>
          <a:srcRect l="24496" r="24496"/>
          <a:stretch>
            <a:fillRect/>
          </a:stretch>
        </p:blipFill>
        <p:spPr bwMode="auto">
          <a:xfrm>
            <a:off x="11000747" y="89452"/>
            <a:ext cx="1081962" cy="1083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87627" y="220270"/>
            <a:ext cx="8915400" cy="523220"/>
          </a:xfrm>
          <a:prstGeom prst="rect">
            <a:avLst/>
          </a:prstGeom>
          <a:noFill/>
        </p:spPr>
        <p:txBody>
          <a:bodyPr wrap="square" rtlCol="0">
            <a:spAutoFit/>
          </a:bodyPr>
          <a:lstStyle/>
          <a:p>
            <a:r>
              <a:rPr lang="zh-CN" altLang="en-US" sz="2800" b="1" dirty="0">
                <a:latin typeface="宋体" panose="02010600030101010101" pitchFamily="2" charset="-122"/>
                <a:ea typeface="宋体" panose="02010600030101010101" pitchFamily="2" charset="-122"/>
              </a:rPr>
              <a:t>二、匹伐他汀合成路线</a:t>
            </a:r>
            <a:r>
              <a:rPr lang="en-US" altLang="zh-CN" sz="1400" b="1" baseline="100000" dirty="0">
                <a:latin typeface="宋体" panose="02010600030101010101" pitchFamily="2" charset="-122"/>
                <a:ea typeface="宋体" panose="02010600030101010101" pitchFamily="2" charset="-122"/>
              </a:rPr>
              <a:t>[1]</a:t>
            </a:r>
            <a:endParaRPr lang="zh-CN" altLang="en-US" sz="2800" b="1" baseline="100000" dirty="0">
              <a:latin typeface="宋体" panose="02010600030101010101" pitchFamily="2" charset="-122"/>
              <a:ea typeface="宋体" panose="02010600030101010101" pitchFamily="2" charset="-122"/>
            </a:endParaRPr>
          </a:p>
        </p:txBody>
      </p:sp>
      <p:graphicFrame>
        <p:nvGraphicFramePr>
          <p:cNvPr id="3" name="对象 2"/>
          <p:cNvGraphicFramePr>
            <a:graphicFrameLocks noChangeAspect="1"/>
          </p:cNvGraphicFramePr>
          <p:nvPr/>
        </p:nvGraphicFramePr>
        <p:xfrm>
          <a:off x="1465263" y="669840"/>
          <a:ext cx="8831676" cy="5820166"/>
        </p:xfrm>
        <a:graphic>
          <a:graphicData uri="http://schemas.openxmlformats.org/presentationml/2006/ole">
            <mc:AlternateContent xmlns:mc="http://schemas.openxmlformats.org/markup-compatibility/2006">
              <mc:Choice xmlns:v="urn:schemas-microsoft-com:vml" Requires="v">
                <p:oleObj spid="_x0000_s76804" name="CS ChemDraw Drawing" r:id="rId4" imgW="9809480" imgH="6464300" progId="ChemDraw.Document.6.0">
                  <p:embed/>
                </p:oleObj>
              </mc:Choice>
              <mc:Fallback>
                <p:oleObj name="CS ChemDraw Drawing" r:id="rId4" imgW="9809480" imgH="6464300" progId="ChemDraw.Document.6.0">
                  <p:embed/>
                  <p:pic>
                    <p:nvPicPr>
                      <p:cNvPr id="3" name="对象 2"/>
                      <p:cNvPicPr/>
                      <p:nvPr/>
                    </p:nvPicPr>
                    <p:blipFill>
                      <a:blip r:embed="rId5"/>
                      <a:stretch>
                        <a:fillRect/>
                      </a:stretch>
                    </p:blipFill>
                    <p:spPr>
                      <a:xfrm>
                        <a:off x="1465263" y="669840"/>
                        <a:ext cx="8831676" cy="5820166"/>
                      </a:xfrm>
                      <a:prstGeom prst="rect">
                        <a:avLst/>
                      </a:prstGeom>
                    </p:spPr>
                  </p:pic>
                </p:oleObj>
              </mc:Fallback>
            </mc:AlternateContent>
          </a:graphicData>
        </a:graphic>
      </p:graphicFrame>
      <p:sp>
        <p:nvSpPr>
          <p:cNvPr id="4" name="文本框 3"/>
          <p:cNvSpPr txBox="1"/>
          <p:nvPr/>
        </p:nvSpPr>
        <p:spPr>
          <a:xfrm>
            <a:off x="1331844" y="6499945"/>
            <a:ext cx="5377070" cy="307777"/>
          </a:xfrm>
          <a:prstGeom prst="rect">
            <a:avLst/>
          </a:prstGeom>
          <a:noFill/>
        </p:spPr>
        <p:txBody>
          <a:bodyPr wrap="square" rtlCol="0">
            <a:spAutoFit/>
          </a:bodyPr>
          <a:lstStyle/>
          <a:p>
            <a:pPr algn="just" latinLnBrk="1"/>
            <a:r>
              <a:rPr lang="en-US" altLang="zh-CN" sz="1400" dirty="0">
                <a:latin typeface="Times New Roman" panose="02020603050405020304" charset="0"/>
                <a:cs typeface="Times New Roman" panose="02020603050405020304" charset="0"/>
              </a:rPr>
              <a:t>[1] </a:t>
            </a:r>
            <a:r>
              <a:rPr lang="en-US" altLang="zh-CN" sz="1400" i="1" dirty="0">
                <a:latin typeface="Times New Roman" panose="02020603050405020304" charset="0"/>
                <a:cs typeface="Times New Roman" panose="02020603050405020304" charset="0"/>
              </a:rPr>
              <a:t>Tetrahedron Lett. </a:t>
            </a:r>
            <a:r>
              <a:rPr lang="en-US" altLang="zh-CN" sz="1400" b="1" dirty="0">
                <a:latin typeface="Times New Roman" panose="02020603050405020304" charset="0"/>
                <a:cs typeface="Times New Roman" panose="02020603050405020304" charset="0"/>
              </a:rPr>
              <a:t>1993</a:t>
            </a:r>
            <a:r>
              <a:rPr lang="en-US" altLang="zh-CN" sz="1400" dirty="0">
                <a:latin typeface="Times New Roman" panose="02020603050405020304" charset="0"/>
                <a:cs typeface="Times New Roman" panose="02020603050405020304" charset="0"/>
              </a:rPr>
              <a:t>, </a:t>
            </a:r>
            <a:r>
              <a:rPr lang="en-US" altLang="zh-CN" sz="1400" i="1" dirty="0">
                <a:latin typeface="Times New Roman" panose="02020603050405020304" charset="0"/>
                <a:cs typeface="Times New Roman" panose="02020603050405020304" charset="0"/>
              </a:rPr>
              <a:t>34</a:t>
            </a:r>
            <a:r>
              <a:rPr lang="en-US" altLang="zh-CN" sz="1400" dirty="0">
                <a:latin typeface="Times New Roman" panose="02020603050405020304" charset="0"/>
                <a:cs typeface="Times New Roman" panose="02020603050405020304" charset="0"/>
              </a:rPr>
              <a:t>, 8267.</a:t>
            </a:r>
            <a:endParaRPr lang="zh-CN" altLang="en-US" sz="1400" dirty="0">
              <a:latin typeface="Times New Roman" panose="02020603050405020304" charset="0"/>
              <a:cs typeface="Times New Roman" panose="02020603050405020304" charset="0"/>
            </a:endParaRPr>
          </a:p>
        </p:txBody>
      </p:sp>
      <p:pic>
        <p:nvPicPr>
          <p:cNvPr id="5" name="图片 9"/>
          <p:cNvPicPr>
            <a:picLocks noChangeAspect="1" noChangeArrowheads="1"/>
          </p:cNvPicPr>
          <p:nvPr/>
        </p:nvPicPr>
        <p:blipFill>
          <a:blip r:embed="rId6">
            <a:extLst>
              <a:ext uri="{28A0092B-C50C-407E-A947-70E740481C1C}">
                <a14:useLocalDpi xmlns:a14="http://schemas.microsoft.com/office/drawing/2010/main" val="0"/>
              </a:ext>
            </a:extLst>
          </a:blip>
          <a:srcRect l="24496" r="24496"/>
          <a:stretch>
            <a:fillRect/>
          </a:stretch>
        </p:blipFill>
        <p:spPr bwMode="auto">
          <a:xfrm>
            <a:off x="11000747" y="89452"/>
            <a:ext cx="1081962" cy="1083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38539" y="327991"/>
            <a:ext cx="8915400" cy="523220"/>
          </a:xfrm>
          <a:prstGeom prst="rect">
            <a:avLst/>
          </a:prstGeom>
          <a:noFill/>
        </p:spPr>
        <p:txBody>
          <a:bodyPr wrap="square" rtlCol="0">
            <a:spAutoFit/>
          </a:bodyPr>
          <a:lstStyle/>
          <a:p>
            <a:r>
              <a:rPr lang="zh-CN" altLang="en-US" sz="2800" b="1" dirty="0">
                <a:latin typeface="宋体" panose="02010600030101010101" pitchFamily="2" charset="-122"/>
                <a:ea typeface="宋体" panose="02010600030101010101" pitchFamily="2" charset="-122"/>
              </a:rPr>
              <a:t>三、匹伐他汀合成路线优缺点</a:t>
            </a:r>
          </a:p>
        </p:txBody>
      </p:sp>
      <p:sp>
        <p:nvSpPr>
          <p:cNvPr id="3" name="文本框 2"/>
          <p:cNvSpPr txBox="1"/>
          <p:nvPr/>
        </p:nvSpPr>
        <p:spPr>
          <a:xfrm>
            <a:off x="797733" y="847657"/>
            <a:ext cx="10512997" cy="5810437"/>
          </a:xfrm>
          <a:prstGeom prst="rect">
            <a:avLst/>
          </a:prstGeom>
          <a:noFill/>
        </p:spPr>
        <p:txBody>
          <a:bodyPr wrap="square" rtlCol="0">
            <a:spAutoFit/>
          </a:bodyPr>
          <a:lstStyle/>
          <a:p>
            <a:pPr>
              <a:lnSpc>
                <a:spcPts val="2800"/>
              </a:lnSpc>
            </a:pPr>
            <a:r>
              <a:rPr lang="zh-CN" altLang="en-US" sz="2400" b="1" dirty="0">
                <a:latin typeface="宋体" panose="02010600030101010101" pitchFamily="2" charset="-122"/>
                <a:ea typeface="宋体" panose="02010600030101010101" pitchFamily="2" charset="-122"/>
              </a:rPr>
              <a:t>优点：</a:t>
            </a:r>
            <a:endParaRPr lang="en-US" altLang="zh-CN" sz="2400" b="1" dirty="0">
              <a:latin typeface="宋体" panose="02010600030101010101" pitchFamily="2" charset="-122"/>
              <a:ea typeface="宋体" panose="02010600030101010101" pitchFamily="2" charset="-122"/>
            </a:endParaRPr>
          </a:p>
          <a:p>
            <a:pPr>
              <a:lnSpc>
                <a:spcPts val="2800"/>
              </a:lnSpc>
            </a:pPr>
            <a:r>
              <a:rPr lang="en-US" altLang="zh-CN" sz="2000" b="1" dirty="0">
                <a:latin typeface="宋体" panose="02010600030101010101" pitchFamily="2" charset="-122"/>
                <a:ea typeface="宋体" panose="02010600030101010101" pitchFamily="2" charset="-122"/>
              </a:rPr>
              <a:t>1.</a:t>
            </a:r>
            <a:r>
              <a:rPr lang="zh-CN" altLang="en-US" sz="2000" b="1" dirty="0">
                <a:latin typeface="宋体" panose="02010600030101010101" pitchFamily="2" charset="-122"/>
                <a:ea typeface="宋体" panose="02010600030101010101" pitchFamily="2" charset="-122"/>
              </a:rPr>
              <a:t>双键立体专一性强：</a:t>
            </a:r>
            <a:r>
              <a:rPr lang="zh-CN" altLang="en-US" sz="2000" dirty="0">
                <a:latin typeface="宋体" panose="02010600030101010101" pitchFamily="2" charset="-122"/>
                <a:ea typeface="宋体" panose="02010600030101010101" pitchFamily="2" charset="-122"/>
              </a:rPr>
              <a:t>氢硼化</a:t>
            </a:r>
            <a:r>
              <a:rPr lang="en-US" altLang="zh-CN" sz="2000" dirty="0">
                <a:latin typeface="宋体" panose="02010600030101010101" pitchFamily="2" charset="-122"/>
                <a:ea typeface="宋体" panose="02010600030101010101" pitchFamily="2" charset="-122"/>
              </a:rPr>
              <a:t>‑</a:t>
            </a:r>
            <a:r>
              <a:rPr lang="zh-CN" altLang="en-US" sz="2000" dirty="0">
                <a:latin typeface="宋体" panose="02010600030101010101" pitchFamily="2" charset="-122"/>
                <a:ea typeface="宋体" panose="02010600030101010101" pitchFamily="2" charset="-122"/>
              </a:rPr>
              <a:t>偶联过程可</a:t>
            </a:r>
            <a:r>
              <a:rPr lang="zh-CN" altLang="en-US" sz="2000" b="1" dirty="0">
                <a:latin typeface="宋体" panose="02010600030101010101" pitchFamily="2" charset="-122"/>
                <a:ea typeface="宋体" panose="02010600030101010101" pitchFamily="2" charset="-122"/>
              </a:rPr>
              <a:t>立体选择性生成</a:t>
            </a:r>
            <a:r>
              <a:rPr lang="en-US" altLang="zh-CN" sz="2000" b="1" dirty="0">
                <a:latin typeface="Times New Roman" panose="02020603050405020304" charset="0"/>
                <a:ea typeface="宋体" panose="02010600030101010101" pitchFamily="2" charset="-122"/>
                <a:cs typeface="Times New Roman" panose="02020603050405020304" charset="0"/>
              </a:rPr>
              <a:t>E‑</a:t>
            </a:r>
            <a:r>
              <a:rPr lang="zh-CN" altLang="en-US" sz="2000" b="1" dirty="0">
                <a:latin typeface="宋体" panose="02010600030101010101" pitchFamily="2" charset="-122"/>
                <a:ea typeface="宋体" panose="02010600030101010101" pitchFamily="2" charset="-122"/>
              </a:rPr>
              <a:t>式烯烃</a:t>
            </a:r>
            <a:r>
              <a:rPr lang="zh-CN" altLang="en-US" sz="2000" dirty="0">
                <a:latin typeface="宋体" panose="02010600030101010101" pitchFamily="2" charset="-122"/>
                <a:ea typeface="宋体" panose="02010600030101010101" pitchFamily="2" charset="-122"/>
              </a:rPr>
              <a:t>，与匹伐他汀药效所需构型完全一致，避免</a:t>
            </a:r>
            <a:r>
              <a:rPr lang="en-US" altLang="zh-CN" sz="2000" dirty="0">
                <a:latin typeface="Times New Roman" panose="02020603050405020304" charset="0"/>
                <a:ea typeface="宋体" panose="02010600030101010101" pitchFamily="2" charset="-122"/>
                <a:cs typeface="Times New Roman" panose="02020603050405020304" charset="0"/>
              </a:rPr>
              <a:t>E/Z</a:t>
            </a:r>
            <a:r>
              <a:rPr lang="zh-CN" altLang="en-US" sz="2000" dirty="0">
                <a:latin typeface="宋体" panose="02010600030101010101" pitchFamily="2" charset="-122"/>
                <a:ea typeface="宋体" panose="02010600030101010101" pitchFamily="2" charset="-122"/>
              </a:rPr>
              <a:t>异构分离难题。</a:t>
            </a:r>
            <a:endParaRPr lang="en-US" altLang="zh-CN" sz="2000" dirty="0">
              <a:latin typeface="宋体" panose="02010600030101010101" pitchFamily="2" charset="-122"/>
              <a:ea typeface="宋体" panose="02010600030101010101" pitchFamily="2" charset="-122"/>
            </a:endParaRPr>
          </a:p>
          <a:p>
            <a:pPr>
              <a:lnSpc>
                <a:spcPts val="2800"/>
              </a:lnSpc>
            </a:pPr>
            <a:r>
              <a:rPr lang="en-US" altLang="zh-CN" sz="2000" b="1" dirty="0">
                <a:latin typeface="宋体" panose="02010600030101010101" pitchFamily="2" charset="-122"/>
                <a:ea typeface="宋体" panose="02010600030101010101" pitchFamily="2" charset="-122"/>
              </a:rPr>
              <a:t>2.</a:t>
            </a:r>
            <a:r>
              <a:rPr lang="zh-CN" altLang="en-US" sz="2000" b="1" dirty="0">
                <a:latin typeface="宋体" panose="02010600030101010101" pitchFamily="2" charset="-122"/>
                <a:ea typeface="宋体" panose="02010600030101010101" pitchFamily="2" charset="-122"/>
              </a:rPr>
              <a:t>偶联反应收率优异</a:t>
            </a:r>
            <a:r>
              <a:rPr lang="zh-CN" altLang="en-US" sz="2000" dirty="0">
                <a:latin typeface="宋体" panose="02010600030101010101" pitchFamily="2" charset="-122"/>
                <a:ea typeface="宋体" panose="02010600030101010101" pitchFamily="2" charset="-122"/>
              </a:rPr>
              <a:t>：经条件优化，以</a:t>
            </a:r>
            <a:r>
              <a:rPr lang="en-US" altLang="zh-CN" sz="2000" b="1" dirty="0" err="1">
                <a:latin typeface="Times New Roman" panose="02020603050405020304" charset="0"/>
                <a:ea typeface="宋体" panose="02010600030101010101" pitchFamily="2" charset="-122"/>
                <a:cs typeface="Times New Roman" panose="02020603050405020304" charset="0"/>
              </a:rPr>
              <a:t>PdCl</a:t>
            </a:r>
            <a:r>
              <a:rPr lang="en-US" altLang="zh-CN" sz="2000" b="1" dirty="0">
                <a:latin typeface="Times New Roman" panose="02020603050405020304" charset="0"/>
                <a:ea typeface="宋体" panose="02010600030101010101" pitchFamily="2" charset="-122"/>
                <a:cs typeface="Times New Roman" panose="02020603050405020304" charset="0"/>
              </a:rPr>
              <a:t>₂</a:t>
            </a:r>
            <a:r>
              <a:rPr lang="zh-CN" altLang="en-US" sz="2000" b="1" dirty="0">
                <a:latin typeface="宋体" panose="02010600030101010101" pitchFamily="2" charset="-122"/>
                <a:ea typeface="宋体" panose="02010600030101010101" pitchFamily="2" charset="-122"/>
              </a:rPr>
              <a:t>为催化剂、乙腈为溶剂、乙醇钠为碱</a:t>
            </a:r>
            <a:r>
              <a:rPr lang="zh-CN" altLang="en-US" sz="2000" dirty="0">
                <a:latin typeface="宋体" panose="02010600030101010101" pitchFamily="2" charset="-122"/>
                <a:ea typeface="宋体" panose="02010600030101010101" pitchFamily="2" charset="-122"/>
              </a:rPr>
              <a:t>时，偶联产率最高可达</a:t>
            </a:r>
            <a:r>
              <a:rPr lang="en-US" altLang="zh-CN" sz="2000" b="1" dirty="0">
                <a:latin typeface="Times New Roman" panose="02020603050405020304" charset="0"/>
                <a:ea typeface="宋体" panose="02010600030101010101" pitchFamily="2" charset="-122"/>
                <a:cs typeface="Times New Roman" panose="02020603050405020304" charset="0"/>
              </a:rPr>
              <a:t>99%</a:t>
            </a:r>
            <a:r>
              <a:rPr lang="zh-CN" altLang="en-US" sz="2000" dirty="0">
                <a:latin typeface="宋体" panose="02010600030101010101" pitchFamily="2" charset="-122"/>
                <a:ea typeface="宋体" panose="02010600030101010101" pitchFamily="2" charset="-122"/>
              </a:rPr>
              <a:t>；以</a:t>
            </a:r>
            <a:r>
              <a:rPr lang="en-US" altLang="zh-CN" sz="2000" dirty="0">
                <a:latin typeface="Times New Roman" panose="02020603050405020304" charset="0"/>
                <a:ea typeface="宋体" panose="02010600030101010101" pitchFamily="2" charset="-122"/>
                <a:cs typeface="Times New Roman" panose="02020603050405020304" charset="0"/>
              </a:rPr>
              <a:t>9‑BBN</a:t>
            </a:r>
            <a:r>
              <a:rPr lang="zh-CN" altLang="en-US" sz="2000" dirty="0">
                <a:latin typeface="宋体" panose="02010600030101010101" pitchFamily="2" charset="-122"/>
                <a:ea typeface="宋体" panose="02010600030101010101" pitchFamily="2" charset="-122"/>
              </a:rPr>
              <a:t>为硼源时收率仍可达</a:t>
            </a:r>
            <a:r>
              <a:rPr lang="en-US" altLang="zh-CN" sz="2000" dirty="0">
                <a:latin typeface="Times New Roman" panose="02020603050405020304" charset="0"/>
                <a:ea typeface="宋体" panose="02010600030101010101" pitchFamily="2" charset="-122"/>
                <a:cs typeface="Times New Roman" panose="02020603050405020304" charset="0"/>
              </a:rPr>
              <a:t>93%</a:t>
            </a:r>
            <a:r>
              <a:rPr lang="zh-CN" altLang="en-US" sz="2000" dirty="0">
                <a:latin typeface="宋体" panose="02010600030101010101" pitchFamily="2" charset="-122"/>
                <a:ea typeface="宋体" panose="02010600030101010101" pitchFamily="2" charset="-122"/>
              </a:rPr>
              <a:t>，反应效率突出。</a:t>
            </a:r>
            <a:endParaRPr lang="en-US" altLang="zh-CN" sz="2000" dirty="0">
              <a:latin typeface="宋体" panose="02010600030101010101" pitchFamily="2" charset="-122"/>
              <a:ea typeface="宋体" panose="02010600030101010101" pitchFamily="2" charset="-122"/>
            </a:endParaRPr>
          </a:p>
          <a:p>
            <a:pPr>
              <a:lnSpc>
                <a:spcPts val="2800"/>
              </a:lnSpc>
            </a:pPr>
            <a:r>
              <a:rPr lang="en-US" altLang="zh-CN" sz="2000" b="1" dirty="0">
                <a:latin typeface="宋体" panose="02010600030101010101" pitchFamily="2" charset="-122"/>
                <a:ea typeface="宋体" panose="02010600030101010101" pitchFamily="2" charset="-122"/>
              </a:rPr>
              <a:t>3.</a:t>
            </a:r>
            <a:r>
              <a:rPr lang="zh-CN" altLang="en-US" sz="2000" b="1" dirty="0">
                <a:latin typeface="宋体" panose="02010600030101010101" pitchFamily="2" charset="-122"/>
                <a:ea typeface="宋体" panose="02010600030101010101" pitchFamily="2" charset="-122"/>
              </a:rPr>
              <a:t>手性中心稳定保持</a:t>
            </a:r>
            <a:r>
              <a:rPr lang="zh-CN" altLang="en-US" sz="2000" dirty="0">
                <a:latin typeface="宋体" panose="02010600030101010101" pitchFamily="2" charset="-122"/>
                <a:ea typeface="宋体" panose="02010600030101010101" pitchFamily="2" charset="-122"/>
              </a:rPr>
              <a:t>：手性原料经化学拆分后对映体过量值</a:t>
            </a:r>
            <a:r>
              <a:rPr lang="en-US" altLang="zh-CN" sz="2000" dirty="0" err="1">
                <a:latin typeface="Times New Roman" panose="02020603050405020304" charset="0"/>
                <a:ea typeface="宋体" panose="02010600030101010101" pitchFamily="2" charset="-122"/>
                <a:cs typeface="Times New Roman" panose="02020603050405020304" charset="0"/>
              </a:rPr>
              <a:t>ee</a:t>
            </a:r>
            <a:r>
              <a:rPr lang="en-US" altLang="zh-CN" sz="2000" dirty="0">
                <a:latin typeface="Times New Roman" panose="02020603050405020304" charset="0"/>
                <a:ea typeface="宋体" panose="02010600030101010101" pitchFamily="2" charset="-122"/>
                <a:cs typeface="Times New Roman" panose="02020603050405020304" charset="0"/>
              </a:rPr>
              <a:t> = 97.3%</a:t>
            </a:r>
            <a:r>
              <a:rPr lang="zh-CN" altLang="en-US" sz="2000" dirty="0">
                <a:latin typeface="宋体" panose="02010600030101010101" pitchFamily="2" charset="-122"/>
                <a:ea typeface="宋体" panose="02010600030101010101" pitchFamily="2" charset="-122"/>
              </a:rPr>
              <a:t>，偶联过程不涉及手性中心断裂，可高保真保留光学纯度。</a:t>
            </a:r>
            <a:endParaRPr lang="en-US" altLang="zh-CN" sz="2000" dirty="0">
              <a:latin typeface="宋体" panose="02010600030101010101" pitchFamily="2" charset="-122"/>
              <a:ea typeface="宋体" panose="02010600030101010101" pitchFamily="2" charset="-122"/>
            </a:endParaRPr>
          </a:p>
          <a:p>
            <a:pPr>
              <a:lnSpc>
                <a:spcPts val="2800"/>
              </a:lnSpc>
            </a:pPr>
            <a:r>
              <a:rPr lang="zh-CN" altLang="en-US" sz="2400" b="1" dirty="0">
                <a:latin typeface="宋体" panose="02010600030101010101" pitchFamily="2" charset="-122"/>
                <a:ea typeface="宋体" panose="02010600030101010101" pitchFamily="2" charset="-122"/>
              </a:rPr>
              <a:t>缺点：</a:t>
            </a:r>
            <a:endParaRPr lang="en-US" altLang="zh-CN" sz="2400" b="1" dirty="0">
              <a:latin typeface="宋体" panose="02010600030101010101" pitchFamily="2" charset="-122"/>
              <a:ea typeface="宋体" panose="02010600030101010101" pitchFamily="2" charset="-122"/>
            </a:endParaRPr>
          </a:p>
          <a:p>
            <a:pPr>
              <a:lnSpc>
                <a:spcPts val="2800"/>
              </a:lnSpc>
            </a:pPr>
            <a:r>
              <a:rPr lang="en-US" altLang="zh-CN" sz="2000" b="1" dirty="0">
                <a:latin typeface="宋体" panose="02010600030101010101" pitchFamily="2" charset="-122"/>
                <a:ea typeface="宋体" panose="02010600030101010101" pitchFamily="2" charset="-122"/>
              </a:rPr>
              <a:t>1.</a:t>
            </a:r>
            <a:r>
              <a:rPr lang="zh-CN" altLang="en-US" sz="2000" b="1" dirty="0">
                <a:latin typeface="宋体" panose="02010600030101010101" pitchFamily="2" charset="-122"/>
                <a:ea typeface="宋体" panose="02010600030101010101" pitchFamily="2" charset="-122"/>
              </a:rPr>
              <a:t>依赖贵金属催化</a:t>
            </a:r>
            <a:r>
              <a:rPr lang="zh-CN" altLang="en-US" sz="2000" dirty="0">
                <a:latin typeface="宋体" panose="02010600030101010101" pitchFamily="2" charset="-122"/>
                <a:ea typeface="宋体" panose="02010600030101010101" pitchFamily="2" charset="-122"/>
              </a:rPr>
              <a:t>：反应需使用</a:t>
            </a:r>
            <a:r>
              <a:rPr lang="en-US" altLang="zh-CN" sz="2000" dirty="0" err="1">
                <a:latin typeface="Times New Roman" panose="02020603050405020304" charset="0"/>
                <a:ea typeface="宋体" panose="02010600030101010101" pitchFamily="2" charset="-122"/>
                <a:cs typeface="Times New Roman" panose="02020603050405020304" charset="0"/>
              </a:rPr>
              <a:t>PdCl</a:t>
            </a:r>
            <a:r>
              <a:rPr lang="en-US" altLang="zh-CN" sz="2000" dirty="0">
                <a:latin typeface="Times New Roman" panose="02020603050405020304" charset="0"/>
                <a:ea typeface="宋体" panose="02010600030101010101" pitchFamily="2" charset="-122"/>
                <a:cs typeface="Times New Roman" panose="02020603050405020304" charset="0"/>
              </a:rPr>
              <a:t>₂</a:t>
            </a:r>
            <a:r>
              <a:rPr lang="zh-CN" altLang="en-US" sz="2000" dirty="0">
                <a:latin typeface="宋体" panose="02010600030101010101" pitchFamily="2" charset="-122"/>
                <a:ea typeface="宋体" panose="02010600030101010101" pitchFamily="2" charset="-122"/>
              </a:rPr>
              <a:t>、烯丙基钯二聚体等钯催化剂，</a:t>
            </a:r>
            <a:r>
              <a:rPr lang="zh-CN" altLang="en-US" sz="2000" b="1" dirty="0">
                <a:latin typeface="宋体" panose="02010600030101010101" pitchFamily="2" charset="-122"/>
                <a:ea typeface="宋体" panose="02010600030101010101" pitchFamily="2" charset="-122"/>
              </a:rPr>
              <a:t>生产成本较高，且存在重金属残留风险</a:t>
            </a:r>
            <a:r>
              <a:rPr lang="zh-CN" altLang="en-US" sz="2000" dirty="0">
                <a:latin typeface="宋体" panose="02010600030101010101" pitchFamily="2" charset="-122"/>
                <a:ea typeface="宋体" panose="02010600030101010101" pitchFamily="2" charset="-122"/>
              </a:rPr>
              <a:t>，不符合绿色制药要求。</a:t>
            </a:r>
            <a:endParaRPr lang="en-US" altLang="zh-CN" sz="2000" dirty="0">
              <a:latin typeface="宋体" panose="02010600030101010101" pitchFamily="2" charset="-122"/>
              <a:ea typeface="宋体" panose="02010600030101010101" pitchFamily="2" charset="-122"/>
            </a:endParaRPr>
          </a:p>
          <a:p>
            <a:pPr>
              <a:lnSpc>
                <a:spcPts val="2800"/>
              </a:lnSpc>
            </a:pPr>
            <a:r>
              <a:rPr lang="en-US" altLang="zh-CN" sz="2000" b="1" dirty="0">
                <a:latin typeface="宋体" panose="02010600030101010101" pitchFamily="2" charset="-122"/>
                <a:ea typeface="宋体" panose="02010600030101010101" pitchFamily="2" charset="-122"/>
              </a:rPr>
              <a:t>2.</a:t>
            </a:r>
            <a:r>
              <a:rPr lang="zh-CN" altLang="en-US" sz="2000" b="1" dirty="0">
                <a:latin typeface="宋体" panose="02010600030101010101" pitchFamily="2" charset="-122"/>
                <a:ea typeface="宋体" panose="02010600030101010101" pitchFamily="2" charset="-122"/>
              </a:rPr>
              <a:t>硼试剂敏感、操作苛刻：</a:t>
            </a:r>
            <a:r>
              <a:rPr lang="zh-CN" altLang="en-US" sz="2000" dirty="0">
                <a:latin typeface="宋体" panose="02010600030101010101" pitchFamily="2" charset="-122"/>
                <a:ea typeface="宋体" panose="02010600030101010101" pitchFamily="2" charset="-122"/>
              </a:rPr>
              <a:t>二异戊基硼烷、</a:t>
            </a:r>
            <a:r>
              <a:rPr lang="en-US" altLang="zh-CN" sz="2000" dirty="0">
                <a:latin typeface="Times New Roman" panose="02020603050405020304" charset="0"/>
                <a:ea typeface="宋体" panose="02010600030101010101" pitchFamily="2" charset="-122"/>
                <a:cs typeface="Times New Roman" panose="02020603050405020304" charset="0"/>
              </a:rPr>
              <a:t>9‑BBN</a:t>
            </a:r>
            <a:r>
              <a:rPr lang="zh-CN" altLang="en-US" sz="2000" dirty="0">
                <a:latin typeface="宋体" panose="02010600030101010101" pitchFamily="2" charset="-122"/>
                <a:ea typeface="宋体" panose="02010600030101010101" pitchFamily="2" charset="-122"/>
              </a:rPr>
              <a:t>等氢硼化试剂对水、氧敏感，需严格无水无氧条件，后处理复杂，三废生成量较大。</a:t>
            </a:r>
            <a:endParaRPr lang="en-US" altLang="zh-CN" sz="2000" dirty="0">
              <a:latin typeface="宋体" panose="02010600030101010101" pitchFamily="2" charset="-122"/>
              <a:ea typeface="宋体" panose="02010600030101010101" pitchFamily="2" charset="-122"/>
            </a:endParaRPr>
          </a:p>
          <a:p>
            <a:pPr>
              <a:lnSpc>
                <a:spcPts val="2800"/>
              </a:lnSpc>
            </a:pPr>
            <a:r>
              <a:rPr lang="en-US" altLang="zh-CN" sz="2000" b="1" dirty="0">
                <a:latin typeface="宋体" panose="02010600030101010101" pitchFamily="2" charset="-122"/>
                <a:ea typeface="宋体" panose="02010600030101010101" pitchFamily="2" charset="-122"/>
              </a:rPr>
              <a:t>3.</a:t>
            </a:r>
            <a:r>
              <a:rPr lang="zh-CN" altLang="en-US" sz="2000" b="1" dirty="0">
                <a:latin typeface="宋体" panose="02010600030101010101" pitchFamily="2" charset="-122"/>
                <a:ea typeface="宋体" panose="02010600030101010101" pitchFamily="2" charset="-122"/>
              </a:rPr>
              <a:t>手性原料制备效率低：</a:t>
            </a:r>
            <a:r>
              <a:rPr lang="zh-CN" altLang="en-US" sz="2000" dirty="0">
                <a:latin typeface="宋体" panose="02010600030101010101" pitchFamily="2" charset="-122"/>
                <a:ea typeface="宋体" panose="02010600030101010101" pitchFamily="2" charset="-122"/>
              </a:rPr>
              <a:t>手性中间体依赖</a:t>
            </a:r>
            <a:r>
              <a:rPr lang="zh-CN" altLang="en-US" sz="2000" dirty="0">
                <a:solidFill>
                  <a:srgbClr val="000000"/>
                </a:solidFill>
                <a:effectLst/>
                <a:latin typeface="宋体" panose="02010600030101010101" pitchFamily="2" charset="-122"/>
                <a:ea typeface="宋体" panose="02010600030101010101" pitchFamily="2" charset="-122"/>
              </a:rPr>
              <a:t>化学拆分、非对映体盐结晶、解离、酯化</a:t>
            </a:r>
            <a:r>
              <a:rPr lang="zh-CN" altLang="en-US" sz="2000" dirty="0">
                <a:latin typeface="宋体" panose="02010600030101010101" pitchFamily="2" charset="-122"/>
                <a:ea typeface="宋体" panose="02010600030101010101" pitchFamily="2" charset="-122"/>
              </a:rPr>
              <a:t>多步流程，</a:t>
            </a:r>
            <a:r>
              <a:rPr lang="zh-CN" altLang="en-US" sz="2000" b="1" dirty="0">
                <a:latin typeface="宋体" panose="02010600030101010101" pitchFamily="2" charset="-122"/>
                <a:ea typeface="宋体" panose="02010600030101010101" pitchFamily="2" charset="-122"/>
              </a:rPr>
              <a:t>步骤冗长、总收率损失显著</a:t>
            </a:r>
            <a:r>
              <a:rPr lang="zh-CN" altLang="en-US" sz="2000" dirty="0">
                <a:latin typeface="宋体" panose="02010600030101010101" pitchFamily="2" charset="-122"/>
                <a:ea typeface="宋体" panose="02010600030101010101" pitchFamily="2" charset="-122"/>
              </a:rPr>
              <a:t>。</a:t>
            </a:r>
            <a:endParaRPr lang="en-US" altLang="zh-CN" sz="2000" dirty="0">
              <a:latin typeface="宋体" panose="02010600030101010101" pitchFamily="2" charset="-122"/>
              <a:ea typeface="宋体" panose="02010600030101010101" pitchFamily="2" charset="-122"/>
            </a:endParaRPr>
          </a:p>
          <a:p>
            <a:pPr>
              <a:lnSpc>
                <a:spcPts val="2800"/>
              </a:lnSpc>
            </a:pPr>
            <a:r>
              <a:rPr lang="en-US" altLang="zh-CN" sz="2000" b="1" dirty="0">
                <a:latin typeface="宋体" panose="02010600030101010101" pitchFamily="2" charset="-122"/>
                <a:ea typeface="宋体" panose="02010600030101010101" pitchFamily="2" charset="-122"/>
              </a:rPr>
              <a:t>4.</a:t>
            </a:r>
            <a:r>
              <a:rPr lang="zh-CN" altLang="en-US" sz="2000" b="1" dirty="0">
                <a:latin typeface="宋体" panose="02010600030101010101" pitchFamily="2" charset="-122"/>
                <a:ea typeface="宋体" panose="02010600030101010101" pitchFamily="2" charset="-122"/>
              </a:rPr>
              <a:t>反应条件要求严格：</a:t>
            </a:r>
            <a:r>
              <a:rPr lang="zh-CN" altLang="en-US" sz="2000" dirty="0">
                <a:latin typeface="宋体" panose="02010600030101010101" pitchFamily="2" charset="-122"/>
                <a:ea typeface="宋体" panose="02010600030101010101" pitchFamily="2" charset="-122"/>
              </a:rPr>
              <a:t>需在回流条件下进行，对碱量、溶剂极性与无水环境控制精度高，工业化放大门槛较高。</a:t>
            </a:r>
            <a:endParaRPr lang="en-US" altLang="zh-CN" dirty="0"/>
          </a:p>
        </p:txBody>
      </p:sp>
      <p:pic>
        <p:nvPicPr>
          <p:cNvPr id="4" name="图片 9"/>
          <p:cNvPicPr>
            <a:picLocks noChangeAspect="1" noChangeArrowheads="1"/>
          </p:cNvPicPr>
          <p:nvPr/>
        </p:nvPicPr>
        <p:blipFill>
          <a:blip r:embed="rId2">
            <a:extLst>
              <a:ext uri="{28A0092B-C50C-407E-A947-70E740481C1C}">
                <a14:useLocalDpi xmlns:a14="http://schemas.microsoft.com/office/drawing/2010/main" val="0"/>
              </a:ext>
            </a:extLst>
          </a:blip>
          <a:srcRect l="24496" r="24496"/>
          <a:stretch>
            <a:fillRect/>
          </a:stretch>
        </p:blipFill>
        <p:spPr bwMode="auto">
          <a:xfrm>
            <a:off x="11000747" y="89452"/>
            <a:ext cx="1081962" cy="1083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78904" y="298172"/>
            <a:ext cx="8915400" cy="523220"/>
          </a:xfrm>
          <a:prstGeom prst="rect">
            <a:avLst/>
          </a:prstGeom>
          <a:noFill/>
        </p:spPr>
        <p:txBody>
          <a:bodyPr wrap="square" rtlCol="0">
            <a:spAutoFit/>
          </a:bodyPr>
          <a:lstStyle/>
          <a:p>
            <a:r>
              <a:rPr lang="zh-CN" altLang="en-US" sz="2800" b="1" dirty="0">
                <a:latin typeface="宋体" panose="02010600030101010101" pitchFamily="2" charset="-122"/>
                <a:ea typeface="宋体" panose="02010600030101010101" pitchFamily="2" charset="-122"/>
              </a:rPr>
              <a:t>四、匹伐他汀合成路线难点及解决方案</a:t>
            </a:r>
          </a:p>
        </p:txBody>
      </p:sp>
      <p:sp>
        <p:nvSpPr>
          <p:cNvPr id="3" name="文本框 2"/>
          <p:cNvSpPr txBox="1"/>
          <p:nvPr/>
        </p:nvSpPr>
        <p:spPr>
          <a:xfrm>
            <a:off x="596348" y="931321"/>
            <a:ext cx="5088836" cy="3017814"/>
          </a:xfrm>
          <a:prstGeom prst="rect">
            <a:avLst/>
          </a:prstGeom>
          <a:noFill/>
        </p:spPr>
        <p:txBody>
          <a:bodyPr wrap="square" rtlCol="0">
            <a:spAutoFit/>
          </a:bodyPr>
          <a:lstStyle/>
          <a:p>
            <a:pPr marL="342900" indent="-342900" algn="just">
              <a:lnSpc>
                <a:spcPts val="2900"/>
              </a:lnSpc>
              <a:buAutoNum type="arabicPeriod"/>
            </a:pPr>
            <a:r>
              <a:rPr lang="zh-CN" altLang="en-US" sz="2000" b="1" dirty="0">
                <a:latin typeface="宋体" panose="02010600030101010101" pitchFamily="2" charset="-122"/>
                <a:ea typeface="宋体" panose="02010600030101010101" pitchFamily="2" charset="-122"/>
              </a:rPr>
              <a:t>难点</a:t>
            </a:r>
            <a:r>
              <a:rPr lang="zh-CN" altLang="en-US" sz="2000" dirty="0">
                <a:latin typeface="宋体" panose="02010600030101010101" pitchFamily="2" charset="-122"/>
                <a:ea typeface="宋体" panose="02010600030101010101" pitchFamily="2" charset="-122"/>
              </a:rPr>
              <a:t>：</a:t>
            </a:r>
            <a:r>
              <a:rPr lang="zh-CN" altLang="en-US" sz="2000" b="1" dirty="0">
                <a:latin typeface="宋体" panose="02010600030101010101" pitchFamily="2" charset="-122"/>
                <a:ea typeface="宋体" panose="02010600030101010101" pitchFamily="2" charset="-122"/>
              </a:rPr>
              <a:t>手性中心构建效率低、依赖拆分</a:t>
            </a:r>
            <a:endParaRPr lang="en-US" altLang="zh-CN" sz="2000" b="1" dirty="0">
              <a:latin typeface="宋体" panose="02010600030101010101" pitchFamily="2" charset="-122"/>
              <a:ea typeface="宋体" panose="02010600030101010101" pitchFamily="2" charset="-122"/>
            </a:endParaRPr>
          </a:p>
          <a:p>
            <a:pPr algn="just">
              <a:lnSpc>
                <a:spcPts val="2900"/>
              </a:lnSpc>
            </a:pPr>
            <a:r>
              <a:rPr lang="zh-CN" altLang="en-US" sz="2000" b="1" dirty="0">
                <a:latin typeface="宋体" panose="02010600030101010101" pitchFamily="2" charset="-122"/>
                <a:ea typeface="宋体" panose="02010600030101010101" pitchFamily="2" charset="-122"/>
              </a:rPr>
              <a:t>解决方案：</a:t>
            </a:r>
            <a:endParaRPr lang="en-US" altLang="zh-CN" sz="2000" b="1" dirty="0">
              <a:latin typeface="宋体" panose="02010600030101010101" pitchFamily="2" charset="-122"/>
              <a:ea typeface="宋体" panose="02010600030101010101" pitchFamily="2" charset="-122"/>
            </a:endParaRPr>
          </a:p>
          <a:p>
            <a:pPr algn="just">
              <a:lnSpc>
                <a:spcPts val="2900"/>
              </a:lnSpc>
            </a:pPr>
            <a:r>
              <a:rPr lang="en-US" altLang="zh-CN" sz="2000" dirty="0">
                <a:latin typeface="宋体" panose="02010600030101010101" pitchFamily="2" charset="-122"/>
                <a:ea typeface="宋体" panose="02010600030101010101" pitchFamily="2" charset="-122"/>
              </a:rPr>
              <a:t>a.</a:t>
            </a:r>
            <a:r>
              <a:rPr lang="zh-CN" altLang="en-US" sz="2000" dirty="0">
                <a:latin typeface="宋体" panose="02010600030101010101" pitchFamily="2" charset="-122"/>
                <a:ea typeface="宋体" panose="02010600030101010101" pitchFamily="2" charset="-122"/>
              </a:rPr>
              <a:t>保留</a:t>
            </a:r>
            <a:r>
              <a:rPr lang="zh-CN" altLang="en-US" sz="2000" b="1" dirty="0">
                <a:latin typeface="宋体" panose="02010600030101010101" pitchFamily="2" charset="-122"/>
                <a:ea typeface="宋体" panose="02010600030101010101" pitchFamily="2" charset="-122"/>
              </a:rPr>
              <a:t>手性炔酯起始</a:t>
            </a:r>
            <a:r>
              <a:rPr lang="zh-CN" altLang="en-US" sz="2000" dirty="0">
                <a:latin typeface="宋体" panose="02010600030101010101" pitchFamily="2" charset="-122"/>
                <a:ea typeface="宋体" panose="02010600030101010101" pitchFamily="2" charset="-122"/>
              </a:rPr>
              <a:t>策略，保证手性不被后续步骤破坏；</a:t>
            </a:r>
            <a:endParaRPr lang="en-US" altLang="zh-CN" sz="2000" dirty="0">
              <a:latin typeface="宋体" panose="02010600030101010101" pitchFamily="2" charset="-122"/>
              <a:ea typeface="宋体" panose="02010600030101010101" pitchFamily="2" charset="-122"/>
            </a:endParaRPr>
          </a:p>
          <a:p>
            <a:pPr algn="just">
              <a:lnSpc>
                <a:spcPts val="2900"/>
              </a:lnSpc>
            </a:pPr>
            <a:r>
              <a:rPr lang="en-US" altLang="zh-CN" sz="2000" dirty="0">
                <a:latin typeface="宋体" panose="02010600030101010101" pitchFamily="2" charset="-122"/>
                <a:ea typeface="宋体" panose="02010600030101010101" pitchFamily="2" charset="-122"/>
              </a:rPr>
              <a:t>b.</a:t>
            </a:r>
            <a:r>
              <a:rPr lang="zh-CN" altLang="en-US" sz="2000" dirty="0">
                <a:latin typeface="宋体" panose="02010600030101010101" pitchFamily="2" charset="-122"/>
                <a:ea typeface="宋体" panose="02010600030101010101" pitchFamily="2" charset="-122"/>
              </a:rPr>
              <a:t>优化拆分条件，提高结晶回收率；</a:t>
            </a:r>
            <a:endParaRPr lang="en-US" altLang="zh-CN" sz="2000" dirty="0">
              <a:latin typeface="宋体" panose="02010600030101010101" pitchFamily="2" charset="-122"/>
              <a:ea typeface="宋体" panose="02010600030101010101" pitchFamily="2" charset="-122"/>
            </a:endParaRPr>
          </a:p>
          <a:p>
            <a:pPr algn="just">
              <a:lnSpc>
                <a:spcPts val="2900"/>
              </a:lnSpc>
            </a:pPr>
            <a:r>
              <a:rPr lang="en-US" altLang="zh-CN" sz="2000" dirty="0">
                <a:latin typeface="宋体" panose="02010600030101010101" pitchFamily="2" charset="-122"/>
                <a:ea typeface="宋体" panose="02010600030101010101" pitchFamily="2" charset="-122"/>
              </a:rPr>
              <a:t>c.</a:t>
            </a:r>
            <a:r>
              <a:rPr lang="zh-CN" altLang="en-US" sz="2000" dirty="0">
                <a:latin typeface="宋体" panose="02010600030101010101" pitchFamily="2" charset="-122"/>
                <a:ea typeface="宋体" panose="02010600030101010101" pitchFamily="2" charset="-122"/>
              </a:rPr>
              <a:t>偶联严格使用</a:t>
            </a:r>
            <a:r>
              <a:rPr lang="en-US" altLang="zh-CN" sz="2000" b="1" dirty="0" err="1">
                <a:latin typeface="Times New Roman" panose="02020603050405020304" charset="0"/>
                <a:ea typeface="宋体" panose="02010600030101010101" pitchFamily="2" charset="-122"/>
                <a:cs typeface="Times New Roman" panose="02020603050405020304" charset="0"/>
              </a:rPr>
              <a:t>NaOEt</a:t>
            </a:r>
            <a:r>
              <a:rPr lang="en-US" altLang="zh-CN" sz="2000" b="1" dirty="0">
                <a:latin typeface="宋体" panose="02010600030101010101" pitchFamily="2" charset="-122"/>
                <a:ea typeface="宋体" panose="02010600030101010101" pitchFamily="2" charset="-122"/>
              </a:rPr>
              <a:t>/</a:t>
            </a:r>
            <a:r>
              <a:rPr lang="zh-CN" altLang="en-US" sz="2000" b="1" dirty="0">
                <a:latin typeface="宋体" panose="02010600030101010101" pitchFamily="2" charset="-122"/>
                <a:ea typeface="宋体" panose="02010600030101010101" pitchFamily="2" charset="-122"/>
              </a:rPr>
              <a:t>乙腈</a:t>
            </a:r>
            <a:r>
              <a:rPr lang="en-US" altLang="zh-CN" sz="2000" b="1" dirty="0">
                <a:latin typeface="宋体" panose="02010600030101010101" pitchFamily="2" charset="-122"/>
                <a:ea typeface="宋体" panose="02010600030101010101" pitchFamily="2" charset="-122"/>
              </a:rPr>
              <a:t>/</a:t>
            </a:r>
            <a:r>
              <a:rPr lang="en-US" altLang="zh-CN" sz="2000" b="1" dirty="0" err="1">
                <a:latin typeface="Times New Roman" panose="02020603050405020304" charset="0"/>
                <a:ea typeface="宋体" panose="02010600030101010101" pitchFamily="2" charset="-122"/>
                <a:cs typeface="Times New Roman" panose="02020603050405020304" charset="0"/>
              </a:rPr>
              <a:t>PdCl</a:t>
            </a:r>
            <a:r>
              <a:rPr lang="en-US" altLang="zh-CN" sz="2000" b="1" dirty="0">
                <a:latin typeface="Times New Roman" panose="02020603050405020304" charset="0"/>
                <a:ea typeface="宋体" panose="02010600030101010101" pitchFamily="2" charset="-122"/>
                <a:cs typeface="Times New Roman" panose="02020603050405020304" charset="0"/>
              </a:rPr>
              <a:t>₂</a:t>
            </a:r>
            <a:r>
              <a:rPr lang="zh-CN" altLang="en-US" sz="2000" dirty="0">
                <a:latin typeface="宋体" panose="02010600030101010101" pitchFamily="2" charset="-122"/>
                <a:ea typeface="宋体" panose="02010600030101010101" pitchFamily="2" charset="-122"/>
              </a:rPr>
              <a:t>，避免手性消旋。</a:t>
            </a:r>
            <a:endParaRPr lang="en-US" altLang="zh-CN" sz="2000" dirty="0">
              <a:latin typeface="宋体" panose="02010600030101010101" pitchFamily="2" charset="-122"/>
              <a:ea typeface="宋体" panose="02010600030101010101" pitchFamily="2" charset="-122"/>
            </a:endParaRPr>
          </a:p>
          <a:p>
            <a:pPr algn="just">
              <a:lnSpc>
                <a:spcPts val="2900"/>
              </a:lnSpc>
            </a:pPr>
            <a:endParaRPr lang="zh-CN" altLang="en-US" sz="2000" dirty="0">
              <a:latin typeface="宋体" panose="02010600030101010101" pitchFamily="2" charset="-122"/>
              <a:ea typeface="宋体" panose="02010600030101010101" pitchFamily="2" charset="-122"/>
            </a:endParaRPr>
          </a:p>
        </p:txBody>
      </p:sp>
      <p:sp>
        <p:nvSpPr>
          <p:cNvPr id="6" name="文本框 5"/>
          <p:cNvSpPr txBox="1"/>
          <p:nvPr/>
        </p:nvSpPr>
        <p:spPr>
          <a:xfrm>
            <a:off x="6423992" y="821393"/>
            <a:ext cx="5088837" cy="3003386"/>
          </a:xfrm>
          <a:prstGeom prst="rect">
            <a:avLst/>
          </a:prstGeom>
          <a:noFill/>
        </p:spPr>
        <p:txBody>
          <a:bodyPr wrap="square" rtlCol="0">
            <a:spAutoFit/>
          </a:bodyPr>
          <a:lstStyle/>
          <a:p>
            <a:pPr algn="just">
              <a:lnSpc>
                <a:spcPts val="2900"/>
              </a:lnSpc>
            </a:pPr>
            <a:r>
              <a:rPr lang="en-US" altLang="zh-CN" sz="2000" b="1" dirty="0">
                <a:latin typeface="宋体" panose="02010600030101010101" pitchFamily="2" charset="-122"/>
                <a:ea typeface="宋体" panose="02010600030101010101" pitchFamily="2" charset="-122"/>
              </a:rPr>
              <a:t>2. </a:t>
            </a:r>
            <a:r>
              <a:rPr lang="zh-CN" altLang="en-US" sz="2000" b="1" dirty="0">
                <a:latin typeface="宋体" panose="02010600030101010101" pitchFamily="2" charset="-122"/>
                <a:ea typeface="宋体" panose="02010600030101010101" pitchFamily="2" charset="-122"/>
              </a:rPr>
              <a:t>难点：催化剂昂贵、金属残留</a:t>
            </a:r>
            <a:endParaRPr lang="en-US" altLang="zh-CN" sz="2000" b="1" dirty="0">
              <a:latin typeface="宋体" panose="02010600030101010101" pitchFamily="2" charset="-122"/>
              <a:ea typeface="宋体" panose="02010600030101010101" pitchFamily="2" charset="-122"/>
            </a:endParaRPr>
          </a:p>
          <a:p>
            <a:pPr algn="just">
              <a:lnSpc>
                <a:spcPts val="2900"/>
              </a:lnSpc>
            </a:pPr>
            <a:r>
              <a:rPr lang="zh-CN" altLang="en-US" sz="2000" b="1" dirty="0">
                <a:latin typeface="宋体" panose="02010600030101010101" pitchFamily="2" charset="-122"/>
                <a:ea typeface="宋体" panose="02010600030101010101" pitchFamily="2" charset="-122"/>
              </a:rPr>
              <a:t>解决方案</a:t>
            </a:r>
            <a:r>
              <a:rPr lang="zh-CN" altLang="en-US" sz="2000" dirty="0">
                <a:latin typeface="宋体" panose="02010600030101010101" pitchFamily="2" charset="-122"/>
                <a:ea typeface="宋体" panose="02010600030101010101" pitchFamily="2" charset="-122"/>
              </a:rPr>
              <a:t>：</a:t>
            </a:r>
            <a:endParaRPr lang="en-US" altLang="zh-CN" sz="2000" dirty="0">
              <a:latin typeface="宋体" panose="02010600030101010101" pitchFamily="2" charset="-122"/>
              <a:ea typeface="宋体" panose="02010600030101010101" pitchFamily="2" charset="-122"/>
            </a:endParaRPr>
          </a:p>
          <a:p>
            <a:pPr algn="just">
              <a:lnSpc>
                <a:spcPts val="2900"/>
              </a:lnSpc>
            </a:pPr>
            <a:r>
              <a:rPr lang="en-US" altLang="zh-CN" sz="2000" dirty="0">
                <a:latin typeface="宋体" panose="02010600030101010101" pitchFamily="2" charset="-122"/>
                <a:ea typeface="宋体" panose="02010600030101010101" pitchFamily="2" charset="-122"/>
              </a:rPr>
              <a:t>a.</a:t>
            </a:r>
            <a:r>
              <a:rPr lang="zh-CN" altLang="en-US" sz="2000" dirty="0">
                <a:latin typeface="宋体" panose="02010600030101010101" pitchFamily="2" charset="-122"/>
                <a:ea typeface="宋体" panose="02010600030101010101" pitchFamily="2" charset="-122"/>
              </a:rPr>
              <a:t>采用文献最优</a:t>
            </a:r>
            <a:r>
              <a:rPr lang="en-US" altLang="zh-CN" sz="2000" dirty="0" err="1">
                <a:latin typeface="Times New Roman" panose="02020603050405020304" charset="0"/>
                <a:ea typeface="宋体" panose="02010600030101010101" pitchFamily="2" charset="-122"/>
                <a:cs typeface="Times New Roman" panose="02020603050405020304" charset="0"/>
              </a:rPr>
              <a:t>PdCl</a:t>
            </a:r>
            <a:r>
              <a:rPr lang="en-US" altLang="zh-CN" sz="2000" dirty="0">
                <a:latin typeface="Times New Roman" panose="02020603050405020304" charset="0"/>
                <a:ea typeface="宋体" panose="02010600030101010101" pitchFamily="2" charset="-122"/>
                <a:cs typeface="Times New Roman" panose="02020603050405020304" charset="0"/>
              </a:rPr>
              <a:t>₂</a:t>
            </a:r>
            <a:r>
              <a:rPr lang="zh-CN" altLang="en-US" sz="2000" dirty="0">
                <a:latin typeface="宋体" panose="02010600030101010101" pitchFamily="2" charset="-122"/>
                <a:ea typeface="宋体" panose="02010600030101010101" pitchFamily="2" charset="-122"/>
              </a:rPr>
              <a:t>（比</a:t>
            </a:r>
            <a:r>
              <a:rPr lang="en-US" altLang="zh-CN" sz="2000" dirty="0">
                <a:latin typeface="Times New Roman" panose="02020603050405020304" charset="0"/>
                <a:ea typeface="宋体" panose="02010600030101010101" pitchFamily="2" charset="-122"/>
                <a:cs typeface="Times New Roman" panose="02020603050405020304" charset="0"/>
              </a:rPr>
              <a:t>Pd(</a:t>
            </a:r>
            <a:r>
              <a:rPr lang="en-US" altLang="zh-CN" sz="2000" dirty="0" err="1">
                <a:latin typeface="Times New Roman" panose="02020603050405020304" charset="0"/>
                <a:ea typeface="宋体" panose="02010600030101010101" pitchFamily="2" charset="-122"/>
                <a:cs typeface="Times New Roman" panose="02020603050405020304" charset="0"/>
              </a:rPr>
              <a:t>PPh</a:t>
            </a:r>
            <a:r>
              <a:rPr lang="en-US" altLang="zh-CN" sz="2000" dirty="0">
                <a:latin typeface="Times New Roman" panose="02020603050405020304" charset="0"/>
                <a:ea typeface="宋体" panose="02010600030101010101" pitchFamily="2" charset="-122"/>
                <a:cs typeface="Times New Roman" panose="02020603050405020304" charset="0"/>
              </a:rPr>
              <a:t>₃)₄</a:t>
            </a:r>
            <a:r>
              <a:rPr lang="zh-CN" altLang="en-US" sz="2000" dirty="0">
                <a:latin typeface="宋体" panose="02010600030101010101" pitchFamily="2" charset="-122"/>
                <a:ea typeface="宋体" panose="02010600030101010101" pitchFamily="2" charset="-122"/>
              </a:rPr>
              <a:t>更经济）；</a:t>
            </a:r>
            <a:endParaRPr lang="en-US" altLang="zh-CN" sz="2000" dirty="0">
              <a:latin typeface="宋体" panose="02010600030101010101" pitchFamily="2" charset="-122"/>
              <a:ea typeface="宋体" panose="02010600030101010101" pitchFamily="2" charset="-122"/>
            </a:endParaRPr>
          </a:p>
          <a:p>
            <a:pPr algn="just">
              <a:lnSpc>
                <a:spcPts val="2900"/>
              </a:lnSpc>
            </a:pPr>
            <a:r>
              <a:rPr lang="en-US" altLang="zh-CN" sz="2000" dirty="0">
                <a:latin typeface="宋体" panose="02010600030101010101" pitchFamily="2" charset="-122"/>
                <a:ea typeface="宋体" panose="02010600030101010101" pitchFamily="2" charset="-122"/>
              </a:rPr>
              <a:t>b.</a:t>
            </a:r>
            <a:r>
              <a:rPr lang="zh-CN" altLang="en-US" sz="2000" dirty="0">
                <a:latin typeface="宋体" panose="02010600030101010101" pitchFamily="2" charset="-122"/>
                <a:ea typeface="宋体" panose="02010600030101010101" pitchFamily="2" charset="-122"/>
              </a:rPr>
              <a:t>降低催化剂负载量，利用其</a:t>
            </a:r>
            <a:r>
              <a:rPr lang="zh-CN" altLang="en-US" sz="2000" b="1" dirty="0">
                <a:latin typeface="宋体" panose="02010600030101010101" pitchFamily="2" charset="-122"/>
                <a:ea typeface="宋体" panose="02010600030101010101" pitchFamily="2" charset="-122"/>
              </a:rPr>
              <a:t>高活性</a:t>
            </a:r>
            <a:r>
              <a:rPr lang="zh-CN" altLang="en-US" sz="2000" dirty="0">
                <a:latin typeface="宋体" panose="02010600030101010101" pitchFamily="2" charset="-122"/>
                <a:ea typeface="宋体" panose="02010600030101010101" pitchFamily="2" charset="-122"/>
              </a:rPr>
              <a:t>实现低当量催化；</a:t>
            </a:r>
            <a:endParaRPr lang="en-US" altLang="zh-CN" sz="2000" dirty="0">
              <a:latin typeface="宋体" panose="02010600030101010101" pitchFamily="2" charset="-122"/>
              <a:ea typeface="宋体" panose="02010600030101010101" pitchFamily="2" charset="-122"/>
            </a:endParaRPr>
          </a:p>
          <a:p>
            <a:pPr algn="just">
              <a:lnSpc>
                <a:spcPts val="2900"/>
              </a:lnSpc>
            </a:pPr>
            <a:r>
              <a:rPr lang="en-US" altLang="zh-CN" sz="2000" dirty="0">
                <a:latin typeface="宋体" panose="02010600030101010101" pitchFamily="2" charset="-122"/>
                <a:ea typeface="宋体" panose="02010600030101010101" pitchFamily="2" charset="-122"/>
              </a:rPr>
              <a:t>c.</a:t>
            </a:r>
            <a:r>
              <a:rPr lang="zh-CN" altLang="en-US" sz="2000" dirty="0">
                <a:latin typeface="宋体" panose="02010600030101010101" pitchFamily="2" charset="-122"/>
                <a:ea typeface="宋体" panose="02010600030101010101" pitchFamily="2" charset="-122"/>
              </a:rPr>
              <a:t>偶联后增加</a:t>
            </a:r>
            <a:r>
              <a:rPr lang="zh-CN" altLang="en-US" sz="2000" b="1" dirty="0">
                <a:latin typeface="宋体" panose="02010600030101010101" pitchFamily="2" charset="-122"/>
                <a:ea typeface="宋体" panose="02010600030101010101" pitchFamily="2" charset="-122"/>
              </a:rPr>
              <a:t>金属吸附</a:t>
            </a:r>
            <a:r>
              <a:rPr lang="en-US" altLang="zh-CN" sz="2000" b="1" dirty="0">
                <a:latin typeface="宋体" panose="02010600030101010101" pitchFamily="2" charset="-122"/>
                <a:ea typeface="宋体" panose="02010600030101010101" pitchFamily="2" charset="-122"/>
              </a:rPr>
              <a:t>/</a:t>
            </a:r>
            <a:r>
              <a:rPr lang="zh-CN" altLang="en-US" sz="2000" b="1" dirty="0">
                <a:latin typeface="宋体" panose="02010600030101010101" pitchFamily="2" charset="-122"/>
                <a:ea typeface="宋体" panose="02010600030101010101" pitchFamily="2" charset="-122"/>
              </a:rPr>
              <a:t>萃取</a:t>
            </a:r>
            <a:r>
              <a:rPr lang="zh-CN" altLang="en-US" sz="2000" dirty="0">
                <a:latin typeface="宋体" panose="02010600030101010101" pitchFamily="2" charset="-122"/>
                <a:ea typeface="宋体" panose="02010600030101010101" pitchFamily="2" charset="-122"/>
              </a:rPr>
              <a:t>步骤去除</a:t>
            </a:r>
            <a:r>
              <a:rPr lang="en-US" altLang="zh-CN" sz="2000" dirty="0">
                <a:latin typeface="Times New Roman" panose="02020603050405020304" charset="0"/>
                <a:ea typeface="宋体" panose="02010600030101010101" pitchFamily="2" charset="-122"/>
                <a:cs typeface="Times New Roman" panose="02020603050405020304" charset="0"/>
              </a:rPr>
              <a:t>Pd</a:t>
            </a:r>
            <a:r>
              <a:rPr lang="zh-CN" altLang="en-US" sz="2000" dirty="0">
                <a:latin typeface="宋体" panose="02010600030101010101" pitchFamily="2" charset="-122"/>
                <a:ea typeface="宋体" panose="02010600030101010101" pitchFamily="2" charset="-122"/>
              </a:rPr>
              <a:t>残留</a:t>
            </a:r>
            <a:endParaRPr lang="en-US" altLang="zh-CN" sz="2000" dirty="0">
              <a:latin typeface="宋体" panose="02010600030101010101" pitchFamily="2" charset="-122"/>
              <a:ea typeface="宋体" panose="02010600030101010101" pitchFamily="2" charset="-122"/>
            </a:endParaRPr>
          </a:p>
          <a:p>
            <a:pPr algn="just"/>
            <a:endParaRPr lang="zh-CN" altLang="en-US" sz="2000" dirty="0"/>
          </a:p>
        </p:txBody>
      </p:sp>
      <p:sp>
        <p:nvSpPr>
          <p:cNvPr id="7" name="文本框 6"/>
          <p:cNvSpPr txBox="1"/>
          <p:nvPr/>
        </p:nvSpPr>
        <p:spPr>
          <a:xfrm>
            <a:off x="596349" y="3894482"/>
            <a:ext cx="5287616" cy="2665345"/>
          </a:xfrm>
          <a:prstGeom prst="rect">
            <a:avLst/>
          </a:prstGeom>
          <a:noFill/>
        </p:spPr>
        <p:txBody>
          <a:bodyPr wrap="square" rtlCol="0">
            <a:spAutoFit/>
          </a:bodyPr>
          <a:lstStyle/>
          <a:p>
            <a:pPr algn="just">
              <a:lnSpc>
                <a:spcPts val="2900"/>
              </a:lnSpc>
            </a:pPr>
            <a:r>
              <a:rPr lang="en-US" altLang="zh-CN" sz="2000" b="1" dirty="0">
                <a:latin typeface="宋体" panose="02010600030101010101" pitchFamily="2" charset="-122"/>
                <a:ea typeface="宋体" panose="02010600030101010101" pitchFamily="2" charset="-122"/>
              </a:rPr>
              <a:t>3. </a:t>
            </a:r>
            <a:r>
              <a:rPr lang="zh-CN" altLang="en-US" sz="2000" b="1" dirty="0">
                <a:latin typeface="宋体" panose="02010600030101010101" pitchFamily="2" charset="-122"/>
                <a:ea typeface="宋体" panose="02010600030101010101" pitchFamily="2" charset="-122"/>
              </a:rPr>
              <a:t>难点</a:t>
            </a:r>
            <a:r>
              <a:rPr lang="zh-CN" altLang="en-US" sz="2000" dirty="0">
                <a:latin typeface="宋体" panose="02010600030101010101" pitchFamily="2" charset="-122"/>
                <a:ea typeface="宋体" panose="02010600030101010101" pitchFamily="2" charset="-122"/>
              </a:rPr>
              <a:t>：</a:t>
            </a:r>
            <a:r>
              <a:rPr lang="zh-CN" altLang="en-US" sz="2000" b="1" dirty="0">
                <a:latin typeface="宋体" panose="02010600030101010101" pitchFamily="2" charset="-122"/>
                <a:ea typeface="宋体" panose="02010600030101010101" pitchFamily="2" charset="-122"/>
              </a:rPr>
              <a:t>氢硼化试剂敏感、后处理复杂</a:t>
            </a:r>
            <a:endParaRPr lang="en-US" altLang="zh-CN" sz="2000" b="1" dirty="0">
              <a:latin typeface="宋体" panose="02010600030101010101" pitchFamily="2" charset="-122"/>
              <a:ea typeface="宋体" panose="02010600030101010101" pitchFamily="2" charset="-122"/>
            </a:endParaRPr>
          </a:p>
          <a:p>
            <a:pPr algn="just">
              <a:lnSpc>
                <a:spcPts val="2900"/>
              </a:lnSpc>
            </a:pPr>
            <a:r>
              <a:rPr lang="zh-CN" altLang="en-US" sz="2000" b="1" dirty="0">
                <a:latin typeface="宋体" panose="02010600030101010101" pitchFamily="2" charset="-122"/>
                <a:ea typeface="宋体" panose="02010600030101010101" pitchFamily="2" charset="-122"/>
              </a:rPr>
              <a:t>解决方案：</a:t>
            </a:r>
            <a:endParaRPr lang="en-US" altLang="zh-CN" sz="2000" b="1" dirty="0">
              <a:latin typeface="宋体" panose="02010600030101010101" pitchFamily="2" charset="-122"/>
              <a:ea typeface="宋体" panose="02010600030101010101" pitchFamily="2" charset="-122"/>
            </a:endParaRPr>
          </a:p>
          <a:p>
            <a:pPr algn="just">
              <a:lnSpc>
                <a:spcPts val="2900"/>
              </a:lnSpc>
            </a:pPr>
            <a:r>
              <a:rPr lang="en-US" altLang="zh-CN" sz="2000" dirty="0">
                <a:latin typeface="宋体" panose="02010600030101010101" pitchFamily="2" charset="-122"/>
                <a:ea typeface="宋体" panose="02010600030101010101" pitchFamily="2" charset="-122"/>
              </a:rPr>
              <a:t>a.</a:t>
            </a:r>
            <a:r>
              <a:rPr lang="zh-CN" altLang="en-US" sz="2000" dirty="0">
                <a:latin typeface="宋体" panose="02010600030101010101" pitchFamily="2" charset="-122"/>
                <a:ea typeface="宋体" panose="02010600030101010101" pitchFamily="2" charset="-122"/>
              </a:rPr>
              <a:t>优先使用</a:t>
            </a:r>
            <a:r>
              <a:rPr lang="en-US" altLang="zh-CN" sz="2000" b="1" dirty="0">
                <a:latin typeface="Times New Roman" panose="02020603050405020304" charset="0"/>
                <a:ea typeface="宋体" panose="02010600030101010101" pitchFamily="2" charset="-122"/>
                <a:cs typeface="Times New Roman" panose="02020603050405020304" charset="0"/>
              </a:rPr>
              <a:t>9‑BBN</a:t>
            </a:r>
            <a:r>
              <a:rPr lang="zh-CN" altLang="en-US" sz="2000" dirty="0">
                <a:latin typeface="宋体" panose="02010600030101010101" pitchFamily="2" charset="-122"/>
                <a:ea typeface="宋体" panose="02010600030101010101" pitchFamily="2" charset="-122"/>
              </a:rPr>
              <a:t>（比二异戊基硼烷更稳定、更易操作）</a:t>
            </a:r>
            <a:r>
              <a:rPr lang="en-US" altLang="zh-CN" sz="2000" dirty="0">
                <a:latin typeface="宋体" panose="02010600030101010101" pitchFamily="2" charset="-122"/>
                <a:ea typeface="宋体" panose="02010600030101010101" pitchFamily="2" charset="-122"/>
              </a:rPr>
              <a:t>;</a:t>
            </a:r>
          </a:p>
          <a:p>
            <a:pPr algn="just">
              <a:lnSpc>
                <a:spcPts val="2900"/>
              </a:lnSpc>
            </a:pPr>
            <a:r>
              <a:rPr lang="en-US" altLang="zh-CN" sz="2000" dirty="0">
                <a:latin typeface="宋体" panose="02010600030101010101" pitchFamily="2" charset="-122"/>
                <a:ea typeface="宋体" panose="02010600030101010101" pitchFamily="2" charset="-122"/>
              </a:rPr>
              <a:t>b.</a:t>
            </a:r>
            <a:r>
              <a:rPr lang="zh-CN" altLang="en-US" sz="2000" dirty="0">
                <a:latin typeface="宋体" panose="02010600030101010101" pitchFamily="2" charset="-122"/>
                <a:ea typeface="宋体" panose="02010600030101010101" pitchFamily="2" charset="-122"/>
              </a:rPr>
              <a:t>采用文献</a:t>
            </a:r>
            <a:r>
              <a:rPr lang="zh-CN" altLang="en-US" sz="2000" b="1" dirty="0">
                <a:latin typeface="宋体" panose="02010600030101010101" pitchFamily="2" charset="-122"/>
                <a:ea typeface="宋体" panose="02010600030101010101" pitchFamily="2" charset="-122"/>
              </a:rPr>
              <a:t>碱性乙醇淬灭过量硼烷</a:t>
            </a:r>
            <a:r>
              <a:rPr lang="zh-CN" altLang="en-US" sz="2000" dirty="0">
                <a:latin typeface="宋体" panose="02010600030101010101" pitchFamily="2" charset="-122"/>
                <a:ea typeface="宋体" panose="02010600030101010101" pitchFamily="2" charset="-122"/>
              </a:rPr>
              <a:t>的方法，简化后处理；</a:t>
            </a:r>
            <a:endParaRPr lang="en-US" altLang="zh-CN" sz="2000" dirty="0">
              <a:latin typeface="宋体" panose="02010600030101010101" pitchFamily="2" charset="-122"/>
              <a:ea typeface="宋体" panose="02010600030101010101" pitchFamily="2" charset="-122"/>
            </a:endParaRPr>
          </a:p>
          <a:p>
            <a:pPr algn="just">
              <a:lnSpc>
                <a:spcPts val="2900"/>
              </a:lnSpc>
            </a:pPr>
            <a:r>
              <a:rPr lang="en-US" altLang="zh-CN" sz="2000" dirty="0">
                <a:latin typeface="宋体" panose="02010600030101010101" pitchFamily="2" charset="-122"/>
                <a:ea typeface="宋体" panose="02010600030101010101" pitchFamily="2" charset="-122"/>
              </a:rPr>
              <a:t>c.</a:t>
            </a:r>
            <a:r>
              <a:rPr lang="zh-CN" altLang="en-US" sz="2000" dirty="0">
                <a:latin typeface="宋体" panose="02010600030101010101" pitchFamily="2" charset="-122"/>
                <a:ea typeface="宋体" panose="02010600030101010101" pitchFamily="2" charset="-122"/>
              </a:rPr>
              <a:t>控制氢硼化温度，避免副反应与异构体生成。</a:t>
            </a:r>
            <a:endParaRPr lang="zh-CN" altLang="en-US" sz="2000" dirty="0"/>
          </a:p>
        </p:txBody>
      </p:sp>
      <p:sp>
        <p:nvSpPr>
          <p:cNvPr id="8" name="文本框 7"/>
          <p:cNvSpPr txBox="1"/>
          <p:nvPr/>
        </p:nvSpPr>
        <p:spPr>
          <a:xfrm>
            <a:off x="6423992" y="3812732"/>
            <a:ext cx="4870174" cy="2645917"/>
          </a:xfrm>
          <a:prstGeom prst="rect">
            <a:avLst/>
          </a:prstGeom>
          <a:noFill/>
        </p:spPr>
        <p:txBody>
          <a:bodyPr wrap="square" rtlCol="0">
            <a:spAutoFit/>
          </a:bodyPr>
          <a:lstStyle/>
          <a:p>
            <a:pPr algn="just">
              <a:lnSpc>
                <a:spcPts val="2900"/>
              </a:lnSpc>
            </a:pPr>
            <a:r>
              <a:rPr lang="en-US" altLang="zh-CN" sz="2000" b="1" dirty="0">
                <a:latin typeface="宋体" panose="02010600030101010101" pitchFamily="2" charset="-122"/>
                <a:ea typeface="宋体" panose="02010600030101010101" pitchFamily="2" charset="-122"/>
              </a:rPr>
              <a:t>4. </a:t>
            </a:r>
            <a:r>
              <a:rPr lang="zh-CN" altLang="en-US" sz="2000" b="1" dirty="0">
                <a:latin typeface="宋体" panose="02010600030101010101" pitchFamily="2" charset="-122"/>
                <a:ea typeface="宋体" panose="02010600030101010101" pitchFamily="2" charset="-122"/>
              </a:rPr>
              <a:t>难点：双键易异构化、</a:t>
            </a:r>
            <a:r>
              <a:rPr lang="en-US" altLang="zh-CN" sz="2000" b="1" dirty="0">
                <a:latin typeface="Times New Roman" panose="02020603050405020304" charset="0"/>
                <a:ea typeface="宋体" panose="02010600030101010101" pitchFamily="2" charset="-122"/>
                <a:cs typeface="Times New Roman" panose="02020603050405020304" charset="0"/>
              </a:rPr>
              <a:t>E/Z </a:t>
            </a:r>
            <a:r>
              <a:rPr lang="zh-CN" altLang="en-US" sz="2000" b="1" dirty="0">
                <a:latin typeface="宋体" panose="02010600030101010101" pitchFamily="2" charset="-122"/>
                <a:ea typeface="宋体" panose="02010600030101010101" pitchFamily="2" charset="-122"/>
              </a:rPr>
              <a:t>难以控制</a:t>
            </a:r>
            <a:endParaRPr lang="en-US" altLang="zh-CN" sz="2000" b="1" dirty="0">
              <a:latin typeface="宋体" panose="02010600030101010101" pitchFamily="2" charset="-122"/>
              <a:ea typeface="宋体" panose="02010600030101010101" pitchFamily="2" charset="-122"/>
            </a:endParaRPr>
          </a:p>
          <a:p>
            <a:pPr algn="just">
              <a:lnSpc>
                <a:spcPts val="2900"/>
              </a:lnSpc>
            </a:pPr>
            <a:r>
              <a:rPr lang="zh-CN" altLang="en-US" sz="2000" b="1" dirty="0">
                <a:latin typeface="宋体" panose="02010600030101010101" pitchFamily="2" charset="-122"/>
                <a:ea typeface="宋体" panose="02010600030101010101" pitchFamily="2" charset="-122"/>
              </a:rPr>
              <a:t>解决方案：</a:t>
            </a:r>
            <a:endParaRPr lang="en-US" altLang="zh-CN" sz="2000" b="1" dirty="0">
              <a:latin typeface="宋体" panose="02010600030101010101" pitchFamily="2" charset="-122"/>
              <a:ea typeface="宋体" panose="02010600030101010101" pitchFamily="2" charset="-122"/>
            </a:endParaRPr>
          </a:p>
          <a:p>
            <a:pPr algn="just">
              <a:lnSpc>
                <a:spcPts val="2900"/>
              </a:lnSpc>
            </a:pPr>
            <a:r>
              <a:rPr lang="en-US" altLang="zh-CN" sz="2000" dirty="0">
                <a:latin typeface="宋体" panose="02010600030101010101" pitchFamily="2" charset="-122"/>
                <a:ea typeface="宋体" panose="02010600030101010101" pitchFamily="2" charset="-122"/>
              </a:rPr>
              <a:t>a.</a:t>
            </a:r>
            <a:r>
              <a:rPr lang="zh-CN" altLang="en-US" sz="2000" dirty="0">
                <a:latin typeface="宋体" panose="02010600030101010101" pitchFamily="2" charset="-122"/>
                <a:ea typeface="宋体" panose="02010600030101010101" pitchFamily="2" charset="-122"/>
              </a:rPr>
              <a:t>坚持</a:t>
            </a:r>
            <a:r>
              <a:rPr lang="zh-CN" altLang="en-US" sz="2000" b="1" dirty="0">
                <a:latin typeface="宋体" panose="02010600030101010101" pitchFamily="2" charset="-122"/>
                <a:ea typeface="宋体" panose="02010600030101010101" pitchFamily="2" charset="-122"/>
              </a:rPr>
              <a:t>硼氢化</a:t>
            </a:r>
            <a:r>
              <a:rPr lang="en-US" altLang="zh-CN" sz="2000" b="1" dirty="0">
                <a:latin typeface="宋体" panose="02010600030101010101" pitchFamily="2" charset="-122"/>
                <a:ea typeface="宋体" panose="02010600030101010101" pitchFamily="2" charset="-122"/>
              </a:rPr>
              <a:t>‑</a:t>
            </a:r>
            <a:r>
              <a:rPr lang="zh-CN" altLang="en-US" sz="2000" b="1" dirty="0">
                <a:latin typeface="宋体" panose="02010600030101010101" pitchFamily="2" charset="-122"/>
                <a:ea typeface="宋体" panose="02010600030101010101" pitchFamily="2" charset="-122"/>
              </a:rPr>
              <a:t>交叉偶联</a:t>
            </a:r>
            <a:r>
              <a:rPr lang="zh-CN" altLang="en-US" sz="2000" dirty="0">
                <a:latin typeface="宋体" panose="02010600030101010101" pitchFamily="2" charset="-122"/>
                <a:ea typeface="宋体" panose="02010600030101010101" pitchFamily="2" charset="-122"/>
              </a:rPr>
              <a:t>路径，文献证明其立体专一可得到</a:t>
            </a:r>
            <a:r>
              <a:rPr lang="en-US" altLang="zh-CN" sz="2000" dirty="0">
                <a:latin typeface="Times New Roman" panose="02020603050405020304" charset="0"/>
                <a:ea typeface="宋体" panose="02010600030101010101" pitchFamily="2" charset="-122"/>
                <a:cs typeface="Times New Roman" panose="02020603050405020304" charset="0"/>
              </a:rPr>
              <a:t>E‑</a:t>
            </a:r>
            <a:r>
              <a:rPr lang="zh-CN" altLang="en-US" sz="2000" dirty="0">
                <a:latin typeface="宋体" panose="02010600030101010101" pitchFamily="2" charset="-122"/>
                <a:ea typeface="宋体" panose="02010600030101010101" pitchFamily="2" charset="-122"/>
              </a:rPr>
              <a:t>式构型；</a:t>
            </a:r>
            <a:endParaRPr lang="en-US" altLang="zh-CN" sz="2000" dirty="0">
              <a:latin typeface="宋体" panose="02010600030101010101" pitchFamily="2" charset="-122"/>
              <a:ea typeface="宋体" panose="02010600030101010101" pitchFamily="2" charset="-122"/>
            </a:endParaRPr>
          </a:p>
          <a:p>
            <a:pPr algn="just">
              <a:lnSpc>
                <a:spcPts val="2900"/>
              </a:lnSpc>
            </a:pPr>
            <a:r>
              <a:rPr lang="en-US" altLang="zh-CN" sz="2000" dirty="0">
                <a:latin typeface="宋体" panose="02010600030101010101" pitchFamily="2" charset="-122"/>
                <a:ea typeface="宋体" panose="02010600030101010101" pitchFamily="2" charset="-122"/>
              </a:rPr>
              <a:t>b.</a:t>
            </a:r>
            <a:r>
              <a:rPr lang="zh-CN" altLang="en-US" sz="2000" dirty="0">
                <a:latin typeface="宋体" panose="02010600030101010101" pitchFamily="2" charset="-122"/>
                <a:ea typeface="宋体" panose="02010600030101010101" pitchFamily="2" charset="-122"/>
              </a:rPr>
              <a:t>避免高温强碱长时间反应，防止异构；</a:t>
            </a:r>
            <a:endParaRPr lang="en-US" altLang="zh-CN" sz="2000" dirty="0">
              <a:latin typeface="宋体" panose="02010600030101010101" pitchFamily="2" charset="-122"/>
              <a:ea typeface="宋体" panose="02010600030101010101" pitchFamily="2" charset="-122"/>
            </a:endParaRPr>
          </a:p>
          <a:p>
            <a:pPr algn="just">
              <a:lnSpc>
                <a:spcPts val="2900"/>
              </a:lnSpc>
            </a:pPr>
            <a:r>
              <a:rPr lang="en-US" altLang="zh-CN" sz="2000" dirty="0">
                <a:latin typeface="宋体" panose="02010600030101010101" pitchFamily="2" charset="-122"/>
                <a:ea typeface="宋体" panose="02010600030101010101" pitchFamily="2" charset="-122"/>
              </a:rPr>
              <a:t>c.</a:t>
            </a:r>
            <a:r>
              <a:rPr lang="zh-CN" altLang="en-US" sz="2000" dirty="0">
                <a:latin typeface="宋体" panose="02010600030101010101" pitchFamily="2" charset="-122"/>
                <a:ea typeface="宋体" panose="02010600030101010101" pitchFamily="2" charset="-122"/>
              </a:rPr>
              <a:t>偶联溶剂优选乙腈，文献证明其选择性最高。</a:t>
            </a:r>
          </a:p>
        </p:txBody>
      </p:sp>
      <p:pic>
        <p:nvPicPr>
          <p:cNvPr id="9" name="图片 9"/>
          <p:cNvPicPr>
            <a:picLocks noChangeAspect="1" noChangeArrowheads="1"/>
          </p:cNvPicPr>
          <p:nvPr/>
        </p:nvPicPr>
        <p:blipFill>
          <a:blip r:embed="rId2">
            <a:extLst>
              <a:ext uri="{28A0092B-C50C-407E-A947-70E740481C1C}">
                <a14:useLocalDpi xmlns:a14="http://schemas.microsoft.com/office/drawing/2010/main" val="0"/>
              </a:ext>
            </a:extLst>
          </a:blip>
          <a:srcRect l="24496" r="24496"/>
          <a:stretch>
            <a:fillRect/>
          </a:stretch>
        </p:blipFill>
        <p:spPr bwMode="auto">
          <a:xfrm>
            <a:off x="11000747" y="89452"/>
            <a:ext cx="1081962" cy="1083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5018405" y="2264093"/>
            <a:ext cx="2155190" cy="2329815"/>
          </a:xfrm>
          <a:prstGeom prst="rect">
            <a:avLst/>
          </a:prstGeom>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45770" y="125730"/>
            <a:ext cx="10638155" cy="6551930"/>
          </a:xfrm>
          <a:prstGeom prst="rect">
            <a:avLst/>
          </a:prstGeom>
          <a:noFill/>
        </p:spPr>
        <p:txBody>
          <a:bodyPr wrap="square" rtlCol="0">
            <a:noAutofit/>
          </a:bodyPr>
          <a:lstStyle/>
          <a:p>
            <a:pPr indent="0" fontAlgn="auto">
              <a:lnSpc>
                <a:spcPct val="150000"/>
              </a:lnSpc>
            </a:pPr>
            <a:r>
              <a:rPr lang="zh-CN" altLang="en-US" sz="2000" kern="1500" spc="100">
                <a:solidFill>
                  <a:schemeClr val="tx1"/>
                </a:solidFill>
                <a:uFillTx/>
                <a:latin typeface="Times New Roman" panose="02020603050405020304" charset="0"/>
                <a:ea typeface="宋体" panose="02010600030101010101" pitchFamily="2" charset="-122"/>
                <a:cs typeface="Times New Roman" panose="02020603050405020304" charset="0"/>
              </a:rPr>
              <a:t>一、匹伐他汀市场价值（2025 年）</a:t>
            </a:r>
          </a:p>
          <a:p>
            <a:pPr marL="457200" indent="0" fontAlgn="auto">
              <a:lnSpc>
                <a:spcPct val="150000"/>
              </a:lnSpc>
              <a:extLst>
                <a:ext uri="{35155182-B16C-46BC-9424-99874614C6A1}">
                  <wpsdc:marlchars xmlns="" xmlns:wpsdc="http://www.wps.cn/officeDocument/2017/drawingmlCustomData" val="200" checksum="2975741746"/>
                </a:ext>
              </a:extLst>
            </a:pPr>
            <a:r>
              <a:rPr lang="zh-CN" altLang="en-US" sz="2000" kern="1500" spc="100">
                <a:solidFill>
                  <a:schemeClr val="tx1"/>
                </a:solidFill>
                <a:uFillTx/>
                <a:latin typeface="Times New Roman" panose="02020603050405020304" charset="0"/>
                <a:ea typeface="宋体" panose="02010600030101010101" pitchFamily="2" charset="-122"/>
                <a:cs typeface="Times New Roman" panose="02020603050405020304" charset="0"/>
              </a:rPr>
              <a:t>全球市场：规模约6.86 亿美元，预计 2030 年达 9.18 亿美元，年复合增长率 6.01%。</a:t>
            </a:r>
          </a:p>
          <a:p>
            <a:pPr marL="457200" indent="0" fontAlgn="auto">
              <a:lnSpc>
                <a:spcPct val="150000"/>
              </a:lnSpc>
              <a:extLst>
                <a:ext uri="{35155182-B16C-46BC-9424-99874614C6A1}">
                  <wpsdc:marlchars xmlns="" xmlns:wpsdc="http://www.wps.cn/officeDocument/2017/drawingmlCustomData" val="200" checksum="2975741746"/>
                </a:ext>
              </a:extLst>
            </a:pPr>
            <a:r>
              <a:rPr lang="zh-CN" altLang="en-US" sz="2000" kern="1500" spc="100">
                <a:solidFill>
                  <a:schemeClr val="tx1"/>
                </a:solidFill>
                <a:uFillTx/>
                <a:latin typeface="Times New Roman" panose="02020603050405020304" charset="0"/>
                <a:ea typeface="宋体" panose="02010600030101010101" pitchFamily="2" charset="-122"/>
                <a:cs typeface="Times New Roman" panose="02020603050405020304" charset="0"/>
              </a:rPr>
              <a:t>中国市场：2023 年约38.6 亿元，2025 年预计突破47 亿元，年复合增长率约 8.5%。</a:t>
            </a:r>
          </a:p>
          <a:p>
            <a:pPr marL="457200" indent="0" fontAlgn="auto">
              <a:lnSpc>
                <a:spcPct val="150000"/>
              </a:lnSpc>
              <a:extLst>
                <a:ext uri="{35155182-B16C-46BC-9424-99874614C6A1}">
                  <wpsdc:marlchars xmlns="" xmlns:wpsdc="http://www.wps.cn/officeDocument/2017/drawingmlCustomData" val="200" checksum="2975741746"/>
                </a:ext>
              </a:extLst>
            </a:pPr>
            <a:r>
              <a:rPr lang="zh-CN" altLang="en-US" sz="2000" kern="1500" spc="100">
                <a:solidFill>
                  <a:schemeClr val="tx1"/>
                </a:solidFill>
                <a:uFillTx/>
                <a:latin typeface="Times New Roman" panose="02020603050405020304" charset="0"/>
                <a:ea typeface="宋体" panose="02010600030101010101" pitchFamily="2" charset="-122"/>
                <a:cs typeface="Times New Roman" panose="02020603050405020304" charset="0"/>
              </a:rPr>
              <a:t>竞争格局：全球他汀类市场份额＜3%；亚太区约 4%、北美 1.5%、欧洲 1%。</a:t>
            </a:r>
          </a:p>
          <a:p>
            <a:pPr indent="0" fontAlgn="auto">
              <a:lnSpc>
                <a:spcPct val="150000"/>
              </a:lnSpc>
            </a:pPr>
            <a:r>
              <a:rPr lang="zh-CN" altLang="en-US" sz="2000" kern="1500" spc="100">
                <a:solidFill>
                  <a:schemeClr val="tx1"/>
                </a:solidFill>
                <a:uFillTx/>
                <a:latin typeface="Times New Roman" panose="02020603050405020304" charset="0"/>
                <a:ea typeface="宋体" panose="02010600030101010101" pitchFamily="2" charset="-122"/>
                <a:cs typeface="Times New Roman" panose="02020603050405020304" charset="0"/>
              </a:rPr>
              <a:t>二、原研药价格</a:t>
            </a:r>
          </a:p>
          <a:p>
            <a:pPr indent="0" fontAlgn="auto">
              <a:lnSpc>
                <a:spcPct val="150000"/>
              </a:lnSpc>
            </a:pPr>
            <a:r>
              <a:rPr lang="zh-CN" altLang="en-US" sz="2000" kern="1500" spc="100">
                <a:solidFill>
                  <a:schemeClr val="tx1"/>
                </a:solidFill>
                <a:uFillTx/>
                <a:latin typeface="Times New Roman" panose="02020603050405020304" charset="0"/>
                <a:ea typeface="宋体" panose="02010600030101010101" pitchFamily="2" charset="-122"/>
                <a:cs typeface="Times New Roman" panose="02020603050405020304" charset="0"/>
              </a:rPr>
              <a:t>1. 中国内地（2026 年，医院 / 药店）</a:t>
            </a:r>
          </a:p>
          <a:p>
            <a:pPr marL="457200" algn="l" fontAlgn="auto">
              <a:lnSpc>
                <a:spcPct val="150000"/>
              </a:lnSpc>
              <a:buClrTx/>
              <a:buSzTx/>
              <a:buFontTx/>
              <a:extLst>
                <a:ext uri="{35155182-B16C-46BC-9424-99874614C6A1}">
                  <wpsdc:marlchars xmlns="" xmlns:wpsdc="http://www.wps.cn/officeDocument/2017/drawingmlCustomData" val="200" checksum="2975741746"/>
                </a:ext>
              </a:extLst>
            </a:pPr>
            <a:r>
              <a:rPr lang="zh-CN" altLang="en-US" sz="2000" kern="1500" spc="100">
                <a:solidFill>
                  <a:schemeClr val="tx1"/>
                </a:solidFill>
                <a:uFillTx/>
                <a:latin typeface="Times New Roman" panose="02020603050405020304" charset="0"/>
                <a:ea typeface="宋体" panose="02010600030101010101" pitchFamily="2" charset="-122"/>
                <a:cs typeface="Times New Roman" panose="02020603050405020304" charset="0"/>
              </a:rPr>
              <a:t>1mg×7 片：约60</a:t>
            </a:r>
            <a:r>
              <a:rPr lang="en-US" altLang="zh-CN" sz="2000" kern="1500" spc="100">
                <a:solidFill>
                  <a:schemeClr val="tx1"/>
                </a:solidFill>
                <a:uFillTx/>
                <a:latin typeface="Times New Roman" panose="02020603050405020304" charset="0"/>
                <a:ea typeface="宋体" panose="02010600030101010101" pitchFamily="2" charset="-122"/>
                <a:cs typeface="Times New Roman" panose="02020603050405020304" charset="0"/>
              </a:rPr>
              <a:t>-</a:t>
            </a:r>
            <a:r>
              <a:rPr lang="zh-CN" altLang="en-US" sz="2000" kern="1500" spc="100">
                <a:solidFill>
                  <a:schemeClr val="tx1"/>
                </a:solidFill>
                <a:uFillTx/>
                <a:latin typeface="Times New Roman" panose="02020603050405020304" charset="0"/>
                <a:ea typeface="宋体" panose="02010600030101010101" pitchFamily="2" charset="-122"/>
                <a:cs typeface="Times New Roman" panose="02020603050405020304" charset="0"/>
              </a:rPr>
              <a:t>80 元 / 盒</a:t>
            </a:r>
          </a:p>
          <a:p>
            <a:pPr marL="457200" algn="l" fontAlgn="auto">
              <a:lnSpc>
                <a:spcPct val="150000"/>
              </a:lnSpc>
              <a:buClrTx/>
              <a:buSzTx/>
              <a:buFontTx/>
              <a:extLst>
                <a:ext uri="{35155182-B16C-46BC-9424-99874614C6A1}">
                  <wpsdc:marlchars xmlns="" xmlns:wpsdc="http://www.wps.cn/officeDocument/2017/drawingmlCustomData" val="200" checksum="2975741746"/>
                </a:ext>
              </a:extLst>
            </a:pPr>
            <a:r>
              <a:rPr lang="zh-CN" altLang="en-US" sz="2000" kern="1500" spc="100">
                <a:solidFill>
                  <a:schemeClr val="tx1"/>
                </a:solidFill>
                <a:uFillTx/>
                <a:latin typeface="Times New Roman" panose="02020603050405020304" charset="0"/>
                <a:ea typeface="宋体" panose="02010600030101010101" pitchFamily="2" charset="-122"/>
                <a:cs typeface="Times New Roman" panose="02020603050405020304" charset="0"/>
              </a:rPr>
              <a:t>2mg×7 片：约80</a:t>
            </a:r>
            <a:r>
              <a:rPr lang="en-US" altLang="zh-CN" sz="2000" kern="1500" spc="100">
                <a:solidFill>
                  <a:schemeClr val="tx1"/>
                </a:solidFill>
                <a:uFillTx/>
                <a:latin typeface="Times New Roman" panose="02020603050405020304" charset="0"/>
                <a:ea typeface="宋体" panose="02010600030101010101" pitchFamily="2" charset="-122"/>
                <a:cs typeface="Times New Roman" panose="02020603050405020304" charset="0"/>
              </a:rPr>
              <a:t>-</a:t>
            </a:r>
            <a:r>
              <a:rPr lang="zh-CN" altLang="en-US" sz="2000" kern="1500" spc="100">
                <a:solidFill>
                  <a:schemeClr val="tx1"/>
                </a:solidFill>
                <a:uFillTx/>
                <a:latin typeface="Times New Roman" panose="02020603050405020304" charset="0"/>
                <a:ea typeface="宋体" panose="02010600030101010101" pitchFamily="2" charset="-122"/>
                <a:cs typeface="Times New Roman" panose="02020603050405020304" charset="0"/>
              </a:rPr>
              <a:t>120 元 / 盒</a:t>
            </a:r>
          </a:p>
          <a:p>
            <a:pPr marL="457200" algn="l" fontAlgn="auto">
              <a:lnSpc>
                <a:spcPct val="150000"/>
              </a:lnSpc>
              <a:buClrTx/>
              <a:buSzTx/>
              <a:buFontTx/>
              <a:extLst>
                <a:ext uri="{35155182-B16C-46BC-9424-99874614C6A1}">
                  <wpsdc:marlchars xmlns="" xmlns:wpsdc="http://www.wps.cn/officeDocument/2017/drawingmlCustomData" val="200" checksum="2975741746"/>
                </a:ext>
              </a:extLst>
            </a:pPr>
            <a:r>
              <a:rPr lang="zh-CN" altLang="en-US" sz="2000" kern="1500" spc="100">
                <a:solidFill>
                  <a:schemeClr val="tx1"/>
                </a:solidFill>
                <a:uFillTx/>
                <a:latin typeface="Times New Roman" panose="02020603050405020304" charset="0"/>
                <a:ea typeface="宋体" panose="02010600030101010101" pitchFamily="2" charset="-122"/>
                <a:cs typeface="Times New Roman" panose="02020603050405020304" charset="0"/>
              </a:rPr>
              <a:t>2mg×14 片：约120</a:t>
            </a:r>
            <a:r>
              <a:rPr lang="en-US" altLang="zh-CN" sz="2000" kern="1500" spc="100">
                <a:solidFill>
                  <a:schemeClr val="tx1"/>
                </a:solidFill>
                <a:uFillTx/>
                <a:latin typeface="Times New Roman" panose="02020603050405020304" charset="0"/>
                <a:ea typeface="宋体" panose="02010600030101010101" pitchFamily="2" charset="-122"/>
                <a:cs typeface="Times New Roman" panose="02020603050405020304" charset="0"/>
              </a:rPr>
              <a:t>-</a:t>
            </a:r>
            <a:r>
              <a:rPr lang="zh-CN" altLang="en-US" sz="2000" kern="1500" spc="100">
                <a:solidFill>
                  <a:schemeClr val="tx1"/>
                </a:solidFill>
                <a:uFillTx/>
                <a:latin typeface="Times New Roman" panose="02020603050405020304" charset="0"/>
                <a:ea typeface="宋体" panose="02010600030101010101" pitchFamily="2" charset="-122"/>
                <a:cs typeface="Times New Roman" panose="02020603050405020304" charset="0"/>
              </a:rPr>
              <a:t>180 元 / 盒</a:t>
            </a:r>
          </a:p>
          <a:p>
            <a:pPr indent="0" fontAlgn="auto">
              <a:lnSpc>
                <a:spcPct val="150000"/>
              </a:lnSpc>
            </a:pPr>
            <a:r>
              <a:rPr lang="zh-CN" altLang="en-US" sz="2000" kern="1500" spc="100">
                <a:solidFill>
                  <a:schemeClr val="tx1"/>
                </a:solidFill>
                <a:uFillTx/>
                <a:latin typeface="Times New Roman" panose="02020603050405020304" charset="0"/>
                <a:ea typeface="宋体" panose="02010600030101010101" pitchFamily="2" charset="-122"/>
                <a:cs typeface="Times New Roman" panose="02020603050405020304" charset="0"/>
              </a:rPr>
              <a:t>2. 日本本土（2026 年，药局）</a:t>
            </a:r>
          </a:p>
          <a:p>
            <a:pPr marL="457200" algn="l" fontAlgn="auto">
              <a:lnSpc>
                <a:spcPct val="150000"/>
              </a:lnSpc>
              <a:buClrTx/>
              <a:buSzTx/>
              <a:buNone/>
              <a:extLst>
                <a:ext uri="{35155182-B16C-46BC-9424-99874614C6A1}">
                  <wpsdc:marlchars xmlns="" xmlns:wpsdc="http://www.wps.cn/officeDocument/2017/drawingmlCustomData" val="200" checksum="2975741746"/>
                </a:ext>
              </a:extLst>
            </a:pPr>
            <a:r>
              <a:rPr lang="zh-CN" altLang="en-US" sz="2000" kern="1500" spc="100">
                <a:solidFill>
                  <a:schemeClr val="tx1"/>
                </a:solidFill>
                <a:uFillTx/>
                <a:latin typeface="Times New Roman" panose="02020603050405020304" charset="0"/>
                <a:ea typeface="宋体" panose="02010600030101010101" pitchFamily="2" charset="-122"/>
                <a:cs typeface="Times New Roman" panose="02020603050405020304" charset="0"/>
              </a:rPr>
              <a:t>1mg×100 片：4740 日元（约217 元）</a:t>
            </a:r>
          </a:p>
          <a:p>
            <a:pPr marL="457200" algn="l" fontAlgn="auto">
              <a:lnSpc>
                <a:spcPct val="150000"/>
              </a:lnSpc>
              <a:buClrTx/>
              <a:buSzTx/>
              <a:buNone/>
              <a:extLst>
                <a:ext uri="{35155182-B16C-46BC-9424-99874614C6A1}">
                  <wpsdc:marlchars xmlns="" xmlns:wpsdc="http://www.wps.cn/officeDocument/2017/drawingmlCustomData" val="200" checksum="2975741746"/>
                </a:ext>
              </a:extLst>
            </a:pPr>
            <a:r>
              <a:rPr lang="zh-CN" altLang="en-US" sz="2000" kern="1500" spc="100">
                <a:solidFill>
                  <a:schemeClr val="tx1"/>
                </a:solidFill>
                <a:uFillTx/>
                <a:latin typeface="Times New Roman" panose="02020603050405020304" charset="0"/>
                <a:ea typeface="宋体" panose="02010600030101010101" pitchFamily="2" charset="-122"/>
                <a:cs typeface="Times New Roman" panose="02020603050405020304" charset="0"/>
              </a:rPr>
              <a:t>2mg×500 片：23000 日元（约1050 元）</a:t>
            </a:r>
          </a:p>
          <a:p>
            <a:pPr indent="0" fontAlgn="auto">
              <a:lnSpc>
                <a:spcPct val="150000"/>
              </a:lnSpc>
            </a:pPr>
            <a:r>
              <a:rPr lang="zh-CN" altLang="en-US" sz="2000" kern="1500" spc="100">
                <a:solidFill>
                  <a:schemeClr val="tx1"/>
                </a:solidFill>
                <a:uFillTx/>
                <a:latin typeface="Times New Roman" panose="02020603050405020304" charset="0"/>
                <a:ea typeface="宋体" panose="02010600030101010101" pitchFamily="2" charset="-122"/>
                <a:cs typeface="Times New Roman" panose="02020603050405020304" charset="0"/>
              </a:rPr>
              <a:t>3. 美国（2026 年，零售价）</a:t>
            </a:r>
          </a:p>
          <a:p>
            <a:pPr marL="457200" algn="l" fontAlgn="auto">
              <a:lnSpc>
                <a:spcPct val="150000"/>
              </a:lnSpc>
              <a:buClrTx/>
              <a:buSzTx/>
              <a:buFontTx/>
              <a:extLst>
                <a:ext uri="{35155182-B16C-46BC-9424-99874614C6A1}">
                  <wpsdc:marlchars xmlns="" xmlns:wpsdc="http://www.wps.cn/officeDocument/2017/drawingmlCustomData" val="200" checksum="2975741746"/>
                </a:ext>
              </a:extLst>
            </a:pPr>
            <a:r>
              <a:rPr lang="zh-CN" altLang="en-US" sz="2000" kern="1500" spc="100">
                <a:solidFill>
                  <a:schemeClr val="tx1"/>
                </a:solidFill>
                <a:uFillTx/>
                <a:latin typeface="Times New Roman" panose="02020603050405020304" charset="0"/>
                <a:ea typeface="宋体" panose="02010600030101010101" pitchFamily="2" charset="-122"/>
                <a:cs typeface="Times New Roman" panose="02020603050405020304" charset="0"/>
              </a:rPr>
              <a:t>2mg×30 片（月用量）：250</a:t>
            </a:r>
            <a:r>
              <a:rPr lang="en-US" altLang="zh-CN" sz="2000" kern="1500" spc="100">
                <a:solidFill>
                  <a:schemeClr val="tx1"/>
                </a:solidFill>
                <a:uFillTx/>
                <a:latin typeface="Times New Roman" panose="02020603050405020304" charset="0"/>
                <a:ea typeface="宋体" panose="02010600030101010101" pitchFamily="2" charset="-122"/>
                <a:cs typeface="Times New Roman" panose="02020603050405020304" charset="0"/>
              </a:rPr>
              <a:t>-</a:t>
            </a:r>
            <a:r>
              <a:rPr lang="zh-CN" altLang="en-US" sz="2000" kern="1500" spc="100">
                <a:solidFill>
                  <a:schemeClr val="tx1"/>
                </a:solidFill>
                <a:uFillTx/>
                <a:latin typeface="Times New Roman" panose="02020603050405020304" charset="0"/>
                <a:ea typeface="宋体" panose="02010600030101010101" pitchFamily="2" charset="-122"/>
                <a:cs typeface="Times New Roman" panose="02020603050405020304" charset="0"/>
              </a:rPr>
              <a:t>300 美元（约 1800</a:t>
            </a:r>
            <a:r>
              <a:rPr lang="en-US" altLang="zh-CN" sz="2000" kern="1500" spc="100">
                <a:solidFill>
                  <a:schemeClr val="tx1"/>
                </a:solidFill>
                <a:uFillTx/>
                <a:latin typeface="Times New Roman" panose="02020603050405020304" charset="0"/>
                <a:ea typeface="宋体" panose="02010600030101010101" pitchFamily="2" charset="-122"/>
                <a:cs typeface="Times New Roman" panose="02020603050405020304" charset="0"/>
              </a:rPr>
              <a:t>-</a:t>
            </a:r>
            <a:r>
              <a:rPr lang="zh-CN" altLang="en-US" sz="2000" kern="1500" spc="100">
                <a:solidFill>
                  <a:schemeClr val="tx1"/>
                </a:solidFill>
                <a:uFillTx/>
                <a:latin typeface="Times New Roman" panose="02020603050405020304" charset="0"/>
                <a:ea typeface="宋体" panose="02010600030101010101" pitchFamily="2" charset="-122"/>
                <a:cs typeface="Times New Roman" panose="02020603050405020304" charset="0"/>
              </a:rPr>
              <a:t>2100 元）</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663258" y="725170"/>
            <a:ext cx="10865485" cy="5407660"/>
          </a:xfrm>
          <a:prstGeom prst="rect">
            <a:avLst/>
          </a:prstGeom>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748030" y="242570"/>
            <a:ext cx="10992485" cy="6145530"/>
          </a:xfrm>
          <a:prstGeom prst="rect">
            <a:avLst/>
          </a:prstGeom>
          <a:noFill/>
        </p:spPr>
        <p:txBody>
          <a:bodyPr wrap="square" rtlCol="0">
            <a:noAutofit/>
          </a:bodyPr>
          <a:lstStyle/>
          <a:p>
            <a:pPr indent="0" fontAlgn="auto">
              <a:lnSpc>
                <a:spcPct val="150000"/>
              </a:lnSpc>
            </a:pPr>
            <a:r>
              <a:rPr lang="zh-CN" altLang="en-US" sz="2000">
                <a:solidFill>
                  <a:schemeClr val="tx1"/>
                </a:solidFill>
                <a:uFillTx/>
                <a:latin typeface="Times New Roman" panose="02020603050405020304" charset="0"/>
                <a:ea typeface="宋体" panose="02010600030101010101" pitchFamily="2" charset="-122"/>
              </a:rPr>
              <a:t>优点：</a:t>
            </a:r>
          </a:p>
          <a:p>
            <a:pPr indent="0" fontAlgn="auto">
              <a:lnSpc>
                <a:spcPct val="150000"/>
              </a:lnSpc>
            </a:pPr>
            <a:r>
              <a:rPr lang="en-US" altLang="zh-CN" sz="2000">
                <a:solidFill>
                  <a:schemeClr val="tx1"/>
                </a:solidFill>
                <a:uFillTx/>
                <a:latin typeface="Times New Roman" panose="02020603050405020304" charset="0"/>
                <a:ea typeface="宋体" panose="02010600030101010101" pitchFamily="2" charset="-122"/>
              </a:rPr>
              <a:t>1. </a:t>
            </a:r>
            <a:r>
              <a:rPr lang="zh-CN" altLang="en-US" sz="2000">
                <a:solidFill>
                  <a:schemeClr val="tx1"/>
                </a:solidFill>
                <a:uFillTx/>
                <a:latin typeface="Times New Roman" panose="02020603050405020304" charset="0"/>
                <a:ea typeface="宋体" panose="02010600030101010101" pitchFamily="2" charset="-122"/>
              </a:rPr>
              <a:t>以</a:t>
            </a:r>
            <a:r>
              <a:rPr lang="en-US" altLang="zh-CN" sz="2000" b="1">
                <a:solidFill>
                  <a:schemeClr val="tx1"/>
                </a:solidFill>
                <a:uFillTx/>
                <a:latin typeface="Times New Roman" panose="02020603050405020304" charset="0"/>
                <a:ea typeface="宋体" panose="02010600030101010101" pitchFamily="2" charset="-122"/>
              </a:rPr>
              <a:t>5</a:t>
            </a:r>
            <a:r>
              <a:rPr lang="zh-CN" altLang="en-US" sz="2000">
                <a:solidFill>
                  <a:schemeClr val="tx1"/>
                </a:solidFill>
                <a:uFillTx/>
                <a:latin typeface="Times New Roman" panose="02020603050405020304" charset="0"/>
                <a:ea typeface="宋体" panose="02010600030101010101" pitchFamily="2" charset="-122"/>
              </a:rPr>
              <a:t>为原料，用价廉易得的</a:t>
            </a:r>
            <a:r>
              <a:rPr lang="en-US" altLang="zh-CN" sz="2000">
                <a:solidFill>
                  <a:schemeClr val="tx1"/>
                </a:solidFill>
                <a:uFillTx/>
                <a:latin typeface="Times New Roman" panose="02020603050405020304" charset="0"/>
                <a:ea typeface="宋体" panose="02010600030101010101" pitchFamily="2" charset="-122"/>
              </a:rPr>
              <a:t>KBH</a:t>
            </a:r>
            <a:r>
              <a:rPr lang="en-US" altLang="zh-CN" sz="2000" baseline="-25000">
                <a:solidFill>
                  <a:schemeClr val="tx1"/>
                </a:solidFill>
                <a:uFillTx/>
                <a:latin typeface="Times New Roman" panose="02020603050405020304" charset="0"/>
                <a:ea typeface="宋体" panose="02010600030101010101" pitchFamily="2" charset="-122"/>
              </a:rPr>
              <a:t>4</a:t>
            </a:r>
            <a:r>
              <a:rPr lang="en-US" altLang="zh-CN" sz="2000">
                <a:solidFill>
                  <a:schemeClr val="tx1"/>
                </a:solidFill>
                <a:uFillTx/>
                <a:latin typeface="Times New Roman" panose="02020603050405020304" charset="0"/>
                <a:ea typeface="宋体" panose="02010600030101010101" pitchFamily="2" charset="-122"/>
              </a:rPr>
              <a:t>/ZnCl</a:t>
            </a:r>
            <a:r>
              <a:rPr lang="en-US" altLang="zh-CN" sz="2000" baseline="-25000">
                <a:solidFill>
                  <a:schemeClr val="tx1"/>
                </a:solidFill>
                <a:uFillTx/>
                <a:latin typeface="Times New Roman" panose="02020603050405020304" charset="0"/>
                <a:ea typeface="宋体" panose="02010600030101010101" pitchFamily="2" charset="-122"/>
              </a:rPr>
              <a:t>2</a:t>
            </a:r>
            <a:r>
              <a:rPr lang="zh-CN" altLang="en-US" sz="2000">
                <a:solidFill>
                  <a:schemeClr val="tx1"/>
                </a:solidFill>
                <a:uFillTx/>
                <a:latin typeface="Times New Roman" panose="02020603050405020304" charset="0"/>
                <a:ea typeface="宋体" panose="02010600030101010101" pitchFamily="2" charset="-122"/>
              </a:rPr>
              <a:t>试剂代替</a:t>
            </a:r>
            <a:r>
              <a:rPr lang="en-US" altLang="zh-CN" sz="2000">
                <a:solidFill>
                  <a:schemeClr val="tx1"/>
                </a:solidFill>
                <a:uFillTx/>
                <a:latin typeface="Times New Roman" panose="02020603050405020304" charset="0"/>
                <a:ea typeface="宋体" panose="02010600030101010101" pitchFamily="2" charset="-122"/>
              </a:rPr>
              <a:t>DIBALH</a:t>
            </a:r>
            <a:r>
              <a:rPr lang="zh-CN" altLang="en-US" sz="2000">
                <a:solidFill>
                  <a:schemeClr val="tx1"/>
                </a:solidFill>
                <a:uFillTx/>
                <a:latin typeface="Times New Roman" panose="02020603050405020304" charset="0"/>
                <a:ea typeface="宋体" panose="02010600030101010101" pitchFamily="2" charset="-122"/>
              </a:rPr>
              <a:t>等昂贵还原剂</a:t>
            </a:r>
            <a:r>
              <a:rPr lang="en-US" altLang="zh-CN" sz="2000">
                <a:solidFill>
                  <a:schemeClr val="tx1"/>
                </a:solidFill>
                <a:uFillTx/>
                <a:latin typeface="Times New Roman" panose="02020603050405020304" charset="0"/>
                <a:ea typeface="宋体" panose="02010600030101010101" pitchFamily="2" charset="-122"/>
              </a:rPr>
              <a:t>，</a:t>
            </a:r>
            <a:r>
              <a:rPr lang="zh-CN" altLang="en-US" sz="2000">
                <a:solidFill>
                  <a:schemeClr val="tx1"/>
                </a:solidFill>
                <a:uFillTx/>
                <a:latin typeface="Times New Roman" panose="02020603050405020304" charset="0"/>
                <a:ea typeface="宋体" panose="02010600030101010101" pitchFamily="2" charset="-122"/>
              </a:rPr>
              <a:t>收率高，操作简便，反应条件平稳。</a:t>
            </a:r>
          </a:p>
          <a:p>
            <a:pPr indent="0" fontAlgn="auto">
              <a:lnSpc>
                <a:spcPct val="150000"/>
              </a:lnSpc>
            </a:pPr>
            <a:r>
              <a:rPr lang="en-US" altLang="zh-CN" sz="2000">
                <a:solidFill>
                  <a:schemeClr val="tx1"/>
                </a:solidFill>
                <a:uFillTx/>
                <a:latin typeface="Times New Roman" panose="02020603050405020304" charset="0"/>
                <a:ea typeface="宋体" panose="02010600030101010101" pitchFamily="2" charset="-122"/>
              </a:rPr>
              <a:t>2.</a:t>
            </a:r>
            <a:r>
              <a:rPr lang="zh-CN" altLang="en-US" sz="2000">
                <a:solidFill>
                  <a:schemeClr val="tx1"/>
                </a:solidFill>
                <a:uFillTx/>
                <a:latin typeface="Times New Roman" panose="02020603050405020304" charset="0"/>
                <a:ea typeface="宋体" panose="02010600030101010101" pitchFamily="2" charset="-122"/>
              </a:rPr>
              <a:t>环状手性试剂法利用缩酮先合成环状手性试剂，首先保证了手性部位</a:t>
            </a:r>
            <a:r>
              <a:rPr lang="en-US" altLang="zh-CN" sz="2000">
                <a:solidFill>
                  <a:schemeClr val="tx1"/>
                </a:solidFill>
                <a:uFillTx/>
                <a:latin typeface="Times New Roman" panose="02020603050405020304" charset="0"/>
                <a:ea typeface="宋体" panose="02010600030101010101" pitchFamily="2" charset="-122"/>
              </a:rPr>
              <a:t>3</a:t>
            </a:r>
            <a:r>
              <a:rPr lang="zh-CN" altLang="en-US" sz="2000">
                <a:solidFill>
                  <a:schemeClr val="tx1"/>
                </a:solidFill>
                <a:uFillTx/>
                <a:latin typeface="Times New Roman" panose="02020603050405020304" charset="0"/>
                <a:ea typeface="宋体" panose="02010600030101010101" pitchFamily="2" charset="-122"/>
              </a:rPr>
              <a:t>位和</a:t>
            </a:r>
            <a:r>
              <a:rPr lang="en-US" altLang="zh-CN" sz="2000">
                <a:solidFill>
                  <a:schemeClr val="tx1"/>
                </a:solidFill>
                <a:uFillTx/>
                <a:latin typeface="Times New Roman" panose="02020603050405020304" charset="0"/>
                <a:ea typeface="宋体" panose="02010600030101010101" pitchFamily="2" charset="-122"/>
              </a:rPr>
              <a:t>5</a:t>
            </a:r>
            <a:r>
              <a:rPr lang="zh-CN" altLang="en-US" sz="2000">
                <a:solidFill>
                  <a:schemeClr val="tx1"/>
                </a:solidFill>
                <a:uFillTx/>
                <a:latin typeface="Times New Roman" panose="02020603050405020304" charset="0"/>
                <a:ea typeface="宋体" panose="02010600030101010101" pitchFamily="2" charset="-122"/>
              </a:rPr>
              <a:t>位的立体构型，引入取代喹啉环后无须进行手性合成或拆分，步骤较少，操作成本较低。</a:t>
            </a:r>
          </a:p>
          <a:p>
            <a:pPr indent="0" fontAlgn="auto">
              <a:lnSpc>
                <a:spcPct val="150000"/>
              </a:lnSpc>
            </a:pPr>
            <a:r>
              <a:rPr lang="en-US" altLang="zh-CN" sz="2000">
                <a:solidFill>
                  <a:schemeClr val="tx1"/>
                </a:solidFill>
                <a:uFillTx/>
                <a:latin typeface="Times New Roman" panose="02020603050405020304" charset="0"/>
                <a:ea typeface="宋体" panose="02010600030101010101" pitchFamily="2" charset="-122"/>
              </a:rPr>
              <a:t>3. </a:t>
            </a:r>
            <a:r>
              <a:rPr lang="zh-CN" altLang="en-US" sz="2000">
                <a:solidFill>
                  <a:schemeClr val="tx1"/>
                </a:solidFill>
                <a:uFillTx/>
                <a:latin typeface="Times New Roman" panose="02020603050405020304" charset="0"/>
                <a:ea typeface="宋体" panose="02010600030101010101" pitchFamily="2" charset="-122"/>
              </a:rPr>
              <a:t>优化后的膦化物与 </a:t>
            </a:r>
            <a:r>
              <a:rPr lang="en-US" altLang="zh-CN" sz="2000">
                <a:solidFill>
                  <a:schemeClr val="tx1"/>
                </a:solidFill>
                <a:uFillTx/>
                <a:latin typeface="Times New Roman" panose="02020603050405020304" charset="0"/>
                <a:ea typeface="宋体" panose="02010600030101010101" pitchFamily="2" charset="-122"/>
              </a:rPr>
              <a:t>LTMP </a:t>
            </a:r>
            <a:r>
              <a:rPr lang="zh-CN" altLang="en-US" sz="2000">
                <a:solidFill>
                  <a:schemeClr val="tx1"/>
                </a:solidFill>
                <a:uFillTx/>
                <a:latin typeface="Times New Roman" panose="02020603050405020304" charset="0"/>
                <a:ea typeface="宋体" panose="02010600030101010101" pitchFamily="2" charset="-122"/>
              </a:rPr>
              <a:t>碱进行</a:t>
            </a:r>
            <a:r>
              <a:rPr lang="en-US" altLang="zh-CN" sz="2000">
                <a:solidFill>
                  <a:schemeClr val="tx1"/>
                </a:solidFill>
                <a:uFillTx/>
                <a:latin typeface="Times New Roman" panose="02020603050405020304" charset="0"/>
                <a:ea typeface="宋体" panose="02010600030101010101" pitchFamily="2" charset="-122"/>
              </a:rPr>
              <a:t>Wittig‑Horner </a:t>
            </a:r>
            <a:r>
              <a:rPr lang="zh-CN" altLang="en-US" sz="2000">
                <a:solidFill>
                  <a:schemeClr val="tx1"/>
                </a:solidFill>
                <a:uFillTx/>
                <a:latin typeface="Times New Roman" panose="02020603050405020304" charset="0"/>
                <a:ea typeface="宋体" panose="02010600030101010101" pitchFamily="2" charset="-122"/>
              </a:rPr>
              <a:t>反应</a:t>
            </a:r>
            <a:r>
              <a:rPr lang="en-US" altLang="zh-CN" sz="2000">
                <a:solidFill>
                  <a:schemeClr val="tx1"/>
                </a:solidFill>
                <a:uFillTx/>
                <a:latin typeface="Times New Roman" panose="02020603050405020304" charset="0"/>
                <a:ea typeface="宋体" panose="02010600030101010101" pitchFamily="2" charset="-122"/>
              </a:rPr>
              <a:t>，</a:t>
            </a:r>
            <a:r>
              <a:rPr lang="zh-CN" altLang="en-US" sz="2000">
                <a:solidFill>
                  <a:schemeClr val="tx1"/>
                </a:solidFill>
                <a:uFillTx/>
                <a:latin typeface="Times New Roman" panose="02020603050405020304" charset="0"/>
                <a:ea typeface="宋体" panose="02010600030101010101" pitchFamily="2" charset="-122"/>
              </a:rPr>
              <a:t>可高选择性得到目标 </a:t>
            </a:r>
            <a:r>
              <a:rPr lang="en-US" altLang="zh-CN" sz="2000" i="1">
                <a:solidFill>
                  <a:schemeClr val="tx1"/>
                </a:solidFill>
                <a:uFillTx/>
                <a:latin typeface="Times New Roman" panose="02020603050405020304" charset="0"/>
                <a:ea typeface="宋体" panose="02010600030101010101" pitchFamily="2" charset="-122"/>
              </a:rPr>
              <a:t>E </a:t>
            </a:r>
            <a:r>
              <a:rPr lang="zh-CN" altLang="en-US" sz="2000">
                <a:solidFill>
                  <a:schemeClr val="tx1"/>
                </a:solidFill>
                <a:uFillTx/>
                <a:latin typeface="Times New Roman" panose="02020603050405020304" charset="0"/>
                <a:ea typeface="宋体" panose="02010600030101010101" pitchFamily="2" charset="-122"/>
              </a:rPr>
              <a:t>型异构体。</a:t>
            </a:r>
          </a:p>
          <a:p>
            <a:pPr indent="0" fontAlgn="auto">
              <a:lnSpc>
                <a:spcPct val="150000"/>
              </a:lnSpc>
            </a:pPr>
            <a:r>
              <a:rPr lang="zh-CN" altLang="en-US" sz="2000">
                <a:solidFill>
                  <a:schemeClr val="tx1"/>
                </a:solidFill>
                <a:uFillTx/>
                <a:latin typeface="Times New Roman" panose="02020603050405020304" charset="0"/>
                <a:ea typeface="宋体" panose="02010600030101010101" pitchFamily="2" charset="-122"/>
              </a:rPr>
              <a:t>缺点：</a:t>
            </a:r>
          </a:p>
          <a:p>
            <a:pPr indent="0" fontAlgn="auto">
              <a:lnSpc>
                <a:spcPct val="150000"/>
              </a:lnSpc>
            </a:pPr>
            <a:r>
              <a:rPr lang="en-US" altLang="zh-CN" sz="2000">
                <a:solidFill>
                  <a:schemeClr val="tx1"/>
                </a:solidFill>
                <a:uFillTx/>
                <a:latin typeface="Times New Roman" panose="02020603050405020304" charset="0"/>
                <a:ea typeface="宋体" panose="02010600030101010101" pitchFamily="2" charset="-122"/>
              </a:rPr>
              <a:t>1. </a:t>
            </a:r>
            <a:r>
              <a:rPr lang="zh-CN" altLang="en-US" sz="2000">
                <a:solidFill>
                  <a:schemeClr val="tx1"/>
                </a:solidFill>
                <a:uFillTx/>
                <a:latin typeface="Times New Roman" panose="02020603050405020304" charset="0"/>
                <a:ea typeface="宋体" panose="02010600030101010101" pitchFamily="2" charset="-122"/>
              </a:rPr>
              <a:t>仍需低温与惰性气体保护，</a:t>
            </a:r>
            <a:r>
              <a:rPr lang="en-US" altLang="zh-CN" sz="2000">
                <a:solidFill>
                  <a:schemeClr val="tx1"/>
                </a:solidFill>
                <a:uFillTx/>
                <a:latin typeface="Times New Roman" panose="02020603050405020304" charset="0"/>
                <a:ea typeface="宋体" panose="02010600030101010101" pitchFamily="2" charset="-122"/>
              </a:rPr>
              <a:t>Wittig </a:t>
            </a:r>
            <a:r>
              <a:rPr lang="zh-CN" altLang="en-US" sz="2000">
                <a:solidFill>
                  <a:schemeClr val="tx1"/>
                </a:solidFill>
                <a:uFillTx/>
                <a:latin typeface="Times New Roman" panose="02020603050405020304" charset="0"/>
                <a:ea typeface="宋体" panose="02010600030101010101" pitchFamily="2" charset="-122"/>
              </a:rPr>
              <a:t>反应需−78℃与 </a:t>
            </a:r>
            <a:r>
              <a:rPr lang="en-US" altLang="zh-CN" sz="2000">
                <a:solidFill>
                  <a:schemeClr val="tx1"/>
                </a:solidFill>
                <a:uFillTx/>
                <a:latin typeface="Times New Roman" panose="02020603050405020304" charset="0"/>
                <a:ea typeface="宋体" panose="02010600030101010101" pitchFamily="2" charset="-122"/>
              </a:rPr>
              <a:t>N</a:t>
            </a:r>
            <a:r>
              <a:rPr lang="en-US" altLang="zh-CN" sz="2000" baseline="-25000">
                <a:solidFill>
                  <a:schemeClr val="tx1"/>
                </a:solidFill>
                <a:uFillTx/>
                <a:latin typeface="Times New Roman" panose="02020603050405020304" charset="0"/>
                <a:ea typeface="宋体" panose="02010600030101010101" pitchFamily="2" charset="-122"/>
              </a:rPr>
              <a:t>2</a:t>
            </a:r>
            <a:r>
              <a:rPr lang="zh-CN" altLang="en-US" sz="2000">
                <a:solidFill>
                  <a:schemeClr val="tx1"/>
                </a:solidFill>
                <a:uFillTx/>
                <a:latin typeface="Times New Roman" panose="02020603050405020304" charset="0"/>
                <a:ea typeface="宋体" panose="02010600030101010101" pitchFamily="2" charset="-122"/>
              </a:rPr>
              <a:t>保护，对设备与操作要求高，工业化放大能耗与风险上升。</a:t>
            </a:r>
          </a:p>
          <a:p>
            <a:pPr indent="0" fontAlgn="auto">
              <a:lnSpc>
                <a:spcPct val="150000"/>
              </a:lnSpc>
            </a:pPr>
            <a:r>
              <a:rPr lang="en-US" altLang="zh-CN" sz="2000">
                <a:solidFill>
                  <a:schemeClr val="tx1"/>
                </a:solidFill>
                <a:uFillTx/>
                <a:latin typeface="Times New Roman" panose="02020603050405020304" charset="0"/>
                <a:ea typeface="宋体" panose="02010600030101010101" pitchFamily="2" charset="-122"/>
              </a:rPr>
              <a:t>2. LTMP </a:t>
            </a:r>
            <a:r>
              <a:rPr lang="zh-CN" altLang="en-US" sz="2000">
                <a:solidFill>
                  <a:schemeClr val="tx1"/>
                </a:solidFill>
                <a:uFillTx/>
                <a:latin typeface="Times New Roman" panose="02020603050405020304" charset="0"/>
                <a:ea typeface="宋体" panose="02010600030101010101" pitchFamily="2" charset="-122"/>
              </a:rPr>
              <a:t>等试剂制备与储存要求高有机碱</a:t>
            </a:r>
            <a:r>
              <a:rPr lang="en-US" altLang="zh-CN" sz="2000">
                <a:solidFill>
                  <a:schemeClr val="tx1"/>
                </a:solidFill>
                <a:uFillTx/>
                <a:latin typeface="Times New Roman" panose="02020603050405020304" charset="0"/>
                <a:ea typeface="宋体" panose="02010600030101010101" pitchFamily="2" charset="-122"/>
              </a:rPr>
              <a:t>LTMP</a:t>
            </a:r>
            <a:r>
              <a:rPr lang="zh-CN" altLang="en-US" sz="2000">
                <a:solidFill>
                  <a:schemeClr val="tx1"/>
                </a:solidFill>
                <a:uFillTx/>
                <a:latin typeface="Times New Roman" panose="02020603050405020304" charset="0"/>
                <a:ea typeface="宋体" panose="02010600030101010101" pitchFamily="2" charset="-122"/>
              </a:rPr>
              <a:t>需现制现用，对水氧敏感，放大易导致选择性与收率波动。</a:t>
            </a:r>
          </a:p>
          <a:p>
            <a:pPr indent="0" fontAlgn="auto">
              <a:lnSpc>
                <a:spcPct val="150000"/>
              </a:lnSpc>
            </a:pPr>
            <a:r>
              <a:rPr lang="en-US" altLang="zh-CN" sz="2000">
                <a:solidFill>
                  <a:schemeClr val="tx1"/>
                </a:solidFill>
                <a:uFillTx/>
                <a:latin typeface="Times New Roman" panose="02020603050405020304" charset="0"/>
                <a:ea typeface="宋体" panose="02010600030101010101" pitchFamily="2" charset="-122"/>
              </a:rPr>
              <a:t>3. </a:t>
            </a:r>
            <a:r>
              <a:rPr lang="zh-CN" altLang="en-US" sz="2000">
                <a:solidFill>
                  <a:schemeClr val="tx1"/>
                </a:solidFill>
                <a:uFillTx/>
                <a:latin typeface="Times New Roman" panose="02020603050405020304" charset="0"/>
                <a:ea typeface="宋体" panose="02010600030101010101" pitchFamily="2" charset="-122"/>
              </a:rPr>
              <a:t>原子经济性一般，多步保护 / 脱保护、膦盐制备，副产物多，三废处理压力较大。</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715010" y="289560"/>
            <a:ext cx="10891520" cy="6092825"/>
          </a:xfrm>
          <a:prstGeom prst="rect">
            <a:avLst/>
          </a:prstGeom>
          <a:noFill/>
        </p:spPr>
        <p:txBody>
          <a:bodyPr wrap="square" rtlCol="0">
            <a:spAutoFit/>
          </a:bodyPr>
          <a:lstStyle/>
          <a:p>
            <a:pPr indent="0" fontAlgn="auto">
              <a:lnSpc>
                <a:spcPct val="150000"/>
              </a:lnSpc>
            </a:pPr>
            <a:r>
              <a:rPr lang="zh-CN" altLang="en-US" sz="2000">
                <a:latin typeface="Times New Roman" panose="02020603050405020304" charset="0"/>
                <a:ea typeface="宋体" panose="02010600030101010101" pitchFamily="2" charset="-122"/>
                <a:cs typeface="Times New Roman" panose="02020603050405020304" charset="0"/>
              </a:rPr>
              <a:t>1. 难点：</a:t>
            </a:r>
            <a:r>
              <a:rPr lang="en-US" altLang="zh-CN" sz="2000">
                <a:latin typeface="Times New Roman" panose="02020603050405020304" charset="0"/>
                <a:ea typeface="宋体" panose="02010600030101010101" pitchFamily="2" charset="-122"/>
                <a:cs typeface="Times New Roman" panose="02020603050405020304" charset="0"/>
              </a:rPr>
              <a:t>Wittig-Horner </a:t>
            </a:r>
            <a:r>
              <a:rPr lang="zh-CN" altLang="en-US" sz="2000">
                <a:latin typeface="Times New Roman" panose="02020603050405020304" charset="0"/>
                <a:ea typeface="宋体" panose="02010600030101010101" pitchFamily="2" charset="-122"/>
                <a:cs typeface="Times New Roman" panose="02020603050405020304" charset="0"/>
              </a:rPr>
              <a:t>反应立体选择性与收率难以兼顾</a:t>
            </a:r>
          </a:p>
          <a:p>
            <a:pPr indent="0" fontAlgn="auto">
              <a:lnSpc>
                <a:spcPct val="150000"/>
              </a:lnSpc>
            </a:pPr>
            <a:r>
              <a:rPr lang="zh-CN" altLang="en-US" sz="2000">
                <a:latin typeface="Times New Roman" panose="02020603050405020304" charset="0"/>
                <a:ea typeface="宋体" panose="02010600030101010101" pitchFamily="2" charset="-122"/>
                <a:cs typeface="Times New Roman" panose="02020603050405020304" charset="0"/>
              </a:rPr>
              <a:t>问题：易生成 </a:t>
            </a:r>
            <a:r>
              <a:rPr lang="en-US" altLang="zh-CN" sz="2000">
                <a:latin typeface="Times New Roman" panose="02020603050405020304" charset="0"/>
                <a:ea typeface="宋体" panose="02010600030101010101" pitchFamily="2" charset="-122"/>
                <a:cs typeface="Times New Roman" panose="02020603050405020304" charset="0"/>
              </a:rPr>
              <a:t>Z </a:t>
            </a:r>
            <a:r>
              <a:rPr lang="zh-CN" altLang="en-US" sz="2000">
                <a:latin typeface="Times New Roman" panose="02020603050405020304" charset="0"/>
                <a:ea typeface="宋体" panose="02010600030101010101" pitchFamily="2" charset="-122"/>
                <a:cs typeface="Times New Roman" panose="02020603050405020304" charset="0"/>
              </a:rPr>
              <a:t>异构体，影响纯度与收率；低温、强碱条件苛刻。</a:t>
            </a:r>
          </a:p>
          <a:p>
            <a:pPr indent="0" fontAlgn="auto">
              <a:lnSpc>
                <a:spcPct val="150000"/>
              </a:lnSpc>
            </a:pPr>
            <a:r>
              <a:rPr lang="zh-CN" altLang="en-US" sz="2000">
                <a:latin typeface="Times New Roman" panose="02020603050405020304" charset="0"/>
                <a:ea typeface="宋体" panose="02010600030101010101" pitchFamily="2" charset="-122"/>
                <a:cs typeface="Times New Roman" panose="02020603050405020304" charset="0"/>
              </a:rPr>
              <a:t>解决方案：选用二苯基氧膦底物；采用</a:t>
            </a:r>
            <a:r>
              <a:rPr lang="en-US" altLang="zh-CN" sz="2000">
                <a:latin typeface="Times New Roman" panose="02020603050405020304" charset="0"/>
                <a:ea typeface="宋体" panose="02010600030101010101" pitchFamily="2" charset="-122"/>
                <a:cs typeface="Times New Roman" panose="02020603050405020304" charset="0"/>
              </a:rPr>
              <a:t>LTMP </a:t>
            </a:r>
            <a:r>
              <a:rPr lang="zh-CN" altLang="en-US" sz="2000">
                <a:latin typeface="Times New Roman" panose="02020603050405020304" charset="0"/>
                <a:ea typeface="宋体" panose="02010600030101010101" pitchFamily="2" charset="-122"/>
                <a:cs typeface="Times New Roman" panose="02020603050405020304" charset="0"/>
              </a:rPr>
              <a:t>为碱；温控 −78℃→室温缓慢升温；严格无水无氧。</a:t>
            </a:r>
          </a:p>
          <a:p>
            <a:pPr indent="0" fontAlgn="auto">
              <a:lnSpc>
                <a:spcPct val="150000"/>
              </a:lnSpc>
            </a:pPr>
            <a:r>
              <a:rPr lang="zh-CN" altLang="en-US" sz="2000">
                <a:latin typeface="Times New Roman" panose="02020603050405020304" charset="0"/>
                <a:ea typeface="宋体" panose="02010600030101010101" pitchFamily="2" charset="-122"/>
                <a:cs typeface="Times New Roman" panose="02020603050405020304" charset="0"/>
              </a:rPr>
              <a:t>2. 难点：还原步骤成本高、试剂危险</a:t>
            </a:r>
          </a:p>
          <a:p>
            <a:pPr indent="0" fontAlgn="auto">
              <a:lnSpc>
                <a:spcPct val="150000"/>
              </a:lnSpc>
            </a:pPr>
            <a:r>
              <a:rPr lang="zh-CN" altLang="en-US" sz="2000">
                <a:latin typeface="Times New Roman" panose="02020603050405020304" charset="0"/>
                <a:ea typeface="宋体" panose="02010600030101010101" pitchFamily="2" charset="-122"/>
                <a:cs typeface="Times New Roman" panose="02020603050405020304" charset="0"/>
              </a:rPr>
              <a:t>问题：传统 </a:t>
            </a:r>
            <a:r>
              <a:rPr lang="en-US" altLang="zh-CN" sz="2000">
                <a:latin typeface="Times New Roman" panose="02020603050405020304" charset="0"/>
                <a:ea typeface="宋体" panose="02010600030101010101" pitchFamily="2" charset="-122"/>
                <a:cs typeface="Times New Roman" panose="02020603050405020304" charset="0"/>
              </a:rPr>
              <a:t>DIBALH </a:t>
            </a:r>
            <a:r>
              <a:rPr lang="zh-CN" altLang="en-US" sz="2000">
                <a:latin typeface="Times New Roman" panose="02020603050405020304" charset="0"/>
                <a:ea typeface="宋体" panose="02010600030101010101" pitchFamily="2" charset="-122"/>
                <a:cs typeface="Times New Roman" panose="02020603050405020304" charset="0"/>
              </a:rPr>
              <a:t>昂贵、易燃。</a:t>
            </a:r>
          </a:p>
          <a:p>
            <a:pPr indent="0" fontAlgn="auto">
              <a:lnSpc>
                <a:spcPct val="150000"/>
              </a:lnSpc>
            </a:pPr>
            <a:r>
              <a:rPr lang="zh-CN" altLang="en-US" sz="2000">
                <a:latin typeface="Times New Roman" panose="02020603050405020304" charset="0"/>
                <a:ea typeface="宋体" panose="02010600030101010101" pitchFamily="2" charset="-122"/>
                <a:cs typeface="Times New Roman" panose="02020603050405020304" charset="0"/>
              </a:rPr>
              <a:t>解决方案：改用</a:t>
            </a:r>
            <a:r>
              <a:rPr lang="en-US" altLang="zh-CN" sz="2000">
                <a:latin typeface="Times New Roman" panose="02020603050405020304" charset="0"/>
                <a:ea typeface="宋体" panose="02010600030101010101" pitchFamily="2" charset="-122"/>
                <a:cs typeface="Times New Roman" panose="02020603050405020304" charset="0"/>
              </a:rPr>
              <a:t>KBH</a:t>
            </a:r>
            <a:r>
              <a:rPr lang="en-US" altLang="zh-CN" sz="2000" baseline="-25000">
                <a:latin typeface="Times New Roman" panose="02020603050405020304" charset="0"/>
                <a:ea typeface="宋体" panose="02010600030101010101" pitchFamily="2" charset="-122"/>
                <a:cs typeface="Times New Roman" panose="02020603050405020304" charset="0"/>
              </a:rPr>
              <a:t>4</a:t>
            </a:r>
            <a:r>
              <a:rPr lang="en-US" altLang="zh-CN" sz="2000">
                <a:latin typeface="Times New Roman" panose="02020603050405020304" charset="0"/>
                <a:ea typeface="宋体" panose="02010600030101010101" pitchFamily="2" charset="-122"/>
                <a:cs typeface="Times New Roman" panose="02020603050405020304" charset="0"/>
              </a:rPr>
              <a:t>/ZnCl</a:t>
            </a:r>
            <a:r>
              <a:rPr lang="en-US" altLang="zh-CN" sz="2000" baseline="-25000">
                <a:latin typeface="Times New Roman" panose="02020603050405020304" charset="0"/>
                <a:ea typeface="宋体" panose="02010600030101010101" pitchFamily="2" charset="-122"/>
                <a:cs typeface="Times New Roman" panose="02020603050405020304" charset="0"/>
              </a:rPr>
              <a:t>2</a:t>
            </a:r>
            <a:r>
              <a:rPr lang="zh-CN" altLang="en-US" sz="2000">
                <a:latin typeface="Times New Roman" panose="02020603050405020304" charset="0"/>
                <a:ea typeface="宋体" panose="02010600030101010101" pitchFamily="2" charset="-122"/>
                <a:cs typeface="Times New Roman" panose="02020603050405020304" charset="0"/>
              </a:rPr>
              <a:t>体系，温和、廉价、国产化，操作更安全，适合工业化。</a:t>
            </a:r>
          </a:p>
          <a:p>
            <a:pPr indent="0" fontAlgn="auto">
              <a:lnSpc>
                <a:spcPct val="150000"/>
              </a:lnSpc>
            </a:pPr>
            <a:r>
              <a:rPr lang="zh-CN" altLang="en-US" sz="2000">
                <a:latin typeface="Times New Roman" panose="02020603050405020304" charset="0"/>
                <a:ea typeface="宋体" panose="02010600030101010101" pitchFamily="2" charset="-122"/>
                <a:cs typeface="Times New Roman" panose="02020603050405020304" charset="0"/>
              </a:rPr>
              <a:t>3. 难点：保护 / 脱保护效率低、杂质多</a:t>
            </a:r>
          </a:p>
          <a:p>
            <a:pPr indent="0" fontAlgn="auto">
              <a:lnSpc>
                <a:spcPct val="150000"/>
              </a:lnSpc>
            </a:pPr>
            <a:r>
              <a:rPr lang="zh-CN" altLang="en-US" sz="2000">
                <a:latin typeface="Times New Roman" panose="02020603050405020304" charset="0"/>
                <a:ea typeface="宋体" panose="02010600030101010101" pitchFamily="2" charset="-122"/>
                <a:cs typeface="Times New Roman" panose="02020603050405020304" charset="0"/>
              </a:rPr>
              <a:t>问题：异丙基叉保护基脱除不完全，影响内酯化与纯度。</a:t>
            </a:r>
          </a:p>
          <a:p>
            <a:pPr indent="0" fontAlgn="auto">
              <a:lnSpc>
                <a:spcPct val="150000"/>
              </a:lnSpc>
            </a:pPr>
            <a:r>
              <a:rPr lang="zh-CN" altLang="en-US" sz="2000">
                <a:latin typeface="Times New Roman" panose="02020603050405020304" charset="0"/>
                <a:ea typeface="宋体" panose="02010600030101010101" pitchFamily="2" charset="-122"/>
                <a:cs typeface="Times New Roman" panose="02020603050405020304" charset="0"/>
              </a:rPr>
              <a:t>解决方案：用三氟乙酸（</a:t>
            </a:r>
            <a:r>
              <a:rPr lang="en-US" altLang="zh-CN" sz="2000">
                <a:latin typeface="Times New Roman" panose="02020603050405020304" charset="0"/>
                <a:ea typeface="宋体" panose="02010600030101010101" pitchFamily="2" charset="-122"/>
                <a:cs typeface="Times New Roman" panose="02020603050405020304" charset="0"/>
              </a:rPr>
              <a:t>TFA）</a:t>
            </a:r>
            <a:r>
              <a:rPr lang="zh-CN" altLang="en-US" sz="2000">
                <a:latin typeface="Times New Roman" panose="02020603050405020304" charset="0"/>
                <a:ea typeface="宋体" panose="02010600030101010101" pitchFamily="2" charset="-122"/>
                <a:cs typeface="Times New Roman" panose="02020603050405020304" charset="0"/>
              </a:rPr>
              <a:t>室温脱保护，内酯化收率可达99.5%，条件干净、后处理简便。</a:t>
            </a:r>
          </a:p>
          <a:p>
            <a:pPr indent="0" fontAlgn="auto">
              <a:lnSpc>
                <a:spcPct val="150000"/>
              </a:lnSpc>
            </a:pPr>
            <a:r>
              <a:rPr lang="zh-CN" altLang="en-US" sz="2000">
                <a:latin typeface="Times New Roman" panose="02020603050405020304" charset="0"/>
                <a:ea typeface="宋体" panose="02010600030101010101" pitchFamily="2" charset="-122"/>
                <a:cs typeface="Times New Roman" panose="02020603050405020304" charset="0"/>
              </a:rPr>
              <a:t>4. 难点：终产物成盐纯度低、晶型差</a:t>
            </a:r>
          </a:p>
          <a:p>
            <a:pPr indent="0" fontAlgn="auto">
              <a:lnSpc>
                <a:spcPct val="150000"/>
              </a:lnSpc>
            </a:pPr>
            <a:r>
              <a:rPr lang="zh-CN" altLang="en-US" sz="2000">
                <a:latin typeface="Times New Roman" panose="02020603050405020304" charset="0"/>
                <a:ea typeface="宋体" panose="02010600030101010101" pitchFamily="2" charset="-122"/>
                <a:cs typeface="Times New Roman" panose="02020603050405020304" charset="0"/>
              </a:rPr>
              <a:t>问题：水解不完全、钙盐混杂、纯度不达标。</a:t>
            </a:r>
          </a:p>
          <a:p>
            <a:pPr indent="0" fontAlgn="auto">
              <a:lnSpc>
                <a:spcPct val="150000"/>
              </a:lnSpc>
            </a:pPr>
            <a:r>
              <a:rPr lang="zh-CN" altLang="en-US" sz="2000">
                <a:latin typeface="Times New Roman" panose="02020603050405020304" charset="0"/>
                <a:ea typeface="宋体" panose="02010600030101010101" pitchFamily="2" charset="-122"/>
                <a:cs typeface="Times New Roman" panose="02020603050405020304" charset="0"/>
              </a:rPr>
              <a:t>解决方案：先 </a:t>
            </a:r>
            <a:r>
              <a:rPr lang="en-US" altLang="zh-CN" sz="2000">
                <a:latin typeface="Times New Roman" panose="02020603050405020304" charset="0"/>
                <a:ea typeface="宋体" panose="02010600030101010101" pitchFamily="2" charset="-122"/>
                <a:cs typeface="Times New Roman" panose="02020603050405020304" charset="0"/>
              </a:rPr>
              <a:t>NaOH </a:t>
            </a:r>
            <a:r>
              <a:rPr lang="zh-CN" altLang="en-US" sz="2000">
                <a:latin typeface="Times New Roman" panose="02020603050405020304" charset="0"/>
                <a:ea typeface="宋体" panose="02010600030101010101" pitchFamily="2" charset="-122"/>
                <a:cs typeface="Times New Roman" panose="02020603050405020304" charset="0"/>
              </a:rPr>
              <a:t>水解开环；精准调 </a:t>
            </a:r>
            <a:r>
              <a:rPr lang="en-US" altLang="zh-CN" sz="2000">
                <a:latin typeface="Times New Roman" panose="02020603050405020304" charset="0"/>
                <a:ea typeface="宋体" panose="02010600030101010101" pitchFamily="2" charset="-122"/>
                <a:cs typeface="Times New Roman" panose="02020603050405020304" charset="0"/>
              </a:rPr>
              <a:t>pH </a:t>
            </a:r>
            <a:r>
              <a:rPr lang="zh-CN" altLang="en-US" sz="2000">
                <a:latin typeface="Times New Roman" panose="02020603050405020304" charset="0"/>
                <a:ea typeface="宋体" panose="02010600030101010101" pitchFamily="2" charset="-122"/>
                <a:cs typeface="Times New Roman" panose="02020603050405020304" charset="0"/>
              </a:rPr>
              <a:t>至中性；加入 </a:t>
            </a:r>
            <a:r>
              <a:rPr lang="en-US" altLang="zh-CN" sz="2000">
                <a:latin typeface="Times New Roman" panose="02020603050405020304" charset="0"/>
                <a:ea typeface="宋体" panose="02010600030101010101" pitchFamily="2" charset="-122"/>
                <a:cs typeface="Times New Roman" panose="02020603050405020304" charset="0"/>
              </a:rPr>
              <a:t>CaCl₂</a:t>
            </a:r>
            <a:r>
              <a:rPr lang="zh-CN" altLang="en-US" sz="2000">
                <a:latin typeface="Times New Roman" panose="02020603050405020304" charset="0"/>
                <a:ea typeface="宋体" panose="02010600030101010101" pitchFamily="2" charset="-122"/>
                <a:cs typeface="Times New Roman" panose="02020603050405020304" charset="0"/>
              </a:rPr>
              <a:t>成盐；异丙醇‑水重结晶，获得高纯度合格产品。</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对象 3"/>
          <p:cNvGraphicFramePr>
            <a:graphicFrameLocks noChangeAspect="1"/>
          </p:cNvGraphicFramePr>
          <p:nvPr/>
        </p:nvGraphicFramePr>
        <p:xfrm>
          <a:off x="4878070" y="645160"/>
          <a:ext cx="2435225" cy="2621280"/>
        </p:xfrm>
        <a:graphic>
          <a:graphicData uri="http://schemas.openxmlformats.org/presentationml/2006/ole">
            <mc:AlternateContent xmlns:mc="http://schemas.openxmlformats.org/markup-compatibility/2006">
              <mc:Choice xmlns:v="urn:schemas-microsoft-com:vml" Requires="v">
                <p:oleObj spid="_x0000_s77828" name="CS ChemDraw Drawing" r:id="rId3" imgW="1584325" imgH="1712595" progId="ChemDraw.Document.6.0">
                  <p:embed/>
                </p:oleObj>
              </mc:Choice>
              <mc:Fallback>
                <p:oleObj name="CS ChemDraw Drawing" r:id="rId3" imgW="1584325" imgH="1712595" progId="ChemDraw.Document.6.0">
                  <p:embed/>
                  <p:pic>
                    <p:nvPicPr>
                      <p:cNvPr id="4" name="对象 3"/>
                      <p:cNvPicPr/>
                      <p:nvPr/>
                    </p:nvPicPr>
                    <p:blipFill>
                      <a:blip r:embed="rId4"/>
                      <a:stretch>
                        <a:fillRect/>
                      </a:stretch>
                    </p:blipFill>
                    <p:spPr>
                      <a:xfrm>
                        <a:off x="4878070" y="645160"/>
                        <a:ext cx="2435225" cy="2621280"/>
                      </a:xfrm>
                      <a:prstGeom prst="rect">
                        <a:avLst/>
                      </a:prstGeom>
                    </p:spPr>
                  </p:pic>
                </p:oleObj>
              </mc:Fallback>
            </mc:AlternateContent>
          </a:graphicData>
        </a:graphic>
      </p:graphicFrame>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359410" y="372745"/>
            <a:ext cx="11278235" cy="10155555"/>
          </a:xfrm>
          <a:prstGeom prst="rect">
            <a:avLst/>
          </a:prstGeom>
          <a:noFill/>
        </p:spPr>
        <p:txBody>
          <a:bodyPr wrap="square" rtlCol="0">
            <a:spAutoFit/>
          </a:bodyPr>
          <a:lstStyle/>
          <a:p>
            <a:pPr>
              <a:lnSpc>
                <a:spcPct val="150000"/>
              </a:lnSpc>
            </a:pPr>
            <a:r>
              <a:rPr lang="zh-CN" altLang="en-US" sz="2800" b="1" dirty="0">
                <a:latin typeface="宋体" panose="02010600030101010101" pitchFamily="2" charset="-122"/>
                <a:ea typeface="宋体" panose="02010600030101010101" pitchFamily="2" charset="-122"/>
              </a:rPr>
              <a:t>一、</a:t>
            </a:r>
            <a:r>
              <a:rPr lang="zh-CN" altLang="en-US" sz="2800" b="1" dirty="0">
                <a:solidFill>
                  <a:schemeClr val="tx1"/>
                </a:solidFill>
                <a:uFillTx/>
                <a:latin typeface="Times New Roman" panose="02020603050405020304" charset="0"/>
                <a:ea typeface="宋体" panose="02010600030101010101" pitchFamily="2" charset="-122"/>
              </a:rPr>
              <a:t>匹伐他汀的市场价值与原料药价格</a:t>
            </a:r>
            <a:endParaRPr lang="en-US" altLang="zh-CN" sz="2800" b="1" dirty="0">
              <a:solidFill>
                <a:schemeClr val="tx1"/>
              </a:solidFill>
              <a:uFillTx/>
              <a:latin typeface="Times New Roman" panose="02020603050405020304" charset="0"/>
              <a:ea typeface="宋体" panose="02010600030101010101" pitchFamily="2" charset="-122"/>
            </a:endParaRPr>
          </a:p>
          <a:p>
            <a:pPr lvl="1" algn="l">
              <a:lnSpc>
                <a:spcPct val="150000"/>
              </a:lnSpc>
              <a:buClrTx/>
              <a:buSzTx/>
              <a:buFontTx/>
            </a:pPr>
            <a:r>
              <a:rPr lang="en-US" altLang="zh-CN" sz="2800" b="1" dirty="0">
                <a:solidFill>
                  <a:schemeClr val="tx1"/>
                </a:solidFill>
                <a:uFillTx/>
                <a:latin typeface="Times New Roman" panose="02020603050405020304" charset="0"/>
                <a:ea typeface="宋体" panose="02010600030101010101" pitchFamily="2" charset="-122"/>
              </a:rPr>
              <a:t>1.</a:t>
            </a:r>
            <a:r>
              <a:rPr lang="en-US" altLang="zh-CN" sz="2800" b="1" dirty="0">
                <a:solidFill>
                  <a:schemeClr val="tx1"/>
                </a:solidFill>
                <a:uFillTx/>
                <a:latin typeface="Times New Roman" panose="02020603050405020304" charset="0"/>
                <a:ea typeface="宋体" panose="02010600030101010101" pitchFamily="2" charset="-122"/>
                <a:sym typeface="+mn-ea"/>
              </a:rPr>
              <a:t>市场价值</a:t>
            </a:r>
          </a:p>
          <a:p>
            <a:pPr lvl="1">
              <a:lnSpc>
                <a:spcPct val="150000"/>
              </a:lnSpc>
            </a:pPr>
            <a:r>
              <a:rPr lang="zh-CN" altLang="en-US" sz="2400">
                <a:solidFill>
                  <a:schemeClr val="tx1"/>
                </a:solidFill>
                <a:uFillTx/>
                <a:latin typeface="Times New Roman" panose="02020603050405020304" charset="0"/>
                <a:ea typeface="宋体" panose="02010600030101010101" pitchFamily="2" charset="-122"/>
                <a:cs typeface="宋体" panose="02010600030101010101" pitchFamily="2" charset="-122"/>
                <a:sym typeface="+mn-ea"/>
              </a:rPr>
              <a:t>匹伐他汀全球制剂市场2024年约12亿美元，原料药市场约3-4亿美元规模。中国</a:t>
            </a:r>
            <a:r>
              <a:rPr lang="en-US" altLang="zh-CN" sz="2400">
                <a:solidFill>
                  <a:schemeClr val="tx1"/>
                </a:solidFill>
                <a:uFillTx/>
                <a:latin typeface="Times New Roman" panose="02020603050405020304" charset="0"/>
                <a:ea typeface="宋体" panose="02010600030101010101" pitchFamily="2" charset="-122"/>
                <a:cs typeface="宋体" panose="02010600030101010101" pitchFamily="2" charset="-122"/>
                <a:sym typeface="+mn-ea"/>
              </a:rPr>
              <a:t>API</a:t>
            </a:r>
            <a:r>
              <a:rPr lang="zh-CN" altLang="en-US" sz="2400">
                <a:solidFill>
                  <a:schemeClr val="tx1"/>
                </a:solidFill>
                <a:uFillTx/>
                <a:latin typeface="Times New Roman" panose="02020603050405020304" charset="0"/>
                <a:ea typeface="宋体" panose="02010600030101010101" pitchFamily="2" charset="-122"/>
                <a:cs typeface="宋体" panose="02010600030101010101" pitchFamily="2" charset="-122"/>
                <a:sym typeface="+mn-ea"/>
              </a:rPr>
              <a:t>价格受集采影响呈下降趋势，估计当前在5</a:t>
            </a:r>
            <a:r>
              <a:rPr lang="en-US" altLang="zh-CN" sz="2400">
                <a:solidFill>
                  <a:schemeClr val="tx1"/>
                </a:solidFill>
                <a:uFillTx/>
                <a:latin typeface="Times New Roman" panose="02020603050405020304" charset="0"/>
                <a:ea typeface="宋体" panose="02010600030101010101" pitchFamily="2" charset="-122"/>
                <a:cs typeface="宋体" panose="02010600030101010101" pitchFamily="2" charset="-122"/>
                <a:sym typeface="+mn-ea"/>
              </a:rPr>
              <a:t>,</a:t>
            </a:r>
            <a:r>
              <a:rPr lang="zh-CN" altLang="en-US" sz="2400">
                <a:solidFill>
                  <a:schemeClr val="tx1"/>
                </a:solidFill>
                <a:uFillTx/>
                <a:latin typeface="Times New Roman" panose="02020603050405020304" charset="0"/>
                <a:ea typeface="宋体" panose="02010600030101010101" pitchFamily="2" charset="-122"/>
                <a:cs typeface="宋体" panose="02010600030101010101" pitchFamily="2" charset="-122"/>
                <a:sym typeface="+mn-ea"/>
              </a:rPr>
              <a:t>000-8</a:t>
            </a:r>
            <a:r>
              <a:rPr lang="en-US" altLang="zh-CN" sz="2400">
                <a:solidFill>
                  <a:schemeClr val="tx1"/>
                </a:solidFill>
                <a:uFillTx/>
                <a:latin typeface="Times New Roman" panose="02020603050405020304" charset="0"/>
                <a:ea typeface="宋体" panose="02010600030101010101" pitchFamily="2" charset="-122"/>
                <a:cs typeface="宋体" panose="02010600030101010101" pitchFamily="2" charset="-122"/>
                <a:sym typeface="+mn-ea"/>
              </a:rPr>
              <a:t>,</a:t>
            </a:r>
            <a:r>
              <a:rPr lang="zh-CN" altLang="en-US" sz="2400">
                <a:solidFill>
                  <a:schemeClr val="tx1"/>
                </a:solidFill>
                <a:uFillTx/>
                <a:latin typeface="Times New Roman" panose="02020603050405020304" charset="0"/>
                <a:ea typeface="宋体" panose="02010600030101010101" pitchFamily="2" charset="-122"/>
                <a:cs typeface="宋体" panose="02010600030101010101" pitchFamily="2" charset="-122"/>
                <a:sym typeface="+mn-ea"/>
              </a:rPr>
              <a:t>000元</a:t>
            </a:r>
            <a:r>
              <a:rPr lang="en-US" altLang="zh-CN" sz="2400">
                <a:solidFill>
                  <a:schemeClr val="tx1"/>
                </a:solidFill>
                <a:uFillTx/>
                <a:latin typeface="Times New Roman" panose="02020603050405020304" charset="0"/>
                <a:ea typeface="宋体" panose="02010600030101010101" pitchFamily="2" charset="-122"/>
                <a:cs typeface="宋体" panose="02010600030101010101" pitchFamily="2" charset="-122"/>
                <a:sym typeface="+mn-ea"/>
              </a:rPr>
              <a:t>/kg</a:t>
            </a:r>
            <a:r>
              <a:rPr lang="zh-CN" altLang="en-US" sz="2400">
                <a:solidFill>
                  <a:schemeClr val="tx1"/>
                </a:solidFill>
                <a:uFillTx/>
                <a:latin typeface="Times New Roman" panose="02020603050405020304" charset="0"/>
                <a:ea typeface="宋体" panose="02010600030101010101" pitchFamily="2" charset="-122"/>
                <a:cs typeface="宋体" panose="02010600030101010101" pitchFamily="2" charset="-122"/>
                <a:sym typeface="+mn-ea"/>
              </a:rPr>
              <a:t>区间。未来增长主要取决于亚太市场需求扩张及仿制药替代进程。</a:t>
            </a:r>
          </a:p>
          <a:p>
            <a:pPr lvl="1">
              <a:lnSpc>
                <a:spcPct val="150000"/>
              </a:lnSpc>
            </a:pPr>
            <a:r>
              <a:rPr lang="en-US" altLang="zh-CN" sz="2800" b="1" dirty="0">
                <a:solidFill>
                  <a:schemeClr val="tx1"/>
                </a:solidFill>
                <a:uFillTx/>
                <a:latin typeface="Times New Roman" panose="02020603050405020304" charset="0"/>
                <a:ea typeface="宋体" panose="02010600030101010101" pitchFamily="2" charset="-122"/>
                <a:sym typeface="+mn-ea"/>
              </a:rPr>
              <a:t>2.</a:t>
            </a:r>
            <a:r>
              <a:rPr lang="zh-CN" altLang="en-US" sz="2800" b="1" dirty="0">
                <a:solidFill>
                  <a:schemeClr val="tx1"/>
                </a:solidFill>
                <a:uFillTx/>
                <a:latin typeface="Times New Roman" panose="02020603050405020304" charset="0"/>
                <a:ea typeface="宋体" panose="02010600030101010101" pitchFamily="2" charset="-122"/>
                <a:sym typeface="+mn-ea"/>
              </a:rPr>
              <a:t>原料药价格</a:t>
            </a:r>
          </a:p>
          <a:p>
            <a:pPr lvl="1">
              <a:lnSpc>
                <a:spcPct val="150000"/>
              </a:lnSpc>
            </a:pPr>
            <a:r>
              <a:rPr lang="zh-CN" altLang="en-US" sz="2400">
                <a:solidFill>
                  <a:schemeClr val="tx1"/>
                </a:solidFill>
                <a:uFillTx/>
                <a:latin typeface="Times New Roman" panose="02020603050405020304" charset="0"/>
                <a:ea typeface="宋体" panose="02010600030101010101" pitchFamily="2" charset="-122"/>
                <a:cs typeface="宋体" panose="02010600030101010101" pitchFamily="2" charset="-122"/>
                <a:sym typeface="+mn-ea"/>
              </a:rPr>
              <a:t>中国国内市场（2025年）：5</a:t>
            </a:r>
            <a:r>
              <a:rPr lang="en-US" altLang="zh-CN" sz="2400">
                <a:solidFill>
                  <a:schemeClr val="tx1"/>
                </a:solidFill>
                <a:uFillTx/>
                <a:latin typeface="Times New Roman" panose="02020603050405020304" charset="0"/>
                <a:ea typeface="宋体" panose="02010600030101010101" pitchFamily="2" charset="-122"/>
                <a:cs typeface="宋体" panose="02010600030101010101" pitchFamily="2" charset="-122"/>
                <a:sym typeface="+mn-ea"/>
              </a:rPr>
              <a:t>,</a:t>
            </a:r>
            <a:r>
              <a:rPr lang="zh-CN" altLang="en-US" sz="2400">
                <a:solidFill>
                  <a:schemeClr val="tx1"/>
                </a:solidFill>
                <a:uFillTx/>
                <a:latin typeface="Times New Roman" panose="02020603050405020304" charset="0"/>
                <a:ea typeface="宋体" panose="02010600030101010101" pitchFamily="2" charset="-122"/>
                <a:cs typeface="宋体" panose="02010600030101010101" pitchFamily="2" charset="-122"/>
                <a:sym typeface="+mn-ea"/>
              </a:rPr>
              <a:t>000 - 8,000 元/kg</a:t>
            </a:r>
          </a:p>
          <a:p>
            <a:pPr lvl="1">
              <a:lnSpc>
                <a:spcPct val="150000"/>
              </a:lnSpc>
            </a:pPr>
            <a:r>
              <a:rPr lang="zh-CN" altLang="en-US" sz="2400">
                <a:solidFill>
                  <a:schemeClr val="tx1"/>
                </a:solidFill>
                <a:uFillTx/>
                <a:latin typeface="Times New Roman" panose="02020603050405020304" charset="0"/>
                <a:ea typeface="宋体" panose="02010600030101010101" pitchFamily="2" charset="-122"/>
                <a:cs typeface="宋体" panose="02010600030101010101" pitchFamily="2" charset="-122"/>
                <a:sym typeface="+mn-ea"/>
              </a:rPr>
              <a:t>印度/国际市场（大宗采购）：3,000 - 6,000 美元/kg</a:t>
            </a:r>
          </a:p>
          <a:p>
            <a:pPr lvl="1">
              <a:lnSpc>
                <a:spcPct val="150000"/>
              </a:lnSpc>
            </a:pPr>
            <a:r>
              <a:rPr lang="zh-CN" altLang="en-US" sz="2400">
                <a:solidFill>
                  <a:schemeClr val="tx1"/>
                </a:solidFill>
                <a:uFillTx/>
                <a:latin typeface="Times New Roman" panose="02020603050405020304" charset="0"/>
                <a:ea typeface="宋体" panose="02010600030101010101" pitchFamily="2" charset="-122"/>
                <a:cs typeface="宋体" panose="02010600030101010101" pitchFamily="2" charset="-122"/>
                <a:sym typeface="+mn-ea"/>
              </a:rPr>
              <a:t>高纯度药用级（USP/EP标准）：8,000 - 15,000 元/kg</a:t>
            </a:r>
          </a:p>
          <a:p>
            <a:pPr lvl="1">
              <a:lnSpc>
                <a:spcPct val="150000"/>
              </a:lnSpc>
            </a:pPr>
            <a:r>
              <a:rPr lang="zh-CN" altLang="en-US" sz="2400">
                <a:solidFill>
                  <a:schemeClr val="tx1"/>
                </a:solidFill>
                <a:uFillTx/>
                <a:latin typeface="Times New Roman" panose="02020603050405020304" charset="0"/>
                <a:ea typeface="宋体" panose="02010600030101010101" pitchFamily="2" charset="-122"/>
                <a:cs typeface="宋体" panose="02010600030101010101" pitchFamily="2" charset="-122"/>
                <a:sym typeface="+mn-ea"/>
              </a:rPr>
              <a:t>研发/小批量级：15,000 - 30,000 元/kg</a:t>
            </a:r>
            <a:endParaRPr lang="zh-CN" altLang="en-US" sz="2400" b="0" i="0">
              <a:solidFill>
                <a:schemeClr val="tx1"/>
              </a:solidFill>
              <a:uFillTx/>
              <a:latin typeface="Times New Roman" panose="02020603050405020304" charset="0"/>
              <a:ea typeface="宋体" panose="02010600030101010101" pitchFamily="2" charset="-122"/>
              <a:cs typeface="宋体" panose="02010600030101010101" pitchFamily="2" charset="-122"/>
            </a:endParaRPr>
          </a:p>
          <a:p>
            <a:pPr lvl="1">
              <a:lnSpc>
                <a:spcPct val="150000"/>
              </a:lnSpc>
            </a:pPr>
            <a:endParaRPr lang="zh-CN" altLang="en-US" sz="2400" b="0" i="0">
              <a:latin typeface="-apple-system"/>
              <a:ea typeface="-apple-system"/>
            </a:endParaRPr>
          </a:p>
          <a:p>
            <a:pPr lvl="1">
              <a:lnSpc>
                <a:spcPct val="150000"/>
              </a:lnSpc>
            </a:pPr>
            <a:endParaRPr lang="en-US" altLang="zh-CN" sz="2400" b="0" i="0">
              <a:latin typeface="-apple-system"/>
              <a:ea typeface="-apple-system"/>
            </a:endParaRPr>
          </a:p>
          <a:p>
            <a:pPr lvl="1">
              <a:lnSpc>
                <a:spcPct val="150000"/>
              </a:lnSpc>
            </a:pPr>
            <a:endParaRPr lang="en-US" altLang="zh-CN" sz="2400" b="0" i="0">
              <a:latin typeface="-apple-system"/>
              <a:ea typeface="-apple-system"/>
            </a:endParaRPr>
          </a:p>
          <a:p>
            <a:pPr lvl="1">
              <a:lnSpc>
                <a:spcPct val="150000"/>
              </a:lnSpc>
            </a:pPr>
            <a:endParaRPr lang="zh-CN" altLang="en-US" sz="2400" b="0" i="0">
              <a:latin typeface="-apple-system"/>
              <a:ea typeface="-apple-system"/>
            </a:endParaRPr>
          </a:p>
          <a:p>
            <a:pPr lvl="1">
              <a:lnSpc>
                <a:spcPct val="150000"/>
              </a:lnSpc>
            </a:pPr>
            <a:endParaRPr lang="en-US" altLang="zh-CN" sz="2400" b="0" i="0">
              <a:latin typeface="-apple-system"/>
              <a:ea typeface="-apple-system"/>
            </a:endParaRPr>
          </a:p>
          <a:p>
            <a:pPr lvl="1">
              <a:lnSpc>
                <a:spcPct val="150000"/>
              </a:lnSpc>
            </a:pPr>
            <a:endParaRPr lang="zh-CN" altLang="en-US" sz="2400" b="0" i="0">
              <a:latin typeface="-apple-system"/>
              <a:ea typeface="-apple-system"/>
            </a:endParaRPr>
          </a:p>
          <a:p>
            <a:pPr lvl="1">
              <a:lnSpc>
                <a:spcPct val="150000"/>
              </a:lnSpc>
            </a:pPr>
            <a:endParaRPr lang="zh-CN" altLang="en-US" sz="2400">
              <a:solidFill>
                <a:schemeClr val="tx1"/>
              </a:solidFill>
              <a:uFillTx/>
              <a:latin typeface="Times New Roman" panose="02020603050405020304" charset="0"/>
              <a:ea typeface="宋体" panose="02010600030101010101" pitchFamily="2" charset="-122"/>
              <a:cs typeface="宋体" panose="02010600030101010101" pitchFamily="2" charset="-122"/>
            </a:endParaRPr>
          </a:p>
          <a:p>
            <a:endParaRPr lang="zh-CN" altLang="en-US" sz="2400" b="1" dirty="0">
              <a:solidFill>
                <a:schemeClr val="tx1"/>
              </a:solidFill>
              <a:uFillTx/>
              <a:latin typeface="Times New Roman" panose="02020603050405020304" charset="0"/>
              <a:ea typeface="宋体" panose="02010600030101010101" pitchFamily="2" charset="-122"/>
              <a:cs typeface="宋体" panose="02010600030101010101" pitchFamily="2" charset="-122"/>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359410" y="372745"/>
            <a:ext cx="4660265" cy="521970"/>
          </a:xfrm>
          <a:prstGeom prst="rect">
            <a:avLst/>
          </a:prstGeom>
          <a:noFill/>
        </p:spPr>
        <p:txBody>
          <a:bodyPr wrap="square" rtlCol="0">
            <a:spAutoFit/>
          </a:bodyPr>
          <a:lstStyle/>
          <a:p>
            <a:r>
              <a:rPr lang="zh-CN" altLang="en-US" sz="2800" b="1" dirty="0">
                <a:latin typeface="宋体" panose="02010600030101010101" pitchFamily="2" charset="-122"/>
                <a:ea typeface="宋体" panose="02010600030101010101" pitchFamily="2" charset="-122"/>
              </a:rPr>
              <a:t>二、匹伐他汀的合成路线</a:t>
            </a:r>
          </a:p>
        </p:txBody>
      </p:sp>
      <p:sp>
        <p:nvSpPr>
          <p:cNvPr id="6" name="文本框 5"/>
          <p:cNvSpPr txBox="1"/>
          <p:nvPr/>
        </p:nvSpPr>
        <p:spPr>
          <a:xfrm>
            <a:off x="915035" y="6113145"/>
            <a:ext cx="10791825" cy="645160"/>
          </a:xfrm>
          <a:prstGeom prst="rect">
            <a:avLst/>
          </a:prstGeom>
          <a:noFill/>
        </p:spPr>
        <p:txBody>
          <a:bodyPr wrap="square" rtlCol="0">
            <a:spAutoFit/>
          </a:bodyPr>
          <a:lstStyle/>
          <a:p>
            <a:r>
              <a:rPr lang="en-US" altLang="zh-CN">
                <a:latin typeface="Times New Roman" panose="02020603050405020304" charset="0"/>
                <a:cs typeface="Times New Roman" panose="02020603050405020304" charset="0"/>
              </a:rPr>
              <a:t>Yagi Y, Kimura H, Arimitsu K, et al. The synthesis of [</a:t>
            </a:r>
            <a:r>
              <a:rPr lang="en-US" altLang="zh-CN" baseline="30000">
                <a:latin typeface="Times New Roman" panose="02020603050405020304" charset="0"/>
                <a:cs typeface="Times New Roman" panose="02020603050405020304" charset="0"/>
              </a:rPr>
              <a:t>18</a:t>
            </a:r>
            <a:r>
              <a:rPr lang="en-US" altLang="zh-CN">
                <a:latin typeface="Times New Roman" panose="02020603050405020304" charset="0"/>
                <a:cs typeface="Times New Roman" panose="02020603050405020304" charset="0"/>
              </a:rPr>
              <a:t>F] pitavastatin as a tracer for hOATP using the Suzuki coupling[J]. </a:t>
            </a:r>
            <a:r>
              <a:rPr lang="en-US" altLang="zh-CN" i="1">
                <a:latin typeface="Times New Roman" panose="02020603050405020304" charset="0"/>
                <a:cs typeface="Times New Roman" panose="02020603050405020304" charset="0"/>
              </a:rPr>
              <a:t>Organic &amp; biomolecular chemistry</a:t>
            </a:r>
            <a:r>
              <a:rPr lang="en-US" altLang="zh-CN">
                <a:latin typeface="Times New Roman" panose="02020603050405020304" charset="0"/>
                <a:cs typeface="Times New Roman" panose="02020603050405020304" charset="0"/>
              </a:rPr>
              <a:t>,</a:t>
            </a:r>
            <a:r>
              <a:rPr lang="en-US" altLang="zh-CN" b="1">
                <a:latin typeface="Times New Roman" panose="02020603050405020304" charset="0"/>
                <a:cs typeface="Times New Roman" panose="02020603050405020304" charset="0"/>
              </a:rPr>
              <a:t> 2015</a:t>
            </a:r>
            <a:r>
              <a:rPr lang="en-US" altLang="zh-CN">
                <a:latin typeface="Times New Roman" panose="02020603050405020304" charset="0"/>
                <a:cs typeface="Times New Roman" panose="02020603050405020304" charset="0"/>
              </a:rPr>
              <a:t>, </a:t>
            </a:r>
            <a:r>
              <a:rPr lang="en-US" altLang="zh-CN" i="1">
                <a:latin typeface="Times New Roman" panose="02020603050405020304" charset="0"/>
                <a:cs typeface="Times New Roman" panose="02020603050405020304" charset="0"/>
              </a:rPr>
              <a:t>13</a:t>
            </a:r>
            <a:r>
              <a:rPr lang="en-US" altLang="zh-CN">
                <a:latin typeface="Times New Roman" panose="02020603050405020304" charset="0"/>
                <a:cs typeface="Times New Roman" panose="02020603050405020304" charset="0"/>
              </a:rPr>
              <a:t>(4): 1113-1121.</a:t>
            </a:r>
          </a:p>
        </p:txBody>
      </p:sp>
      <p:pic>
        <p:nvPicPr>
          <p:cNvPr id="8" name="内容占位符 7"/>
          <p:cNvPicPr>
            <a:picLocks noGrp="1" noChangeAspect="1"/>
          </p:cNvPicPr>
          <p:nvPr>
            <p:ph idx="1"/>
          </p:nvPr>
        </p:nvPicPr>
        <p:blipFill>
          <a:blip r:embed="rId2"/>
          <a:stretch>
            <a:fillRect/>
          </a:stretch>
        </p:blipFill>
        <p:spPr>
          <a:xfrm>
            <a:off x="2557145" y="1033780"/>
            <a:ext cx="6253523" cy="4641546"/>
          </a:xfrm>
          <a:prstGeom prst="rect">
            <a:avLst/>
          </a:prstGeom>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359410" y="372745"/>
            <a:ext cx="11419205" cy="6181090"/>
          </a:xfrm>
          <a:prstGeom prst="rect">
            <a:avLst/>
          </a:prstGeom>
          <a:noFill/>
        </p:spPr>
        <p:txBody>
          <a:bodyPr wrap="square" rtlCol="0">
            <a:noAutofit/>
          </a:bodyPr>
          <a:lstStyle/>
          <a:p>
            <a:r>
              <a:rPr lang="zh-CN" altLang="en-US" sz="2800" b="1" dirty="0">
                <a:solidFill>
                  <a:schemeClr val="tx1"/>
                </a:solidFill>
                <a:uFillTx/>
                <a:latin typeface="Times New Roman" panose="02020603050405020304" charset="0"/>
                <a:ea typeface="宋体" panose="02010600030101010101" pitchFamily="2" charset="-122"/>
              </a:rPr>
              <a:t>三、合成路线的优缺点</a:t>
            </a:r>
          </a:p>
          <a:p>
            <a:pPr algn="l">
              <a:lnSpc>
                <a:spcPct val="150000"/>
              </a:lnSpc>
              <a:buClrTx/>
              <a:buSzTx/>
              <a:buFontTx/>
            </a:pPr>
            <a:r>
              <a:rPr lang="zh-CN" altLang="en-US" sz="2400">
                <a:solidFill>
                  <a:schemeClr val="tx1"/>
                </a:solidFill>
                <a:uFillTx/>
                <a:latin typeface="Times New Roman" panose="02020603050405020304" charset="0"/>
                <a:ea typeface="宋体" panose="02010600030101010101" pitchFamily="2" charset="-122"/>
                <a:cs typeface="宋体" panose="02010600030101010101" pitchFamily="2" charset="-122"/>
              </a:rPr>
              <a:t>（一）优点</a:t>
            </a:r>
          </a:p>
          <a:p>
            <a:pPr algn="l">
              <a:lnSpc>
                <a:spcPct val="150000"/>
              </a:lnSpc>
              <a:buClrTx/>
              <a:buSzTx/>
              <a:buNone/>
            </a:pPr>
            <a:r>
              <a:rPr lang="zh-CN" altLang="en-US" sz="2400">
                <a:solidFill>
                  <a:schemeClr val="tx1"/>
                </a:solidFill>
                <a:uFillTx/>
                <a:latin typeface="Times New Roman" panose="02020603050405020304" charset="0"/>
                <a:ea typeface="宋体" panose="02010600030101010101" pitchFamily="2" charset="-122"/>
                <a:cs typeface="宋体" panose="02010600030101010101" pitchFamily="2" charset="-122"/>
              </a:rPr>
              <a:t>1.手性二醇作为核心构建单元：直接利用手性二醇的两个羟基进行保护，无需环氧开环步骤，简化了手性中心的引入方式；</a:t>
            </a:r>
          </a:p>
          <a:p>
            <a:pPr algn="l">
              <a:lnSpc>
                <a:spcPct val="150000"/>
              </a:lnSpc>
              <a:buClrTx/>
              <a:buSzTx/>
              <a:buNone/>
            </a:pPr>
            <a:r>
              <a:rPr lang="zh-CN" altLang="en-US" sz="2400">
                <a:solidFill>
                  <a:schemeClr val="tx1"/>
                </a:solidFill>
                <a:uFillTx/>
                <a:latin typeface="Times New Roman" panose="02020603050405020304" charset="0"/>
                <a:ea typeface="宋体" panose="02010600030101010101" pitchFamily="2" charset="-122"/>
                <a:cs typeface="宋体" panose="02010600030101010101" pitchFamily="2" charset="-122"/>
              </a:rPr>
              <a:t>2.两个羟基同时用TBS保护，一步完成双羟基保护，操作简便；</a:t>
            </a:r>
          </a:p>
          <a:p>
            <a:pPr algn="l">
              <a:lnSpc>
                <a:spcPct val="150000"/>
              </a:lnSpc>
              <a:buClrTx/>
              <a:buSzTx/>
              <a:buNone/>
            </a:pPr>
            <a:r>
              <a:rPr lang="zh-CN" altLang="en-US" sz="2400">
                <a:solidFill>
                  <a:schemeClr val="tx1"/>
                </a:solidFill>
                <a:uFillTx/>
                <a:latin typeface="Times New Roman" panose="02020603050405020304" charset="0"/>
                <a:ea typeface="宋体" panose="02010600030101010101" pitchFamily="2" charset="-122"/>
                <a:cs typeface="宋体" panose="02010600030101010101" pitchFamily="2" charset="-122"/>
              </a:rPr>
              <a:t>3.通过醛与磷酸酯的缩合反应高效构建(E)-构型的共轭二烯侧链。</a:t>
            </a:r>
          </a:p>
          <a:p>
            <a:pPr algn="l">
              <a:lnSpc>
                <a:spcPct val="150000"/>
              </a:lnSpc>
              <a:buClrTx/>
              <a:buSzTx/>
              <a:buNone/>
            </a:pPr>
            <a:endParaRPr lang="zh-CN" altLang="en-US" sz="2400">
              <a:solidFill>
                <a:schemeClr val="tx1"/>
              </a:solidFill>
              <a:uFillTx/>
              <a:latin typeface="Times New Roman" panose="02020603050405020304" charset="0"/>
              <a:ea typeface="宋体" panose="02010600030101010101" pitchFamily="2" charset="-122"/>
              <a:cs typeface="宋体" panose="02010600030101010101" pitchFamily="2" charset="-122"/>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359410" y="372745"/>
            <a:ext cx="11419205" cy="6181090"/>
          </a:xfrm>
          <a:prstGeom prst="rect">
            <a:avLst/>
          </a:prstGeom>
          <a:noFill/>
        </p:spPr>
        <p:txBody>
          <a:bodyPr wrap="square" rtlCol="0">
            <a:noAutofit/>
          </a:bodyPr>
          <a:lstStyle/>
          <a:p>
            <a:pPr algn="l">
              <a:lnSpc>
                <a:spcPct val="150000"/>
              </a:lnSpc>
              <a:buClrTx/>
              <a:buSzTx/>
              <a:buNone/>
            </a:pPr>
            <a:r>
              <a:rPr lang="zh-CN" altLang="en-US" sz="2400">
                <a:solidFill>
                  <a:schemeClr val="tx1"/>
                </a:solidFill>
                <a:uFillTx/>
                <a:latin typeface="Times New Roman" panose="02020603050405020304" charset="0"/>
                <a:ea typeface="宋体" panose="02010600030101010101" pitchFamily="2" charset="-122"/>
                <a:cs typeface="宋体" panose="02010600030101010101" pitchFamily="2" charset="-122"/>
                <a:sym typeface="+mn-ea"/>
              </a:rPr>
              <a:t>（二）缺点及解决方案</a:t>
            </a:r>
            <a:br>
              <a:rPr lang="zh-CN" altLang="en-US" sz="2400">
                <a:solidFill>
                  <a:schemeClr val="tx1"/>
                </a:solidFill>
                <a:uFillTx/>
                <a:latin typeface="Times New Roman" panose="02020603050405020304" charset="0"/>
                <a:ea typeface="宋体" panose="02010600030101010101" pitchFamily="2" charset="-122"/>
                <a:cs typeface="宋体" panose="02010600030101010101" pitchFamily="2" charset="-122"/>
                <a:sym typeface="+mn-ea"/>
              </a:rPr>
            </a:br>
            <a:r>
              <a:rPr lang="zh-CN" altLang="en-US" sz="2400">
                <a:solidFill>
                  <a:schemeClr val="tx1"/>
                </a:solidFill>
                <a:uFillTx/>
                <a:latin typeface="Times New Roman" panose="02020603050405020304" charset="0"/>
                <a:ea typeface="宋体" panose="02010600030101010101" pitchFamily="2" charset="-122"/>
                <a:cs typeface="宋体" panose="02010600030101010101" pitchFamily="2" charset="-122"/>
                <a:sym typeface="+mn-ea"/>
              </a:rPr>
              <a:t>1.路线中需要两次引入和脱除TBS保护基，增加了总反应步骤数。脱保护使用的TBAF会产生含氟废物，需要额外的环保处理措施，增加了生产成本和环境负担。</a:t>
            </a:r>
            <a:br>
              <a:rPr lang="zh-CN" altLang="en-US" sz="2400">
                <a:solidFill>
                  <a:schemeClr val="tx1"/>
                </a:solidFill>
                <a:uFillTx/>
                <a:latin typeface="Times New Roman" panose="02020603050405020304" charset="0"/>
                <a:ea typeface="宋体" panose="02010600030101010101" pitchFamily="2" charset="-122"/>
                <a:cs typeface="宋体" panose="02010600030101010101" pitchFamily="2" charset="-122"/>
                <a:sym typeface="+mn-ea"/>
              </a:rPr>
            </a:br>
            <a:r>
              <a:rPr lang="zh-CN" altLang="en-US" sz="2400">
                <a:solidFill>
                  <a:schemeClr val="tx1"/>
                </a:solidFill>
                <a:uFillTx/>
                <a:latin typeface="Times New Roman" panose="02020603050405020304" charset="0"/>
                <a:ea typeface="宋体" panose="02010600030101010101" pitchFamily="2" charset="-122"/>
                <a:cs typeface="宋体" panose="02010600030101010101" pitchFamily="2" charset="-122"/>
                <a:sym typeface="+mn-ea"/>
              </a:rPr>
              <a:t>解决方案：开发一锅法保护基引入/脱除策略，或研究无需保护基的直接转化方法，减少反应步骤。</a:t>
            </a:r>
            <a:br>
              <a:rPr lang="zh-CN" altLang="en-US" sz="2400">
                <a:solidFill>
                  <a:schemeClr val="tx1"/>
                </a:solidFill>
                <a:uFillTx/>
                <a:latin typeface="Times New Roman" panose="02020603050405020304" charset="0"/>
                <a:ea typeface="宋体" panose="02010600030101010101" pitchFamily="2" charset="-122"/>
                <a:cs typeface="宋体" panose="02010600030101010101" pitchFamily="2" charset="-122"/>
                <a:sym typeface="+mn-ea"/>
              </a:rPr>
            </a:br>
            <a:r>
              <a:rPr lang="zh-CN" altLang="en-US" sz="2400">
                <a:solidFill>
                  <a:schemeClr val="tx1"/>
                </a:solidFill>
                <a:uFillTx/>
                <a:latin typeface="Times New Roman" panose="02020603050405020304" charset="0"/>
                <a:ea typeface="宋体" panose="02010600030101010101" pitchFamily="2" charset="-122"/>
                <a:cs typeface="宋体" panose="02010600030101010101" pitchFamily="2" charset="-122"/>
                <a:sym typeface="+mn-ea"/>
              </a:rPr>
              <a:t>2.合成涉及DIBAL-H还原酯到醛，或HWE试剂制备涉及n-BuLi，仍存在操作安全挑战。</a:t>
            </a:r>
            <a:br>
              <a:rPr lang="zh-CN" altLang="en-US" sz="2400">
                <a:solidFill>
                  <a:schemeClr val="tx1"/>
                </a:solidFill>
                <a:uFillTx/>
                <a:latin typeface="Times New Roman" panose="02020603050405020304" charset="0"/>
                <a:ea typeface="宋体" panose="02010600030101010101" pitchFamily="2" charset="-122"/>
                <a:cs typeface="宋体" panose="02010600030101010101" pitchFamily="2" charset="-122"/>
                <a:sym typeface="+mn-ea"/>
              </a:rPr>
            </a:br>
            <a:r>
              <a:rPr lang="zh-CN" altLang="en-US" sz="2400">
                <a:solidFill>
                  <a:schemeClr val="tx1"/>
                </a:solidFill>
                <a:uFillTx/>
                <a:latin typeface="Times New Roman" panose="02020603050405020304" charset="0"/>
                <a:ea typeface="宋体" panose="02010600030101010101" pitchFamily="2" charset="-122"/>
                <a:cs typeface="宋体" panose="02010600030101010101" pitchFamily="2" charset="-122"/>
                <a:sym typeface="+mn-ea"/>
              </a:rPr>
              <a:t>解决方案：探索酶催化开环或不对称有机催化体系，替代强碱体系，降低安全风险和环境负担。</a:t>
            </a:r>
            <a:br>
              <a:rPr lang="zh-CN" altLang="en-US" sz="2400">
                <a:uFillTx/>
                <a:latin typeface="Times New Roman" panose="02020603050405020304" charset="0"/>
                <a:ea typeface="宋体" panose="02010600030101010101" pitchFamily="2" charset="-122"/>
                <a:cs typeface="宋体" panose="02010600030101010101" pitchFamily="2" charset="-122"/>
                <a:sym typeface="+mn-ea"/>
              </a:rPr>
            </a:br>
            <a:endParaRPr lang="zh-CN" altLang="en-US" sz="2400">
              <a:uFillTx/>
              <a:latin typeface="Times New Roman" panose="02020603050405020304" charset="0"/>
              <a:ea typeface="宋体" panose="02010600030101010101" pitchFamily="2" charset="-122"/>
              <a:cs typeface="宋体" panose="02010600030101010101" pitchFamily="2" charset="-122"/>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对象 5"/>
          <p:cNvGraphicFramePr>
            <a:graphicFrameLocks noChangeAspect="1"/>
          </p:cNvGraphicFramePr>
          <p:nvPr/>
        </p:nvGraphicFramePr>
        <p:xfrm>
          <a:off x="4427538" y="1657350"/>
          <a:ext cx="3335337" cy="3365500"/>
        </p:xfrm>
        <a:graphic>
          <a:graphicData uri="http://schemas.openxmlformats.org/presentationml/2006/ole">
            <mc:AlternateContent xmlns:mc="http://schemas.openxmlformats.org/markup-compatibility/2006">
              <mc:Choice xmlns:v="urn:schemas-microsoft-com:vml" Requires="v">
                <p:oleObj spid="_x0000_s78852" name="CS ChemDraw Drawing" r:id="rId4" imgW="1659255" imgH="1674495" progId="ChemDraw.Document.6.0">
                  <p:embed/>
                </p:oleObj>
              </mc:Choice>
              <mc:Fallback>
                <p:oleObj name="CS ChemDraw Drawing" r:id="rId4" imgW="1659255" imgH="1674495" progId="ChemDraw.Document.6.0">
                  <p:embed/>
                  <p:pic>
                    <p:nvPicPr>
                      <p:cNvPr id="6" name="对象 5"/>
                      <p:cNvPicPr/>
                      <p:nvPr/>
                    </p:nvPicPr>
                    <p:blipFill>
                      <a:blip r:embed="rId5"/>
                      <a:stretch>
                        <a:fillRect/>
                      </a:stretch>
                    </p:blipFill>
                    <p:spPr>
                      <a:xfrm>
                        <a:off x="4427538" y="1657350"/>
                        <a:ext cx="3335337" cy="3365500"/>
                      </a:xfrm>
                      <a:prstGeom prst="rect">
                        <a:avLst/>
                      </a:prstGeom>
                    </p:spPr>
                  </p:pic>
                </p:oleObj>
              </mc:Fallback>
            </mc:AlternateContent>
          </a:graphicData>
        </a:graphic>
      </p:graphicFrame>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nvGraphicFramePr>
        <p:xfrm>
          <a:off x="701675" y="1614488"/>
          <a:ext cx="10806113" cy="4341812"/>
        </p:xfrm>
        <a:graphic>
          <a:graphicData uri="http://schemas.openxmlformats.org/presentationml/2006/ole">
            <mc:AlternateContent xmlns:mc="http://schemas.openxmlformats.org/markup-compatibility/2006">
              <mc:Choice xmlns:v="urn:schemas-microsoft-com:vml" Requires="v">
                <p:oleObj spid="_x0000_s79876" name="CS ChemDraw Drawing" r:id="rId3" imgW="7797165" imgH="3134360" progId="ChemDraw.Document.6.0">
                  <p:embed/>
                </p:oleObj>
              </mc:Choice>
              <mc:Fallback>
                <p:oleObj name="CS ChemDraw Drawing" r:id="rId3" imgW="7797165" imgH="3134360" progId="ChemDraw.Document.6.0">
                  <p:embed/>
                  <p:pic>
                    <p:nvPicPr>
                      <p:cNvPr id="2" name="对象 1"/>
                      <p:cNvPicPr/>
                      <p:nvPr/>
                    </p:nvPicPr>
                    <p:blipFill>
                      <a:blip r:embed="rId4"/>
                      <a:stretch>
                        <a:fillRect/>
                      </a:stretch>
                    </p:blipFill>
                    <p:spPr>
                      <a:xfrm>
                        <a:off x="701675" y="1614488"/>
                        <a:ext cx="10806113" cy="4341812"/>
                      </a:xfrm>
                      <a:prstGeom prst="rect">
                        <a:avLst/>
                      </a:prstGeom>
                    </p:spPr>
                  </p:pic>
                </p:oleObj>
              </mc:Fallback>
            </mc:AlternateContent>
          </a:graphicData>
        </a:graphic>
      </p:graphicFrame>
      <p:sp>
        <p:nvSpPr>
          <p:cNvPr id="4" name="文本框 3"/>
          <p:cNvSpPr txBox="1"/>
          <p:nvPr/>
        </p:nvSpPr>
        <p:spPr>
          <a:xfrm>
            <a:off x="701616" y="920152"/>
            <a:ext cx="2969083" cy="461665"/>
          </a:xfrm>
          <a:prstGeom prst="rect">
            <a:avLst/>
          </a:prstGeom>
          <a:noFill/>
        </p:spPr>
        <p:txBody>
          <a:bodyPr wrap="none" rtlCol="0">
            <a:spAutoFit/>
          </a:bodyPr>
          <a:lstStyle/>
          <a:p>
            <a:r>
              <a:rPr lang="zh-CN" altLang="en-US" sz="2400" b="1" dirty="0">
                <a:solidFill>
                  <a:srgbClr val="C00000"/>
                </a:solidFill>
                <a:latin typeface="Times New Roman" panose="02020603050405020304" charset="0"/>
                <a:ea typeface="宋体" panose="02010600030101010101" pitchFamily="2" charset="-122"/>
              </a:rPr>
              <a:t>匹伐他汀的合成路线</a:t>
            </a:r>
          </a:p>
        </p:txBody>
      </p:sp>
      <p:cxnSp>
        <p:nvCxnSpPr>
          <p:cNvPr id="5" name="直接连接符 4"/>
          <p:cNvCxnSpPr/>
          <p:nvPr/>
        </p:nvCxnSpPr>
        <p:spPr>
          <a:xfrm>
            <a:off x="701616" y="5940725"/>
            <a:ext cx="8781690" cy="0"/>
          </a:xfrm>
          <a:prstGeom prst="line">
            <a:avLst/>
          </a:prstGeom>
        </p:spPr>
        <p:style>
          <a:lnRef idx="2">
            <a:schemeClr val="dk1"/>
          </a:lnRef>
          <a:fillRef idx="0">
            <a:schemeClr val="dk1"/>
          </a:fillRef>
          <a:effectRef idx="1">
            <a:schemeClr val="dk1"/>
          </a:effectRef>
          <a:fontRef idx="minor">
            <a:schemeClr val="tx1"/>
          </a:fontRef>
        </p:style>
      </p:cxnSp>
      <p:sp>
        <p:nvSpPr>
          <p:cNvPr id="7" name="文本框 6"/>
          <p:cNvSpPr txBox="1"/>
          <p:nvPr/>
        </p:nvSpPr>
        <p:spPr>
          <a:xfrm>
            <a:off x="701616" y="6084498"/>
            <a:ext cx="9783191" cy="892552"/>
          </a:xfrm>
          <a:prstGeom prst="rect">
            <a:avLst/>
          </a:prstGeom>
          <a:noFill/>
        </p:spPr>
        <p:txBody>
          <a:bodyPr wrap="none" rtlCol="0">
            <a:spAutoFit/>
          </a:bodyPr>
          <a:lstStyle/>
          <a:p>
            <a:pPr indent="-457200"/>
            <a:r>
              <a:rPr lang="en-US" altLang="zh-CN" sz="1600" dirty="0">
                <a:latin typeface="Times New Roman" panose="02020603050405020304" charset="0"/>
                <a:ea typeface="宋体" panose="02010600030101010101" pitchFamily="2" charset="-122"/>
              </a:rPr>
              <a:t>[1] </a:t>
            </a:r>
            <a:r>
              <a:rPr lang="zh-CN" altLang="en-US" sz="1600" dirty="0">
                <a:latin typeface="Times New Roman" panose="02020603050405020304" charset="0"/>
                <a:ea typeface="宋体" panose="02010600030101010101" pitchFamily="2" charset="-122"/>
              </a:rPr>
              <a:t>江苏阿尔法药业有限公司 </a:t>
            </a:r>
            <a:r>
              <a:rPr lang="en-US" altLang="zh-CN" sz="1600" dirty="0">
                <a:latin typeface="Times New Roman" panose="02020603050405020304" charset="0"/>
                <a:ea typeface="宋体" panose="02010600030101010101" pitchFamily="2" charset="-122"/>
              </a:rPr>
              <a:t>.</a:t>
            </a:r>
            <a:r>
              <a:rPr lang="zh-CN" altLang="en-US" sz="1600" dirty="0">
                <a:latin typeface="Times New Roman" panose="02020603050405020304" charset="0"/>
                <a:ea typeface="宋体" panose="02010600030101010101" pitchFamily="2" charset="-122"/>
              </a:rPr>
              <a:t>一种匹伐他汀钙原料药中间体的制备方法</a:t>
            </a:r>
            <a:r>
              <a:rPr lang="en-US" altLang="zh-CN" sz="1600" dirty="0">
                <a:latin typeface="Times New Roman" panose="02020603050405020304" charset="0"/>
                <a:ea typeface="宋体" panose="02010600030101010101" pitchFamily="2" charset="-122"/>
              </a:rPr>
              <a:t>:</a:t>
            </a:r>
            <a:r>
              <a:rPr lang="zh-CN" altLang="en-US" sz="1600" dirty="0">
                <a:latin typeface="Times New Roman" panose="02020603050405020304" charset="0"/>
                <a:ea typeface="宋体" panose="02010600030101010101" pitchFamily="2" charset="-122"/>
              </a:rPr>
              <a:t> </a:t>
            </a:r>
            <a:r>
              <a:rPr lang="en-US" altLang="zh-CN" sz="1600" dirty="0">
                <a:latin typeface="Times New Roman" panose="02020603050405020304" charset="0"/>
                <a:ea typeface="宋体" panose="02010600030101010101" pitchFamily="2" charset="-122"/>
              </a:rPr>
              <a:t> CN 102898367 A [P/OL]. 2013.01.30</a:t>
            </a:r>
          </a:p>
          <a:p>
            <a:endParaRPr lang="zh-CN" altLang="en-US" dirty="0">
              <a:latin typeface="Times New Roman" panose="02020603050405020304" charset="0"/>
              <a:ea typeface="宋体" panose="02010600030101010101" pitchFamily="2" charset="-122"/>
            </a:endParaRPr>
          </a:p>
          <a:p>
            <a:endParaRPr lang="zh-CN" altLang="en-US"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741873" y="695865"/>
            <a:ext cx="4515980" cy="461665"/>
          </a:xfrm>
          <a:prstGeom prst="rect">
            <a:avLst/>
          </a:prstGeom>
          <a:noFill/>
        </p:spPr>
        <p:txBody>
          <a:bodyPr wrap="none" rtlCol="0">
            <a:spAutoFit/>
          </a:bodyPr>
          <a:lstStyle/>
          <a:p>
            <a:r>
              <a:rPr lang="zh-CN" altLang="en-US" sz="2400" b="1" dirty="0">
                <a:solidFill>
                  <a:srgbClr val="C00000"/>
                </a:solidFill>
                <a:latin typeface="Times New Roman" panose="02020603050405020304" charset="0"/>
                <a:ea typeface="宋体" panose="02010600030101010101" pitchFamily="2" charset="-122"/>
              </a:rPr>
              <a:t>匹伐他汀市场价值及原料药价格</a:t>
            </a:r>
          </a:p>
        </p:txBody>
      </p:sp>
      <p:sp>
        <p:nvSpPr>
          <p:cNvPr id="3" name="文本框 2"/>
          <p:cNvSpPr txBox="1"/>
          <p:nvPr/>
        </p:nvSpPr>
        <p:spPr>
          <a:xfrm>
            <a:off x="1072552" y="1319842"/>
            <a:ext cx="2488182" cy="495585"/>
          </a:xfrm>
          <a:prstGeom prst="rect">
            <a:avLst/>
          </a:prstGeom>
          <a:noFill/>
        </p:spPr>
        <p:txBody>
          <a:bodyPr wrap="none" rtlCol="0">
            <a:spAutoFit/>
          </a:bodyPr>
          <a:lstStyle/>
          <a:p>
            <a:pPr>
              <a:lnSpc>
                <a:spcPct val="150000"/>
              </a:lnSpc>
            </a:pPr>
            <a:r>
              <a:rPr lang="zh-CN" altLang="en-US" sz="2000" b="1" dirty="0">
                <a:solidFill>
                  <a:schemeClr val="tx2">
                    <a:lumMod val="50000"/>
                    <a:lumOff val="50000"/>
                  </a:schemeClr>
                </a:solidFill>
                <a:latin typeface="Times New Roman" panose="02020603050405020304" charset="0"/>
                <a:ea typeface="宋体" panose="02010600030101010101" pitchFamily="2" charset="-122"/>
              </a:rPr>
              <a:t>匹伐他汀市场价值：</a:t>
            </a:r>
          </a:p>
        </p:txBody>
      </p:sp>
      <p:graphicFrame>
        <p:nvGraphicFramePr>
          <p:cNvPr id="5" name="表格 4"/>
          <p:cNvGraphicFramePr>
            <a:graphicFrameLocks noGrp="1"/>
          </p:cNvGraphicFramePr>
          <p:nvPr/>
        </p:nvGraphicFramePr>
        <p:xfrm>
          <a:off x="655609" y="2225974"/>
          <a:ext cx="11030310" cy="3409950"/>
        </p:xfrm>
        <a:graphic>
          <a:graphicData uri="http://schemas.openxmlformats.org/drawingml/2006/table">
            <a:tbl>
              <a:tblPr firstRow="1" bandRow="1">
                <a:tableStyleId>{5940675A-B579-460E-94D1-54222C63F5DA}</a:tableStyleId>
              </a:tblPr>
              <a:tblGrid>
                <a:gridCol w="1823643">
                  <a:extLst>
                    <a:ext uri="{9D8B030D-6E8A-4147-A177-3AD203B41FA5}">
                      <a16:colId xmlns:a16="http://schemas.microsoft.com/office/drawing/2014/main" val="20000"/>
                    </a:ext>
                  </a:extLst>
                </a:gridCol>
                <a:gridCol w="9206667">
                  <a:extLst>
                    <a:ext uri="{9D8B030D-6E8A-4147-A177-3AD203B41FA5}">
                      <a16:colId xmlns:a16="http://schemas.microsoft.com/office/drawing/2014/main" val="20001"/>
                    </a:ext>
                  </a:extLst>
                </a:gridCol>
              </a:tblGrid>
              <a:tr h="285373">
                <a:tc>
                  <a:txBody>
                    <a:bodyPr/>
                    <a:lstStyle/>
                    <a:p>
                      <a:pPr algn="ctr">
                        <a:lnSpc>
                          <a:spcPct val="150000"/>
                        </a:lnSpc>
                      </a:pPr>
                      <a:r>
                        <a:rPr lang="zh-CN" altLang="en-US" baseline="0" dirty="0">
                          <a:latin typeface="Times New Roman" panose="02020603050405020304" charset="0"/>
                          <a:ea typeface="宋体" panose="02010600030101010101" pitchFamily="2" charset="-122"/>
                        </a:rPr>
                        <a:t>临床价值</a:t>
                      </a:r>
                    </a:p>
                  </a:txBody>
                  <a:tcPr anchor="ctr"/>
                </a:tc>
                <a:tc>
                  <a:txBody>
                    <a:bodyPr/>
                    <a:lstStyle/>
                    <a:p>
                      <a:pPr algn="ctr">
                        <a:lnSpc>
                          <a:spcPct val="150000"/>
                        </a:lnSpc>
                      </a:pPr>
                      <a:r>
                        <a:rPr lang="zh-CN" altLang="en-US" baseline="0" dirty="0">
                          <a:latin typeface="Times New Roman" panose="02020603050405020304" charset="0"/>
                          <a:ea typeface="宋体" panose="02010600030101010101" pitchFamily="2" charset="-122"/>
                        </a:rPr>
                        <a:t>常规 </a:t>
                      </a:r>
                      <a:r>
                        <a:rPr lang="en-US" altLang="zh-CN" baseline="0" dirty="0">
                          <a:latin typeface="Times New Roman" panose="02020603050405020304" charset="0"/>
                          <a:ea typeface="宋体" panose="02010600030101010101" pitchFamily="2" charset="-122"/>
                        </a:rPr>
                        <a:t>1–4 mg </a:t>
                      </a:r>
                      <a:r>
                        <a:rPr lang="zh-CN" altLang="en-US" baseline="0" dirty="0">
                          <a:latin typeface="Times New Roman" panose="02020603050405020304" charset="0"/>
                          <a:ea typeface="宋体" panose="02010600030101010101" pitchFamily="2" charset="-122"/>
                        </a:rPr>
                        <a:t>日剂量可降低 </a:t>
                      </a:r>
                      <a:r>
                        <a:rPr lang="en-US" altLang="zh-CN" baseline="0" dirty="0">
                          <a:latin typeface="Times New Roman" panose="02020603050405020304" charset="0"/>
                          <a:ea typeface="宋体" panose="02010600030101010101" pitchFamily="2" charset="-122"/>
                        </a:rPr>
                        <a:t>LDL-C 28%–47%</a:t>
                      </a:r>
                      <a:r>
                        <a:rPr lang="zh-CN" altLang="en-US" baseline="0" dirty="0">
                          <a:latin typeface="Times New Roman" panose="02020603050405020304" charset="0"/>
                          <a:ea typeface="宋体" panose="02010600030101010101" pitchFamily="2" charset="-122"/>
                        </a:rPr>
                        <a:t>，</a:t>
                      </a:r>
                      <a:r>
                        <a:rPr lang="en-US" altLang="zh-CN" baseline="0" dirty="0">
                          <a:latin typeface="Times New Roman" panose="02020603050405020304" charset="0"/>
                          <a:ea typeface="宋体" panose="02010600030101010101" pitchFamily="2" charset="-122"/>
                        </a:rPr>
                        <a:t>2 mg </a:t>
                      </a:r>
                      <a:r>
                        <a:rPr lang="zh-CN" altLang="en-US" baseline="0" dirty="0">
                          <a:latin typeface="Times New Roman" panose="02020603050405020304" charset="0"/>
                          <a:ea typeface="宋体" panose="02010600030101010101" pitchFamily="2" charset="-122"/>
                        </a:rPr>
                        <a:t>等效于阿托伐他汀 </a:t>
                      </a:r>
                      <a:r>
                        <a:rPr lang="en-US" altLang="zh-CN" baseline="0" dirty="0">
                          <a:latin typeface="Times New Roman" panose="02020603050405020304" charset="0"/>
                          <a:ea typeface="宋体" panose="02010600030101010101" pitchFamily="2" charset="-122"/>
                        </a:rPr>
                        <a:t>10 mg</a:t>
                      </a:r>
                      <a:r>
                        <a:rPr lang="zh-CN" altLang="en-US" baseline="0" dirty="0">
                          <a:latin typeface="Times New Roman" panose="02020603050405020304" charset="0"/>
                          <a:ea typeface="宋体" panose="02010600030101010101" pitchFamily="2" charset="-122"/>
                        </a:rPr>
                        <a:t>，且肝酶异常（</a:t>
                      </a:r>
                      <a:r>
                        <a:rPr lang="en-US" altLang="zh-CN" baseline="0" dirty="0">
                          <a:latin typeface="Times New Roman" panose="02020603050405020304" charset="0"/>
                          <a:ea typeface="宋体" panose="02010600030101010101" pitchFamily="2" charset="-122"/>
                        </a:rPr>
                        <a:t>0.3%</a:t>
                      </a:r>
                      <a:r>
                        <a:rPr lang="zh-CN" altLang="en-US" baseline="0" dirty="0">
                          <a:latin typeface="Times New Roman" panose="02020603050405020304" charset="0"/>
                          <a:ea typeface="宋体" panose="02010600030101010101" pitchFamily="2" charset="-122"/>
                        </a:rPr>
                        <a:t>）、肌病（</a:t>
                      </a:r>
                      <a:r>
                        <a:rPr lang="en-US" altLang="zh-CN" baseline="0" dirty="0">
                          <a:latin typeface="Times New Roman" panose="02020603050405020304" charset="0"/>
                          <a:ea typeface="宋体" panose="02010600030101010101" pitchFamily="2" charset="-122"/>
                        </a:rPr>
                        <a:t>&lt;0.5%</a:t>
                      </a:r>
                      <a:r>
                        <a:rPr lang="zh-CN" altLang="en-US" baseline="0" dirty="0">
                          <a:latin typeface="Times New Roman" panose="02020603050405020304" charset="0"/>
                          <a:ea typeface="宋体" panose="02010600030101010101" pitchFamily="2" charset="-122"/>
                        </a:rPr>
                        <a:t>）风险最低，对血糖无不良影响，新发糖尿病风险显著低于强效他汀，药物相互作用少，被指南推荐用于糖尿病、老年及不耐受强效他汀人群</a:t>
                      </a:r>
                    </a:p>
                  </a:txBody>
                  <a:tcPr/>
                </a:tc>
                <a:extLst>
                  <a:ext uri="{0D108BD9-81ED-4DB2-BD59-A6C34878D82A}">
                    <a16:rowId xmlns:a16="http://schemas.microsoft.com/office/drawing/2014/main" val="10000"/>
                  </a:ext>
                </a:extLst>
              </a:tr>
              <a:tr h="370840">
                <a:tc>
                  <a:txBody>
                    <a:bodyPr/>
                    <a:lstStyle/>
                    <a:p>
                      <a:pPr algn="ctr">
                        <a:lnSpc>
                          <a:spcPct val="150000"/>
                        </a:lnSpc>
                      </a:pPr>
                      <a:r>
                        <a:rPr lang="zh-CN" altLang="en-US" baseline="0" dirty="0">
                          <a:latin typeface="Times New Roman" panose="02020603050405020304" charset="0"/>
                          <a:ea typeface="宋体" panose="02010600030101010101" pitchFamily="2" charset="-122"/>
                        </a:rPr>
                        <a:t>经济价值</a:t>
                      </a:r>
                    </a:p>
                  </a:txBody>
                  <a:tcPr anchor="ctr"/>
                </a:tc>
                <a:tc>
                  <a:txBody>
                    <a:bodyPr/>
                    <a:lstStyle/>
                    <a:p>
                      <a:pPr algn="ctr">
                        <a:lnSpc>
                          <a:spcPct val="150000"/>
                        </a:lnSpc>
                      </a:pPr>
                      <a:r>
                        <a:rPr lang="en-US" altLang="zh-CN" baseline="0" dirty="0">
                          <a:latin typeface="Times New Roman" panose="02020603050405020304" charset="0"/>
                          <a:ea typeface="宋体" panose="02010600030101010101" pitchFamily="2" charset="-122"/>
                        </a:rPr>
                        <a:t>2025 </a:t>
                      </a:r>
                      <a:r>
                        <a:rPr lang="zh-CN" altLang="en-US" baseline="0" dirty="0">
                          <a:latin typeface="Times New Roman" panose="02020603050405020304" charset="0"/>
                          <a:ea typeface="宋体" panose="02010600030101010101" pitchFamily="2" charset="-122"/>
                        </a:rPr>
                        <a:t>年中国市场规模约 </a:t>
                      </a:r>
                      <a:r>
                        <a:rPr lang="en-US" altLang="zh-CN" baseline="0" dirty="0">
                          <a:latin typeface="Times New Roman" panose="02020603050405020304" charset="0"/>
                          <a:ea typeface="宋体" panose="02010600030101010101" pitchFamily="2" charset="-122"/>
                        </a:rPr>
                        <a:t>42–47 </a:t>
                      </a:r>
                      <a:r>
                        <a:rPr lang="zh-CN" altLang="en-US" baseline="0" dirty="0">
                          <a:latin typeface="Times New Roman" panose="02020603050405020304" charset="0"/>
                          <a:ea typeface="宋体" panose="02010600030101010101" pitchFamily="2" charset="-122"/>
                        </a:rPr>
                        <a:t>亿元、全球约 </a:t>
                      </a:r>
                      <a:r>
                        <a:rPr lang="en-US" altLang="zh-CN" baseline="0" dirty="0">
                          <a:latin typeface="Times New Roman" panose="02020603050405020304" charset="0"/>
                          <a:ea typeface="宋体" panose="02010600030101010101" pitchFamily="2" charset="-122"/>
                        </a:rPr>
                        <a:t>6.86 </a:t>
                      </a:r>
                      <a:r>
                        <a:rPr lang="zh-CN" altLang="en-US" baseline="0" dirty="0">
                          <a:latin typeface="Times New Roman" panose="02020603050405020304" charset="0"/>
                          <a:ea typeface="宋体" panose="02010600030101010101" pitchFamily="2" charset="-122"/>
                        </a:rPr>
                        <a:t>亿美元，已纳入医保并通过集采放量，国产企业（扬子江、华海等）占据超 </a:t>
                      </a:r>
                      <a:r>
                        <a:rPr lang="en-US" altLang="zh-CN" baseline="0" dirty="0">
                          <a:latin typeface="Times New Roman" panose="02020603050405020304" charset="0"/>
                          <a:ea typeface="宋体" panose="02010600030101010101" pitchFamily="2" charset="-122"/>
                        </a:rPr>
                        <a:t>70% </a:t>
                      </a:r>
                      <a:r>
                        <a:rPr lang="zh-CN" altLang="en-US" baseline="0" dirty="0">
                          <a:latin typeface="Times New Roman" panose="02020603050405020304" charset="0"/>
                          <a:ea typeface="宋体" panose="02010600030101010101" pitchFamily="2" charset="-122"/>
                        </a:rPr>
                        <a:t>份额，原料药产能充足</a:t>
                      </a:r>
                    </a:p>
                  </a:txBody>
                  <a:tcPr/>
                </a:tc>
                <a:extLst>
                  <a:ext uri="{0D108BD9-81ED-4DB2-BD59-A6C34878D82A}">
                    <a16:rowId xmlns:a16="http://schemas.microsoft.com/office/drawing/2014/main" val="10001"/>
                  </a:ext>
                </a:extLst>
              </a:tr>
              <a:tr h="370840">
                <a:tc>
                  <a:txBody>
                    <a:bodyPr/>
                    <a:lstStyle/>
                    <a:p>
                      <a:pPr algn="ctr">
                        <a:lnSpc>
                          <a:spcPct val="150000"/>
                        </a:lnSpc>
                      </a:pPr>
                      <a:r>
                        <a:rPr lang="zh-CN" altLang="en-US" baseline="0" dirty="0">
                          <a:latin typeface="Times New Roman" panose="02020603050405020304" charset="0"/>
                          <a:ea typeface="宋体" panose="02010600030101010101" pitchFamily="2" charset="-122"/>
                        </a:rPr>
                        <a:t>竞争价值</a:t>
                      </a:r>
                    </a:p>
                  </a:txBody>
                  <a:tcPr anchor="ctr"/>
                </a:tc>
                <a:tc>
                  <a:txBody>
                    <a:bodyPr/>
                    <a:lstStyle/>
                    <a:p>
                      <a:pPr algn="ctr">
                        <a:lnSpc>
                          <a:spcPct val="150000"/>
                        </a:lnSpc>
                      </a:pPr>
                      <a:r>
                        <a:rPr lang="zh-CN" altLang="en-US" baseline="0" dirty="0">
                          <a:latin typeface="Times New Roman" panose="02020603050405020304" charset="0"/>
                          <a:ea typeface="宋体" panose="02010600030101010101" pitchFamily="2" charset="-122"/>
                        </a:rPr>
                        <a:t>以安全性差异化取胜，避开与阿托伐他汀、瑞舒伐他汀的降脂强度内卷，锁定内分泌科、老年科等细分刚需市场，虽面临强效他汀低价竞争与仿制药价格战压力，但凭借不可替代的安全优势，在他汀类细分市场具备长期稳定的临床刚需与市场价值</a:t>
                      </a:r>
                    </a:p>
                  </a:txBody>
                  <a:tcPr/>
                </a:tc>
                <a:extLst>
                  <a:ext uri="{0D108BD9-81ED-4DB2-BD59-A6C34878D82A}">
                    <a16:rowId xmlns:a16="http://schemas.microsoft.com/office/drawing/2014/main" val="10002"/>
                  </a:ext>
                </a:extLst>
              </a:tr>
            </a:tbl>
          </a:graphicData>
        </a:graphic>
      </p:graphicFrame>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741873" y="695865"/>
            <a:ext cx="4515980" cy="461665"/>
          </a:xfrm>
          <a:prstGeom prst="rect">
            <a:avLst/>
          </a:prstGeom>
          <a:noFill/>
        </p:spPr>
        <p:txBody>
          <a:bodyPr wrap="none" rtlCol="0">
            <a:spAutoFit/>
          </a:bodyPr>
          <a:lstStyle/>
          <a:p>
            <a:r>
              <a:rPr lang="zh-CN" altLang="en-US" sz="2400" b="1" dirty="0">
                <a:solidFill>
                  <a:srgbClr val="C00000"/>
                </a:solidFill>
                <a:latin typeface="Times New Roman" panose="02020603050405020304" charset="0"/>
                <a:ea typeface="宋体" panose="02010600030101010101" pitchFamily="2" charset="-122"/>
              </a:rPr>
              <a:t>匹伐他汀市场价值及原料药价格</a:t>
            </a:r>
          </a:p>
        </p:txBody>
      </p:sp>
      <p:sp>
        <p:nvSpPr>
          <p:cNvPr id="3" name="文本框 2"/>
          <p:cNvSpPr txBox="1"/>
          <p:nvPr/>
        </p:nvSpPr>
        <p:spPr>
          <a:xfrm>
            <a:off x="1022460" y="1215823"/>
            <a:ext cx="1733167" cy="495585"/>
          </a:xfrm>
          <a:prstGeom prst="rect">
            <a:avLst/>
          </a:prstGeom>
          <a:noFill/>
        </p:spPr>
        <p:txBody>
          <a:bodyPr wrap="none" rtlCol="0">
            <a:spAutoFit/>
          </a:bodyPr>
          <a:lstStyle/>
          <a:p>
            <a:pPr>
              <a:lnSpc>
                <a:spcPct val="150000"/>
              </a:lnSpc>
            </a:pPr>
            <a:r>
              <a:rPr lang="zh-CN" altLang="en-US" sz="2000" b="1" dirty="0">
                <a:solidFill>
                  <a:schemeClr val="tx2">
                    <a:lumMod val="50000"/>
                    <a:lumOff val="50000"/>
                  </a:schemeClr>
                </a:solidFill>
                <a:latin typeface="Times New Roman" panose="02020603050405020304" charset="0"/>
                <a:ea typeface="宋体" panose="02010600030101010101" pitchFamily="2" charset="-122"/>
              </a:rPr>
              <a:t>原料药价格：</a:t>
            </a:r>
          </a:p>
        </p:txBody>
      </p:sp>
      <p:graphicFrame>
        <p:nvGraphicFramePr>
          <p:cNvPr id="5" name="表格 4"/>
          <p:cNvGraphicFramePr>
            <a:graphicFrameLocks noGrp="1"/>
          </p:cNvGraphicFramePr>
          <p:nvPr/>
        </p:nvGraphicFramePr>
        <p:xfrm>
          <a:off x="1022460" y="1869854"/>
          <a:ext cx="9642416" cy="3139440"/>
        </p:xfrm>
        <a:graphic>
          <a:graphicData uri="http://schemas.openxmlformats.org/drawingml/2006/table">
            <a:tbl>
              <a:tblPr firstRow="1" bandRow="1">
                <a:tableStyleId>{5940675A-B579-460E-94D1-54222C63F5DA}</a:tableStyleId>
              </a:tblPr>
              <a:tblGrid>
                <a:gridCol w="3546416">
                  <a:extLst>
                    <a:ext uri="{9D8B030D-6E8A-4147-A177-3AD203B41FA5}">
                      <a16:colId xmlns:a16="http://schemas.microsoft.com/office/drawing/2014/main" val="20000"/>
                    </a:ext>
                  </a:extLst>
                </a:gridCol>
                <a:gridCol w="1773207">
                  <a:extLst>
                    <a:ext uri="{9D8B030D-6E8A-4147-A177-3AD203B41FA5}">
                      <a16:colId xmlns:a16="http://schemas.microsoft.com/office/drawing/2014/main" val="20001"/>
                    </a:ext>
                  </a:extLst>
                </a:gridCol>
                <a:gridCol w="2290793">
                  <a:extLst>
                    <a:ext uri="{9D8B030D-6E8A-4147-A177-3AD203B41FA5}">
                      <a16:colId xmlns:a16="http://schemas.microsoft.com/office/drawing/2014/main" val="20002"/>
                    </a:ext>
                  </a:extLst>
                </a:gridCol>
                <a:gridCol w="2032000">
                  <a:extLst>
                    <a:ext uri="{9D8B030D-6E8A-4147-A177-3AD203B41FA5}">
                      <a16:colId xmlns:a16="http://schemas.microsoft.com/office/drawing/2014/main" val="20003"/>
                    </a:ext>
                  </a:extLst>
                </a:gridCol>
              </a:tblGrid>
              <a:tr h="370840">
                <a:tc>
                  <a:txBody>
                    <a:bodyPr/>
                    <a:lstStyle/>
                    <a:p>
                      <a:pPr algn="ctr"/>
                      <a:r>
                        <a:rPr lang="zh-CN" altLang="en-US" baseline="0" dirty="0">
                          <a:latin typeface="Times New Roman" panose="02020603050405020304" charset="0"/>
                          <a:ea typeface="宋体" panose="02010600030101010101" pitchFamily="2" charset="-122"/>
                        </a:rPr>
                        <a:t>原料药</a:t>
                      </a:r>
                    </a:p>
                  </a:txBody>
                  <a:tcPr anchor="ctr"/>
                </a:tc>
                <a:tc>
                  <a:txBody>
                    <a:bodyPr/>
                    <a:lstStyle/>
                    <a:p>
                      <a:pPr algn="ctr"/>
                      <a:r>
                        <a:rPr lang="zh-CN" altLang="en-US" baseline="0" dirty="0">
                          <a:latin typeface="Times New Roman" panose="02020603050405020304" charset="0"/>
                          <a:ea typeface="宋体" panose="02010600030101010101" pitchFamily="2" charset="-122"/>
                        </a:rPr>
                        <a:t>价格</a:t>
                      </a:r>
                      <a:r>
                        <a:rPr lang="en-US" altLang="zh-CN" baseline="0" dirty="0">
                          <a:latin typeface="Times New Roman" panose="02020603050405020304" charset="0"/>
                          <a:ea typeface="宋体" panose="02010600030101010101" pitchFamily="2" charset="-122"/>
                        </a:rPr>
                        <a:t>(</a:t>
                      </a:r>
                      <a:r>
                        <a:rPr lang="zh-CN" altLang="en-US" baseline="0" dirty="0">
                          <a:latin typeface="Times New Roman" panose="02020603050405020304" charset="0"/>
                          <a:ea typeface="宋体" panose="02010600030101010101" pitchFamily="2" charset="-122"/>
                        </a:rPr>
                        <a:t>元</a:t>
                      </a:r>
                      <a:r>
                        <a:rPr lang="en-US" altLang="zh-CN" baseline="0" dirty="0">
                          <a:latin typeface="Times New Roman" panose="02020603050405020304" charset="0"/>
                          <a:ea typeface="宋体" panose="02010600030101010101" pitchFamily="2" charset="-122"/>
                        </a:rPr>
                        <a:t>/kg</a:t>
                      </a:r>
                      <a:r>
                        <a:rPr lang="zh-CN" altLang="en-US" baseline="0" dirty="0">
                          <a:latin typeface="Times New Roman" panose="02020603050405020304" charset="0"/>
                          <a:ea typeface="宋体" panose="02010600030101010101" pitchFamily="2" charset="-122"/>
                        </a:rPr>
                        <a:t>）</a:t>
                      </a:r>
                    </a:p>
                  </a:txBody>
                  <a:tcPr anchor="ctr"/>
                </a:tc>
                <a:tc>
                  <a:txBody>
                    <a:bodyPr/>
                    <a:lstStyle/>
                    <a:p>
                      <a:pPr algn="ctr"/>
                      <a:r>
                        <a:rPr lang="zh-CN" altLang="en-US" baseline="0" dirty="0">
                          <a:latin typeface="Times New Roman" panose="02020603050405020304" charset="0"/>
                          <a:ea typeface="宋体" panose="02010600030101010101" pitchFamily="2" charset="-122"/>
                        </a:rPr>
                        <a:t>原料药</a:t>
                      </a:r>
                    </a:p>
                  </a:txBody>
                  <a:tcPr anchor="ctr"/>
                </a:tc>
                <a:tc>
                  <a:txBody>
                    <a:bodyPr/>
                    <a:lstStyle/>
                    <a:p>
                      <a:pPr algn="ctr"/>
                      <a:r>
                        <a:rPr lang="zh-CN" altLang="en-US" baseline="0" dirty="0">
                          <a:latin typeface="Times New Roman" panose="02020603050405020304" charset="0"/>
                          <a:ea typeface="宋体" panose="02010600030101010101" pitchFamily="2" charset="-122"/>
                        </a:rPr>
                        <a:t>价格</a:t>
                      </a:r>
                      <a:r>
                        <a:rPr lang="en-US" altLang="zh-CN" baseline="0" dirty="0">
                          <a:latin typeface="Times New Roman" panose="02020603050405020304" charset="0"/>
                          <a:ea typeface="宋体" panose="02010600030101010101" pitchFamily="2" charset="-122"/>
                        </a:rPr>
                        <a:t>(</a:t>
                      </a:r>
                      <a:r>
                        <a:rPr lang="zh-CN" altLang="en-US" baseline="0" dirty="0">
                          <a:latin typeface="Times New Roman" panose="02020603050405020304" charset="0"/>
                          <a:ea typeface="宋体" panose="02010600030101010101" pitchFamily="2" charset="-122"/>
                        </a:rPr>
                        <a:t>元</a:t>
                      </a:r>
                      <a:r>
                        <a:rPr lang="en-US" altLang="zh-CN" baseline="0" dirty="0">
                          <a:latin typeface="Times New Roman" panose="02020603050405020304" charset="0"/>
                          <a:ea typeface="宋体" panose="02010600030101010101" pitchFamily="2" charset="-122"/>
                        </a:rPr>
                        <a:t>/kg</a:t>
                      </a:r>
                      <a:r>
                        <a:rPr lang="zh-CN" altLang="en-US" baseline="0" dirty="0">
                          <a:latin typeface="Times New Roman" panose="02020603050405020304" charset="0"/>
                          <a:ea typeface="宋体" panose="02010600030101010101" pitchFamily="2" charset="-122"/>
                        </a:rPr>
                        <a:t>）</a:t>
                      </a:r>
                    </a:p>
                  </a:txBody>
                  <a:tcPr anchor="ctr"/>
                </a:tc>
                <a:extLst>
                  <a:ext uri="{0D108BD9-81ED-4DB2-BD59-A6C34878D82A}">
                    <a16:rowId xmlns:a16="http://schemas.microsoft.com/office/drawing/2014/main" val="10000"/>
                  </a:ext>
                </a:extLst>
              </a:tr>
              <a:tr h="370840">
                <a:tc>
                  <a:txBody>
                    <a:bodyPr/>
                    <a:lstStyle/>
                    <a:p>
                      <a:pPr algn="ctr"/>
                      <a:r>
                        <a:rPr lang="en-US" altLang="zh-CN" baseline="0" dirty="0">
                          <a:latin typeface="Times New Roman" panose="02020603050405020304" charset="0"/>
                          <a:ea typeface="宋体" panose="02010600030101010101" pitchFamily="2" charset="-122"/>
                        </a:rPr>
                        <a:t>2-</a:t>
                      </a:r>
                      <a:r>
                        <a:rPr lang="zh-CN" altLang="en-US" baseline="0" dirty="0">
                          <a:latin typeface="Times New Roman" panose="02020603050405020304" charset="0"/>
                          <a:ea typeface="宋体" panose="02010600030101010101" pitchFamily="2" charset="-122"/>
                        </a:rPr>
                        <a:t>氨基</a:t>
                      </a:r>
                      <a:r>
                        <a:rPr lang="en-US" altLang="zh-CN" baseline="0" dirty="0">
                          <a:latin typeface="Times New Roman" panose="02020603050405020304" charset="0"/>
                          <a:ea typeface="宋体" panose="02010600030101010101" pitchFamily="2" charset="-122"/>
                        </a:rPr>
                        <a:t>-4'-</a:t>
                      </a:r>
                      <a:r>
                        <a:rPr lang="zh-CN" altLang="en-US" baseline="0" dirty="0">
                          <a:latin typeface="Times New Roman" panose="02020603050405020304" charset="0"/>
                          <a:ea typeface="宋体" panose="02010600030101010101" pitchFamily="2" charset="-122"/>
                        </a:rPr>
                        <a:t>氟二苯甲酮</a:t>
                      </a:r>
                    </a:p>
                  </a:txBody>
                  <a:tcPr anchor="ctr"/>
                </a:tc>
                <a:tc>
                  <a:txBody>
                    <a:bodyPr/>
                    <a:lstStyle/>
                    <a:p>
                      <a:pPr algn="ctr"/>
                      <a:r>
                        <a:rPr lang="en-US" altLang="zh-CN" baseline="0" dirty="0">
                          <a:latin typeface="Times New Roman" panose="02020603050405020304" charset="0"/>
                          <a:ea typeface="宋体" panose="02010600030101010101" pitchFamily="2" charset="-122"/>
                        </a:rPr>
                        <a:t>1390</a:t>
                      </a:r>
                      <a:endParaRPr lang="zh-CN" altLang="en-US" baseline="0" dirty="0">
                        <a:latin typeface="Times New Roman" panose="02020603050405020304" charset="0"/>
                        <a:ea typeface="宋体" panose="02010600030101010101" pitchFamily="2" charset="-122"/>
                      </a:endParaRPr>
                    </a:p>
                  </a:txBody>
                  <a:tcPr anchor="ctr"/>
                </a:tc>
                <a:tc>
                  <a:txBody>
                    <a:bodyPr/>
                    <a:lstStyle/>
                    <a:p>
                      <a:pPr algn="ctr"/>
                      <a:r>
                        <a:rPr lang="zh-CN" altLang="en-US" baseline="0" dirty="0">
                          <a:latin typeface="Times New Roman" panose="02020603050405020304" charset="0"/>
                          <a:ea typeface="宋体" panose="02010600030101010101" pitchFamily="2" charset="-122"/>
                        </a:rPr>
                        <a:t>硼氢化钠</a:t>
                      </a:r>
                    </a:p>
                  </a:txBody>
                  <a:tcPr anchor="ctr"/>
                </a:tc>
                <a:tc>
                  <a:txBody>
                    <a:bodyPr/>
                    <a:lstStyle/>
                    <a:p>
                      <a:pPr algn="ctr"/>
                      <a:r>
                        <a:rPr lang="en-US" altLang="zh-CN" baseline="0" dirty="0">
                          <a:latin typeface="Times New Roman" panose="02020603050405020304" charset="0"/>
                          <a:ea typeface="宋体" panose="02010600030101010101" pitchFamily="2" charset="-122"/>
                        </a:rPr>
                        <a:t>5099</a:t>
                      </a:r>
                      <a:endParaRPr lang="zh-CN" altLang="en-US" baseline="0" dirty="0">
                        <a:latin typeface="Times New Roman" panose="02020603050405020304" charset="0"/>
                        <a:ea typeface="宋体" panose="02010600030101010101" pitchFamily="2" charset="-122"/>
                      </a:endParaRPr>
                    </a:p>
                  </a:txBody>
                  <a:tcPr anchor="ctr"/>
                </a:tc>
                <a:extLst>
                  <a:ext uri="{0D108BD9-81ED-4DB2-BD59-A6C34878D82A}">
                    <a16:rowId xmlns:a16="http://schemas.microsoft.com/office/drawing/2014/main" val="10001"/>
                  </a:ext>
                </a:extLst>
              </a:tr>
              <a:tr h="370840">
                <a:tc>
                  <a:txBody>
                    <a:bodyPr/>
                    <a:lstStyle/>
                    <a:p>
                      <a:pPr algn="ctr"/>
                      <a:r>
                        <a:rPr lang="en-US" altLang="zh-CN" baseline="0" dirty="0">
                          <a:latin typeface="Times New Roman" panose="02020603050405020304" charset="0"/>
                          <a:ea typeface="宋体" panose="02010600030101010101" pitchFamily="2" charset="-122"/>
                        </a:rPr>
                        <a:t>1-</a:t>
                      </a:r>
                      <a:r>
                        <a:rPr lang="zh-CN" altLang="en-US" baseline="0" dirty="0">
                          <a:latin typeface="Times New Roman" panose="02020603050405020304" charset="0"/>
                          <a:ea typeface="宋体" panose="02010600030101010101" pitchFamily="2" charset="-122"/>
                        </a:rPr>
                        <a:t>环丙基</a:t>
                      </a:r>
                      <a:r>
                        <a:rPr lang="en-US" altLang="zh-CN" baseline="0" dirty="0">
                          <a:latin typeface="Times New Roman" panose="02020603050405020304" charset="0"/>
                          <a:ea typeface="宋体" panose="02010600030101010101" pitchFamily="2" charset="-122"/>
                        </a:rPr>
                        <a:t>-2-</a:t>
                      </a:r>
                      <a:r>
                        <a:rPr lang="zh-CN" altLang="en-US" baseline="0" dirty="0">
                          <a:latin typeface="Times New Roman" panose="02020603050405020304" charset="0"/>
                          <a:ea typeface="宋体" panose="02010600030101010101" pitchFamily="2" charset="-122"/>
                        </a:rPr>
                        <a:t>溴乙酮</a:t>
                      </a:r>
                    </a:p>
                  </a:txBody>
                  <a:tcPr anchor="ctr"/>
                </a:tc>
                <a:tc>
                  <a:txBody>
                    <a:bodyPr/>
                    <a:lstStyle/>
                    <a:p>
                      <a:pPr algn="ctr"/>
                      <a:r>
                        <a:rPr lang="en-US" altLang="zh-CN" baseline="0" dirty="0">
                          <a:latin typeface="Times New Roman" panose="02020603050405020304" charset="0"/>
                          <a:ea typeface="宋体" panose="02010600030101010101" pitchFamily="2" charset="-122"/>
                        </a:rPr>
                        <a:t>10790</a:t>
                      </a:r>
                      <a:endParaRPr lang="zh-CN" altLang="en-US" baseline="0" dirty="0">
                        <a:latin typeface="Times New Roman" panose="02020603050405020304" charset="0"/>
                        <a:ea typeface="宋体" panose="02010600030101010101" pitchFamily="2" charset="-122"/>
                      </a:endParaRPr>
                    </a:p>
                  </a:txBody>
                  <a:tcPr anchor="ctr"/>
                </a:tc>
                <a:tc>
                  <a:txBody>
                    <a:bodyPr/>
                    <a:lstStyle/>
                    <a:p>
                      <a:pPr algn="ctr"/>
                      <a:r>
                        <a:rPr lang="zh-CN" altLang="en-US" baseline="0" dirty="0">
                          <a:latin typeface="Times New Roman" panose="02020603050405020304" charset="0"/>
                          <a:ea typeface="宋体" panose="02010600030101010101" pitchFamily="2" charset="-122"/>
                        </a:rPr>
                        <a:t>二乙基甲氧基硼烷</a:t>
                      </a:r>
                    </a:p>
                  </a:txBody>
                  <a:tcPr anchor="ctr"/>
                </a:tc>
                <a:tc>
                  <a:txBody>
                    <a:bodyPr/>
                    <a:lstStyle/>
                    <a:p>
                      <a:pPr algn="ctr"/>
                      <a:r>
                        <a:rPr lang="en-US" altLang="zh-CN" baseline="0" dirty="0">
                          <a:latin typeface="Times New Roman" panose="02020603050405020304" charset="0"/>
                          <a:ea typeface="宋体" panose="02010600030101010101" pitchFamily="2" charset="-122"/>
                        </a:rPr>
                        <a:t>2476</a:t>
                      </a:r>
                      <a:endParaRPr lang="zh-CN" altLang="en-US" baseline="0" dirty="0">
                        <a:latin typeface="Times New Roman" panose="02020603050405020304" charset="0"/>
                        <a:ea typeface="宋体" panose="02010600030101010101" pitchFamily="2" charset="-122"/>
                      </a:endParaRPr>
                    </a:p>
                  </a:txBody>
                  <a:tcPr anchor="ctr"/>
                </a:tc>
                <a:extLst>
                  <a:ext uri="{0D108BD9-81ED-4DB2-BD59-A6C34878D82A}">
                    <a16:rowId xmlns:a16="http://schemas.microsoft.com/office/drawing/2014/main" val="10002"/>
                  </a:ext>
                </a:extLst>
              </a:tr>
              <a:tr h="370840">
                <a:tc>
                  <a:txBody>
                    <a:bodyPr/>
                    <a:lstStyle/>
                    <a:p>
                      <a:pPr algn="ctr"/>
                      <a:r>
                        <a:rPr lang="zh-CN" altLang="en-US" baseline="0" dirty="0">
                          <a:latin typeface="Times New Roman" panose="02020603050405020304" charset="0"/>
                          <a:ea typeface="宋体" panose="02010600030101010101" pitchFamily="2" charset="-122"/>
                        </a:rPr>
                        <a:t>双 </a:t>
                      </a:r>
                      <a:r>
                        <a:rPr lang="en-US" altLang="zh-CN" baseline="0" dirty="0">
                          <a:latin typeface="Times New Roman" panose="02020603050405020304" charset="0"/>
                          <a:ea typeface="宋体" panose="02010600030101010101" pitchFamily="2" charset="-122"/>
                        </a:rPr>
                        <a:t>(2‑</a:t>
                      </a:r>
                      <a:r>
                        <a:rPr lang="zh-CN" altLang="en-US" baseline="0" dirty="0">
                          <a:latin typeface="Times New Roman" panose="02020603050405020304" charset="0"/>
                          <a:ea typeface="宋体" panose="02010600030101010101" pitchFamily="2" charset="-122"/>
                        </a:rPr>
                        <a:t>甲氧基乙氧基</a:t>
                      </a:r>
                      <a:r>
                        <a:rPr lang="en-US" altLang="zh-CN" baseline="0" dirty="0">
                          <a:latin typeface="Times New Roman" panose="02020603050405020304" charset="0"/>
                          <a:ea typeface="宋体" panose="02010600030101010101" pitchFamily="2" charset="-122"/>
                        </a:rPr>
                        <a:t>) </a:t>
                      </a:r>
                      <a:r>
                        <a:rPr lang="zh-CN" altLang="en-US" baseline="0" dirty="0">
                          <a:latin typeface="Times New Roman" panose="02020603050405020304" charset="0"/>
                          <a:ea typeface="宋体" panose="02010600030101010101" pitchFamily="2" charset="-122"/>
                        </a:rPr>
                        <a:t>氢化铝钠</a:t>
                      </a:r>
                    </a:p>
                  </a:txBody>
                  <a:tcPr anchor="ctr"/>
                </a:tc>
                <a:tc>
                  <a:txBody>
                    <a:bodyPr/>
                    <a:lstStyle/>
                    <a:p>
                      <a:pPr algn="ctr"/>
                      <a:r>
                        <a:rPr lang="en-US" altLang="zh-CN" baseline="0" dirty="0">
                          <a:latin typeface="Times New Roman" panose="02020603050405020304" charset="0"/>
                          <a:ea typeface="宋体" panose="02010600030101010101" pitchFamily="2" charset="-122"/>
                        </a:rPr>
                        <a:t>1876</a:t>
                      </a:r>
                      <a:endParaRPr lang="zh-CN" altLang="en-US" baseline="0" dirty="0">
                        <a:latin typeface="Times New Roman" panose="02020603050405020304" charset="0"/>
                        <a:ea typeface="宋体" panose="02010600030101010101" pitchFamily="2" charset="-122"/>
                      </a:endParaRPr>
                    </a:p>
                  </a:txBody>
                  <a:tcPr anchor="ctr"/>
                </a:tc>
                <a:tc>
                  <a:txBody>
                    <a:bodyPr/>
                    <a:lstStyle/>
                    <a:p>
                      <a:pPr algn="ctr"/>
                      <a:r>
                        <a:rPr lang="zh-CN" altLang="en-US" baseline="0" dirty="0">
                          <a:latin typeface="Times New Roman" panose="02020603050405020304" charset="0"/>
                          <a:ea typeface="宋体" panose="02010600030101010101" pitchFamily="2" charset="-122"/>
                        </a:rPr>
                        <a:t>四氢呋喃</a:t>
                      </a:r>
                    </a:p>
                  </a:txBody>
                  <a:tcPr anchor="ctr"/>
                </a:tc>
                <a:tc>
                  <a:txBody>
                    <a:bodyPr/>
                    <a:lstStyle/>
                    <a:p>
                      <a:pPr algn="ctr"/>
                      <a:r>
                        <a:rPr lang="en-US" altLang="zh-CN" baseline="0" dirty="0">
                          <a:latin typeface="Times New Roman" panose="02020603050405020304" charset="0"/>
                          <a:ea typeface="宋体" panose="02010600030101010101" pitchFamily="2" charset="-122"/>
                        </a:rPr>
                        <a:t>165</a:t>
                      </a:r>
                      <a:endParaRPr lang="zh-CN" altLang="en-US" baseline="0" dirty="0">
                        <a:latin typeface="Times New Roman" panose="02020603050405020304" charset="0"/>
                        <a:ea typeface="宋体" panose="02010600030101010101" pitchFamily="2" charset="-122"/>
                      </a:endParaRPr>
                    </a:p>
                  </a:txBody>
                  <a:tcPr anchor="ctr"/>
                </a:tc>
                <a:extLst>
                  <a:ext uri="{0D108BD9-81ED-4DB2-BD59-A6C34878D82A}">
                    <a16:rowId xmlns:a16="http://schemas.microsoft.com/office/drawing/2014/main" val="10003"/>
                  </a:ext>
                </a:extLst>
              </a:tr>
              <a:tr h="370840">
                <a:tc>
                  <a:txBody>
                    <a:bodyPr/>
                    <a:lstStyle/>
                    <a:p>
                      <a:pPr algn="ctr"/>
                      <a:r>
                        <a:rPr lang="zh-CN" altLang="en-US" baseline="0" dirty="0">
                          <a:latin typeface="Times New Roman" panose="02020603050405020304" charset="0"/>
                          <a:ea typeface="宋体" panose="02010600030101010101" pitchFamily="2" charset="-122"/>
                        </a:rPr>
                        <a:t>氢氧化钠</a:t>
                      </a:r>
                    </a:p>
                  </a:txBody>
                  <a:tcPr anchor="ctr"/>
                </a:tc>
                <a:tc>
                  <a:txBody>
                    <a:bodyPr/>
                    <a:lstStyle/>
                    <a:p>
                      <a:pPr algn="ctr"/>
                      <a:r>
                        <a:rPr lang="en-US" altLang="zh-CN" baseline="0" dirty="0">
                          <a:latin typeface="Times New Roman" panose="02020603050405020304" charset="0"/>
                          <a:ea typeface="宋体" panose="02010600030101010101" pitchFamily="2" charset="-122"/>
                        </a:rPr>
                        <a:t>344</a:t>
                      </a:r>
                      <a:endParaRPr lang="zh-CN" altLang="en-US" baseline="0" dirty="0">
                        <a:latin typeface="Times New Roman" panose="02020603050405020304" charset="0"/>
                        <a:ea typeface="宋体" panose="02010600030101010101" pitchFamily="2" charset="-122"/>
                      </a:endParaRPr>
                    </a:p>
                  </a:txBody>
                  <a:tcPr anchor="ctr"/>
                </a:tc>
                <a:tc>
                  <a:txBody>
                    <a:bodyPr/>
                    <a:lstStyle/>
                    <a:p>
                      <a:pPr algn="ctr"/>
                      <a:r>
                        <a:rPr lang="zh-CN" altLang="en-US" baseline="0" dirty="0">
                          <a:latin typeface="Times New Roman" panose="02020603050405020304" charset="0"/>
                          <a:ea typeface="宋体" panose="02010600030101010101" pitchFamily="2" charset="-122"/>
                        </a:rPr>
                        <a:t>甲苯</a:t>
                      </a:r>
                    </a:p>
                  </a:txBody>
                  <a:tcPr anchor="ctr"/>
                </a:tc>
                <a:tc>
                  <a:txBody>
                    <a:bodyPr/>
                    <a:lstStyle/>
                    <a:p>
                      <a:pPr algn="ctr"/>
                      <a:r>
                        <a:rPr lang="en-US" altLang="zh-CN" baseline="0" dirty="0">
                          <a:latin typeface="Times New Roman" panose="02020603050405020304" charset="0"/>
                          <a:ea typeface="宋体" panose="02010600030101010101" pitchFamily="2" charset="-122"/>
                        </a:rPr>
                        <a:t>30</a:t>
                      </a:r>
                      <a:endParaRPr lang="zh-CN" altLang="en-US" baseline="0" dirty="0">
                        <a:latin typeface="Times New Roman" panose="02020603050405020304" charset="0"/>
                        <a:ea typeface="宋体" panose="02010600030101010101" pitchFamily="2" charset="-122"/>
                      </a:endParaRPr>
                    </a:p>
                  </a:txBody>
                  <a:tcPr anchor="ctr"/>
                </a:tc>
                <a:extLst>
                  <a:ext uri="{0D108BD9-81ED-4DB2-BD59-A6C34878D82A}">
                    <a16:rowId xmlns:a16="http://schemas.microsoft.com/office/drawing/2014/main" val="10004"/>
                  </a:ext>
                </a:extLst>
              </a:tr>
              <a:tr h="370840">
                <a:tc>
                  <a:txBody>
                    <a:bodyPr/>
                    <a:lstStyle/>
                    <a:p>
                      <a:pPr algn="ctr"/>
                      <a:r>
                        <a:rPr lang="zh-CN" altLang="en-US" baseline="0" dirty="0">
                          <a:latin typeface="Times New Roman" panose="02020603050405020304" charset="0"/>
                          <a:ea typeface="宋体" panose="02010600030101010101" pitchFamily="2" charset="-122"/>
                        </a:rPr>
                        <a:t>液氨</a:t>
                      </a:r>
                    </a:p>
                  </a:txBody>
                  <a:tcPr anchor="ctr"/>
                </a:tc>
                <a:tc>
                  <a:txBody>
                    <a:bodyPr/>
                    <a:lstStyle/>
                    <a:p>
                      <a:pPr algn="ctr"/>
                      <a:r>
                        <a:rPr lang="en-US" altLang="zh-CN" baseline="0" dirty="0">
                          <a:latin typeface="Times New Roman" panose="02020603050405020304" charset="0"/>
                          <a:ea typeface="宋体" panose="02010600030101010101" pitchFamily="2" charset="-122"/>
                        </a:rPr>
                        <a:t>862</a:t>
                      </a:r>
                      <a:endParaRPr lang="zh-CN" altLang="en-US" baseline="0" dirty="0">
                        <a:latin typeface="Times New Roman" panose="02020603050405020304" charset="0"/>
                        <a:ea typeface="宋体" panose="02010600030101010101" pitchFamily="2" charset="-122"/>
                      </a:endParaRPr>
                    </a:p>
                  </a:txBody>
                  <a:tcPr anchor="ctr"/>
                </a:tc>
                <a:tc>
                  <a:txBody>
                    <a:bodyPr/>
                    <a:lstStyle/>
                    <a:p>
                      <a:pPr algn="ctr"/>
                      <a:r>
                        <a:rPr lang="zh-CN" altLang="en-US" baseline="0" dirty="0">
                          <a:latin typeface="Times New Roman" panose="02020603050405020304" charset="0"/>
                          <a:ea typeface="宋体" panose="02010600030101010101" pitchFamily="2" charset="-122"/>
                        </a:rPr>
                        <a:t>甲醇</a:t>
                      </a:r>
                    </a:p>
                  </a:txBody>
                  <a:tcPr anchor="ctr"/>
                </a:tc>
                <a:tc>
                  <a:txBody>
                    <a:bodyPr/>
                    <a:lstStyle/>
                    <a:p>
                      <a:pPr algn="ctr"/>
                      <a:r>
                        <a:rPr lang="en-US" altLang="zh-CN" baseline="0" dirty="0">
                          <a:latin typeface="Times New Roman" panose="02020603050405020304" charset="0"/>
                          <a:ea typeface="宋体" panose="02010600030101010101" pitchFamily="2" charset="-122"/>
                        </a:rPr>
                        <a:t>90</a:t>
                      </a:r>
                      <a:endParaRPr lang="zh-CN" altLang="en-US" baseline="0" dirty="0">
                        <a:latin typeface="Times New Roman" panose="02020603050405020304" charset="0"/>
                        <a:ea typeface="宋体" panose="02010600030101010101" pitchFamily="2" charset="-122"/>
                      </a:endParaRPr>
                    </a:p>
                  </a:txBody>
                  <a:tcPr anchor="ctr"/>
                </a:tc>
                <a:extLst>
                  <a:ext uri="{0D108BD9-81ED-4DB2-BD59-A6C34878D82A}">
                    <a16:rowId xmlns:a16="http://schemas.microsoft.com/office/drawing/2014/main" val="10005"/>
                  </a:ext>
                </a:extLst>
              </a:tr>
              <a:tr h="370840">
                <a:tc>
                  <a:txBody>
                    <a:bodyPr/>
                    <a:lstStyle/>
                    <a:p>
                      <a:pPr algn="ctr"/>
                      <a:r>
                        <a:rPr lang="en-US" altLang="zh-CN" baseline="0" dirty="0">
                          <a:latin typeface="Times New Roman" panose="02020603050405020304" charset="0"/>
                          <a:ea typeface="宋体" panose="02010600030101010101" pitchFamily="2" charset="-122"/>
                        </a:rPr>
                        <a:t>(3R) -3 -</a:t>
                      </a:r>
                      <a:r>
                        <a:rPr lang="zh-CN" altLang="en-US" baseline="0" dirty="0">
                          <a:latin typeface="Times New Roman" panose="02020603050405020304" charset="0"/>
                          <a:ea typeface="宋体" panose="02010600030101010101" pitchFamily="2" charset="-122"/>
                        </a:rPr>
                        <a:t>对甲基苯磺酸酯</a:t>
                      </a:r>
                    </a:p>
                    <a:p>
                      <a:pPr algn="ctr"/>
                      <a:r>
                        <a:rPr lang="zh-CN" altLang="en-US" baseline="0" dirty="0">
                          <a:latin typeface="Times New Roman" panose="02020603050405020304" charset="0"/>
                          <a:ea typeface="宋体" panose="02010600030101010101" pitchFamily="2" charset="-122"/>
                        </a:rPr>
                        <a:t>基</a:t>
                      </a:r>
                      <a:r>
                        <a:rPr lang="en-US" altLang="zh-CN" baseline="0" dirty="0">
                          <a:latin typeface="Times New Roman" panose="02020603050405020304" charset="0"/>
                          <a:ea typeface="宋体" panose="02010600030101010101" pitchFamily="2" charset="-122"/>
                        </a:rPr>
                        <a:t>-5 -</a:t>
                      </a:r>
                      <a:r>
                        <a:rPr lang="zh-CN" altLang="en-US" baseline="0" dirty="0">
                          <a:latin typeface="Times New Roman" panose="02020603050405020304" charset="0"/>
                          <a:ea typeface="宋体" panose="02010600030101010101" pitchFamily="2" charset="-122"/>
                        </a:rPr>
                        <a:t>羰基</a:t>
                      </a:r>
                      <a:r>
                        <a:rPr lang="en-US" altLang="zh-CN" baseline="0" dirty="0">
                          <a:latin typeface="Times New Roman" panose="02020603050405020304" charset="0"/>
                          <a:ea typeface="宋体" panose="02010600030101010101" pitchFamily="2" charset="-122"/>
                        </a:rPr>
                        <a:t>-6 -</a:t>
                      </a:r>
                      <a:r>
                        <a:rPr lang="zh-CN" altLang="en-US" baseline="0" dirty="0">
                          <a:latin typeface="Times New Roman" panose="02020603050405020304" charset="0"/>
                          <a:ea typeface="宋体" panose="02010600030101010101" pitchFamily="2" charset="-122"/>
                        </a:rPr>
                        <a:t>炔钠庚酸乙酯</a:t>
                      </a:r>
                    </a:p>
                    <a:p>
                      <a:pPr algn="ctr"/>
                      <a:endParaRPr lang="zh-CN" altLang="en-US" baseline="0" dirty="0">
                        <a:latin typeface="Times New Roman" panose="02020603050405020304" charset="0"/>
                        <a:ea typeface="宋体" panose="02010600030101010101" pitchFamily="2" charset="-122"/>
                      </a:endParaRPr>
                    </a:p>
                  </a:txBody>
                  <a:tcPr anchor="ctr"/>
                </a:tc>
                <a:tc>
                  <a:txBody>
                    <a:bodyPr/>
                    <a:lstStyle/>
                    <a:p>
                      <a:pPr algn="ctr"/>
                      <a:r>
                        <a:rPr lang="en-US" altLang="zh-CN" baseline="0" dirty="0">
                          <a:latin typeface="Times New Roman" panose="02020603050405020304" charset="0"/>
                          <a:ea typeface="宋体" panose="02010600030101010101" pitchFamily="2" charset="-122"/>
                        </a:rPr>
                        <a:t>_</a:t>
                      </a:r>
                      <a:endParaRPr lang="zh-CN" altLang="en-US" baseline="0" dirty="0">
                        <a:latin typeface="Times New Roman" panose="02020603050405020304" charset="0"/>
                        <a:ea typeface="宋体" panose="02010600030101010101" pitchFamily="2" charset="-122"/>
                      </a:endParaRPr>
                    </a:p>
                  </a:txBody>
                  <a:tcPr anchor="ctr"/>
                </a:tc>
                <a:tc>
                  <a:txBody>
                    <a:bodyPr/>
                    <a:lstStyle/>
                    <a:p>
                      <a:pPr algn="ctr"/>
                      <a:r>
                        <a:rPr lang="zh-CN" altLang="en-US" baseline="0" dirty="0">
                          <a:latin typeface="Times New Roman" panose="02020603050405020304" charset="0"/>
                          <a:ea typeface="宋体" panose="02010600030101010101" pitchFamily="2" charset="-122"/>
                        </a:rPr>
                        <a:t>乙醇</a:t>
                      </a:r>
                    </a:p>
                  </a:txBody>
                  <a:tcPr anchor="ctr"/>
                </a:tc>
                <a:tc>
                  <a:txBody>
                    <a:bodyPr/>
                    <a:lstStyle/>
                    <a:p>
                      <a:pPr algn="ctr"/>
                      <a:r>
                        <a:rPr lang="en-US" altLang="zh-CN" baseline="0" dirty="0">
                          <a:latin typeface="Times New Roman" panose="02020603050405020304" charset="0"/>
                          <a:ea typeface="宋体" panose="02010600030101010101" pitchFamily="2" charset="-122"/>
                        </a:rPr>
                        <a:t>70</a:t>
                      </a:r>
                      <a:endParaRPr lang="zh-CN" altLang="en-US" baseline="0" dirty="0">
                        <a:latin typeface="Times New Roman" panose="02020603050405020304" charset="0"/>
                        <a:ea typeface="宋体" panose="02010600030101010101" pitchFamily="2" charset="-122"/>
                      </a:endParaRPr>
                    </a:p>
                  </a:txBody>
                  <a:tcPr anchor="ctr"/>
                </a:tc>
                <a:extLst>
                  <a:ext uri="{0D108BD9-81ED-4DB2-BD59-A6C34878D82A}">
                    <a16:rowId xmlns:a16="http://schemas.microsoft.com/office/drawing/2014/main" val="10006"/>
                  </a:ext>
                </a:extLst>
              </a:tr>
            </a:tbl>
          </a:graphicData>
        </a:graphic>
      </p:graphicFrame>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741873" y="695865"/>
            <a:ext cx="4825360" cy="461665"/>
          </a:xfrm>
          <a:prstGeom prst="rect">
            <a:avLst/>
          </a:prstGeom>
          <a:noFill/>
        </p:spPr>
        <p:txBody>
          <a:bodyPr wrap="none" rtlCol="0">
            <a:spAutoFit/>
          </a:bodyPr>
          <a:lstStyle/>
          <a:p>
            <a:r>
              <a:rPr lang="zh-CN" altLang="en-US" sz="2400" b="1" dirty="0">
                <a:solidFill>
                  <a:srgbClr val="C00000"/>
                </a:solidFill>
                <a:latin typeface="Times New Roman" panose="02020603050405020304" charset="0"/>
                <a:ea typeface="宋体" panose="02010600030101010101" pitchFamily="2" charset="-122"/>
              </a:rPr>
              <a:t>匹伐他汀合成路线路线优点、缺点</a:t>
            </a:r>
          </a:p>
        </p:txBody>
      </p:sp>
      <p:sp>
        <p:nvSpPr>
          <p:cNvPr id="3" name="文本框 2"/>
          <p:cNvSpPr txBox="1"/>
          <p:nvPr/>
        </p:nvSpPr>
        <p:spPr>
          <a:xfrm>
            <a:off x="1026544" y="1153065"/>
            <a:ext cx="958917" cy="495585"/>
          </a:xfrm>
          <a:prstGeom prst="rect">
            <a:avLst/>
          </a:prstGeom>
          <a:noFill/>
        </p:spPr>
        <p:txBody>
          <a:bodyPr wrap="none" rtlCol="0">
            <a:spAutoFit/>
          </a:bodyPr>
          <a:lstStyle/>
          <a:p>
            <a:pPr>
              <a:lnSpc>
                <a:spcPct val="150000"/>
              </a:lnSpc>
            </a:pPr>
            <a:r>
              <a:rPr lang="zh-CN" altLang="en-US" sz="2000" b="1" dirty="0">
                <a:solidFill>
                  <a:schemeClr val="tx2">
                    <a:lumMod val="50000"/>
                    <a:lumOff val="50000"/>
                  </a:schemeClr>
                </a:solidFill>
                <a:latin typeface="Times New Roman" panose="02020603050405020304" charset="0"/>
                <a:ea typeface="宋体" panose="02010600030101010101" pitchFamily="2" charset="-122"/>
              </a:rPr>
              <a:t>优点：</a:t>
            </a:r>
          </a:p>
        </p:txBody>
      </p:sp>
      <p:sp>
        <p:nvSpPr>
          <p:cNvPr id="2" name="文本框 1"/>
          <p:cNvSpPr txBox="1"/>
          <p:nvPr/>
        </p:nvSpPr>
        <p:spPr>
          <a:xfrm>
            <a:off x="1150189" y="1780502"/>
            <a:ext cx="9891622" cy="4188904"/>
          </a:xfrm>
          <a:prstGeom prst="rect">
            <a:avLst/>
          </a:prstGeom>
          <a:noFill/>
        </p:spPr>
        <p:txBody>
          <a:bodyPr wrap="square" rtlCol="0">
            <a:spAutoFit/>
          </a:bodyPr>
          <a:lstStyle/>
          <a:p>
            <a:pPr>
              <a:lnSpc>
                <a:spcPct val="150000"/>
              </a:lnSpc>
            </a:pPr>
            <a:r>
              <a:rPr lang="en-US" altLang="zh-CN" sz="2000" b="1" dirty="0">
                <a:solidFill>
                  <a:schemeClr val="tx1">
                    <a:lumMod val="75000"/>
                    <a:lumOff val="25000"/>
                  </a:schemeClr>
                </a:solidFill>
                <a:latin typeface="Times New Roman" panose="02020603050405020304" charset="0"/>
                <a:ea typeface="宋体" panose="02010600030101010101" pitchFamily="2" charset="-122"/>
              </a:rPr>
              <a:t>        1.</a:t>
            </a:r>
            <a:r>
              <a:rPr lang="zh-CN" altLang="en-US" sz="2000" b="1" dirty="0">
                <a:solidFill>
                  <a:schemeClr val="tx1">
                    <a:lumMod val="75000"/>
                    <a:lumOff val="25000"/>
                  </a:schemeClr>
                </a:solidFill>
                <a:latin typeface="Times New Roman" panose="02020603050405020304" charset="0"/>
                <a:ea typeface="宋体" panose="02010600030101010101" pitchFamily="2" charset="-122"/>
              </a:rPr>
              <a:t>采用炔钠偶联 </a:t>
            </a:r>
            <a:r>
              <a:rPr lang="en-US" altLang="zh-CN" sz="2000" b="1" dirty="0">
                <a:solidFill>
                  <a:schemeClr val="tx1">
                    <a:lumMod val="75000"/>
                    <a:lumOff val="25000"/>
                  </a:schemeClr>
                </a:solidFill>
                <a:latin typeface="Times New Roman" panose="02020603050405020304" charset="0"/>
                <a:ea typeface="宋体" panose="02010600030101010101" pitchFamily="2" charset="-122"/>
              </a:rPr>
              <a:t>+ Red-Al </a:t>
            </a:r>
            <a:r>
              <a:rPr lang="zh-CN" altLang="en-US" sz="2000" b="1" dirty="0">
                <a:solidFill>
                  <a:schemeClr val="tx1">
                    <a:lumMod val="75000"/>
                    <a:lumOff val="25000"/>
                  </a:schemeClr>
                </a:solidFill>
                <a:latin typeface="Times New Roman" panose="02020603050405020304" charset="0"/>
                <a:ea typeface="宋体" panose="02010600030101010101" pitchFamily="2" charset="-122"/>
              </a:rPr>
              <a:t>还原体系，可高效、高选择性地构建反式（</a:t>
            </a:r>
            <a:r>
              <a:rPr lang="en-US" altLang="zh-CN" sz="2000" b="1" dirty="0">
                <a:solidFill>
                  <a:schemeClr val="tx1">
                    <a:lumMod val="75000"/>
                    <a:lumOff val="25000"/>
                  </a:schemeClr>
                </a:solidFill>
                <a:latin typeface="Times New Roman" panose="02020603050405020304" charset="0"/>
                <a:ea typeface="宋体" panose="02010600030101010101" pitchFamily="2" charset="-122"/>
              </a:rPr>
              <a:t>E</a:t>
            </a:r>
            <a:r>
              <a:rPr lang="zh-CN" altLang="en-US" sz="2000" b="1" dirty="0">
                <a:solidFill>
                  <a:schemeClr val="tx1">
                    <a:lumMod val="75000"/>
                    <a:lumOff val="25000"/>
                  </a:schemeClr>
                </a:solidFill>
                <a:latin typeface="Times New Roman" panose="02020603050405020304" charset="0"/>
                <a:ea typeface="宋体" panose="02010600030101010101" pitchFamily="2" charset="-122"/>
              </a:rPr>
              <a:t>）双键，避免了 </a:t>
            </a:r>
            <a:r>
              <a:rPr lang="en-US" altLang="zh-CN" sz="2000" b="1" dirty="0">
                <a:solidFill>
                  <a:schemeClr val="tx1">
                    <a:lumMod val="75000"/>
                    <a:lumOff val="25000"/>
                  </a:schemeClr>
                </a:solidFill>
                <a:latin typeface="Times New Roman" panose="02020603050405020304" charset="0"/>
                <a:ea typeface="宋体" panose="02010600030101010101" pitchFamily="2" charset="-122"/>
              </a:rPr>
              <a:t>Wittig </a:t>
            </a:r>
            <a:r>
              <a:rPr lang="zh-CN" altLang="en-US" sz="2000" b="1" dirty="0">
                <a:solidFill>
                  <a:schemeClr val="tx1">
                    <a:lumMod val="75000"/>
                    <a:lumOff val="25000"/>
                  </a:schemeClr>
                </a:solidFill>
                <a:latin typeface="Times New Roman" panose="02020603050405020304" charset="0"/>
                <a:ea typeface="宋体" panose="02010600030101010101" pitchFamily="2" charset="-122"/>
              </a:rPr>
              <a:t>反应中顺式异构体的大量生成，大幅降低后续分离纯化难度，提升产品纯度与收率。</a:t>
            </a:r>
            <a:endParaRPr lang="en-US" altLang="zh-CN" sz="2000" b="1" dirty="0">
              <a:solidFill>
                <a:schemeClr val="tx1">
                  <a:lumMod val="75000"/>
                  <a:lumOff val="25000"/>
                </a:schemeClr>
              </a:solidFill>
              <a:latin typeface="Times New Roman" panose="02020603050405020304" charset="0"/>
              <a:ea typeface="宋体" panose="02010600030101010101" pitchFamily="2" charset="-122"/>
            </a:endParaRPr>
          </a:p>
          <a:p>
            <a:pPr>
              <a:lnSpc>
                <a:spcPct val="150000"/>
              </a:lnSpc>
            </a:pPr>
            <a:r>
              <a:rPr lang="en-US" altLang="zh-CN" sz="2000" b="1" dirty="0">
                <a:solidFill>
                  <a:schemeClr val="tx1">
                    <a:lumMod val="75000"/>
                    <a:lumOff val="25000"/>
                  </a:schemeClr>
                </a:solidFill>
                <a:latin typeface="Times New Roman" panose="02020603050405020304" charset="0"/>
                <a:ea typeface="宋体" panose="02010600030101010101" pitchFamily="2" charset="-122"/>
              </a:rPr>
              <a:t>        2.</a:t>
            </a:r>
            <a:r>
              <a:rPr lang="zh-CN" altLang="en-US" sz="2000" b="1" dirty="0">
                <a:solidFill>
                  <a:schemeClr val="tx1">
                    <a:lumMod val="75000"/>
                    <a:lumOff val="25000"/>
                  </a:schemeClr>
                </a:solidFill>
                <a:latin typeface="Times New Roman" panose="02020603050405020304" charset="0"/>
                <a:ea typeface="宋体" panose="02010600030101010101" pitchFamily="2" charset="-122"/>
              </a:rPr>
              <a:t>使用经典的</a:t>
            </a:r>
            <a:r>
              <a:rPr lang="en-US" altLang="zh-CN" sz="2000" b="1" dirty="0" err="1">
                <a:solidFill>
                  <a:schemeClr val="tx1">
                    <a:lumMod val="75000"/>
                    <a:lumOff val="25000"/>
                  </a:schemeClr>
                </a:solidFill>
                <a:latin typeface="Times New Roman" panose="02020603050405020304" charset="0"/>
                <a:ea typeface="宋体" panose="02010600030101010101" pitchFamily="2" charset="-122"/>
              </a:rPr>
              <a:t>Et₂BOMe</a:t>
            </a:r>
            <a:r>
              <a:rPr lang="en-US" altLang="zh-CN" sz="2000" b="1" dirty="0">
                <a:solidFill>
                  <a:schemeClr val="tx1">
                    <a:lumMod val="75000"/>
                    <a:lumOff val="25000"/>
                  </a:schemeClr>
                </a:solidFill>
                <a:latin typeface="Times New Roman" panose="02020603050405020304" charset="0"/>
                <a:ea typeface="宋体" panose="02010600030101010101" pitchFamily="2" charset="-122"/>
              </a:rPr>
              <a:t>/</a:t>
            </a:r>
            <a:r>
              <a:rPr lang="en-US" altLang="zh-CN" sz="2000" b="1" dirty="0" err="1">
                <a:solidFill>
                  <a:schemeClr val="tx1">
                    <a:lumMod val="75000"/>
                    <a:lumOff val="25000"/>
                  </a:schemeClr>
                </a:solidFill>
                <a:latin typeface="Times New Roman" panose="02020603050405020304" charset="0"/>
                <a:ea typeface="宋体" panose="02010600030101010101" pitchFamily="2" charset="-122"/>
              </a:rPr>
              <a:t>NaBH</a:t>
            </a:r>
            <a:r>
              <a:rPr lang="en-US" altLang="zh-CN" sz="2000" b="1" dirty="0">
                <a:solidFill>
                  <a:schemeClr val="tx1">
                    <a:lumMod val="75000"/>
                    <a:lumOff val="25000"/>
                  </a:schemeClr>
                </a:solidFill>
                <a:latin typeface="Times New Roman" panose="02020603050405020304" charset="0"/>
                <a:ea typeface="宋体" panose="02010600030101010101" pitchFamily="2" charset="-122"/>
              </a:rPr>
              <a:t>₄</a:t>
            </a:r>
            <a:r>
              <a:rPr lang="zh-CN" altLang="en-US" sz="2000" b="1" dirty="0">
                <a:solidFill>
                  <a:schemeClr val="tx1">
                    <a:lumMod val="75000"/>
                    <a:lumOff val="25000"/>
                  </a:schemeClr>
                </a:solidFill>
                <a:latin typeface="Times New Roman" panose="02020603050405020304" charset="0"/>
                <a:ea typeface="宋体" panose="02010600030101010101" pitchFamily="2" charset="-122"/>
              </a:rPr>
              <a:t>（</a:t>
            </a:r>
            <a:r>
              <a:rPr lang="en-US" altLang="zh-CN" sz="2000" b="1" dirty="0">
                <a:solidFill>
                  <a:schemeClr val="tx1">
                    <a:lumMod val="75000"/>
                    <a:lumOff val="25000"/>
                  </a:schemeClr>
                </a:solidFill>
                <a:latin typeface="Times New Roman" panose="02020603050405020304" charset="0"/>
                <a:ea typeface="宋体" panose="02010600030101010101" pitchFamily="2" charset="-122"/>
              </a:rPr>
              <a:t>Brown </a:t>
            </a:r>
            <a:r>
              <a:rPr lang="zh-CN" altLang="en-US" sz="2000" b="1" dirty="0">
                <a:solidFill>
                  <a:schemeClr val="tx1">
                    <a:lumMod val="75000"/>
                    <a:lumOff val="25000"/>
                  </a:schemeClr>
                </a:solidFill>
                <a:latin typeface="Times New Roman" panose="02020603050405020304" charset="0"/>
                <a:ea typeface="宋体" panose="02010600030101010101" pitchFamily="2" charset="-122"/>
              </a:rPr>
              <a:t>还原）体系对酮羰基进行不对称还原，反应条件成熟，非对映选择性与 </a:t>
            </a:r>
            <a:r>
              <a:rPr lang="en-US" altLang="zh-CN" sz="2000" b="1" dirty="0">
                <a:solidFill>
                  <a:schemeClr val="tx1">
                    <a:lumMod val="75000"/>
                    <a:lumOff val="25000"/>
                  </a:schemeClr>
                </a:solidFill>
                <a:latin typeface="Times New Roman" panose="02020603050405020304" charset="0"/>
                <a:ea typeface="宋体" panose="02010600030101010101" pitchFamily="2" charset="-122"/>
              </a:rPr>
              <a:t>ee </a:t>
            </a:r>
            <a:r>
              <a:rPr lang="zh-CN" altLang="en-US" sz="2000" b="1" dirty="0">
                <a:solidFill>
                  <a:schemeClr val="tx1">
                    <a:lumMod val="75000"/>
                    <a:lumOff val="25000"/>
                  </a:schemeClr>
                </a:solidFill>
                <a:latin typeface="Times New Roman" panose="02020603050405020304" charset="0"/>
                <a:ea typeface="宋体" panose="02010600030101010101" pitchFamily="2" charset="-122"/>
              </a:rPr>
              <a:t>值高，能精准得到目标构型羟基。</a:t>
            </a:r>
            <a:endParaRPr lang="en-US" altLang="zh-CN" sz="2000" b="1" dirty="0">
              <a:solidFill>
                <a:schemeClr val="tx1">
                  <a:lumMod val="75000"/>
                  <a:lumOff val="25000"/>
                </a:schemeClr>
              </a:solidFill>
              <a:latin typeface="Times New Roman" panose="02020603050405020304" charset="0"/>
              <a:ea typeface="宋体" panose="02010600030101010101" pitchFamily="2" charset="-122"/>
            </a:endParaRPr>
          </a:p>
          <a:p>
            <a:pPr>
              <a:lnSpc>
                <a:spcPct val="150000"/>
              </a:lnSpc>
            </a:pPr>
            <a:r>
              <a:rPr lang="en-US" altLang="zh-CN" sz="2000" b="1" dirty="0">
                <a:solidFill>
                  <a:schemeClr val="tx1">
                    <a:lumMod val="75000"/>
                    <a:lumOff val="25000"/>
                  </a:schemeClr>
                </a:solidFill>
                <a:latin typeface="Times New Roman" panose="02020603050405020304" charset="0"/>
                <a:ea typeface="宋体" panose="02010600030101010101" pitchFamily="2" charset="-122"/>
              </a:rPr>
              <a:t>        3.</a:t>
            </a:r>
            <a:r>
              <a:rPr lang="zh-CN" altLang="en-US" sz="2000" b="1" dirty="0">
                <a:solidFill>
                  <a:schemeClr val="tx1">
                    <a:lumMod val="75000"/>
                    <a:lumOff val="25000"/>
                  </a:schemeClr>
                </a:solidFill>
                <a:latin typeface="Times New Roman" panose="02020603050405020304" charset="0"/>
                <a:ea typeface="宋体" panose="02010600030101010101" pitchFamily="2" charset="-122"/>
              </a:rPr>
              <a:t>侧链上的手性羟基（</a:t>
            </a:r>
            <a:r>
              <a:rPr lang="en-US" altLang="zh-CN" sz="2000" b="1" dirty="0">
                <a:solidFill>
                  <a:schemeClr val="tx1">
                    <a:lumMod val="75000"/>
                    <a:lumOff val="25000"/>
                  </a:schemeClr>
                </a:solidFill>
                <a:latin typeface="Times New Roman" panose="02020603050405020304" charset="0"/>
                <a:ea typeface="宋体" panose="02010600030101010101" pitchFamily="2" charset="-122"/>
              </a:rPr>
              <a:t>-OR₁</a:t>
            </a:r>
            <a:r>
              <a:rPr lang="zh-CN" altLang="en-US" sz="2000" b="1" dirty="0">
                <a:solidFill>
                  <a:schemeClr val="tx1">
                    <a:lumMod val="75000"/>
                    <a:lumOff val="25000"/>
                  </a:schemeClr>
                </a:solidFill>
                <a:latin typeface="Times New Roman" panose="02020603050405020304" charset="0"/>
                <a:ea typeface="宋体" panose="02010600030101010101" pitchFamily="2" charset="-122"/>
              </a:rPr>
              <a:t>）在偶联前就已构建完成，后续步骤不涉及手性中心的消旋风险，能保证最终产物的光学纯度，减少了手性拆分的额外步骤和成本。</a:t>
            </a:r>
            <a:endParaRPr lang="en-US" altLang="zh-CN" sz="2000" b="1" dirty="0">
              <a:solidFill>
                <a:schemeClr val="tx1">
                  <a:lumMod val="75000"/>
                  <a:lumOff val="25000"/>
                </a:schemeClr>
              </a:solidFill>
              <a:latin typeface="Times New Roman" panose="02020603050405020304" charset="0"/>
              <a:ea typeface="宋体" panose="02010600030101010101" pitchFamily="2" charset="-122"/>
            </a:endParaRPr>
          </a:p>
          <a:p>
            <a:pPr>
              <a:lnSpc>
                <a:spcPct val="150000"/>
              </a:lnSpc>
            </a:pPr>
            <a:r>
              <a:rPr lang="en-US" altLang="zh-CN" sz="2000" b="1" dirty="0">
                <a:solidFill>
                  <a:schemeClr val="tx1">
                    <a:lumMod val="75000"/>
                    <a:lumOff val="25000"/>
                  </a:schemeClr>
                </a:solidFill>
                <a:latin typeface="Times New Roman" panose="02020603050405020304" charset="0"/>
                <a:ea typeface="宋体" panose="02010600030101010101" pitchFamily="2" charset="-122"/>
              </a:rPr>
              <a:t>        4.</a:t>
            </a:r>
            <a:r>
              <a:rPr lang="zh-CN" altLang="en-US" sz="2000" b="1" dirty="0">
                <a:solidFill>
                  <a:schemeClr val="tx1">
                    <a:lumMod val="75000"/>
                    <a:lumOff val="25000"/>
                  </a:schemeClr>
                </a:solidFill>
                <a:latin typeface="Times New Roman" panose="02020603050405020304" charset="0"/>
                <a:ea typeface="宋体" panose="02010600030101010101" pitchFamily="2" charset="-122"/>
              </a:rPr>
              <a:t>母核（喹啉环）和侧链的关键中间体均为文献 </a:t>
            </a:r>
            <a:r>
              <a:rPr lang="en-US" altLang="zh-CN" sz="2000" b="1" dirty="0">
                <a:solidFill>
                  <a:schemeClr val="tx1">
                    <a:lumMod val="75000"/>
                    <a:lumOff val="25000"/>
                  </a:schemeClr>
                </a:solidFill>
                <a:latin typeface="Times New Roman" panose="02020603050405020304" charset="0"/>
                <a:ea typeface="宋体" panose="02010600030101010101" pitchFamily="2" charset="-122"/>
              </a:rPr>
              <a:t>/ </a:t>
            </a:r>
            <a:r>
              <a:rPr lang="zh-CN" altLang="en-US" sz="2000" b="1" dirty="0">
                <a:solidFill>
                  <a:schemeClr val="tx1">
                    <a:lumMod val="75000"/>
                    <a:lumOff val="25000"/>
                  </a:schemeClr>
                </a:solidFill>
                <a:latin typeface="Times New Roman" panose="02020603050405020304" charset="0"/>
                <a:ea typeface="宋体" panose="02010600030101010101" pitchFamily="2" charset="-122"/>
              </a:rPr>
              <a:t>工业中成熟的合成砌块，原料供应相对稳定，工艺路线经过了验证，可重复性好。</a:t>
            </a:r>
            <a:endParaRPr lang="en-US" altLang="zh-CN" sz="2000" b="1" dirty="0">
              <a:solidFill>
                <a:schemeClr val="tx1">
                  <a:lumMod val="75000"/>
                  <a:lumOff val="25000"/>
                </a:schemeClr>
              </a:solidFill>
              <a:latin typeface="Times New Roman" panose="02020603050405020304" charset="0"/>
              <a:ea typeface="宋体" panose="02010600030101010101" pitchFamily="2" charset="-122"/>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741873" y="695865"/>
            <a:ext cx="4825360" cy="461665"/>
          </a:xfrm>
          <a:prstGeom prst="rect">
            <a:avLst/>
          </a:prstGeom>
          <a:noFill/>
        </p:spPr>
        <p:txBody>
          <a:bodyPr wrap="none" rtlCol="0">
            <a:spAutoFit/>
          </a:bodyPr>
          <a:lstStyle/>
          <a:p>
            <a:r>
              <a:rPr lang="zh-CN" altLang="en-US" sz="2400" b="1" dirty="0">
                <a:solidFill>
                  <a:srgbClr val="C00000"/>
                </a:solidFill>
                <a:latin typeface="Times New Roman" panose="02020603050405020304" charset="0"/>
                <a:ea typeface="宋体" panose="02010600030101010101" pitchFamily="2" charset="-122"/>
              </a:rPr>
              <a:t>匹伐他汀合成路线路线优点、缺点</a:t>
            </a:r>
          </a:p>
        </p:txBody>
      </p:sp>
      <p:sp>
        <p:nvSpPr>
          <p:cNvPr id="3" name="文本框 2"/>
          <p:cNvSpPr txBox="1"/>
          <p:nvPr/>
        </p:nvSpPr>
        <p:spPr>
          <a:xfrm>
            <a:off x="1026544" y="1153065"/>
            <a:ext cx="958917" cy="495585"/>
          </a:xfrm>
          <a:prstGeom prst="rect">
            <a:avLst/>
          </a:prstGeom>
          <a:noFill/>
        </p:spPr>
        <p:txBody>
          <a:bodyPr wrap="none" rtlCol="0">
            <a:spAutoFit/>
          </a:bodyPr>
          <a:lstStyle/>
          <a:p>
            <a:pPr>
              <a:lnSpc>
                <a:spcPct val="150000"/>
              </a:lnSpc>
            </a:pPr>
            <a:r>
              <a:rPr lang="zh-CN" altLang="en-US" sz="2000" b="1" dirty="0">
                <a:solidFill>
                  <a:schemeClr val="tx2">
                    <a:lumMod val="50000"/>
                    <a:lumOff val="50000"/>
                  </a:schemeClr>
                </a:solidFill>
                <a:latin typeface="Times New Roman" panose="02020603050405020304" charset="0"/>
                <a:ea typeface="宋体" panose="02010600030101010101" pitchFamily="2" charset="-122"/>
              </a:rPr>
              <a:t>缺点：</a:t>
            </a:r>
          </a:p>
        </p:txBody>
      </p:sp>
      <p:sp>
        <p:nvSpPr>
          <p:cNvPr id="2" name="文本框 1"/>
          <p:cNvSpPr txBox="1"/>
          <p:nvPr/>
        </p:nvSpPr>
        <p:spPr>
          <a:xfrm>
            <a:off x="396816" y="1751748"/>
            <a:ext cx="11398368" cy="4653646"/>
          </a:xfrm>
          <a:prstGeom prst="rect">
            <a:avLst/>
          </a:prstGeom>
          <a:noFill/>
        </p:spPr>
        <p:txBody>
          <a:bodyPr wrap="square" rtlCol="0">
            <a:spAutoFit/>
          </a:bodyPr>
          <a:lstStyle/>
          <a:p>
            <a:pPr>
              <a:lnSpc>
                <a:spcPct val="150000"/>
              </a:lnSpc>
            </a:pPr>
            <a:r>
              <a:rPr lang="en-US" altLang="zh-CN" sz="2000" b="1" dirty="0">
                <a:solidFill>
                  <a:schemeClr val="tx1">
                    <a:lumMod val="75000"/>
                    <a:lumOff val="25000"/>
                  </a:schemeClr>
                </a:solidFill>
                <a:latin typeface="Times New Roman" panose="02020603050405020304" charset="0"/>
                <a:ea typeface="宋体" panose="02010600030101010101" pitchFamily="2" charset="-122"/>
              </a:rPr>
              <a:t>        1. </a:t>
            </a:r>
            <a:r>
              <a:rPr lang="zh-CN" altLang="en-US" sz="2000" b="1" dirty="0">
                <a:solidFill>
                  <a:schemeClr val="tx1">
                    <a:lumMod val="75000"/>
                    <a:lumOff val="25000"/>
                  </a:schemeClr>
                </a:solidFill>
                <a:latin typeface="Times New Roman" panose="02020603050405020304" charset="0"/>
                <a:ea typeface="宋体" panose="02010600030101010101" pitchFamily="2" charset="-122"/>
              </a:rPr>
              <a:t>炔钠偶联需在液氨、</a:t>
            </a:r>
            <a:r>
              <a:rPr lang="en-US" altLang="zh-CN" sz="2000" b="1" dirty="0">
                <a:solidFill>
                  <a:schemeClr val="tx1">
                    <a:lumMod val="75000"/>
                    <a:lumOff val="25000"/>
                  </a:schemeClr>
                </a:solidFill>
                <a:latin typeface="Times New Roman" panose="02020603050405020304" charset="0"/>
                <a:ea typeface="宋体" panose="02010600030101010101" pitchFamily="2" charset="-122"/>
              </a:rPr>
              <a:t>-25℃</a:t>
            </a:r>
            <a:r>
              <a:rPr lang="zh-CN" altLang="en-US" sz="2000" b="1" dirty="0">
                <a:solidFill>
                  <a:schemeClr val="tx1">
                    <a:lumMod val="75000"/>
                    <a:lumOff val="25000"/>
                  </a:schemeClr>
                </a:solidFill>
                <a:latin typeface="Times New Roman" panose="02020603050405020304" charset="0"/>
                <a:ea typeface="宋体" panose="02010600030101010101" pitchFamily="2" charset="-122"/>
              </a:rPr>
              <a:t>的低温无水无氧环境下进行，对设备和操作要求高，工业放大时能耗和安全风险较高。</a:t>
            </a:r>
            <a:endParaRPr lang="en-US" altLang="zh-CN" sz="2000" b="1" dirty="0">
              <a:solidFill>
                <a:schemeClr val="tx1">
                  <a:lumMod val="75000"/>
                  <a:lumOff val="25000"/>
                </a:schemeClr>
              </a:solidFill>
              <a:latin typeface="Times New Roman" panose="02020603050405020304" charset="0"/>
              <a:ea typeface="宋体" panose="02010600030101010101" pitchFamily="2" charset="-122"/>
            </a:endParaRPr>
          </a:p>
          <a:p>
            <a:pPr>
              <a:lnSpc>
                <a:spcPct val="150000"/>
              </a:lnSpc>
            </a:pPr>
            <a:r>
              <a:rPr lang="en-US" altLang="zh-CN" sz="2000" b="1" dirty="0">
                <a:solidFill>
                  <a:schemeClr val="tx1">
                    <a:lumMod val="75000"/>
                    <a:lumOff val="25000"/>
                  </a:schemeClr>
                </a:solidFill>
                <a:latin typeface="Times New Roman" panose="02020603050405020304" charset="0"/>
                <a:ea typeface="宋体" panose="02010600030101010101" pitchFamily="2" charset="-122"/>
              </a:rPr>
              <a:t>        2. </a:t>
            </a:r>
            <a:r>
              <a:rPr lang="zh-CN" altLang="en-US" sz="2000" b="1" dirty="0">
                <a:solidFill>
                  <a:schemeClr val="tx1">
                    <a:lumMod val="75000"/>
                    <a:lumOff val="25000"/>
                  </a:schemeClr>
                </a:solidFill>
                <a:latin typeface="Times New Roman" panose="02020603050405020304" charset="0"/>
                <a:ea typeface="宋体" panose="02010600030101010101" pitchFamily="2" charset="-122"/>
              </a:rPr>
              <a:t>红铝还原性较弱，需在甲苯 </a:t>
            </a:r>
            <a:r>
              <a:rPr lang="en-US" altLang="zh-CN" sz="2000" b="1" dirty="0">
                <a:solidFill>
                  <a:schemeClr val="tx1">
                    <a:lumMod val="75000"/>
                    <a:lumOff val="25000"/>
                  </a:schemeClr>
                </a:solidFill>
                <a:latin typeface="Times New Roman" panose="02020603050405020304" charset="0"/>
                <a:ea typeface="宋体" panose="02010600030101010101" pitchFamily="2" charset="-122"/>
              </a:rPr>
              <a:t>90℃</a:t>
            </a:r>
            <a:r>
              <a:rPr lang="zh-CN" altLang="en-US" sz="2000" b="1" dirty="0">
                <a:solidFill>
                  <a:schemeClr val="tx1">
                    <a:lumMod val="75000"/>
                    <a:lumOff val="25000"/>
                  </a:schemeClr>
                </a:solidFill>
                <a:latin typeface="Times New Roman" panose="02020603050405020304" charset="0"/>
                <a:ea typeface="宋体" panose="02010600030101010101" pitchFamily="2" charset="-122"/>
              </a:rPr>
              <a:t>下进行，放大生产存在安全隐患。</a:t>
            </a:r>
            <a:r>
              <a:rPr lang="en-US" altLang="zh-CN" sz="2000" b="1" dirty="0">
                <a:solidFill>
                  <a:schemeClr val="tx1">
                    <a:lumMod val="75000"/>
                    <a:lumOff val="25000"/>
                  </a:schemeClr>
                </a:solidFill>
                <a:latin typeface="Times New Roman" panose="02020603050405020304" charset="0"/>
                <a:ea typeface="宋体" panose="02010600030101010101" pitchFamily="2" charset="-122"/>
              </a:rPr>
              <a:t>         </a:t>
            </a:r>
          </a:p>
          <a:p>
            <a:pPr>
              <a:lnSpc>
                <a:spcPct val="150000"/>
              </a:lnSpc>
            </a:pPr>
            <a:r>
              <a:rPr lang="en-US" altLang="zh-CN" sz="2000" b="1" dirty="0">
                <a:solidFill>
                  <a:schemeClr val="tx1">
                    <a:lumMod val="75000"/>
                    <a:lumOff val="25000"/>
                  </a:schemeClr>
                </a:solidFill>
                <a:latin typeface="Times New Roman" panose="02020603050405020304" charset="0"/>
                <a:ea typeface="宋体" panose="02010600030101010101" pitchFamily="2" charset="-122"/>
              </a:rPr>
              <a:t>        3.  (3R)-3 -</a:t>
            </a:r>
            <a:r>
              <a:rPr lang="zh-CN" altLang="en-US" sz="2000" b="1" dirty="0">
                <a:solidFill>
                  <a:schemeClr val="tx1">
                    <a:lumMod val="75000"/>
                    <a:lumOff val="25000"/>
                  </a:schemeClr>
                </a:solidFill>
                <a:latin typeface="Times New Roman" panose="02020603050405020304" charset="0"/>
                <a:ea typeface="宋体" panose="02010600030101010101" pitchFamily="2" charset="-122"/>
              </a:rPr>
              <a:t>对烷基苯磺酸酯基</a:t>
            </a:r>
            <a:r>
              <a:rPr lang="en-US" altLang="zh-CN" sz="2000" b="1" dirty="0">
                <a:solidFill>
                  <a:schemeClr val="tx1">
                    <a:lumMod val="75000"/>
                    <a:lumOff val="25000"/>
                  </a:schemeClr>
                </a:solidFill>
                <a:latin typeface="Times New Roman" panose="02020603050405020304" charset="0"/>
                <a:ea typeface="宋体" panose="02010600030101010101" pitchFamily="2" charset="-122"/>
              </a:rPr>
              <a:t>-5 -</a:t>
            </a:r>
            <a:r>
              <a:rPr lang="zh-CN" altLang="en-US" sz="2000" b="1" dirty="0">
                <a:solidFill>
                  <a:schemeClr val="tx1">
                    <a:lumMod val="75000"/>
                    <a:lumOff val="25000"/>
                  </a:schemeClr>
                </a:solidFill>
                <a:latin typeface="Times New Roman" panose="02020603050405020304" charset="0"/>
                <a:ea typeface="宋体" panose="02010600030101010101" pitchFamily="2" charset="-122"/>
              </a:rPr>
              <a:t>羰基</a:t>
            </a:r>
            <a:r>
              <a:rPr lang="en-US" altLang="zh-CN" sz="2000" b="1" dirty="0">
                <a:solidFill>
                  <a:schemeClr val="tx1">
                    <a:lumMod val="75000"/>
                    <a:lumOff val="25000"/>
                  </a:schemeClr>
                </a:solidFill>
                <a:latin typeface="Times New Roman" panose="02020603050405020304" charset="0"/>
                <a:ea typeface="宋体" panose="02010600030101010101" pitchFamily="2" charset="-122"/>
              </a:rPr>
              <a:t>-6 -</a:t>
            </a:r>
            <a:r>
              <a:rPr lang="zh-CN" altLang="en-US" sz="2000" b="1" dirty="0">
                <a:solidFill>
                  <a:schemeClr val="tx1">
                    <a:lumMod val="75000"/>
                    <a:lumOff val="25000"/>
                  </a:schemeClr>
                </a:solidFill>
                <a:latin typeface="Times New Roman" panose="02020603050405020304" charset="0"/>
                <a:ea typeface="宋体" panose="02010600030101010101" pitchFamily="2" charset="-122"/>
              </a:rPr>
              <a:t>炔钠庚酸酯中间体为定制合成中间体，市场无现货，定制成本高、周期长，不利于大规模生产。</a:t>
            </a:r>
            <a:endParaRPr lang="en-US" altLang="zh-CN" sz="2000" b="1" dirty="0">
              <a:solidFill>
                <a:schemeClr val="tx1">
                  <a:lumMod val="75000"/>
                  <a:lumOff val="25000"/>
                </a:schemeClr>
              </a:solidFill>
              <a:latin typeface="Times New Roman" panose="02020603050405020304" charset="0"/>
              <a:ea typeface="宋体" panose="02010600030101010101" pitchFamily="2" charset="-122"/>
            </a:endParaRPr>
          </a:p>
          <a:p>
            <a:pPr>
              <a:lnSpc>
                <a:spcPct val="150000"/>
              </a:lnSpc>
            </a:pPr>
            <a:r>
              <a:rPr lang="en-US" altLang="zh-CN" sz="2000" b="1" dirty="0">
                <a:solidFill>
                  <a:schemeClr val="tx1">
                    <a:lumMod val="75000"/>
                    <a:lumOff val="25000"/>
                  </a:schemeClr>
                </a:solidFill>
                <a:latin typeface="Times New Roman" panose="02020603050405020304" charset="0"/>
                <a:ea typeface="宋体" panose="02010600030101010101" pitchFamily="2" charset="-122"/>
              </a:rPr>
              <a:t>        4. </a:t>
            </a:r>
            <a:r>
              <a:rPr lang="zh-CN" altLang="en-US" sz="2000" b="1" dirty="0">
                <a:solidFill>
                  <a:schemeClr val="tx1">
                    <a:lumMod val="75000"/>
                    <a:lumOff val="25000"/>
                  </a:schemeClr>
                </a:solidFill>
                <a:latin typeface="Times New Roman" panose="02020603050405020304" charset="0"/>
                <a:ea typeface="宋体" panose="02010600030101010101" pitchFamily="2" charset="-122"/>
              </a:rPr>
              <a:t>从起始原料到最终产物，共包含环合、偶联、还原双键、还原羰基、酯水解成盐等多步反应，步骤越多，累积收率越低，原子经济性一般。</a:t>
            </a:r>
            <a:endParaRPr lang="en-US" altLang="zh-CN" sz="2000" b="1" dirty="0">
              <a:solidFill>
                <a:schemeClr val="tx1">
                  <a:lumMod val="75000"/>
                  <a:lumOff val="25000"/>
                </a:schemeClr>
              </a:solidFill>
              <a:latin typeface="Times New Roman" panose="02020603050405020304" charset="0"/>
              <a:ea typeface="宋体" panose="02010600030101010101" pitchFamily="2" charset="-122"/>
            </a:endParaRPr>
          </a:p>
          <a:p>
            <a:pPr>
              <a:lnSpc>
                <a:spcPct val="150000"/>
              </a:lnSpc>
            </a:pPr>
            <a:r>
              <a:rPr lang="en-US" altLang="zh-CN" sz="2000" b="1" dirty="0">
                <a:solidFill>
                  <a:schemeClr val="tx1">
                    <a:lumMod val="75000"/>
                    <a:lumOff val="25000"/>
                  </a:schemeClr>
                </a:solidFill>
                <a:latin typeface="Times New Roman" panose="02020603050405020304" charset="0"/>
                <a:ea typeface="宋体" panose="02010600030101010101" pitchFamily="2" charset="-122"/>
              </a:rPr>
              <a:t>        5. </a:t>
            </a:r>
            <a:r>
              <a:rPr lang="zh-CN" altLang="en-US" sz="2000" b="1" dirty="0">
                <a:solidFill>
                  <a:schemeClr val="tx1">
                    <a:lumMod val="75000"/>
                    <a:lumOff val="25000"/>
                  </a:schemeClr>
                </a:solidFill>
                <a:latin typeface="Times New Roman" panose="02020603050405020304" charset="0"/>
                <a:ea typeface="宋体" panose="02010600030101010101" pitchFamily="2" charset="-122"/>
              </a:rPr>
              <a:t>红铝反应产生的含铝废渣，以及硼氢化钠、有机硼试剂产生的含硼废液，处理难度较大，环保成本高。液氨反应会产生含氨废水，处理不当易造成环境污染。</a:t>
            </a:r>
            <a:endParaRPr lang="en-US" altLang="zh-CN" sz="2000" b="1" dirty="0">
              <a:solidFill>
                <a:schemeClr val="tx1">
                  <a:lumMod val="75000"/>
                  <a:lumOff val="25000"/>
                </a:schemeClr>
              </a:solidFill>
              <a:latin typeface="Times New Roman" panose="02020603050405020304" charset="0"/>
              <a:ea typeface="宋体" panose="02010600030101010101" pitchFamily="2" charset="-122"/>
            </a:endParaRPr>
          </a:p>
          <a:p>
            <a:pPr>
              <a:lnSpc>
                <a:spcPct val="150000"/>
              </a:lnSpc>
            </a:pPr>
            <a:endParaRPr lang="zh-CN" altLang="en-US" sz="2000" b="1" dirty="0">
              <a:solidFill>
                <a:schemeClr val="tx1">
                  <a:lumMod val="75000"/>
                  <a:lumOff val="25000"/>
                </a:schemeClr>
              </a:solidFill>
              <a:latin typeface="Times New Roman" panose="02020603050405020304" charset="0"/>
              <a:ea typeface="宋体" panose="02010600030101010101" pitchFamily="2" charset="-122"/>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741873" y="695865"/>
            <a:ext cx="2969083" cy="461665"/>
          </a:xfrm>
          <a:prstGeom prst="rect">
            <a:avLst/>
          </a:prstGeom>
          <a:noFill/>
        </p:spPr>
        <p:txBody>
          <a:bodyPr wrap="none" rtlCol="0">
            <a:spAutoFit/>
          </a:bodyPr>
          <a:lstStyle/>
          <a:p>
            <a:r>
              <a:rPr lang="zh-CN" altLang="en-US" sz="2400" b="1" dirty="0">
                <a:solidFill>
                  <a:srgbClr val="C00000"/>
                </a:solidFill>
                <a:latin typeface="Times New Roman" panose="02020603050405020304" charset="0"/>
                <a:ea typeface="宋体" panose="02010600030101010101" pitchFamily="2" charset="-122"/>
              </a:rPr>
              <a:t>难点问题和解决方案</a:t>
            </a:r>
          </a:p>
        </p:txBody>
      </p:sp>
      <p:sp>
        <p:nvSpPr>
          <p:cNvPr id="3" name="文本框 2"/>
          <p:cNvSpPr txBox="1"/>
          <p:nvPr/>
        </p:nvSpPr>
        <p:spPr>
          <a:xfrm>
            <a:off x="580436" y="1621673"/>
            <a:ext cx="10817932" cy="2345322"/>
          </a:xfrm>
          <a:prstGeom prst="rect">
            <a:avLst/>
          </a:prstGeom>
          <a:noFill/>
        </p:spPr>
        <p:txBody>
          <a:bodyPr wrap="square" rtlCol="0">
            <a:spAutoFit/>
          </a:bodyPr>
          <a:lstStyle/>
          <a:p>
            <a:pPr>
              <a:lnSpc>
                <a:spcPct val="150000"/>
              </a:lnSpc>
            </a:pPr>
            <a:r>
              <a:rPr lang="zh-CN" altLang="en-US" sz="2000" b="1" dirty="0">
                <a:solidFill>
                  <a:schemeClr val="tx2">
                    <a:lumMod val="50000"/>
                    <a:lumOff val="50000"/>
                  </a:schemeClr>
                </a:solidFill>
                <a:latin typeface="Times New Roman" panose="02020603050405020304" charset="0"/>
                <a:ea typeface="宋体" panose="02010600030101010101" pitchFamily="2" charset="-122"/>
              </a:rPr>
              <a:t>难点问题：</a:t>
            </a:r>
            <a:r>
              <a:rPr lang="zh-CN" altLang="en-US" sz="2000" b="1" dirty="0">
                <a:latin typeface="Times New Roman" panose="02020603050405020304" charset="0"/>
                <a:ea typeface="宋体" panose="02010600030101010101" pitchFamily="2" charset="-122"/>
              </a:rPr>
              <a:t>红铝还原构建反式双键</a:t>
            </a:r>
            <a:r>
              <a:rPr lang="en-US" altLang="zh-CN" sz="2000" b="1" dirty="0">
                <a:latin typeface="Times New Roman" panose="02020603050405020304" charset="0"/>
                <a:ea typeface="宋体" panose="02010600030101010101" pitchFamily="2" charset="-122"/>
              </a:rPr>
              <a:t>——</a:t>
            </a:r>
            <a:r>
              <a:rPr lang="zh-CN" altLang="en-US" sz="2000" b="1" dirty="0">
                <a:latin typeface="Times New Roman" panose="02020603050405020304" charset="0"/>
                <a:ea typeface="宋体" panose="02010600030101010101" pitchFamily="2" charset="-122"/>
              </a:rPr>
              <a:t>红铝还原性较弱</a:t>
            </a:r>
            <a:r>
              <a:rPr lang="en-US" altLang="zh-CN" sz="2000" b="1" dirty="0">
                <a:latin typeface="Times New Roman" panose="02020603050405020304" charset="0"/>
                <a:ea typeface="宋体" panose="02010600030101010101" pitchFamily="2" charset="-122"/>
              </a:rPr>
              <a:t>(1</a:t>
            </a:r>
            <a:r>
              <a:rPr lang="zh-CN" altLang="en-US" sz="2000" b="1" dirty="0">
                <a:latin typeface="Times New Roman" panose="02020603050405020304" charset="0"/>
                <a:ea typeface="宋体" panose="02010600030101010101" pitchFamily="2" charset="-122"/>
              </a:rPr>
              <a:t> </a:t>
            </a:r>
            <a:r>
              <a:rPr lang="en-US" altLang="zh-CN" sz="2000" b="1" dirty="0">
                <a:latin typeface="Times New Roman" panose="02020603050405020304" charset="0"/>
                <a:ea typeface="宋体" panose="02010600030101010101" pitchFamily="2" charset="-122"/>
              </a:rPr>
              <a:t>mol</a:t>
            </a:r>
            <a:r>
              <a:rPr lang="zh-CN" altLang="en-US" sz="2000" b="1" dirty="0">
                <a:latin typeface="Times New Roman" panose="02020603050405020304" charset="0"/>
                <a:ea typeface="宋体" panose="02010600030101010101" pitchFamily="2" charset="-122"/>
              </a:rPr>
              <a:t>红铝可提供 </a:t>
            </a:r>
            <a:r>
              <a:rPr lang="en-US" altLang="zh-CN" sz="2000" b="1" dirty="0">
                <a:latin typeface="Times New Roman" panose="02020603050405020304" charset="0"/>
                <a:ea typeface="宋体" panose="02010600030101010101" pitchFamily="2" charset="-122"/>
              </a:rPr>
              <a:t>2</a:t>
            </a:r>
            <a:r>
              <a:rPr lang="zh-CN" altLang="en-US" sz="2000" b="1" dirty="0">
                <a:latin typeface="Times New Roman" panose="02020603050405020304" charset="0"/>
                <a:ea typeface="宋体" panose="02010600030101010101" pitchFamily="2" charset="-122"/>
              </a:rPr>
              <a:t> </a:t>
            </a:r>
            <a:r>
              <a:rPr lang="en-US" altLang="zh-CN" sz="2000" b="1" dirty="0">
                <a:latin typeface="Times New Roman" panose="02020603050405020304" charset="0"/>
                <a:ea typeface="宋体" panose="02010600030101010101" pitchFamily="2" charset="-122"/>
              </a:rPr>
              <a:t>mol</a:t>
            </a:r>
            <a:r>
              <a:rPr lang="zh-CN" altLang="en-US" sz="2000" b="1" dirty="0">
                <a:latin typeface="Times New Roman" panose="02020603050405020304" charset="0"/>
                <a:ea typeface="宋体" panose="02010600030101010101" pitchFamily="2" charset="-122"/>
              </a:rPr>
              <a:t>氢原子，还原能力略低于氢化铝锂</a:t>
            </a:r>
            <a:r>
              <a:rPr lang="en-US" altLang="zh-CN" sz="2000" b="1" dirty="0">
                <a:latin typeface="Times New Roman" panose="02020603050405020304" charset="0"/>
                <a:ea typeface="宋体" panose="02010600030101010101" pitchFamily="2" charset="-122"/>
              </a:rPr>
              <a:t>(1 mol</a:t>
            </a:r>
            <a:r>
              <a:rPr lang="zh-CN" altLang="en-US" sz="2000" b="1" dirty="0">
                <a:latin typeface="Times New Roman" panose="02020603050405020304" charset="0"/>
                <a:ea typeface="宋体" panose="02010600030101010101" pitchFamily="2" charset="-122"/>
              </a:rPr>
              <a:t>可提供</a:t>
            </a:r>
            <a:r>
              <a:rPr lang="en-US" altLang="zh-CN" sz="2000" b="1" dirty="0">
                <a:latin typeface="Times New Roman" panose="02020603050405020304" charset="0"/>
                <a:ea typeface="宋体" panose="02010600030101010101" pitchFamily="2" charset="-122"/>
              </a:rPr>
              <a:t>4</a:t>
            </a:r>
            <a:r>
              <a:rPr lang="zh-CN" altLang="en-US" sz="2000" b="1" dirty="0">
                <a:latin typeface="Times New Roman" panose="02020603050405020304" charset="0"/>
                <a:ea typeface="宋体" panose="02010600030101010101" pitchFamily="2" charset="-122"/>
              </a:rPr>
              <a:t> </a:t>
            </a:r>
            <a:r>
              <a:rPr lang="en-US" altLang="zh-CN" sz="2000" b="1" dirty="0">
                <a:latin typeface="Times New Roman" panose="02020603050405020304" charset="0"/>
                <a:ea typeface="宋体" panose="02010600030101010101" pitchFamily="2" charset="-122"/>
              </a:rPr>
              <a:t>mol</a:t>
            </a:r>
            <a:r>
              <a:rPr lang="zh-CN" altLang="en-US" sz="2000" b="1" dirty="0">
                <a:latin typeface="Times New Roman" panose="02020603050405020304" charset="0"/>
                <a:ea typeface="宋体" panose="02010600030101010101" pitchFamily="2" charset="-122"/>
              </a:rPr>
              <a:t>氢原子</a:t>
            </a:r>
            <a:r>
              <a:rPr lang="en-US" altLang="zh-CN" sz="2000" b="1" dirty="0">
                <a:latin typeface="Times New Roman" panose="02020603050405020304" charset="0"/>
                <a:ea typeface="宋体" panose="02010600030101010101" pitchFamily="2" charset="-122"/>
              </a:rPr>
              <a:t>))</a:t>
            </a:r>
            <a:r>
              <a:rPr lang="zh-CN" altLang="en-US" sz="2000" b="1" dirty="0">
                <a:latin typeface="Times New Roman" panose="02020603050405020304" charset="0"/>
                <a:ea typeface="宋体" panose="02010600030101010101" pitchFamily="2" charset="-122"/>
              </a:rPr>
              <a:t>。</a:t>
            </a:r>
            <a:endParaRPr lang="en-US" altLang="zh-CN" sz="2000" b="1" dirty="0">
              <a:latin typeface="Times New Roman" panose="02020603050405020304" charset="0"/>
              <a:ea typeface="宋体" panose="02010600030101010101" pitchFamily="2" charset="-122"/>
            </a:endParaRPr>
          </a:p>
          <a:p>
            <a:pPr>
              <a:lnSpc>
                <a:spcPct val="150000"/>
              </a:lnSpc>
            </a:pPr>
            <a:r>
              <a:rPr lang="zh-CN" altLang="en-US" sz="2000" b="1" dirty="0">
                <a:solidFill>
                  <a:schemeClr val="tx2">
                    <a:lumMod val="50000"/>
                    <a:lumOff val="50000"/>
                  </a:schemeClr>
                </a:solidFill>
                <a:latin typeface="Times New Roman" panose="02020603050405020304" charset="0"/>
                <a:ea typeface="宋体" panose="02010600030101010101" pitchFamily="2" charset="-122"/>
              </a:rPr>
              <a:t>解决方案：</a:t>
            </a:r>
            <a:r>
              <a:rPr lang="en-US" altLang="zh-CN" sz="2000" b="1" dirty="0">
                <a:latin typeface="Times New Roman" panose="02020603050405020304" charset="0"/>
                <a:ea typeface="宋体" panose="02010600030101010101" pitchFamily="2" charset="-122"/>
              </a:rPr>
              <a:t>1.</a:t>
            </a:r>
            <a:r>
              <a:rPr lang="zh-CN" altLang="en-US" sz="2000" b="1" dirty="0">
                <a:latin typeface="Times New Roman" panose="02020603050405020304" charset="0"/>
                <a:ea typeface="宋体" panose="02010600030101010101" pitchFamily="2" charset="-122"/>
              </a:rPr>
              <a:t>增加红铝用量</a:t>
            </a:r>
            <a:endParaRPr lang="en-US" altLang="zh-CN" sz="2000" b="1" dirty="0">
              <a:latin typeface="Times New Roman" panose="02020603050405020304" charset="0"/>
              <a:ea typeface="宋体" panose="02010600030101010101" pitchFamily="2" charset="-122"/>
            </a:endParaRPr>
          </a:p>
          <a:p>
            <a:pPr>
              <a:lnSpc>
                <a:spcPct val="150000"/>
              </a:lnSpc>
            </a:pPr>
            <a:r>
              <a:rPr lang="en-US" altLang="zh-CN" sz="2000" b="1" dirty="0">
                <a:latin typeface="Times New Roman" panose="02020603050405020304" charset="0"/>
                <a:ea typeface="宋体" panose="02010600030101010101" pitchFamily="2" charset="-122"/>
              </a:rPr>
              <a:t>                    2.</a:t>
            </a:r>
            <a:r>
              <a:rPr lang="zh-CN" altLang="en-US" sz="2000" b="1" dirty="0">
                <a:latin typeface="Times New Roman" panose="02020603050405020304" charset="0"/>
                <a:ea typeface="宋体" panose="02010600030101010101" pitchFamily="2" charset="-122"/>
              </a:rPr>
              <a:t>还原剂改用</a:t>
            </a:r>
            <a:r>
              <a:rPr lang="en-US" altLang="zh-CN" sz="2000" b="1" dirty="0">
                <a:latin typeface="Times New Roman" panose="02020603050405020304" charset="0"/>
                <a:ea typeface="宋体" panose="02010600030101010101" pitchFamily="2" charset="-122"/>
              </a:rPr>
              <a:t>AlCl3</a:t>
            </a:r>
            <a:r>
              <a:rPr lang="zh-CN" altLang="en-US" sz="2000" b="1" dirty="0">
                <a:latin typeface="Times New Roman" panose="02020603050405020304" charset="0"/>
                <a:ea typeface="宋体" panose="02010600030101010101" pitchFamily="2" charset="-122"/>
              </a:rPr>
              <a:t>＋</a:t>
            </a:r>
            <a:r>
              <a:rPr lang="en-US" altLang="zh-CN" sz="2000" b="1" dirty="0">
                <a:latin typeface="Times New Roman" panose="02020603050405020304" charset="0"/>
                <a:ea typeface="宋体" panose="02010600030101010101" pitchFamily="2" charset="-122"/>
              </a:rPr>
              <a:t>LiAlH4</a:t>
            </a:r>
            <a:r>
              <a:rPr lang="zh-CN" altLang="en-US" sz="2000" b="1" dirty="0">
                <a:latin typeface="Times New Roman" panose="02020603050405020304" charset="0"/>
                <a:ea typeface="宋体" panose="02010600030101010101" pitchFamily="2" charset="-122"/>
              </a:rPr>
              <a:t>，溶剂由甲苯改用</a:t>
            </a:r>
            <a:r>
              <a:rPr lang="en-US" altLang="zh-CN" sz="2000" b="1" dirty="0">
                <a:latin typeface="Times New Roman" panose="02020603050405020304" charset="0"/>
                <a:ea typeface="宋体" panose="02010600030101010101" pitchFamily="2" charset="-122"/>
              </a:rPr>
              <a:t>THF(</a:t>
            </a:r>
            <a:r>
              <a:rPr lang="zh-CN" altLang="en-US" sz="2000" b="1" dirty="0">
                <a:latin typeface="Times New Roman" panose="02020603050405020304" charset="0"/>
                <a:ea typeface="宋体" panose="02010600030101010101" pitchFamily="2" charset="-122"/>
              </a:rPr>
              <a:t>甲苯为国家管制溶剂</a:t>
            </a:r>
            <a:r>
              <a:rPr lang="en-US" altLang="zh-CN" sz="2000" b="1" dirty="0">
                <a:latin typeface="Times New Roman" panose="02020603050405020304" charset="0"/>
                <a:ea typeface="宋体" panose="02010600030101010101" pitchFamily="2" charset="-122"/>
              </a:rPr>
              <a:t>)</a:t>
            </a:r>
            <a:r>
              <a:rPr lang="zh-CN" altLang="en-US" sz="2000" b="1" dirty="0">
                <a:latin typeface="Times New Roman" panose="02020603050405020304" charset="0"/>
                <a:ea typeface="宋体" panose="02010600030101010101" pitchFamily="2" charset="-122"/>
              </a:rPr>
              <a:t>。</a:t>
            </a:r>
            <a:endParaRPr lang="en-US" altLang="zh-CN" sz="2000" b="1" dirty="0">
              <a:latin typeface="Times New Roman" panose="02020603050405020304" charset="0"/>
              <a:ea typeface="宋体" panose="02010600030101010101" pitchFamily="2" charset="-122"/>
            </a:endParaRPr>
          </a:p>
          <a:p>
            <a:pPr>
              <a:lnSpc>
                <a:spcPct val="150000"/>
              </a:lnSpc>
            </a:pPr>
            <a:r>
              <a:rPr lang="en-US" altLang="zh-CN" sz="2000" b="1" dirty="0">
                <a:latin typeface="Times New Roman" panose="02020603050405020304" charset="0"/>
                <a:ea typeface="宋体" panose="02010600030101010101" pitchFamily="2" charset="-122"/>
              </a:rPr>
              <a:t>                    3.</a:t>
            </a:r>
            <a:r>
              <a:rPr lang="zh-CN" altLang="en-US" sz="2000" b="1" dirty="0">
                <a:latin typeface="Times New Roman" panose="02020603050405020304" charset="0"/>
                <a:ea typeface="宋体" panose="02010600030101010101" pitchFamily="2" charset="-122"/>
              </a:rPr>
              <a:t>改为</a:t>
            </a:r>
            <a:r>
              <a:rPr lang="en-US" altLang="zh-CN" sz="2000" b="1" dirty="0">
                <a:latin typeface="Times New Roman" panose="02020603050405020304" charset="0"/>
                <a:ea typeface="宋体" panose="02010600030101010101" pitchFamily="2" charset="-122"/>
              </a:rPr>
              <a:t>Li/Na</a:t>
            </a:r>
            <a:r>
              <a:rPr lang="zh-CN" altLang="en-US" sz="2000" b="1" dirty="0">
                <a:latin typeface="Times New Roman" panose="02020603050405020304" charset="0"/>
                <a:ea typeface="宋体" panose="02010600030101010101" pitchFamily="2" charset="-122"/>
              </a:rPr>
              <a:t>还原，溶剂使用液氨</a:t>
            </a:r>
            <a:r>
              <a:rPr lang="en-US" altLang="zh-CN" sz="2000" b="1" dirty="0">
                <a:latin typeface="Times New Roman" panose="02020603050405020304" charset="0"/>
                <a:ea typeface="宋体" panose="02010600030101010101" pitchFamily="2" charset="-122"/>
              </a:rPr>
              <a:t>(</a:t>
            </a:r>
            <a:r>
              <a:rPr lang="zh-CN" altLang="en-US" sz="2000" b="1" dirty="0">
                <a:latin typeface="Times New Roman" panose="02020603050405020304" charset="0"/>
                <a:ea typeface="宋体" panose="02010600030101010101" pitchFamily="2" charset="-122"/>
              </a:rPr>
              <a:t>回收上一步液氨，降低反应成本。</a:t>
            </a:r>
            <a:r>
              <a:rPr lang="en-US" altLang="zh-CN" sz="2000" b="1" dirty="0">
                <a:latin typeface="Times New Roman" panose="02020603050405020304" charset="0"/>
                <a:ea typeface="宋体" panose="02010600030101010101" pitchFamily="2" charset="-122"/>
              </a:rPr>
              <a:t>)</a:t>
            </a:r>
            <a:endParaRPr lang="zh-CN" altLang="en-US" sz="2000" b="1" dirty="0">
              <a:latin typeface="Times New Roman" panose="02020603050405020304" charset="0"/>
              <a:ea typeface="宋体" panose="02010600030101010101" pitchFamily="2" charset="-122"/>
            </a:endParaRPr>
          </a:p>
        </p:txBody>
      </p:sp>
      <p:sp>
        <p:nvSpPr>
          <p:cNvPr id="5" name="文本框 4"/>
          <p:cNvSpPr txBox="1"/>
          <p:nvPr/>
        </p:nvSpPr>
        <p:spPr>
          <a:xfrm>
            <a:off x="687034" y="4353371"/>
            <a:ext cx="10817932" cy="1421992"/>
          </a:xfrm>
          <a:prstGeom prst="rect">
            <a:avLst/>
          </a:prstGeom>
          <a:noFill/>
        </p:spPr>
        <p:txBody>
          <a:bodyPr wrap="square" rtlCol="0">
            <a:spAutoFit/>
          </a:bodyPr>
          <a:lstStyle/>
          <a:p>
            <a:pPr>
              <a:lnSpc>
                <a:spcPct val="150000"/>
              </a:lnSpc>
            </a:pPr>
            <a:r>
              <a:rPr lang="zh-CN" altLang="en-US" sz="2000" b="1" dirty="0">
                <a:solidFill>
                  <a:schemeClr val="tx2">
                    <a:lumMod val="50000"/>
                    <a:lumOff val="50000"/>
                  </a:schemeClr>
                </a:solidFill>
                <a:latin typeface="Times New Roman" panose="02020603050405020304" charset="0"/>
                <a:ea typeface="宋体" panose="02010600030101010101" pitchFamily="2" charset="-122"/>
              </a:rPr>
              <a:t>难点问题：</a:t>
            </a:r>
            <a:r>
              <a:rPr lang="zh-CN" altLang="en-US" sz="2000" b="1" dirty="0">
                <a:latin typeface="Times New Roman" panose="02020603050405020304" charset="0"/>
                <a:ea typeface="宋体" panose="02010600030101010101" pitchFamily="2" charset="-122"/>
              </a:rPr>
              <a:t>酯水解成盐步骤</a:t>
            </a:r>
            <a:r>
              <a:rPr lang="en-US" altLang="zh-CN" sz="2000" b="1" dirty="0">
                <a:latin typeface="Times New Roman" panose="02020603050405020304" charset="0"/>
                <a:ea typeface="宋体" panose="02010600030101010101" pitchFamily="2" charset="-122"/>
              </a:rPr>
              <a:t>——NaOH </a:t>
            </a:r>
            <a:r>
              <a:rPr lang="zh-CN" altLang="en-US" sz="2000" b="1" dirty="0">
                <a:latin typeface="Times New Roman" panose="02020603050405020304" charset="0"/>
                <a:ea typeface="宋体" panose="02010600030101010101" pitchFamily="2" charset="-122"/>
              </a:rPr>
              <a:t>水解易导致双键异构化或手性中心消旋。</a:t>
            </a:r>
            <a:endParaRPr lang="en-US" altLang="zh-CN" sz="2000" b="1" dirty="0">
              <a:latin typeface="Times New Roman" panose="02020603050405020304" charset="0"/>
              <a:ea typeface="宋体" panose="02010600030101010101" pitchFamily="2" charset="-122"/>
            </a:endParaRPr>
          </a:p>
          <a:p>
            <a:pPr>
              <a:lnSpc>
                <a:spcPct val="150000"/>
              </a:lnSpc>
            </a:pPr>
            <a:r>
              <a:rPr lang="zh-CN" altLang="en-US" sz="2000" b="1" dirty="0">
                <a:solidFill>
                  <a:schemeClr val="tx2">
                    <a:lumMod val="50000"/>
                    <a:lumOff val="50000"/>
                  </a:schemeClr>
                </a:solidFill>
                <a:latin typeface="Times New Roman" panose="02020603050405020304" charset="0"/>
                <a:ea typeface="宋体" panose="02010600030101010101" pitchFamily="2" charset="-122"/>
              </a:rPr>
              <a:t>解决方案：</a:t>
            </a:r>
            <a:r>
              <a:rPr lang="en-US" altLang="zh-CN" sz="2000" b="1" dirty="0">
                <a:latin typeface="Times New Roman" panose="02020603050405020304" charset="0"/>
                <a:ea typeface="宋体" panose="02010600030101010101" pitchFamily="2" charset="-122"/>
              </a:rPr>
              <a:t>1.</a:t>
            </a:r>
            <a:r>
              <a:rPr lang="zh-CN" altLang="en-US" sz="2000" b="1" dirty="0">
                <a:latin typeface="Times New Roman" panose="02020603050405020304" charset="0"/>
                <a:ea typeface="宋体" panose="02010600030101010101" pitchFamily="2" charset="-122"/>
              </a:rPr>
              <a:t>严格控制反应滴加氢氧化钠溶液的时间、温度和</a:t>
            </a:r>
            <a:r>
              <a:rPr lang="en-US" altLang="zh-CN" sz="2000" b="1" dirty="0">
                <a:latin typeface="Times New Roman" panose="02020603050405020304" charset="0"/>
                <a:ea typeface="宋体" panose="02010600030101010101" pitchFamily="2" charset="-122"/>
              </a:rPr>
              <a:t>pH</a:t>
            </a:r>
            <a:r>
              <a:rPr lang="zh-CN" altLang="en-US" sz="2000" b="1" dirty="0">
                <a:latin typeface="Times New Roman" panose="02020603050405020304" charset="0"/>
                <a:ea typeface="宋体" panose="02010600030101010101" pitchFamily="2" charset="-122"/>
              </a:rPr>
              <a:t>。</a:t>
            </a:r>
            <a:endParaRPr lang="en-US" altLang="zh-CN" sz="2000" b="1" dirty="0">
              <a:latin typeface="Times New Roman" panose="02020603050405020304" charset="0"/>
              <a:ea typeface="宋体" panose="02010600030101010101" pitchFamily="2" charset="-122"/>
            </a:endParaRPr>
          </a:p>
          <a:p>
            <a:pPr>
              <a:lnSpc>
                <a:spcPct val="150000"/>
              </a:lnSpc>
            </a:pPr>
            <a:r>
              <a:rPr lang="en-US" altLang="zh-CN" sz="2000" b="1" dirty="0">
                <a:latin typeface="Times New Roman" panose="02020603050405020304" charset="0"/>
                <a:ea typeface="宋体" panose="02010600030101010101" pitchFamily="2" charset="-122"/>
              </a:rPr>
              <a:t>                    </a:t>
            </a:r>
            <a:endParaRPr lang="zh-CN" altLang="en-US" sz="2000" b="1" dirty="0">
              <a:latin typeface="Times New Roman" panose="02020603050405020304" charset="0"/>
              <a:ea typeface="宋体" panose="02010600030101010101" pitchFamily="2" charset="-122"/>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741873" y="695865"/>
            <a:ext cx="2969083" cy="461665"/>
          </a:xfrm>
          <a:prstGeom prst="rect">
            <a:avLst/>
          </a:prstGeom>
          <a:noFill/>
        </p:spPr>
        <p:txBody>
          <a:bodyPr wrap="none" rtlCol="0">
            <a:spAutoFit/>
          </a:bodyPr>
          <a:lstStyle/>
          <a:p>
            <a:r>
              <a:rPr lang="zh-CN" altLang="en-US" sz="2400" b="1" dirty="0">
                <a:solidFill>
                  <a:srgbClr val="C00000"/>
                </a:solidFill>
                <a:latin typeface="Times New Roman" panose="02020603050405020304" charset="0"/>
                <a:ea typeface="宋体" panose="02010600030101010101" pitchFamily="2" charset="-122"/>
              </a:rPr>
              <a:t>难点问题和解决方案</a:t>
            </a:r>
          </a:p>
        </p:txBody>
      </p:sp>
      <p:sp>
        <p:nvSpPr>
          <p:cNvPr id="7" name="文本框 6"/>
          <p:cNvSpPr txBox="1"/>
          <p:nvPr/>
        </p:nvSpPr>
        <p:spPr>
          <a:xfrm>
            <a:off x="687034" y="1659221"/>
            <a:ext cx="10817932" cy="2803909"/>
          </a:xfrm>
          <a:prstGeom prst="rect">
            <a:avLst/>
          </a:prstGeom>
          <a:noFill/>
        </p:spPr>
        <p:txBody>
          <a:bodyPr wrap="square" rtlCol="0">
            <a:spAutoFit/>
          </a:bodyPr>
          <a:lstStyle/>
          <a:p>
            <a:pPr>
              <a:lnSpc>
                <a:spcPct val="150000"/>
              </a:lnSpc>
            </a:pPr>
            <a:r>
              <a:rPr lang="zh-CN" altLang="en-US" sz="2000" b="1" dirty="0">
                <a:solidFill>
                  <a:schemeClr val="tx2">
                    <a:lumMod val="50000"/>
                    <a:lumOff val="50000"/>
                  </a:schemeClr>
                </a:solidFill>
                <a:latin typeface="Times New Roman" panose="02020603050405020304" charset="0"/>
                <a:ea typeface="宋体" panose="02010600030101010101" pitchFamily="2" charset="-122"/>
              </a:rPr>
              <a:t>难点问题：</a:t>
            </a:r>
            <a:r>
              <a:rPr lang="zh-CN" altLang="en-US" sz="2000" b="1" dirty="0">
                <a:latin typeface="Times New Roman" panose="02020603050405020304" charset="0"/>
                <a:ea typeface="宋体" panose="02010600030101010101" pitchFamily="2" charset="-122"/>
              </a:rPr>
              <a:t>手性中心的光学纯度控制</a:t>
            </a:r>
            <a:r>
              <a:rPr lang="en-US" altLang="zh-CN" sz="2000" b="1" dirty="0">
                <a:latin typeface="Times New Roman" panose="02020603050405020304" charset="0"/>
                <a:ea typeface="宋体" panose="02010600030101010101" pitchFamily="2" charset="-122"/>
              </a:rPr>
              <a:t>——1.</a:t>
            </a:r>
            <a:r>
              <a:rPr lang="zh-CN" altLang="en-US" sz="2000" b="1" dirty="0">
                <a:latin typeface="Times New Roman" panose="02020603050405020304" charset="0"/>
                <a:ea typeface="宋体" panose="02010600030101010101" pitchFamily="2" charset="-122"/>
              </a:rPr>
              <a:t>侧链手性中心在后续反应中易发生消旋，影响最终产品 </a:t>
            </a:r>
            <a:r>
              <a:rPr lang="en-US" altLang="zh-CN" sz="2000" b="1" dirty="0">
                <a:latin typeface="Times New Roman" panose="02020603050405020304" charset="0"/>
                <a:ea typeface="宋体" panose="02010600030101010101" pitchFamily="2" charset="-122"/>
              </a:rPr>
              <a:t>ee </a:t>
            </a:r>
            <a:r>
              <a:rPr lang="zh-CN" altLang="en-US" sz="2000" b="1" dirty="0">
                <a:latin typeface="Times New Roman" panose="02020603050405020304" charset="0"/>
                <a:ea typeface="宋体" panose="02010600030101010101" pitchFamily="2" charset="-122"/>
              </a:rPr>
              <a:t>值。</a:t>
            </a:r>
            <a:r>
              <a:rPr lang="en-US" altLang="zh-CN" sz="2000" b="1" dirty="0">
                <a:latin typeface="Times New Roman" panose="02020603050405020304" charset="0"/>
                <a:ea typeface="宋体" panose="02010600030101010101" pitchFamily="2" charset="-122"/>
              </a:rPr>
              <a:t>2.</a:t>
            </a:r>
            <a:r>
              <a:rPr lang="zh-CN" altLang="en-US" sz="2000" b="1" dirty="0">
                <a:latin typeface="Times New Roman" panose="02020603050405020304" charset="0"/>
                <a:ea typeface="宋体" panose="02010600030101010101" pitchFamily="2" charset="-122"/>
              </a:rPr>
              <a:t>反应过程中副反应易生成非目标构型的异构体，后续分离难度大。</a:t>
            </a:r>
            <a:endParaRPr lang="en-US" altLang="zh-CN" sz="2000" b="1" dirty="0">
              <a:latin typeface="Times New Roman" panose="02020603050405020304" charset="0"/>
              <a:ea typeface="宋体" panose="02010600030101010101" pitchFamily="2" charset="-122"/>
            </a:endParaRPr>
          </a:p>
          <a:p>
            <a:pPr>
              <a:lnSpc>
                <a:spcPct val="150000"/>
              </a:lnSpc>
            </a:pPr>
            <a:r>
              <a:rPr lang="zh-CN" altLang="en-US" sz="2000" b="1" dirty="0">
                <a:solidFill>
                  <a:schemeClr val="tx2">
                    <a:lumMod val="50000"/>
                    <a:lumOff val="50000"/>
                  </a:schemeClr>
                </a:solidFill>
                <a:latin typeface="Times New Roman" panose="02020603050405020304" charset="0"/>
                <a:ea typeface="宋体" panose="02010600030101010101" pitchFamily="2" charset="-122"/>
              </a:rPr>
              <a:t>解决方案：</a:t>
            </a:r>
            <a:r>
              <a:rPr lang="en-US" altLang="zh-CN" sz="2000" b="1" dirty="0">
                <a:solidFill>
                  <a:schemeClr val="tx1">
                    <a:lumMod val="75000"/>
                    <a:lumOff val="25000"/>
                  </a:schemeClr>
                </a:solidFill>
                <a:latin typeface="Times New Roman" panose="02020603050405020304" charset="0"/>
                <a:ea typeface="宋体" panose="02010600030101010101" pitchFamily="2" charset="-122"/>
              </a:rPr>
              <a:t>1.</a:t>
            </a:r>
            <a:r>
              <a:rPr lang="zh-CN" altLang="en-US" sz="2000" b="1" dirty="0">
                <a:latin typeface="Times New Roman" panose="02020603050405020304" charset="0"/>
                <a:ea typeface="宋体" panose="02010600030101010101" pitchFamily="2" charset="-122"/>
              </a:rPr>
              <a:t>在线监测：采用手性 </a:t>
            </a:r>
            <a:r>
              <a:rPr lang="en-US" altLang="zh-CN" sz="2000" b="1" dirty="0">
                <a:latin typeface="Times New Roman" panose="02020603050405020304" charset="0"/>
                <a:ea typeface="宋体" panose="02010600030101010101" pitchFamily="2" charset="-122"/>
              </a:rPr>
              <a:t>HPLC </a:t>
            </a:r>
            <a:r>
              <a:rPr lang="zh-CN" altLang="en-US" sz="2000" b="1" dirty="0">
                <a:latin typeface="Times New Roman" panose="02020603050405020304" charset="0"/>
                <a:ea typeface="宋体" panose="02010600030101010101" pitchFamily="2" charset="-122"/>
              </a:rPr>
              <a:t>在线监测反应过程中的 </a:t>
            </a:r>
            <a:r>
              <a:rPr lang="en-US" altLang="zh-CN" sz="2000" b="1" dirty="0">
                <a:latin typeface="Times New Roman" panose="02020603050405020304" charset="0"/>
                <a:ea typeface="宋体" panose="02010600030101010101" pitchFamily="2" charset="-122"/>
              </a:rPr>
              <a:t>ee </a:t>
            </a:r>
            <a:r>
              <a:rPr lang="zh-CN" altLang="en-US" sz="2000" b="1" dirty="0">
                <a:latin typeface="Times New Roman" panose="02020603050405020304" charset="0"/>
                <a:ea typeface="宋体" panose="02010600030101010101" pitchFamily="2" charset="-122"/>
              </a:rPr>
              <a:t>值，及时调整反应条件，控制副反应。</a:t>
            </a:r>
            <a:endParaRPr lang="en-US" altLang="zh-CN" sz="2000" b="1" dirty="0">
              <a:latin typeface="Times New Roman" panose="02020603050405020304" charset="0"/>
              <a:ea typeface="宋体" panose="02010600030101010101" pitchFamily="2" charset="-122"/>
            </a:endParaRPr>
          </a:p>
          <a:p>
            <a:pPr>
              <a:lnSpc>
                <a:spcPct val="150000"/>
              </a:lnSpc>
            </a:pPr>
            <a:r>
              <a:rPr lang="en-US" altLang="zh-CN" sz="2000" b="1" dirty="0">
                <a:latin typeface="Times New Roman" panose="02020603050405020304" charset="0"/>
                <a:ea typeface="宋体" panose="02010600030101010101" pitchFamily="2" charset="-122"/>
              </a:rPr>
              <a:t>                    2.</a:t>
            </a:r>
            <a:r>
              <a:rPr lang="zh-CN" altLang="en-US" sz="2000" b="1" dirty="0">
                <a:latin typeface="Times New Roman" panose="02020603050405020304" charset="0"/>
                <a:ea typeface="宋体" panose="02010600030101010101" pitchFamily="2" charset="-122"/>
              </a:rPr>
              <a:t>手性化合物纯化：根据手性化合物的性质（如成盐性、溶解度、晶型）选择合适方法，常结合多种方法（如结晶拆分</a:t>
            </a:r>
            <a:r>
              <a:rPr lang="en-US" altLang="zh-CN" sz="2000" b="1" dirty="0">
                <a:latin typeface="Times New Roman" panose="02020603050405020304" charset="0"/>
                <a:ea typeface="宋体" panose="02010600030101010101" pitchFamily="2" charset="-122"/>
              </a:rPr>
              <a:t>+</a:t>
            </a:r>
            <a:r>
              <a:rPr lang="zh-CN" altLang="en-US" sz="2000" b="1" dirty="0">
                <a:latin typeface="Times New Roman" panose="02020603050405020304" charset="0"/>
                <a:ea typeface="宋体" panose="02010600030101010101" pitchFamily="2" charset="-122"/>
              </a:rPr>
              <a:t>外消旋化）提升产率和纯度。</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TABLE_ENDDRAG_ORIGIN_RECT" val="786*303"/>
  <p:tag name="TABLE_ENDDRAG_RECT" val="89*119*786*303"/>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TABLE_ENDDRAG_ORIGIN_RECT" val="826*299"/>
  <p:tag name="TABLE_ENDDRAG_RECT" val="66*122*826*299"/>
</p:tagLst>
</file>

<file path=ppt/tags/tag29.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TABLE_ENDDRAG_ORIGIN_RECT" val="826*243"/>
  <p:tag name="TABLE_ENDDRAG_RECT" val="66*122*826*243"/>
</p:tagLst>
</file>

<file path=ppt/tags/tag3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39.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4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5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5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5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53.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5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134</TotalTime>
  <Words>10697</Words>
  <Application>Microsoft Office PowerPoint</Application>
  <PresentationFormat>宽屏</PresentationFormat>
  <Paragraphs>688</Paragraphs>
  <Slides>104</Slides>
  <Notes>8</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3</vt:i4>
      </vt:variant>
      <vt:variant>
        <vt:lpstr>幻灯片标题</vt:lpstr>
      </vt:variant>
      <vt:variant>
        <vt:i4>104</vt:i4>
      </vt:variant>
    </vt:vector>
  </HeadingPairs>
  <TitlesOfParts>
    <vt:vector size="120" baseType="lpstr">
      <vt:lpstr>-apple-system</vt:lpstr>
      <vt:lpstr>quote-cjk-patch</vt:lpstr>
      <vt:lpstr>等线</vt:lpstr>
      <vt:lpstr>等线 Light</vt:lpstr>
      <vt:lpstr>仿宋</vt:lpstr>
      <vt:lpstr>黑体</vt:lpstr>
      <vt:lpstr>宋体</vt:lpstr>
      <vt:lpstr>微软雅黑</vt:lpstr>
      <vt:lpstr>Arial</vt:lpstr>
      <vt:lpstr>Calibri</vt:lpstr>
      <vt:lpstr>Times New Roman</vt:lpstr>
      <vt:lpstr>Wingdings</vt:lpstr>
      <vt:lpstr>Office 主题​​</vt:lpstr>
      <vt:lpstr>CS ChemDraw Drawing</vt:lpstr>
      <vt:lpstr>CS ChemDraw 64-bit Drawing</vt:lpstr>
      <vt:lpstr>MDLDraw.Document.1</vt:lpstr>
      <vt:lpstr>PowerPoint 演示文稿</vt:lpstr>
      <vt:lpstr>PowerPoint 演示文稿</vt:lpstr>
      <vt:lpstr>PowerPoint 演示文稿</vt:lpstr>
      <vt:lpstr>氟伐他汀药物合成路线</vt:lpstr>
      <vt:lpstr>氟伐他汀药物合成路线路线优点、缺点</vt:lpstr>
      <vt:lpstr>氟伐他汀药物理想合成路线中的难点问题和解决方案</vt:lpstr>
      <vt:lpstr>PowerPoint 演示文稿</vt:lpstr>
      <vt:lpstr>阿托伐他汀药物合成路线</vt:lpstr>
      <vt:lpstr>阿托伐他汀药物合成路线路线优点、缺点</vt:lpstr>
      <vt:lpstr>阿托伐他汀药物理想合成路线中的难点问题和解决方案</vt:lpstr>
      <vt:lpstr>PowerPoint 演示文稿</vt:lpstr>
      <vt:lpstr>瑞舒伐他汀药物合成路线</vt:lpstr>
      <vt:lpstr>瑞舒伐他汀药物合成路线路线优点、缺点</vt:lpstr>
      <vt:lpstr>瑞舒伐他汀药物理想合成路线中的难点问题和解决方案</vt:lpstr>
      <vt:lpstr>PowerPoint 演示文稿</vt:lpstr>
      <vt:lpstr>匹伐他汀药物合成路线</vt:lpstr>
      <vt:lpstr>匹伐他汀药物合成路线路线优点、缺点</vt:lpstr>
      <vt:lpstr>瑞舒伐他汀药物理想合成路线中的难点问题和解决方案</vt:lpstr>
      <vt:lpstr>PowerPoint 演示文稿</vt:lpstr>
      <vt:lpstr>PowerPoint 演示文稿</vt:lpstr>
      <vt:lpstr>PowerPoint 演示文稿</vt:lpstr>
      <vt:lpstr>PowerPoint 演示文稿</vt:lpstr>
      <vt:lpstr>PowerPoint 演示文稿</vt:lpstr>
      <vt:lpstr>PowerPoint 演示文稿</vt:lpstr>
      <vt:lpstr>谢谢大家</vt:lpstr>
      <vt:lpstr>PowerPoint 演示文稿</vt:lpstr>
      <vt:lpstr>氟伐他汀药物合成路线</vt:lpstr>
      <vt:lpstr>氟伐他汀药物合成路线路线优点、缺点</vt:lpstr>
      <vt:lpstr>氟伐他汀药物理想合成路线中的难点问题和解决方案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氟伐他汀的市场价值</vt:lpstr>
      <vt:lpstr>氟伐他汀药物合成路线</vt:lpstr>
      <vt:lpstr>氟伐他汀药物合成路线路线优点、缺点</vt:lpstr>
      <vt:lpstr>氟伐他汀药物理想合成路线中的难点问题和解决方案</vt:lpstr>
      <vt:lpstr>PowerPoint 演示文稿</vt:lpstr>
      <vt:lpstr>氟伐他汀的市场价值</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市场价值 全球市场：2025年，包含瑞舒伐他汀和他汀类家族的全球市场规模约为353.1亿至353.5亿美元。。 中国制剂市场：2024年中国三大终端市场销售额超48亿元人民币，为血脂调节剂第二大产品。2025上半年已超26亿元，同比增长9.62%，增速稳健。  原料药价格 以瑞舒伐他汀钙为例，其报价约为每公斤（kg）2800元人民币。</vt:lpstr>
      <vt:lpstr>PowerPoint 演示文稿</vt:lpstr>
      <vt:lpstr>一、优点： 1. 手性中心构建高效：酶催化拆分立体选择性高，实现了手性中心的高效拆分与构建，避免了传统化学拆分的高成本与低收率问题，产物光学纯度高，大幅降低了后续纯化难度与成本。反应条件温和，无需高压、高温或强腐蚀性试剂，对设备要求低。 2. 三废压力相对可控，工艺绿色化潜力大：酶催化步骤替代了传统的化学拆分或不对称催化，减少了重金属催化剂、手性配体的使用，降低了废盐、废溶剂的产生，符合绿色制药的发展趋势。  二、难点及解决方案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songhx9@163.com</dc:creator>
  <cp:lastModifiedBy>admin</cp:lastModifiedBy>
  <cp:revision>102</cp:revision>
  <dcterms:created xsi:type="dcterms:W3CDTF">2026-04-21T13:29:00Z</dcterms:created>
  <dcterms:modified xsi:type="dcterms:W3CDTF">2026-05-20T03:50:08Z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604E2970EF8C4E2AAF849A03C2235F7E_12</vt:lpwstr>
  </property>
  <property fmtid="{D5CDD505-2E9C-101B-9397-08002B2CF9AE}" pid="3" name="KSOProductBuildVer">
    <vt:lpwstr>2052-12.1.0.26375</vt:lpwstr>
  </property>
</Properties>
</file>