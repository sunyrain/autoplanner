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4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5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6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8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9.xml" ContentType="application/vnd.openxmlformats-officedocument.presentationml.notesSlide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9" r:id="rId6"/>
    <p:sldId id="263" r:id="rId7"/>
    <p:sldId id="260" r:id="rId8"/>
    <p:sldId id="268" r:id="rId9"/>
    <p:sldId id="270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jie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D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69442" autoAdjust="0"/>
  </p:normalViewPr>
  <p:slideViewPr>
    <p:cSldViewPr snapToGrid="0" showGuides="1">
      <p:cViewPr varScale="1">
        <p:scale>
          <a:sx n="59" d="100"/>
          <a:sy n="59" d="100"/>
        </p:scale>
        <p:origin x="72" y="475"/>
      </p:cViewPr>
      <p:guideLst>
        <p:guide orient="horz" pos="2198"/>
        <p:guide pos="389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化学催化和生物催化各自有非常鲜明的优势。</a:t>
            </a:r>
          </a:p>
          <a:p>
            <a:endParaRPr lang="en-US" altLang="zh-CN" dirty="0"/>
          </a:p>
          <a:p>
            <a:r>
              <a:rPr lang="zh-CN" altLang="en-US" dirty="0"/>
              <a:t>先看化学催化。</a:t>
            </a:r>
          </a:p>
          <a:p>
            <a:r>
              <a:rPr lang="zh-CN" altLang="en-US" dirty="0"/>
              <a:t>它的优势在于：</a:t>
            </a:r>
          </a:p>
          <a:p>
            <a:r>
              <a:rPr lang="zh-CN" altLang="en-US" dirty="0"/>
              <a:t>它非常擅长构建复杂分子骨架，也擅长引入一些天然酶体系中不容易处理的反应活性，比如金属催化、自由基过程、强氧化还原过程等。换句话说，化学催化往往更像是在</a:t>
            </a:r>
            <a:r>
              <a:rPr lang="en-US" altLang="zh-CN" dirty="0"/>
              <a:t>“</a:t>
            </a:r>
            <a:r>
              <a:rPr lang="zh-CN" altLang="en-US" dirty="0"/>
              <a:t>打开化学空间</a:t>
            </a:r>
            <a:r>
              <a:rPr lang="en-US" altLang="zh-CN" dirty="0"/>
              <a:t>”</a:t>
            </a:r>
            <a:r>
              <a:rPr lang="zh-CN" altLang="en-US" dirty="0"/>
              <a:t>，让我们能够快速到达复杂结构。</a:t>
            </a:r>
          </a:p>
          <a:p>
            <a:endParaRPr lang="en-US" altLang="zh-CN" dirty="0"/>
          </a:p>
          <a:p>
            <a:r>
              <a:rPr lang="zh-CN" altLang="en-US" dirty="0"/>
              <a:t>再看生物催化。</a:t>
            </a:r>
          </a:p>
          <a:p>
            <a:r>
              <a:rPr lang="zh-CN" altLang="en-US" dirty="0"/>
              <a:t>酶催化最突出的优势，是它在选择性上极强，尤其是立体选择性、区域选择性和化学选择性。很多在传统化学中需要复杂保护</a:t>
            </a:r>
            <a:r>
              <a:rPr lang="en-US" altLang="zh-CN" dirty="0"/>
              <a:t>/</a:t>
            </a:r>
            <a:r>
              <a:rPr lang="zh-CN" altLang="en-US" dirty="0"/>
              <a:t>脱保护、需要长路线才能完成的后期精修饰，酶往往可以在温和条件下高效完成。</a:t>
            </a:r>
          </a:p>
          <a:p>
            <a:endParaRPr lang="en-US" altLang="zh-CN" dirty="0"/>
          </a:p>
          <a:p>
            <a:r>
              <a:rPr lang="zh-CN" altLang="en-US" dirty="0"/>
              <a:t>所以，如果把这两类催化方式结合起来，理论上就能同时获得两者的优点：</a:t>
            </a:r>
          </a:p>
          <a:p>
            <a:r>
              <a:rPr lang="zh-CN" altLang="en-US" dirty="0"/>
              <a:t>前半段利用化学催化快速搭骨架、引入活性；</a:t>
            </a:r>
          </a:p>
          <a:p>
            <a:r>
              <a:rPr lang="zh-CN" altLang="en-US" dirty="0"/>
              <a:t>后半段利用酶催化进行高选择性的精细转化。</a:t>
            </a:r>
          </a:p>
          <a:p>
            <a:endParaRPr lang="en-US" altLang="zh-CN" dirty="0"/>
          </a:p>
          <a:p>
            <a:r>
              <a:rPr lang="zh-CN" altLang="en-US" dirty="0"/>
              <a:t>因此，化学催化</a:t>
            </a:r>
            <a:r>
              <a:rPr lang="en-US" altLang="zh-CN" dirty="0"/>
              <a:t>—</a:t>
            </a:r>
            <a:r>
              <a:rPr lang="zh-CN" altLang="en-US" dirty="0"/>
              <a:t>酶催化级联反应的潜在价值非常明显，包括：</a:t>
            </a:r>
          </a:p>
          <a:p>
            <a:r>
              <a:rPr lang="zh-CN" altLang="en-US" dirty="0"/>
              <a:t>减少保护和脱保护步骤、缩短路线、提高总收率和总选择性，同时降低能耗和分离成本。</a:t>
            </a:r>
          </a:p>
          <a:p>
            <a:endParaRPr lang="en-US" altLang="zh-CN" dirty="0"/>
          </a:p>
          <a:p>
            <a:r>
              <a:rPr lang="zh-CN" altLang="en-US" dirty="0"/>
              <a:t>但这里我想特别强调一点：</a:t>
            </a:r>
          </a:p>
          <a:p>
            <a:r>
              <a:rPr lang="zh-CN" altLang="en-US" dirty="0"/>
              <a:t>级联反应不是</a:t>
            </a:r>
            <a:r>
              <a:rPr lang="en-US" altLang="zh-CN" dirty="0"/>
              <a:t>“</a:t>
            </a:r>
            <a:r>
              <a:rPr lang="zh-CN" altLang="en-US" dirty="0"/>
              <a:t>化学一步</a:t>
            </a:r>
            <a:r>
              <a:rPr lang="en-US" altLang="zh-CN" dirty="0"/>
              <a:t> + </a:t>
            </a:r>
            <a:r>
              <a:rPr lang="zh-CN" altLang="en-US" dirty="0"/>
              <a:t>生物一步</a:t>
            </a:r>
            <a:r>
              <a:rPr lang="en-US" altLang="zh-CN" dirty="0"/>
              <a:t>”</a:t>
            </a:r>
            <a:r>
              <a:rPr lang="zh-CN" altLang="en-US" dirty="0"/>
              <a:t>的简单拼接。</a:t>
            </a:r>
          </a:p>
          <a:p>
            <a:r>
              <a:rPr lang="zh-CN" altLang="en-US" dirty="0"/>
              <a:t>它的真正目标，是让</a:t>
            </a:r>
            <a:r>
              <a:rPr lang="en-US" altLang="zh-CN" dirty="0"/>
              <a:t>“</a:t>
            </a:r>
            <a:r>
              <a:rPr lang="zh-CN" altLang="en-US" dirty="0"/>
              <a:t>高反应性</a:t>
            </a:r>
            <a:r>
              <a:rPr lang="en-US" altLang="zh-CN" dirty="0"/>
              <a:t>”</a:t>
            </a:r>
            <a:r>
              <a:rPr lang="zh-CN" altLang="en-US" dirty="0"/>
              <a:t>和</a:t>
            </a:r>
            <a:r>
              <a:rPr lang="en-US" altLang="zh-CN" dirty="0"/>
              <a:t>“</a:t>
            </a:r>
            <a:r>
              <a:rPr lang="zh-CN" altLang="en-US" dirty="0"/>
              <a:t>高选择性</a:t>
            </a:r>
            <a:r>
              <a:rPr lang="en-US" altLang="zh-CN" dirty="0"/>
              <a:t>”</a:t>
            </a:r>
            <a:r>
              <a:rPr lang="zh-CN" altLang="en-US" dirty="0"/>
              <a:t>能够在同一个体系中实现兼容、接力和闭环。</a:t>
            </a:r>
          </a:p>
          <a:p>
            <a:endParaRPr lang="en-US" altLang="zh-CN" dirty="0"/>
          </a:p>
          <a:p>
            <a:r>
              <a:rPr lang="zh-CN" altLang="en-US" dirty="0"/>
              <a:t>这也是为什么它值得研究，但也正因为如此，它会变得非常难。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这一页讲的是级联反应真正的难点。</a:t>
            </a:r>
          </a:p>
          <a:p>
            <a:endParaRPr lang="en-US" altLang="zh-CN" dirty="0"/>
          </a:p>
          <a:p>
            <a:r>
              <a:rPr lang="zh-CN" altLang="en-US" dirty="0"/>
              <a:t>最直观的第一个问题是条件不匹配。</a:t>
            </a:r>
          </a:p>
          <a:p>
            <a:r>
              <a:rPr lang="zh-CN" altLang="en-US" dirty="0"/>
              <a:t>化学催化经常需要有机溶剂、高温、金属中心、自由基环境或者特殊氧化还原条件；</a:t>
            </a:r>
          </a:p>
          <a:p>
            <a:r>
              <a:rPr lang="zh-CN" altLang="en-US" dirty="0"/>
              <a:t>而酶催化通常更偏好温和、水相、接近生理条件的环境。</a:t>
            </a:r>
          </a:p>
          <a:p>
            <a:r>
              <a:rPr lang="zh-CN" altLang="en-US" dirty="0"/>
              <a:t>所以两者在反应条件上的天然偏好往往是冲突的。</a:t>
            </a:r>
          </a:p>
          <a:p>
            <a:endParaRPr lang="en-US" altLang="zh-CN" dirty="0"/>
          </a:p>
          <a:p>
            <a:r>
              <a:rPr lang="zh-CN" altLang="en-US" dirty="0"/>
              <a:t>第二个问题是中间体不稳定。</a:t>
            </a:r>
          </a:p>
          <a:p>
            <a:r>
              <a:rPr lang="zh-CN" altLang="en-US" dirty="0"/>
              <a:t>很多真正有价值的桥接中间体，其实恰恰是最麻烦的：</a:t>
            </a:r>
          </a:p>
          <a:p>
            <a:r>
              <a:rPr lang="zh-CN" altLang="en-US" dirty="0"/>
              <a:t>它可能难分离、容易分解、容易发生副反应，甚至一旦离开上游反应环境就失活。</a:t>
            </a:r>
          </a:p>
          <a:p>
            <a:r>
              <a:rPr lang="zh-CN" altLang="en-US" dirty="0"/>
              <a:t>这意味着你不能简单地把上一步做完、纯化一下，再交给下游；有时必须在体系内直接接力。</a:t>
            </a:r>
          </a:p>
          <a:p>
            <a:endParaRPr lang="en-US" altLang="zh-CN" dirty="0"/>
          </a:p>
          <a:p>
            <a:r>
              <a:rPr lang="zh-CN" altLang="en-US" dirty="0"/>
              <a:t>第三个问题是时空组织困难。</a:t>
            </a:r>
          </a:p>
          <a:p>
            <a:r>
              <a:rPr lang="zh-CN" altLang="en-US" dirty="0"/>
              <a:t>到底应该采用</a:t>
            </a:r>
            <a:r>
              <a:rPr lang="en-US" altLang="zh-CN" dirty="0"/>
              <a:t> one-pot </a:t>
            </a:r>
            <a:r>
              <a:rPr lang="zh-CN" altLang="en-US" dirty="0"/>
              <a:t>体系、分步操作、流动体系，还是进行空间隔离？</a:t>
            </a:r>
          </a:p>
          <a:p>
            <a:r>
              <a:rPr lang="zh-CN" altLang="en-US" dirty="0"/>
              <a:t>这些不是工艺末端的小问题，而是会直接决定这个级联体系能否成立的核心设计变量。</a:t>
            </a:r>
          </a:p>
          <a:p>
            <a:endParaRPr lang="en-US" altLang="zh-CN" dirty="0"/>
          </a:p>
          <a:p>
            <a:r>
              <a:rPr lang="zh-CN" altLang="en-US" dirty="0"/>
              <a:t>但更深层的瓶颈在于：</a:t>
            </a:r>
          </a:p>
          <a:p>
            <a:r>
              <a:rPr lang="zh-CN" altLang="en-US" dirty="0"/>
              <a:t>我们需要解决的不是</a:t>
            </a:r>
            <a:r>
              <a:rPr lang="en-US" altLang="zh-CN" dirty="0"/>
              <a:t>“</a:t>
            </a:r>
            <a:r>
              <a:rPr lang="zh-CN" altLang="en-US" dirty="0"/>
              <a:t>如何把两步串起来</a:t>
            </a:r>
            <a:r>
              <a:rPr lang="en-US" altLang="zh-CN" dirty="0"/>
              <a:t>”</a:t>
            </a:r>
            <a:r>
              <a:rPr lang="zh-CN" altLang="en-US" dirty="0"/>
              <a:t>，而是</a:t>
            </a:r>
            <a:r>
              <a:rPr lang="en-US" altLang="zh-CN" dirty="0"/>
              <a:t>“</a:t>
            </a:r>
            <a:r>
              <a:rPr lang="zh-CN" altLang="en-US" dirty="0"/>
              <a:t>如何让整个体系协同起来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r>
              <a:rPr lang="zh-CN" altLang="en-US" dirty="0"/>
              <a:t>因为在级联系统中，经常会出现催化剂相互失活。</a:t>
            </a:r>
          </a:p>
          <a:p>
            <a:r>
              <a:rPr lang="zh-CN" altLang="en-US" dirty="0"/>
              <a:t>金属催化剂、自由基体系、氧化还原组分可能会破坏酶活性；</a:t>
            </a:r>
          </a:p>
          <a:p>
            <a:r>
              <a:rPr lang="zh-CN" altLang="en-US" dirty="0"/>
              <a:t>反过来，生物体系中的蛋白、辅因子、代谢组分也可能毒化化学催化剂。</a:t>
            </a:r>
          </a:p>
          <a:p>
            <a:endParaRPr lang="en-US" altLang="zh-CN" dirty="0"/>
          </a:p>
          <a:p>
            <a:r>
              <a:rPr lang="zh-CN" altLang="en-US" dirty="0"/>
              <a:t>因此，级联系统优化的对象不再是单一步骤，而是整个系统的联合优化。</a:t>
            </a:r>
          </a:p>
          <a:p>
            <a:r>
              <a:rPr lang="zh-CN" altLang="en-US" dirty="0"/>
              <a:t>你需要同时考虑路线、酶、化学催化剂、反应顺序、加料方式、温度、</a:t>
            </a:r>
            <a:r>
              <a:rPr lang="en-US" altLang="zh-CN" dirty="0"/>
              <a:t>pH</a:t>
            </a:r>
            <a:r>
              <a:rPr lang="zh-CN" altLang="en-US" dirty="0"/>
              <a:t>、溶剂、微环境等多个因素，而且这些变量高度耦合。</a:t>
            </a:r>
          </a:p>
          <a:p>
            <a:endParaRPr lang="en-US" altLang="zh-CN" dirty="0"/>
          </a:p>
          <a:p>
            <a:r>
              <a:rPr lang="zh-CN" altLang="en-US" dirty="0"/>
              <a:t>所以，实验搜索空间会急剧膨胀。</a:t>
            </a:r>
          </a:p>
          <a:p>
            <a:r>
              <a:rPr lang="zh-CN" altLang="en-US" dirty="0"/>
              <a:t>单靠传统试错方法，效率通常是非常低的。</a:t>
            </a:r>
          </a:p>
          <a:p>
            <a:endParaRPr lang="en-US" altLang="zh-CN" dirty="0"/>
          </a:p>
          <a:p>
            <a:r>
              <a:rPr lang="zh-CN" altLang="en-US" dirty="0"/>
              <a:t>这就自然引出了下一页的问题：</a:t>
            </a:r>
          </a:p>
          <a:p>
            <a:r>
              <a:rPr lang="zh-CN" altLang="en-US" dirty="0"/>
              <a:t>在这样一个高维、耦合、代价高的设计空间里，</a:t>
            </a:r>
            <a:r>
              <a:rPr lang="en-US" altLang="zh-CN" dirty="0"/>
              <a:t>AI </a:t>
            </a:r>
            <a:r>
              <a:rPr lang="zh-CN" altLang="en-US" dirty="0"/>
              <a:t>能不能成为一个真正有用的工具？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如果我们把级联系统看成一个完整设计问题，那么至少有四类关键决策需要解决：</a:t>
            </a:r>
          </a:p>
          <a:p>
            <a:endParaRPr lang="en-US" altLang="zh-CN" dirty="0"/>
          </a:p>
          <a:p>
            <a:r>
              <a:rPr lang="zh-CN" altLang="en-US" dirty="0"/>
              <a:t>第一，哪条路线最值得尝试。</a:t>
            </a:r>
          </a:p>
          <a:p>
            <a:r>
              <a:rPr lang="zh-CN" altLang="en-US" dirty="0"/>
              <a:t>也就是说，从目标产物出发，可能存在很多化学</a:t>
            </a:r>
            <a:r>
              <a:rPr lang="en-US" altLang="zh-CN" dirty="0"/>
              <a:t>—</a:t>
            </a:r>
            <a:r>
              <a:rPr lang="zh-CN" altLang="en-US" dirty="0"/>
              <a:t>酶组合路线，但并不是每条路线都值得进入实验。</a:t>
            </a:r>
          </a:p>
          <a:p>
            <a:endParaRPr lang="en-US" altLang="zh-CN" dirty="0"/>
          </a:p>
          <a:p>
            <a:r>
              <a:rPr lang="zh-CN" altLang="en-US" dirty="0"/>
              <a:t>第二，哪个中间体最适合作为上下游连接点。</a:t>
            </a:r>
          </a:p>
          <a:p>
            <a:r>
              <a:rPr lang="zh-CN" altLang="en-US" dirty="0"/>
              <a:t>这个桥接中间体必须既能由上游高效生成，又能被下游酶识别，同时在整体条件下足够稳定。</a:t>
            </a:r>
          </a:p>
          <a:p>
            <a:endParaRPr lang="en-US" altLang="zh-CN" dirty="0"/>
          </a:p>
          <a:p>
            <a:r>
              <a:rPr lang="zh-CN" altLang="en-US" dirty="0"/>
              <a:t>第三，哪种酶和哪种化学催化剂更可能兼容。</a:t>
            </a:r>
          </a:p>
          <a:p>
            <a:r>
              <a:rPr lang="zh-CN" altLang="en-US" dirty="0"/>
              <a:t>这里不仅是单点活性问题，还包括体系兼容性、毒性、微环境适配等更系统的问题。</a:t>
            </a:r>
          </a:p>
          <a:p>
            <a:endParaRPr lang="en-US" altLang="zh-CN" dirty="0"/>
          </a:p>
          <a:p>
            <a:r>
              <a:rPr lang="zh-CN" altLang="en-US" dirty="0"/>
              <a:t>第四，如何在多目标约束下实现整体最优。</a:t>
            </a:r>
          </a:p>
          <a:p>
            <a:r>
              <a:rPr lang="zh-CN" altLang="en-US" dirty="0"/>
              <a:t>因为我们真正优化的目标通常不止一个，可能同时包括收率、</a:t>
            </a:r>
            <a:r>
              <a:rPr lang="en-US" altLang="zh-CN" dirty="0"/>
              <a:t>ee</a:t>
            </a:r>
            <a:r>
              <a:rPr lang="zh-CN" altLang="en-US" dirty="0"/>
              <a:t>、稳定性、可放大性、成本和绿色性。</a:t>
            </a:r>
          </a:p>
          <a:p>
            <a:endParaRPr lang="en-US" altLang="zh-CN" dirty="0"/>
          </a:p>
          <a:p>
            <a:r>
              <a:rPr lang="zh-CN" altLang="en-US" dirty="0"/>
              <a:t>所以从本质上说，</a:t>
            </a:r>
            <a:r>
              <a:rPr lang="en-US" altLang="zh-CN" dirty="0"/>
              <a:t>AI </a:t>
            </a:r>
            <a:r>
              <a:rPr lang="zh-CN" altLang="en-US" dirty="0"/>
              <a:t>所做的事情，是把原来依赖人工经验和大量试错的</a:t>
            </a:r>
            <a:r>
              <a:rPr lang="en-US" altLang="zh-CN" dirty="0"/>
              <a:t>“</a:t>
            </a:r>
            <a:r>
              <a:rPr lang="zh-CN" altLang="en-US" dirty="0"/>
              <a:t>路线</a:t>
            </a:r>
            <a:r>
              <a:rPr lang="en-US" altLang="zh-CN" dirty="0"/>
              <a:t>—</a:t>
            </a:r>
            <a:r>
              <a:rPr lang="zh-CN" altLang="en-US" dirty="0"/>
              <a:t>中间体</a:t>
            </a:r>
            <a:r>
              <a:rPr lang="en-US" altLang="zh-CN" dirty="0"/>
              <a:t>—</a:t>
            </a:r>
            <a:r>
              <a:rPr lang="zh-CN" altLang="en-US" dirty="0"/>
              <a:t>催化者</a:t>
            </a:r>
            <a:r>
              <a:rPr lang="en-US" altLang="zh-CN" dirty="0"/>
              <a:t>—</a:t>
            </a:r>
            <a:r>
              <a:rPr lang="zh-CN" altLang="en-US" dirty="0"/>
              <a:t>条件</a:t>
            </a:r>
            <a:r>
              <a:rPr lang="en-US" altLang="zh-CN" dirty="0"/>
              <a:t>”</a:t>
            </a:r>
            <a:r>
              <a:rPr lang="zh-CN" altLang="en-US" dirty="0"/>
              <a:t>联合搜索，转化为一个可预测、可排序、可迭代优化的问题。</a:t>
            </a:r>
          </a:p>
          <a:p>
            <a:endParaRPr lang="en-US" altLang="zh-CN" dirty="0"/>
          </a:p>
          <a:p>
            <a:r>
              <a:rPr lang="zh-CN" altLang="en-US" dirty="0"/>
              <a:t>因此，我更倾向于把</a:t>
            </a:r>
            <a:r>
              <a:rPr lang="en-US" altLang="zh-CN" dirty="0"/>
              <a:t> AI </a:t>
            </a:r>
            <a:r>
              <a:rPr lang="zh-CN" altLang="en-US" dirty="0"/>
              <a:t>看成级联系统的一个：</a:t>
            </a:r>
          </a:p>
          <a:p>
            <a:r>
              <a:rPr lang="zh-CN" altLang="en-US" dirty="0"/>
              <a:t>设计器</a:t>
            </a:r>
            <a:r>
              <a:rPr lang="en-US" altLang="zh-CN" dirty="0"/>
              <a:t> + </a:t>
            </a:r>
            <a:r>
              <a:rPr lang="zh-CN" altLang="en-US" dirty="0"/>
              <a:t>决策辅助器。</a:t>
            </a:r>
          </a:p>
          <a:p>
            <a:endParaRPr lang="en-US" altLang="zh-CN" dirty="0"/>
          </a:p>
          <a:p>
            <a:r>
              <a:rPr lang="zh-CN" altLang="en-US" dirty="0"/>
              <a:t>它不是简单替代实验，而是帮助我们在进入实验之前，优先找到更可能成功的方向。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1FD8-AE31-BC00-9BC1-EF133BEC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E52746-03DE-2E1B-84A7-EFF27D45E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952B9C-EA37-7CC7-F0DE-49C9D4223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如果我们把级联系统看成一个完整设计问题，那么至少有四类关键决策需要解决：</a:t>
            </a:r>
          </a:p>
          <a:p>
            <a:endParaRPr lang="en-US" altLang="zh-CN" dirty="0"/>
          </a:p>
          <a:p>
            <a:r>
              <a:rPr lang="zh-CN" altLang="en-US" dirty="0"/>
              <a:t>第一，哪条路线最值得尝试。</a:t>
            </a:r>
          </a:p>
          <a:p>
            <a:r>
              <a:rPr lang="zh-CN" altLang="en-US" dirty="0"/>
              <a:t>也就是说，从目标产物出发，可能存在很多化学</a:t>
            </a:r>
            <a:r>
              <a:rPr lang="en-US" altLang="zh-CN" dirty="0"/>
              <a:t>—</a:t>
            </a:r>
            <a:r>
              <a:rPr lang="zh-CN" altLang="en-US" dirty="0"/>
              <a:t>酶组合路线，但并不是每条路线都值得进入实验。</a:t>
            </a:r>
          </a:p>
          <a:p>
            <a:endParaRPr lang="en-US" altLang="zh-CN" dirty="0"/>
          </a:p>
          <a:p>
            <a:r>
              <a:rPr lang="zh-CN" altLang="en-US" dirty="0"/>
              <a:t>第二，哪个中间体最适合作为上下游连接点。</a:t>
            </a:r>
          </a:p>
          <a:p>
            <a:r>
              <a:rPr lang="zh-CN" altLang="en-US" dirty="0"/>
              <a:t>这个桥接中间体必须既能由上游高效生成，又能被下游酶识别，同时在整体条件下足够稳定。</a:t>
            </a:r>
          </a:p>
          <a:p>
            <a:endParaRPr lang="en-US" altLang="zh-CN" dirty="0"/>
          </a:p>
          <a:p>
            <a:r>
              <a:rPr lang="zh-CN" altLang="en-US" dirty="0"/>
              <a:t>第三，哪种酶和哪种化学催化剂更可能兼容。</a:t>
            </a:r>
          </a:p>
          <a:p>
            <a:r>
              <a:rPr lang="zh-CN" altLang="en-US" dirty="0"/>
              <a:t>这里不仅是单点活性问题，还包括体系兼容性、毒性、微环境适配等更系统的问题。</a:t>
            </a:r>
          </a:p>
          <a:p>
            <a:endParaRPr lang="en-US" altLang="zh-CN" dirty="0"/>
          </a:p>
          <a:p>
            <a:r>
              <a:rPr lang="zh-CN" altLang="en-US" dirty="0"/>
              <a:t>第四，如何在多目标约束下实现整体最优。</a:t>
            </a:r>
          </a:p>
          <a:p>
            <a:r>
              <a:rPr lang="zh-CN" altLang="en-US" dirty="0"/>
              <a:t>因为我们真正优化的目标通常不止一个，可能同时包括收率、</a:t>
            </a:r>
            <a:r>
              <a:rPr lang="en-US" altLang="zh-CN" dirty="0"/>
              <a:t>ee</a:t>
            </a:r>
            <a:r>
              <a:rPr lang="zh-CN" altLang="en-US" dirty="0"/>
              <a:t>、稳定性、可放大性、成本和绿色性。</a:t>
            </a:r>
          </a:p>
          <a:p>
            <a:endParaRPr lang="en-US" altLang="zh-CN" dirty="0"/>
          </a:p>
          <a:p>
            <a:r>
              <a:rPr lang="zh-CN" altLang="en-US" dirty="0"/>
              <a:t>所以从本质上说，</a:t>
            </a:r>
            <a:r>
              <a:rPr lang="en-US" altLang="zh-CN" dirty="0"/>
              <a:t>AI </a:t>
            </a:r>
            <a:r>
              <a:rPr lang="zh-CN" altLang="en-US" dirty="0"/>
              <a:t>所做的事情，是把原来依赖人工经验和大量试错的</a:t>
            </a:r>
            <a:r>
              <a:rPr lang="en-US" altLang="zh-CN" dirty="0"/>
              <a:t>“</a:t>
            </a:r>
            <a:r>
              <a:rPr lang="zh-CN" altLang="en-US" dirty="0"/>
              <a:t>路线</a:t>
            </a:r>
            <a:r>
              <a:rPr lang="en-US" altLang="zh-CN" dirty="0"/>
              <a:t>—</a:t>
            </a:r>
            <a:r>
              <a:rPr lang="zh-CN" altLang="en-US" dirty="0"/>
              <a:t>中间体</a:t>
            </a:r>
            <a:r>
              <a:rPr lang="en-US" altLang="zh-CN" dirty="0"/>
              <a:t>—</a:t>
            </a:r>
            <a:r>
              <a:rPr lang="zh-CN" altLang="en-US" dirty="0"/>
              <a:t>催化者</a:t>
            </a:r>
            <a:r>
              <a:rPr lang="en-US" altLang="zh-CN" dirty="0"/>
              <a:t>—</a:t>
            </a:r>
            <a:r>
              <a:rPr lang="zh-CN" altLang="en-US" dirty="0"/>
              <a:t>条件</a:t>
            </a:r>
            <a:r>
              <a:rPr lang="en-US" altLang="zh-CN" dirty="0"/>
              <a:t>”</a:t>
            </a:r>
            <a:r>
              <a:rPr lang="zh-CN" altLang="en-US" dirty="0"/>
              <a:t>联合搜索，转化为一个可预测、可排序、可迭代优化的问题。</a:t>
            </a:r>
          </a:p>
          <a:p>
            <a:endParaRPr lang="en-US" altLang="zh-CN" dirty="0"/>
          </a:p>
          <a:p>
            <a:r>
              <a:rPr lang="zh-CN" altLang="en-US" dirty="0"/>
              <a:t>因此，我更倾向于把</a:t>
            </a:r>
            <a:r>
              <a:rPr lang="en-US" altLang="zh-CN" dirty="0"/>
              <a:t> AI </a:t>
            </a:r>
            <a:r>
              <a:rPr lang="zh-CN" altLang="en-US" dirty="0"/>
              <a:t>看成级联系统的一个：</a:t>
            </a:r>
          </a:p>
          <a:p>
            <a:r>
              <a:rPr lang="zh-CN" altLang="en-US" dirty="0"/>
              <a:t>设计器</a:t>
            </a:r>
            <a:r>
              <a:rPr lang="en-US" altLang="zh-CN" dirty="0"/>
              <a:t> + </a:t>
            </a:r>
            <a:r>
              <a:rPr lang="zh-CN" altLang="en-US" dirty="0"/>
              <a:t>决策辅助器。</a:t>
            </a:r>
          </a:p>
          <a:p>
            <a:endParaRPr lang="en-US" altLang="zh-CN" dirty="0"/>
          </a:p>
          <a:p>
            <a:r>
              <a:rPr lang="zh-CN" altLang="en-US" dirty="0"/>
              <a:t>它不是简单替代实验，而是帮助我们在进入实验之前，优先找到更可能成功的方向。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68196-0DE2-5685-6435-606A92DF9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24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这一页讲第三个案例，也就是面向级联系统的统一</a:t>
            </a:r>
            <a:r>
              <a:rPr lang="en-US" altLang="zh-CN" dirty="0"/>
              <a:t> planning </a:t>
            </a:r>
            <a:r>
              <a:rPr lang="zh-CN" altLang="en-US" dirty="0"/>
              <a:t>框架。</a:t>
            </a:r>
          </a:p>
          <a:p>
            <a:endParaRPr lang="en-US" altLang="zh-CN" dirty="0"/>
          </a:p>
          <a:p>
            <a:r>
              <a:rPr lang="zh-CN" altLang="en-US" dirty="0"/>
              <a:t>这一类工作的意义在于：</a:t>
            </a:r>
          </a:p>
          <a:p>
            <a:r>
              <a:rPr lang="zh-CN" altLang="en-US" dirty="0"/>
              <a:t>它不再把化学反应和酶促反应看作两个完全独立的设计问题，而是尝试把它们纳入一个统一的合成规划框架。</a:t>
            </a:r>
          </a:p>
          <a:p>
            <a:endParaRPr lang="en-US" altLang="zh-CN" dirty="0"/>
          </a:p>
          <a:p>
            <a:r>
              <a:rPr lang="zh-CN" altLang="en-US" dirty="0"/>
              <a:t>从目标分子出发，系统要做的不只是普通逆合成，而是同时回答几个问题：</a:t>
            </a:r>
          </a:p>
          <a:p>
            <a:r>
              <a:rPr lang="zh-CN" altLang="en-US" dirty="0"/>
              <a:t>这条路线怎么拆？</a:t>
            </a:r>
          </a:p>
          <a:p>
            <a:r>
              <a:rPr lang="zh-CN" altLang="en-US" dirty="0"/>
              <a:t>其中哪些步骤更适合用酶？</a:t>
            </a:r>
          </a:p>
          <a:p>
            <a:r>
              <a:rPr lang="zh-CN" altLang="en-US" dirty="0"/>
              <a:t>哪些步骤更适合用传统化学？</a:t>
            </a:r>
          </a:p>
          <a:p>
            <a:r>
              <a:rPr lang="zh-CN" altLang="en-US" dirty="0"/>
              <a:t>每一步的反应可行性如何？</a:t>
            </a:r>
          </a:p>
          <a:p>
            <a:r>
              <a:rPr lang="zh-CN" altLang="en-US" dirty="0"/>
              <a:t>有没有合适的酶或酶类推荐？</a:t>
            </a:r>
          </a:p>
          <a:p>
            <a:endParaRPr lang="en-US" altLang="zh-CN" dirty="0"/>
          </a:p>
          <a:p>
            <a:r>
              <a:rPr lang="zh-CN" altLang="en-US" dirty="0"/>
              <a:t>第一层，路线搜索。</a:t>
            </a:r>
          </a:p>
          <a:p>
            <a:r>
              <a:rPr lang="zh-CN" altLang="en-US" dirty="0"/>
              <a:t>从目标分子往回拆解，枚举可能路线，并对路线进行评估打分。</a:t>
            </a:r>
          </a:p>
          <a:p>
            <a:endParaRPr lang="en-US" altLang="zh-CN" dirty="0"/>
          </a:p>
          <a:p>
            <a:r>
              <a:rPr lang="zh-CN" altLang="en-US" dirty="0"/>
              <a:t>第二层，单步决策。</a:t>
            </a:r>
          </a:p>
          <a:p>
            <a:r>
              <a:rPr lang="zh-CN" altLang="en-US" dirty="0"/>
              <a:t>对每一步判断：</a:t>
            </a:r>
          </a:p>
          <a:p>
            <a:r>
              <a:rPr lang="zh-CN" altLang="en-US" dirty="0"/>
              <a:t>它更适合化学催化还是酶催化？</a:t>
            </a:r>
          </a:p>
          <a:p>
            <a:r>
              <a:rPr lang="zh-CN" altLang="en-US" dirty="0"/>
              <a:t>需要什么条件？</a:t>
            </a:r>
          </a:p>
          <a:p>
            <a:r>
              <a:rPr lang="zh-CN" altLang="en-US" dirty="0"/>
              <a:t>这一步是否可行？</a:t>
            </a:r>
          </a:p>
          <a:p>
            <a:endParaRPr lang="en-US" altLang="zh-CN" dirty="0"/>
          </a:p>
          <a:p>
            <a:r>
              <a:rPr lang="zh-CN" altLang="en-US" dirty="0"/>
              <a:t>第三层，酶催化增强。</a:t>
            </a:r>
          </a:p>
          <a:p>
            <a:r>
              <a:rPr lang="zh-CN" altLang="en-US" dirty="0"/>
              <a:t>对于判定适合用酶的步骤，进一步进行酶适配性判断、酶种类推荐，甚至活性位点验证。</a:t>
            </a:r>
          </a:p>
          <a:p>
            <a:endParaRPr lang="en-US" altLang="zh-CN" dirty="0"/>
          </a:p>
          <a:p>
            <a:r>
              <a:rPr lang="zh-CN" altLang="en-US" dirty="0"/>
              <a:t>也就是说，这类工作已经开始朝一个更完整的愿景靠近：</a:t>
            </a:r>
          </a:p>
          <a:p>
            <a:r>
              <a:rPr lang="zh-CN" altLang="en-US" dirty="0"/>
              <a:t>不是分别做</a:t>
            </a:r>
            <a:r>
              <a:rPr lang="en-US" altLang="zh-CN" dirty="0"/>
              <a:t>“</a:t>
            </a:r>
            <a:r>
              <a:rPr lang="zh-CN" altLang="en-US" dirty="0"/>
              <a:t>路线预测</a:t>
            </a:r>
            <a:r>
              <a:rPr lang="en-US" altLang="zh-CN" dirty="0"/>
              <a:t>”“</a:t>
            </a:r>
            <a:r>
              <a:rPr lang="zh-CN" altLang="en-US" dirty="0"/>
              <a:t>酶筛选</a:t>
            </a:r>
            <a:r>
              <a:rPr lang="en-US" altLang="zh-CN" dirty="0"/>
              <a:t>”“</a:t>
            </a:r>
            <a:r>
              <a:rPr lang="zh-CN" altLang="en-US" dirty="0"/>
              <a:t>条件优化</a:t>
            </a:r>
            <a:r>
              <a:rPr lang="en-US" altLang="zh-CN" dirty="0"/>
              <a:t>”</a:t>
            </a:r>
            <a:r>
              <a:rPr lang="zh-CN" altLang="en-US" dirty="0"/>
              <a:t>，而是把这些模块组织到同一个决策流程里。</a:t>
            </a:r>
          </a:p>
          <a:p>
            <a:endParaRPr lang="en-US" altLang="zh-CN" dirty="0"/>
          </a:p>
          <a:p>
            <a:r>
              <a:rPr lang="zh-CN" altLang="en-US" dirty="0"/>
              <a:t>从我的理解看，这正是未来</a:t>
            </a:r>
            <a:r>
              <a:rPr lang="en-US" altLang="zh-CN" dirty="0"/>
              <a:t> chemoenzymatic cascade </a:t>
            </a:r>
            <a:r>
              <a:rPr lang="zh-CN" altLang="en-US" dirty="0"/>
              <a:t>设计最有前景的方向。</a:t>
            </a:r>
          </a:p>
          <a:p>
            <a:r>
              <a:rPr lang="zh-CN" altLang="en-US" dirty="0"/>
              <a:t>因为级联系统的本质，本来就不是单个局部最优，而是全链条协调最优。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这一页聚焦在一个非常关键、也非常有级联特色的问题上：桥接中间体设计。</a:t>
            </a:r>
          </a:p>
          <a:p>
            <a:endParaRPr lang="en-US" altLang="zh-CN" dirty="0"/>
          </a:p>
          <a:p>
            <a:r>
              <a:rPr lang="zh-CN" altLang="en-US" dirty="0"/>
              <a:t>所谓桥接中间体，就是连接上游化学步骤与下游酶催化步骤的那个接口分子。</a:t>
            </a:r>
          </a:p>
          <a:p>
            <a:r>
              <a:rPr lang="zh-CN" altLang="en-US" dirty="0"/>
              <a:t>它不是普通中间体，而是整个级联系统能否顺畅衔接的关键节点。</a:t>
            </a:r>
          </a:p>
          <a:p>
            <a:endParaRPr lang="en-US" altLang="zh-CN" dirty="0"/>
          </a:p>
          <a:p>
            <a:r>
              <a:rPr lang="zh-CN" altLang="en-US" dirty="0"/>
              <a:t>一个理想的桥接中间体，至少需要满足几个条件。</a:t>
            </a:r>
          </a:p>
          <a:p>
            <a:endParaRPr lang="en-US" altLang="zh-CN" dirty="0"/>
          </a:p>
          <a:p>
            <a:r>
              <a:rPr lang="zh-CN" altLang="en-US" dirty="0"/>
              <a:t>第一，上游化学步可合成。</a:t>
            </a:r>
          </a:p>
          <a:p>
            <a:r>
              <a:rPr lang="zh-CN" altLang="en-US" dirty="0"/>
              <a:t>也就是说，它不能只是理论上看起来适合，而必须能够通过前面的化学反应高效得到。</a:t>
            </a:r>
          </a:p>
          <a:p>
            <a:endParaRPr lang="en-US" altLang="zh-CN" dirty="0"/>
          </a:p>
          <a:p>
            <a:r>
              <a:rPr lang="zh-CN" altLang="en-US" dirty="0"/>
              <a:t>第二，下游酶可识别，或者至少可通过酶工程适配。</a:t>
            </a:r>
          </a:p>
          <a:p>
            <a:r>
              <a:rPr lang="zh-CN" altLang="en-US" dirty="0"/>
              <a:t>如果这个中间体虽然容易合成，但酶完全无法处理，那它就无法成为有效接口。</a:t>
            </a:r>
          </a:p>
          <a:p>
            <a:endParaRPr lang="en-US" altLang="zh-CN" dirty="0"/>
          </a:p>
          <a:p>
            <a:r>
              <a:rPr lang="zh-CN" altLang="en-US" dirty="0"/>
              <a:t>第三，它在级联条件下足够稳定。</a:t>
            </a:r>
          </a:p>
          <a:p>
            <a:r>
              <a:rPr lang="zh-CN" altLang="en-US" dirty="0"/>
              <a:t>这一点尤其重要。很多分子单看结构很有吸引力，但在真实体系中可能迅速分解、互变、聚合或者被副反应吞噬。</a:t>
            </a:r>
          </a:p>
          <a:p>
            <a:endParaRPr lang="en-US" altLang="zh-CN" dirty="0"/>
          </a:p>
          <a:p>
            <a:r>
              <a:rPr lang="zh-CN" altLang="en-US" dirty="0"/>
              <a:t>第四，它不能明显毒害酶或化学催化剂。</a:t>
            </a:r>
          </a:p>
          <a:p>
            <a:r>
              <a:rPr lang="zh-CN" altLang="en-US" dirty="0"/>
              <a:t>也就是说，它不能在系统层面破坏另一端的催化功能。</a:t>
            </a:r>
          </a:p>
          <a:p>
            <a:endParaRPr lang="en-US" altLang="zh-CN" dirty="0"/>
          </a:p>
          <a:p>
            <a:r>
              <a:rPr lang="zh-CN" altLang="en-US" dirty="0"/>
              <a:t>第五，它最终要有利于总收率、总选择性和工艺可行性。</a:t>
            </a:r>
          </a:p>
          <a:p>
            <a:r>
              <a:rPr lang="zh-CN" altLang="en-US" dirty="0"/>
              <a:t>因为级联设计最终要优化的是系统结果，而不是某一步看起来漂亮。</a:t>
            </a:r>
          </a:p>
          <a:p>
            <a:endParaRPr lang="en-US" altLang="zh-CN" dirty="0"/>
          </a:p>
          <a:p>
            <a:r>
              <a:rPr lang="zh-CN" altLang="en-US" dirty="0"/>
              <a:t>所以，桥接中间体设计本质上是一个多目标、多约束的分子设计问题。</a:t>
            </a:r>
          </a:p>
          <a:p>
            <a:r>
              <a:rPr lang="zh-CN" altLang="en-US" dirty="0"/>
              <a:t>我认为这正是</a:t>
            </a:r>
            <a:r>
              <a:rPr lang="en-US" altLang="zh-CN" dirty="0"/>
              <a:t> AI </a:t>
            </a:r>
            <a:r>
              <a:rPr lang="zh-CN" altLang="en-US" dirty="0"/>
              <a:t>非常适合介入的地方：</a:t>
            </a:r>
          </a:p>
          <a:p>
            <a:r>
              <a:rPr lang="zh-CN" altLang="en-US" dirty="0"/>
              <a:t>它可以在</a:t>
            </a:r>
            <a:r>
              <a:rPr lang="en-US" altLang="zh-CN" dirty="0"/>
              <a:t>“</a:t>
            </a:r>
            <a:r>
              <a:rPr lang="zh-CN" altLang="en-US" dirty="0"/>
              <a:t>可合成性、酶可识别性、稳定性、兼容性、工艺价值</a:t>
            </a:r>
            <a:r>
              <a:rPr lang="en-US" altLang="zh-CN" dirty="0"/>
              <a:t>”</a:t>
            </a:r>
            <a:r>
              <a:rPr lang="zh-CN" altLang="en-US" dirty="0"/>
              <a:t>之间做联合筛选，而不是靠人工逐个猜。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4F07-B63E-8A29-8C19-1C67178A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BDDB21-F3B4-7F74-02CD-E97E1B7C2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E6FDB4-4FAD-D0D7-4558-7AAD030CB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这一页聚焦在一个非常关键、也非常有级联特色的问题上：桥接中间体设计。</a:t>
            </a:r>
          </a:p>
          <a:p>
            <a:endParaRPr lang="en-US" altLang="zh-CN" dirty="0"/>
          </a:p>
          <a:p>
            <a:r>
              <a:rPr lang="zh-CN" altLang="en-US" dirty="0"/>
              <a:t>所谓桥接中间体，就是连接上游化学步骤与下游酶催化步骤的那个接口分子。</a:t>
            </a:r>
          </a:p>
          <a:p>
            <a:r>
              <a:rPr lang="zh-CN" altLang="en-US" dirty="0"/>
              <a:t>它不是普通中间体，而是整个级联系统能否顺畅衔接的关键节点。</a:t>
            </a:r>
          </a:p>
          <a:p>
            <a:endParaRPr lang="en-US" altLang="zh-CN" dirty="0"/>
          </a:p>
          <a:p>
            <a:r>
              <a:rPr lang="zh-CN" altLang="en-US" dirty="0"/>
              <a:t>一个理想的桥接中间体，至少需要满足几个条件。</a:t>
            </a:r>
          </a:p>
          <a:p>
            <a:endParaRPr lang="en-US" altLang="zh-CN" dirty="0"/>
          </a:p>
          <a:p>
            <a:r>
              <a:rPr lang="zh-CN" altLang="en-US" dirty="0"/>
              <a:t>第一，上游化学步可合成。</a:t>
            </a:r>
          </a:p>
          <a:p>
            <a:r>
              <a:rPr lang="zh-CN" altLang="en-US" dirty="0"/>
              <a:t>也就是说，它不能只是理论上看起来适合，而必须能够通过前面的化学反应高效得到。</a:t>
            </a:r>
          </a:p>
          <a:p>
            <a:endParaRPr lang="en-US" altLang="zh-CN" dirty="0"/>
          </a:p>
          <a:p>
            <a:r>
              <a:rPr lang="zh-CN" altLang="en-US" dirty="0"/>
              <a:t>第二，下游酶可识别，或者至少可通过酶工程适配。</a:t>
            </a:r>
          </a:p>
          <a:p>
            <a:r>
              <a:rPr lang="zh-CN" altLang="en-US" dirty="0"/>
              <a:t>如果这个中间体虽然容易合成，但酶完全无法处理，那它就无法成为有效接口。</a:t>
            </a:r>
          </a:p>
          <a:p>
            <a:endParaRPr lang="en-US" altLang="zh-CN" dirty="0"/>
          </a:p>
          <a:p>
            <a:r>
              <a:rPr lang="zh-CN" altLang="en-US" dirty="0"/>
              <a:t>第三，它在级联条件下足够稳定。</a:t>
            </a:r>
          </a:p>
          <a:p>
            <a:r>
              <a:rPr lang="zh-CN" altLang="en-US" dirty="0"/>
              <a:t>这一点尤其重要。很多分子单看结构很有吸引力，但在真实体系中可能迅速分解、互变、聚合或者被副反应吞噬。</a:t>
            </a:r>
          </a:p>
          <a:p>
            <a:endParaRPr lang="en-US" altLang="zh-CN" dirty="0"/>
          </a:p>
          <a:p>
            <a:r>
              <a:rPr lang="zh-CN" altLang="en-US" dirty="0"/>
              <a:t>第四，它不能明显毒害酶或化学催化剂。</a:t>
            </a:r>
          </a:p>
          <a:p>
            <a:r>
              <a:rPr lang="zh-CN" altLang="en-US" dirty="0"/>
              <a:t>也就是说，它不能在系统层面破坏另一端的催化功能。</a:t>
            </a:r>
          </a:p>
          <a:p>
            <a:endParaRPr lang="en-US" altLang="zh-CN" dirty="0"/>
          </a:p>
          <a:p>
            <a:r>
              <a:rPr lang="zh-CN" altLang="en-US" dirty="0"/>
              <a:t>第五，它最终要有利于总收率、总选择性和工艺可行性。</a:t>
            </a:r>
          </a:p>
          <a:p>
            <a:r>
              <a:rPr lang="zh-CN" altLang="en-US" dirty="0"/>
              <a:t>因为级联设计最终要优化的是系统结果，而不是某一步看起来漂亮。</a:t>
            </a:r>
          </a:p>
          <a:p>
            <a:endParaRPr lang="en-US" altLang="zh-CN" dirty="0"/>
          </a:p>
          <a:p>
            <a:r>
              <a:rPr lang="zh-CN" altLang="en-US" dirty="0"/>
              <a:t>所以，桥接中间体设计本质上是一个多目标、多约束的分子设计问题。</a:t>
            </a:r>
          </a:p>
          <a:p>
            <a:r>
              <a:rPr lang="zh-CN" altLang="en-US" dirty="0"/>
              <a:t>我认为这正是</a:t>
            </a:r>
            <a:r>
              <a:rPr lang="en-US" altLang="zh-CN" dirty="0"/>
              <a:t> AI </a:t>
            </a:r>
            <a:r>
              <a:rPr lang="zh-CN" altLang="en-US" dirty="0"/>
              <a:t>非常适合介入的地方：</a:t>
            </a:r>
          </a:p>
          <a:p>
            <a:r>
              <a:rPr lang="zh-CN" altLang="en-US" dirty="0"/>
              <a:t>它可以在</a:t>
            </a:r>
            <a:r>
              <a:rPr lang="en-US" altLang="zh-CN" dirty="0"/>
              <a:t>“</a:t>
            </a:r>
            <a:r>
              <a:rPr lang="zh-CN" altLang="en-US" dirty="0"/>
              <a:t>可合成性、酶可识别性、稳定性、兼容性、工艺价值</a:t>
            </a:r>
            <a:r>
              <a:rPr lang="en-US" altLang="zh-CN" dirty="0"/>
              <a:t>”</a:t>
            </a:r>
            <a:r>
              <a:rPr lang="zh-CN" altLang="en-US" dirty="0"/>
              <a:t>之间做联合筛选，而不是靠人工逐个猜。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7FAAB-48F9-024D-D764-02EB4B7B0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105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5A9E-5F0D-DCEB-EB46-4B4BB513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C2DE26-9473-5012-60FE-0AC02F522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336DE0-231D-ED33-4E36-61DE9E9EF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这一页聚焦在一个非常关键、也非常有级联特色的问题上：桥接中间体设计。</a:t>
            </a:r>
          </a:p>
          <a:p>
            <a:endParaRPr lang="en-US" altLang="zh-CN" dirty="0"/>
          </a:p>
          <a:p>
            <a:r>
              <a:rPr lang="zh-CN" altLang="en-US" dirty="0"/>
              <a:t>所谓桥接中间体，就是连接上游化学步骤与下游酶催化步骤的那个接口分子。</a:t>
            </a:r>
          </a:p>
          <a:p>
            <a:r>
              <a:rPr lang="zh-CN" altLang="en-US" dirty="0"/>
              <a:t>它不是普通中间体，而是整个级联系统能否顺畅衔接的关键节点。</a:t>
            </a:r>
          </a:p>
          <a:p>
            <a:endParaRPr lang="en-US" altLang="zh-CN" dirty="0"/>
          </a:p>
          <a:p>
            <a:r>
              <a:rPr lang="zh-CN" altLang="en-US" dirty="0"/>
              <a:t>一个理想的桥接中间体，至少需要满足几个条件。</a:t>
            </a:r>
          </a:p>
          <a:p>
            <a:endParaRPr lang="en-US" altLang="zh-CN" dirty="0"/>
          </a:p>
          <a:p>
            <a:r>
              <a:rPr lang="zh-CN" altLang="en-US" dirty="0"/>
              <a:t>第一，上游化学步可合成。</a:t>
            </a:r>
          </a:p>
          <a:p>
            <a:r>
              <a:rPr lang="zh-CN" altLang="en-US" dirty="0"/>
              <a:t>也就是说，它不能只是理论上看起来适合，而必须能够通过前面的化学反应高效得到。</a:t>
            </a:r>
          </a:p>
          <a:p>
            <a:endParaRPr lang="en-US" altLang="zh-CN" dirty="0"/>
          </a:p>
          <a:p>
            <a:r>
              <a:rPr lang="zh-CN" altLang="en-US" dirty="0"/>
              <a:t>第二，下游酶可识别，或者至少可通过酶工程适配。</a:t>
            </a:r>
          </a:p>
          <a:p>
            <a:r>
              <a:rPr lang="zh-CN" altLang="en-US" dirty="0"/>
              <a:t>如果这个中间体虽然容易合成，但酶完全无法处理，那它就无法成为有效接口。</a:t>
            </a:r>
          </a:p>
          <a:p>
            <a:endParaRPr lang="en-US" altLang="zh-CN" dirty="0"/>
          </a:p>
          <a:p>
            <a:r>
              <a:rPr lang="zh-CN" altLang="en-US" dirty="0"/>
              <a:t>第三，它在级联条件下足够稳定。</a:t>
            </a:r>
          </a:p>
          <a:p>
            <a:r>
              <a:rPr lang="zh-CN" altLang="en-US" dirty="0"/>
              <a:t>这一点尤其重要。很多分子单看结构很有吸引力，但在真实体系中可能迅速分解、互变、聚合或者被副反应吞噬。</a:t>
            </a:r>
          </a:p>
          <a:p>
            <a:endParaRPr lang="en-US" altLang="zh-CN" dirty="0"/>
          </a:p>
          <a:p>
            <a:r>
              <a:rPr lang="zh-CN" altLang="en-US" dirty="0"/>
              <a:t>第四，它不能明显毒害酶或化学催化剂。</a:t>
            </a:r>
          </a:p>
          <a:p>
            <a:r>
              <a:rPr lang="zh-CN" altLang="en-US" dirty="0"/>
              <a:t>也就是说，它不能在系统层面破坏另一端的催化功能。</a:t>
            </a:r>
          </a:p>
          <a:p>
            <a:endParaRPr lang="en-US" altLang="zh-CN" dirty="0"/>
          </a:p>
          <a:p>
            <a:r>
              <a:rPr lang="zh-CN" altLang="en-US" dirty="0"/>
              <a:t>第五，它最终要有利于总收率、总选择性和工艺可行性。</a:t>
            </a:r>
          </a:p>
          <a:p>
            <a:r>
              <a:rPr lang="zh-CN" altLang="en-US" dirty="0"/>
              <a:t>因为级联设计最终要优化的是系统结果，而不是某一步看起来漂亮。</a:t>
            </a:r>
          </a:p>
          <a:p>
            <a:endParaRPr lang="en-US" altLang="zh-CN" dirty="0"/>
          </a:p>
          <a:p>
            <a:r>
              <a:rPr lang="zh-CN" altLang="en-US" dirty="0"/>
              <a:t>所以，桥接中间体设计本质上是一个多目标、多约束的分子设计问题。</a:t>
            </a:r>
          </a:p>
          <a:p>
            <a:r>
              <a:rPr lang="zh-CN" altLang="en-US" dirty="0"/>
              <a:t>我认为这正是</a:t>
            </a:r>
            <a:r>
              <a:rPr lang="en-US" altLang="zh-CN" dirty="0"/>
              <a:t> AI </a:t>
            </a:r>
            <a:r>
              <a:rPr lang="zh-CN" altLang="en-US" dirty="0"/>
              <a:t>非常适合介入的地方：</a:t>
            </a:r>
          </a:p>
          <a:p>
            <a:r>
              <a:rPr lang="zh-CN" altLang="en-US" dirty="0"/>
              <a:t>它可以在</a:t>
            </a:r>
            <a:r>
              <a:rPr lang="en-US" altLang="zh-CN" dirty="0"/>
              <a:t>“</a:t>
            </a:r>
            <a:r>
              <a:rPr lang="zh-CN" altLang="en-US" dirty="0"/>
              <a:t>可合成性、酶可识别性、稳定性、兼容性、工艺价值</a:t>
            </a:r>
            <a:r>
              <a:rPr lang="en-US" altLang="zh-CN" dirty="0"/>
              <a:t>”</a:t>
            </a:r>
            <a:r>
              <a:rPr lang="zh-CN" altLang="en-US" dirty="0"/>
              <a:t>之间做联合筛选，而不是靠人工逐个猜。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9DDB5-721D-0FC2-A253-4788066E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86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《吸附科学与材料》课程大作业：低温堆核废水中碳-14及氚的分离技术(3)_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62940" y="2066290"/>
            <a:ext cx="10798175" cy="1670050"/>
          </a:xfrm>
        </p:spPr>
        <p:txBody>
          <a:bodyPr anchor="ctr">
            <a:normAutofit/>
          </a:bodyPr>
          <a:lstStyle/>
          <a:p>
            <a:pPr>
              <a:tabLst>
                <a:tab pos="4032250" algn="l"/>
              </a:tabLst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引导的化学</a:t>
            </a:r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生物级联催化设计与协同优化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80" y="4330065"/>
            <a:ext cx="9799320" cy="702945"/>
          </a:xfrm>
        </p:spPr>
        <p:txBody>
          <a:bodyPr>
            <a:normAutofit fontScale="97500"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2026.5.20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239465"/>
            <a:ext cx="10969200" cy="7056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研究背景与问题提出：化学催化</a:t>
            </a:r>
            <a:r>
              <a:rPr lang="en-US" altLang="zh-CN" sz="3200" b="1" dirty="0"/>
              <a:t>—</a:t>
            </a:r>
            <a:r>
              <a:rPr lang="zh-CN" altLang="en-US" sz="3200" b="1" dirty="0"/>
              <a:t>酶催化级联反应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2261937"/>
            <a:ext cx="4733621" cy="2573591"/>
          </a:xfrm>
        </p:spPr>
        <p:txBody>
          <a:bodyPr>
            <a:normAutofit fontScale="97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5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化学催化的优势</a:t>
            </a:r>
            <a:endParaRPr lang="en-US" altLang="zh-CN" sz="2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构建复杂骨架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引入非天然反应活性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高效完成难以由酶直接承担的转化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7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sp>
        <p:nvSpPr>
          <p:cNvPr id="6" name="内容占位符 2"/>
          <p:cNvSpPr txBox="1"/>
          <p:nvPr>
            <p:custDataLst>
              <p:tags r:id="rId4"/>
            </p:custDataLst>
          </p:nvPr>
        </p:nvSpPr>
        <p:spPr>
          <a:xfrm>
            <a:off x="608400" y="4153729"/>
            <a:ext cx="5118632" cy="2441244"/>
          </a:xfrm>
          <a:prstGeom prst="rect">
            <a:avLst/>
          </a:prstGeom>
        </p:spPr>
        <p:txBody>
          <a:bodyPr vert="horz" lIns="90000" tIns="46800" rIns="90000" bIns="46800" rtlCol="0">
            <a:normAutofit fontScale="975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5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生物催化的优势</a:t>
            </a:r>
            <a:endParaRPr lang="en-US" altLang="zh-CN" sz="25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提供高水平立体选择性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实现区域选择性与化学选择性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控制完成后期精细修饰与高附加值转化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8400" y="1188047"/>
            <a:ext cx="110622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化学催化</a:t>
            </a:r>
            <a:r>
              <a:rPr lang="en-US" altLang="zh-CN" sz="2400" dirty="0"/>
              <a:t>—</a:t>
            </a:r>
            <a:r>
              <a:rPr lang="zh-CN" altLang="en-US" sz="2400" dirty="0"/>
              <a:t>酶催化级联反应，并不是简单意义上的“化学一步 </a:t>
            </a:r>
            <a:r>
              <a:rPr lang="en-US" altLang="zh-CN" sz="2400" dirty="0"/>
              <a:t>+ </a:t>
            </a:r>
            <a:r>
              <a:rPr lang="zh-CN" altLang="en-US" sz="2400" dirty="0"/>
              <a:t>生物一步”，而是一个</a:t>
            </a:r>
            <a:r>
              <a:rPr lang="zh-CN" altLang="en-US" sz="2400" b="1" dirty="0"/>
              <a:t>跨催化范式的协同体系</a:t>
            </a:r>
            <a:r>
              <a:rPr lang="zh-CN" altLang="en-US" sz="2400" dirty="0"/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92980" y="3055633"/>
            <a:ext cx="343702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</a:rPr>
              <a:t>级联后的潜在收益：</a:t>
            </a:r>
          </a:p>
          <a:p>
            <a:pPr marL="228600" indent="-228600">
              <a:spcAft>
                <a:spcPts val="1000"/>
              </a:spcAft>
              <a:buFont typeface="Wingdings" panose="05000000000000000000" charset="0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减少保护</a:t>
            </a:r>
            <a:r>
              <a:rPr lang="en-US" altLang="zh-CN" sz="2000" spc="15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脱保护</a:t>
            </a:r>
          </a:p>
          <a:p>
            <a:pPr marL="228600" indent="-228600">
              <a:spcAft>
                <a:spcPts val="1000"/>
              </a:spcAft>
              <a:buFont typeface="Wingdings" panose="05000000000000000000" charset="0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缩短路线</a:t>
            </a:r>
          </a:p>
          <a:p>
            <a:pPr marL="228600" indent="-228600">
              <a:spcAft>
                <a:spcPts val="1000"/>
              </a:spcAft>
              <a:buFont typeface="Wingdings" panose="05000000000000000000" charset="0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提高总收率与总选择性</a:t>
            </a:r>
          </a:p>
          <a:p>
            <a:pPr marL="228600" indent="-228600">
              <a:spcAft>
                <a:spcPts val="1000"/>
              </a:spcAft>
              <a:buFont typeface="Wingdings" panose="05000000000000000000" charset="0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降低能耗与分离成本</a:t>
            </a:r>
          </a:p>
        </p:txBody>
      </p:sp>
      <p:sp>
        <p:nvSpPr>
          <p:cNvPr id="5" name="梯形 4"/>
          <p:cNvSpPr/>
          <p:nvPr/>
        </p:nvSpPr>
        <p:spPr>
          <a:xfrm rot="5400000">
            <a:off x="4682270" y="3439021"/>
            <a:ext cx="3518940" cy="1429417"/>
          </a:xfrm>
          <a:prstGeom prst="trapezoid">
            <a:avLst>
              <a:gd name="adj" fmla="val 328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9528" y="6156092"/>
            <a:ext cx="875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让高反应性与高选择性，在同一时空内实现兼容、接力和闭环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08400" y="6190227"/>
            <a:ext cx="0" cy="36000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78105"/>
            <a:ext cx="10968990" cy="1062355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化学催化</a:t>
            </a:r>
            <a:r>
              <a:rPr lang="en-US" altLang="zh-CN" sz="3200" b="1" dirty="0"/>
              <a:t>—</a:t>
            </a:r>
            <a:r>
              <a:rPr lang="zh-CN" altLang="en-US" sz="3200" b="1" dirty="0"/>
              <a:t>酶催化级联反应的难点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45804" y="1782445"/>
            <a:ext cx="5436868" cy="402434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条件不匹配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化学催化常需有机溶剂、高温、金属或自由基环境；酶催化通常偏好温和水相条件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中间体不稳定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中间体可能难分离、易分解、易副反应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时空组织困难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需要决定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one-pot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、分步、流动体系还是空间隔离体系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6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329" y="1241076"/>
            <a:ext cx="7488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真正的瓶颈：从“串起来”，到“协同起来”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11452" y="1797435"/>
            <a:ext cx="5334744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</a:rPr>
              <a:t>催化剂相互失活</a:t>
            </a:r>
            <a:endParaRPr lang="en-US" altLang="zh-CN" sz="2400" b="1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金属、自由基、氧化还原体系可能失活酶；生物体系成分也可能毒化化学催化剂</a:t>
            </a:r>
            <a:endParaRPr lang="en-US" altLang="zh-CN" sz="2000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zh-CN" sz="1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9129" y="6003289"/>
            <a:ext cx="7140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级联系统优化的对象不是单一步骤，而是整个体系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608329" y="6054122"/>
            <a:ext cx="0" cy="36000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11452" y="3628463"/>
            <a:ext cx="5487672" cy="1458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</a:rPr>
              <a:t>实验搜索空间巨大</a:t>
            </a:r>
            <a:endParaRPr lang="en-US" altLang="zh-CN" sz="2400" b="1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p"/>
            </a:pP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路线、酶、催化剂、顺序、加料方式、温度、</a:t>
            </a:r>
            <a:r>
              <a:rPr lang="en-US" altLang="zh-CN" sz="2000" spc="150" dirty="0">
                <a:latin typeface="微软雅黑" panose="020B0503020204020204" charset="-122"/>
                <a:ea typeface="微软雅黑" panose="020B0503020204020204" charset="-122"/>
              </a:rPr>
              <a:t>pH</a:t>
            </a:r>
            <a:r>
              <a:rPr lang="zh-CN" altLang="en-US" sz="2000" spc="150" dirty="0">
                <a:latin typeface="微软雅黑" panose="020B0503020204020204" charset="-122"/>
                <a:ea typeface="微软雅黑" panose="020B0503020204020204" charset="-122"/>
              </a:rPr>
              <a:t>、溶剂都耦合在一起</a:t>
            </a:r>
            <a:endParaRPr lang="en-US" altLang="zh-CN" sz="2000" spc="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139700"/>
            <a:ext cx="10968990" cy="805180"/>
          </a:xfrm>
        </p:spPr>
        <p:txBody>
          <a:bodyPr>
            <a:noAutofit/>
          </a:bodyPr>
          <a:lstStyle/>
          <a:p>
            <a:r>
              <a:rPr lang="en-US" altLang="zh-CN" sz="3200" b="1" dirty="0"/>
              <a:t>AI </a:t>
            </a:r>
            <a:r>
              <a:rPr lang="zh-CN" altLang="en-US" sz="3200" b="1" dirty="0"/>
              <a:t>在级联催化系统中的定位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81514" y="2732345"/>
            <a:ext cx="5545836" cy="2219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哪条路线最值得尝试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哪个中间体最适合作为上下游连接点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哪种酶、哪种化学催化剂更可能兼容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如何在多目标条件下实现整体最优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6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8330" y="1212040"/>
            <a:ext cx="11245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AI </a:t>
            </a:r>
            <a:r>
              <a:rPr lang="zh-CN" altLang="en-US" sz="2400" b="1" dirty="0"/>
              <a:t>将“路线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中间体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催化者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条件”的联合搜索，转化为可预测、可排序、可迭代优化的问题。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89171" y="2754501"/>
            <a:ext cx="1414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路线选择：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589169" y="3380586"/>
            <a:ext cx="1414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接口筛选：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589171" y="4029729"/>
            <a:ext cx="1414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催化匹配：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589168" y="4655814"/>
            <a:ext cx="1414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工艺优化：</a:t>
            </a:r>
          </a:p>
        </p:txBody>
      </p:sp>
      <p:sp>
        <p:nvSpPr>
          <p:cNvPr id="37" name="梯形 36"/>
          <p:cNvSpPr/>
          <p:nvPr/>
        </p:nvSpPr>
        <p:spPr>
          <a:xfrm rot="10800000">
            <a:off x="868099" y="2476470"/>
            <a:ext cx="3518704" cy="3088396"/>
          </a:xfrm>
          <a:prstGeom prst="trapezoid">
            <a:avLst>
              <a:gd name="adj" fmla="val 1760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1306030" y="2823673"/>
            <a:ext cx="2642839" cy="226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ntermediates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nzymes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atalysts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onditions</a:t>
            </a:r>
          </a:p>
        </p:txBody>
      </p:sp>
      <p:sp>
        <p:nvSpPr>
          <p:cNvPr id="6" name="Text 33"/>
          <p:cNvSpPr/>
          <p:nvPr/>
        </p:nvSpPr>
        <p:spPr>
          <a:xfrm>
            <a:off x="868098" y="5806787"/>
            <a:ext cx="7876103" cy="3903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本质上，AI 是一个级联系统的“设计器 + </a:t>
            </a:r>
            <a:r>
              <a:rPr lang="en-US" sz="2400" b="1" dirty="0" err="1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决策辅助器</a:t>
            </a:r>
            <a:r>
              <a:rPr lang="en-US" sz="2400" b="1" dirty="0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”</a:t>
            </a:r>
            <a:endParaRPr lang="en-US" sz="2400" dirty="0"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08329" y="5806787"/>
            <a:ext cx="0" cy="36000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0B84-A8D2-6248-172B-1BADF428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B4E02-8A66-2207-0144-23FDE412F12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139700"/>
            <a:ext cx="10968990" cy="805180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目前主流逆合成模型概述：单步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多步逆合成模型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6A65A3-0963-0C1D-56D0-C1CE0B278C6E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81514" y="2732345"/>
            <a:ext cx="5545836" cy="2219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哪条路线最值得尝试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哪个中间体最适合作为上下游连接点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哪种酶、哪种化学催化剂更可能兼容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如何在多目标条件下实现整体最优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0A8ADD-AD0E-AFCE-B15C-006AFC455DA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6945DE8-9195-7A98-C722-2D51CD9D396B}"/>
              </a:ext>
            </a:extLst>
          </p:cNvPr>
          <p:cNvSpPr txBox="1"/>
          <p:nvPr/>
        </p:nvSpPr>
        <p:spPr>
          <a:xfrm>
            <a:off x="608330" y="1212040"/>
            <a:ext cx="11245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AI </a:t>
            </a:r>
            <a:r>
              <a:rPr lang="zh-CN" altLang="en-US" sz="2400" b="1" dirty="0"/>
              <a:t>将“路线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中间体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催化者</a:t>
            </a:r>
            <a:r>
              <a:rPr lang="en-US" altLang="zh-CN" sz="2400" b="1" dirty="0"/>
              <a:t>—</a:t>
            </a:r>
            <a:r>
              <a:rPr lang="zh-CN" altLang="en-US" sz="2400" b="1" dirty="0"/>
              <a:t>条件”的联合搜索，转化为可预测、可排序、可迭代优化的问题。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773C5A-902A-0572-DF80-4E71671ED557}"/>
              </a:ext>
            </a:extLst>
          </p:cNvPr>
          <p:cNvSpPr txBox="1"/>
          <p:nvPr/>
        </p:nvSpPr>
        <p:spPr>
          <a:xfrm>
            <a:off x="4589171" y="2754501"/>
            <a:ext cx="1414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路线选择：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B2BBC9-BC53-15DF-19AA-7C5A2EDC5561}"/>
              </a:ext>
            </a:extLst>
          </p:cNvPr>
          <p:cNvSpPr txBox="1"/>
          <p:nvPr/>
        </p:nvSpPr>
        <p:spPr>
          <a:xfrm>
            <a:off x="4589169" y="3380586"/>
            <a:ext cx="1414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接口筛选：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F349EB-F724-1578-9D9B-659B9E9AA5C6}"/>
              </a:ext>
            </a:extLst>
          </p:cNvPr>
          <p:cNvSpPr txBox="1"/>
          <p:nvPr/>
        </p:nvSpPr>
        <p:spPr>
          <a:xfrm>
            <a:off x="4589171" y="4029729"/>
            <a:ext cx="1414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催化匹配：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D31C30-4878-0C27-FD9F-C47A65B00C2B}"/>
              </a:ext>
            </a:extLst>
          </p:cNvPr>
          <p:cNvSpPr txBox="1"/>
          <p:nvPr/>
        </p:nvSpPr>
        <p:spPr>
          <a:xfrm>
            <a:off x="4589168" y="4655814"/>
            <a:ext cx="1414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工艺优化：</a:t>
            </a:r>
          </a:p>
        </p:txBody>
      </p:sp>
      <p:sp>
        <p:nvSpPr>
          <p:cNvPr id="37" name="梯形 36">
            <a:extLst>
              <a:ext uri="{FF2B5EF4-FFF2-40B4-BE49-F238E27FC236}">
                <a16:creationId xmlns:a16="http://schemas.microsoft.com/office/drawing/2014/main" id="{62EC43BC-A485-7BC8-6467-1A97BD0A907C}"/>
              </a:ext>
            </a:extLst>
          </p:cNvPr>
          <p:cNvSpPr/>
          <p:nvPr/>
        </p:nvSpPr>
        <p:spPr>
          <a:xfrm rot="10800000">
            <a:off x="868099" y="2476470"/>
            <a:ext cx="3518704" cy="3088396"/>
          </a:xfrm>
          <a:prstGeom prst="trapezoid">
            <a:avLst>
              <a:gd name="adj" fmla="val 1760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1FF0BD00-40F9-522D-C94D-617EC833C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030" y="2823673"/>
            <a:ext cx="2642839" cy="226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ntermediates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nzymes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atalysts</a:t>
            </a: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onditions</a:t>
            </a: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A7723C43-F5EB-8BD0-FD75-16E76A2312C6}"/>
              </a:ext>
            </a:extLst>
          </p:cNvPr>
          <p:cNvSpPr/>
          <p:nvPr/>
        </p:nvSpPr>
        <p:spPr>
          <a:xfrm>
            <a:off x="868098" y="5806787"/>
            <a:ext cx="7876103" cy="3903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本质上，AI 是一个级联系统的“设计器 + </a:t>
            </a:r>
            <a:r>
              <a:rPr lang="en-US" sz="2400" b="1" dirty="0" err="1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决策辅助器</a:t>
            </a:r>
            <a:r>
              <a:rPr lang="en-US" sz="2400" b="1" dirty="0">
                <a:solidFill>
                  <a:srgbClr val="1F1F24"/>
                </a:solidFill>
                <a:latin typeface="+mj-ea"/>
                <a:ea typeface="+mj-ea"/>
                <a:cs typeface="Noto Sans CJK SC" pitchFamily="34" charset="-120"/>
              </a:rPr>
              <a:t>”</a:t>
            </a:r>
            <a:endParaRPr lang="en-US" sz="2400" dirty="0">
              <a:latin typeface="+mj-ea"/>
              <a:ea typeface="+mj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216172-5280-3E4B-A796-DF4DC2091BDB}"/>
              </a:ext>
            </a:extLst>
          </p:cNvPr>
          <p:cNvCxnSpPr/>
          <p:nvPr/>
        </p:nvCxnSpPr>
        <p:spPr>
          <a:xfrm>
            <a:off x="608329" y="5806787"/>
            <a:ext cx="0" cy="36000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5547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-57150"/>
            <a:ext cx="10968990" cy="1305560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目前主流逆合成模型概述：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有机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酶混合逆合成模型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8" y="1248410"/>
            <a:ext cx="7143589" cy="47610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6100576"/>
            <a:ext cx="12196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化学反应与酶促转化已经开始被纳入统一的 </a:t>
            </a:r>
            <a:r>
              <a:rPr lang="en-US" altLang="zh-CN" sz="2000" b="1" dirty="0"/>
              <a:t>planning </a:t>
            </a:r>
            <a:r>
              <a:rPr lang="zh-CN" altLang="en-US" sz="2000" b="1" dirty="0"/>
              <a:t>框架，而不再被视为彼此独立的设计问题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78387" y="1171051"/>
            <a:ext cx="43740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从目标分子出发，完成多步逆合成搜索、反应可行性判断与酶催化匹配。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-5387" y="6488668"/>
            <a:ext cx="12196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bg1">
                    <a:lumMod val="50000"/>
                  </a:schemeClr>
                </a:solidFill>
              </a:rPr>
              <a:t>A virtual platform for automated hybrid organic-enzymatic synthesis planning. Nat Commun 16, 10929 (2025).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7772400" y="2046157"/>
            <a:ext cx="0" cy="38374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874749" y="1996718"/>
            <a:ext cx="400495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层级一：路线搜索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目标分子应该怎样拆回到原料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为路线搜索评估打分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层级二：单步决策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判断每一步是否需要酶催化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对于每一步推荐反应条件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预测每一步反应可行性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层级三：酶催化增强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判断酶适配性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酶种类推荐模块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dirty="0"/>
              <a:t>酶活性位点验证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100330"/>
            <a:ext cx="10968990" cy="1035685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级联催化逆合成模型的关键问题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8330" y="1212040"/>
            <a:ext cx="109689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/>
              <a:t>表层问题：给定一个复杂目标分子，能不能生成一条化学合理 </a:t>
            </a:r>
            <a:r>
              <a:rPr lang="en-US" altLang="zh-CN" sz="2400" dirty="0"/>
              <a:t>+ </a:t>
            </a:r>
            <a:r>
              <a:rPr lang="zh-CN" altLang="en-US" sz="2400" dirty="0"/>
              <a:t>酶催化兼容 </a:t>
            </a:r>
            <a:r>
              <a:rPr lang="en-US" altLang="zh-CN" sz="2400" dirty="0"/>
              <a:t>+ </a:t>
            </a:r>
            <a:r>
              <a:rPr lang="zh-CN" altLang="en-US" sz="2400" dirty="0"/>
              <a:t>条件可执行的 </a:t>
            </a:r>
            <a:r>
              <a:rPr lang="en-US" altLang="zh-CN" sz="2400" dirty="0"/>
              <a:t>cascade </a:t>
            </a:r>
            <a:r>
              <a:rPr lang="zh-CN" altLang="en-US" sz="2400" dirty="0"/>
              <a:t>路线？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C82628-36E3-8ABC-8BF9-4FFDFAD7FB97}"/>
              </a:ext>
            </a:extLst>
          </p:cNvPr>
          <p:cNvSpPr txBox="1"/>
          <p:nvPr/>
        </p:nvSpPr>
        <p:spPr>
          <a:xfrm>
            <a:off x="0" y="6211669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真问题是：长 chemoenzymatic cascade 路线的可信度评估、可解释性、可干预性。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5959C-A23C-5F4E-D41F-822D43D3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03F22-24B2-F4FD-B8AA-E90F7F6C588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100330"/>
            <a:ext cx="10968990" cy="1035685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级联催化逆合成模型的设计阶段和各方案问题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6F4442-88B5-F076-A090-89BD66D854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71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46B60-E052-0AED-CC50-DA721173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30F5B-6026-8F84-AFD8-F19C9227A8A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100330"/>
            <a:ext cx="10968990" cy="1035685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级联催化逆合成模型目前设计架构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88D4D9-9610-A3CE-77E7-4BB1968F79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694"/>
          <a:stretch>
            <a:fillRect/>
          </a:stretch>
        </p:blipFill>
        <p:spPr>
          <a:xfrm>
            <a:off x="38502" y="944801"/>
            <a:ext cx="12049213" cy="1084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926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《吸附科学与材料》课程大作业：低温堆核废水中碳-14及氚的分离技术(3)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谢谢，请批评指正</a:t>
            </a:r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98800" y="4399200"/>
            <a:ext cx="9799320" cy="60452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spc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2026.3.24</a:t>
            </a:r>
          </a:p>
        </p:txBody>
      </p:sp>
    </p:spTree>
  </p:cSld>
  <p:clrMapOvr>
    <a:masterClrMapping/>
  </p:clrMapOvr>
  <p:transition advTm="161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3087</Words>
  <Application>Microsoft Office PowerPoint</Application>
  <PresentationFormat>宽屏</PresentationFormat>
  <Paragraphs>290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宋体</vt:lpstr>
      <vt:lpstr>微软雅黑</vt:lpstr>
      <vt:lpstr>Arial</vt:lpstr>
      <vt:lpstr>Calibri</vt:lpstr>
      <vt:lpstr>Wingdings</vt:lpstr>
      <vt:lpstr>WPS</vt:lpstr>
      <vt:lpstr>AI引导的化学—生物级联催化设计与协同优化</vt:lpstr>
      <vt:lpstr>研究背景与问题提出：化学催化—酶催化级联反应</vt:lpstr>
      <vt:lpstr>化学催化—酶催化级联反应的难点</vt:lpstr>
      <vt:lpstr>AI 在级联催化系统中的定位</vt:lpstr>
      <vt:lpstr>目前主流逆合成模型概述：单步/多步逆合成模型</vt:lpstr>
      <vt:lpstr>目前主流逆合成模型概述：有机/酶混合逆合成模型</vt:lpstr>
      <vt:lpstr>级联催化逆合成模型的关键问题</vt:lpstr>
      <vt:lpstr>级联催化逆合成模型的设计阶段和各方案问题</vt:lpstr>
      <vt:lpstr>级联催化逆合成模型目前设计架构</vt:lpstr>
      <vt:lpstr>谢谢，请批评指正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Whilesunny</dc:creator>
  <cp:lastModifiedBy>问界 求</cp:lastModifiedBy>
  <cp:revision>173</cp:revision>
  <dcterms:created xsi:type="dcterms:W3CDTF">2019-06-19T02:08:00Z</dcterms:created>
  <dcterms:modified xsi:type="dcterms:W3CDTF">2026-05-19T14:25:09Z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BF6DF2208F6A48C4AF0F34725B6F929E_13</vt:lpwstr>
  </property>
</Properties>
</file>